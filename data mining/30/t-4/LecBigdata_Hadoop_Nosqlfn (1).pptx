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307" r:id="rId4"/>
    <p:sldId id="309" r:id="rId5"/>
    <p:sldId id="263" r:id="rId6"/>
    <p:sldId id="257" r:id="rId7"/>
    <p:sldId id="299" r:id="rId8"/>
    <p:sldId id="258" r:id="rId9"/>
    <p:sldId id="310" r:id="rId10"/>
    <p:sldId id="259" r:id="rId11"/>
    <p:sldId id="300" r:id="rId12"/>
    <p:sldId id="301" r:id="rId13"/>
    <p:sldId id="302" r:id="rId14"/>
    <p:sldId id="303" r:id="rId15"/>
    <p:sldId id="304" r:id="rId16"/>
    <p:sldId id="261" r:id="rId17"/>
    <p:sldId id="262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32" autoAdjust="0"/>
    <p:restoredTop sz="94660"/>
  </p:normalViewPr>
  <p:slideViewPr>
    <p:cSldViewPr>
      <p:cViewPr varScale="1">
        <p:scale>
          <a:sx n="88" d="100"/>
          <a:sy n="88" d="100"/>
        </p:scale>
        <p:origin x="164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0563560-DD94-484A-BE56-00BC06A9DA9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563560-DD94-484A-BE56-00BC06A9DA9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563560-DD94-484A-BE56-00BC06A9DA9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563560-DD94-484A-BE56-00BC06A9DA9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563560-DD94-484A-BE56-00BC06A9DA9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563560-DD94-484A-BE56-00BC06A9DA9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563560-DD94-484A-BE56-00BC06A9DA9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B0563560-DD94-484A-BE56-00BC06A9DA9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0563560-DD94-484A-BE56-00BC06A9DA9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563560-DD94-484A-BE56-00BC06A9DA9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0563560-DD94-484A-BE56-00BC06A9DA9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0563560-DD94-484A-BE56-00BC06A9DA9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EC1939A-39BC-468D-B28A-ADF28EBCCA5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685800"/>
            <a:ext cx="8001000" cy="5486400"/>
          </a:xfrm>
        </p:spPr>
        <p:txBody>
          <a:bodyPr>
            <a:norm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</a:rPr>
              <a:t> 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28600"/>
            <a:ext cx="8229600" cy="4572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sz="2800" dirty="0" smtClean="0">
                <a:solidFill>
                  <a:schemeClr val="accent1"/>
                </a:solidFill>
              </a:rPr>
              <a:t>Big Data Analytics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62000" y="1676400"/>
            <a:ext cx="8229600" cy="2514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sz="14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lang="en-US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Books for the slides</a:t>
            </a:r>
          </a:p>
          <a:p>
            <a:pPr algn="just" eaLnBrk="1" hangingPunct="1">
              <a:spcBef>
                <a:spcPct val="20000"/>
              </a:spcBef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20000"/>
              </a:spcBef>
              <a:buClr>
                <a:schemeClr val="tx2"/>
              </a:buClr>
              <a:buSzTx/>
              <a:buFontTx/>
              <a:buAutoNum type="arabicParenR"/>
              <a:defRPr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Big Data And Analytics</a:t>
            </a:r>
          </a:p>
          <a:p>
            <a:pPr marL="0" indent="0" algn="just" eaLnBrk="1" hangingPunct="1">
              <a:spcBef>
                <a:spcPct val="20000"/>
              </a:spcBef>
              <a:buClr>
                <a:schemeClr val="tx2"/>
              </a:buClr>
              <a:buSzTx/>
              <a:buFont typeface="Wingdings 3" panose="05040102010807070707" pitchFamily="18" charset="2"/>
              <a:buNone/>
              <a:defRPr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By </a:t>
            </a:r>
            <a:r>
              <a:rPr lang="en-US" sz="14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Seema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Acharya</a:t>
            </a:r>
            <a:r>
              <a:rPr lang="en-US" sz="1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dirty="0" err="1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Subhashini</a:t>
            </a:r>
            <a:r>
              <a:rPr lang="en-US" sz="1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Chellappan</a:t>
            </a:r>
            <a:r>
              <a:rPr lang="en-US" sz="1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Willey 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publications	</a:t>
            </a:r>
            <a:endParaRPr lang="en-GB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20000"/>
              </a:spcBef>
              <a:buClr>
                <a:schemeClr val="tx2"/>
              </a:buClr>
              <a:buSzTx/>
              <a:buFont typeface="Wingdings" panose="05000000000000000000" pitchFamily="2" charset="2"/>
              <a:buAutoNum type="arabicParenR" startAt="2"/>
              <a:defRPr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Big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Data. By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Anil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Maheshwari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20000"/>
              </a:spcBef>
              <a:buClr>
                <a:schemeClr val="tx2"/>
              </a:buClr>
              <a:buSzTx/>
              <a:buFont typeface="Wingdings" panose="05000000000000000000" pitchFamily="2" charset="2"/>
              <a:buAutoNum type="arabicParenR" startAt="2"/>
              <a:defRPr/>
            </a:pP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Big Data. By DT Editorial Services, Black Book</a:t>
            </a:r>
          </a:p>
          <a:p>
            <a:pPr algn="just" eaLnBrk="1" hangingPunct="1">
              <a:spcBef>
                <a:spcPct val="20000"/>
              </a:spcBef>
              <a:buClr>
                <a:schemeClr val="tx2"/>
              </a:buClr>
              <a:buSzTx/>
              <a:buFont typeface="Wingdings" panose="05000000000000000000" pitchFamily="2" charset="2"/>
              <a:buAutoNum type="arabicParenR" startAt="2"/>
              <a:defRPr/>
            </a:pP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Available Resources on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Hadoop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NoSQL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40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33400" y="152400"/>
            <a:ext cx="7772400" cy="381000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800" dirty="0" err="1" smtClean="0">
                <a:solidFill>
                  <a:schemeClr val="accent1"/>
                </a:solidFill>
              </a:rPr>
              <a:t>Hadoop</a:t>
            </a:r>
            <a:r>
              <a:rPr lang="en-US" sz="2800" dirty="0" smtClean="0">
                <a:solidFill>
                  <a:schemeClr val="accent1"/>
                </a:solidFill>
              </a:rPr>
              <a:t>  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381000" y="533400"/>
            <a:ext cx="8458200" cy="5867400"/>
          </a:xfrm>
          <a:prstGeom prst="rect">
            <a:avLst/>
          </a:prstGeom>
        </p:spPr>
        <p:txBody>
          <a:bodyPr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algn="just">
              <a:buNone/>
            </a:pPr>
            <a:r>
              <a:rPr lang="en-US" sz="1800" b="1" dirty="0" err="1">
                <a:solidFill>
                  <a:schemeClr val="accent1"/>
                </a:solidFill>
              </a:rPr>
              <a:t>Hadoop</a:t>
            </a:r>
            <a:endParaRPr lang="en-US" sz="1800" b="1" dirty="0" smtClean="0"/>
          </a:p>
          <a:p>
            <a:pPr marL="285750" indent="-28575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 err="1" smtClean="0"/>
              <a:t>Hadoop</a:t>
            </a:r>
            <a:r>
              <a:rPr lang="en-US" sz="1800" dirty="0" smtClean="0"/>
              <a:t> is a distributed system like distributed database</a:t>
            </a:r>
          </a:p>
          <a:p>
            <a:pPr marL="285750" indent="-28575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 smtClean="0"/>
              <a:t>Deals with flat files in any format</a:t>
            </a:r>
          </a:p>
          <a:p>
            <a:pPr marL="285750" indent="-28575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 smtClean="0"/>
              <a:t>Operates on no schema for data</a:t>
            </a:r>
          </a:p>
          <a:p>
            <a:pPr marL="285750" indent="-28575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 smtClean="0"/>
              <a:t>Divides files automatically into blocks.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Features 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/>
              <a:t>Apache </a:t>
            </a:r>
            <a:r>
              <a:rPr lang="en-US" sz="1800" dirty="0" err="1"/>
              <a:t>Hadoop</a:t>
            </a:r>
            <a:r>
              <a:rPr lang="en-US" sz="1800" dirty="0"/>
              <a:t> is an open-source framework designed to store and process very large datasets (Big Data) across clusters of computers. It has </a:t>
            </a:r>
            <a:r>
              <a:rPr lang="en-US" sz="1800" b="1" dirty="0">
                <a:solidFill>
                  <a:schemeClr val="accent1"/>
                </a:solidFill>
              </a:rPr>
              <a:t>several key features</a:t>
            </a:r>
            <a:r>
              <a:rPr lang="en-US" sz="1800" dirty="0"/>
              <a:t> that make it powerful for large-scale data </a:t>
            </a:r>
            <a:r>
              <a:rPr lang="en-US" sz="1800" dirty="0" smtClean="0"/>
              <a:t>processing.</a:t>
            </a:r>
          </a:p>
          <a:p>
            <a:pPr marL="109728" indent="0">
              <a:buNone/>
            </a:pPr>
            <a:endParaRPr lang="en-US" sz="1800" b="1" dirty="0"/>
          </a:p>
          <a:p>
            <a:pPr marL="109728" indent="0">
              <a:buNone/>
            </a:pPr>
            <a:r>
              <a:rPr lang="en-US" sz="1800" b="1" dirty="0" smtClean="0"/>
              <a:t>1</a:t>
            </a:r>
            <a:r>
              <a:rPr lang="en-US" sz="1800" b="1" dirty="0"/>
              <a:t>. Distributed Storage (HDFS)</a:t>
            </a:r>
          </a:p>
          <a:p>
            <a:pPr marL="630238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 err="1"/>
              <a:t>Hadoop</a:t>
            </a:r>
            <a:r>
              <a:rPr lang="en-US" sz="1800" dirty="0"/>
              <a:t> uses </a:t>
            </a:r>
            <a:r>
              <a:rPr lang="en-US" sz="1800" b="1" dirty="0" err="1"/>
              <a:t>Hadoop</a:t>
            </a:r>
            <a:r>
              <a:rPr lang="en-US" sz="1800" b="1" dirty="0"/>
              <a:t> Distributed File System</a:t>
            </a:r>
            <a:r>
              <a:rPr lang="en-US" sz="1800" dirty="0"/>
              <a:t> to store data.</a:t>
            </a:r>
          </a:p>
          <a:p>
            <a:pPr marL="630238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/>
              <a:t>Data is split into blocks and stored across multiple machines in a cluster.</a:t>
            </a:r>
          </a:p>
          <a:p>
            <a:pPr marL="630238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/>
              <a:t>This allows </a:t>
            </a:r>
            <a:r>
              <a:rPr lang="en-US" sz="1800" b="1" dirty="0"/>
              <a:t>huge datasets (terabytes or petabytes)</a:t>
            </a:r>
            <a:r>
              <a:rPr lang="en-US" sz="1800" dirty="0"/>
              <a:t> to be stored efficiently</a:t>
            </a:r>
            <a:r>
              <a:rPr lang="en-US" sz="1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983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33400" y="152400"/>
            <a:ext cx="7772400" cy="381000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800" dirty="0" err="1" smtClean="0">
                <a:solidFill>
                  <a:schemeClr val="accent1"/>
                </a:solidFill>
              </a:rPr>
              <a:t>Hadoop</a:t>
            </a:r>
            <a:r>
              <a:rPr lang="en-US" sz="2800" dirty="0" smtClean="0">
                <a:solidFill>
                  <a:schemeClr val="accent1"/>
                </a:solidFill>
              </a:rPr>
              <a:t>  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381000" y="685800"/>
            <a:ext cx="8458200" cy="5715000"/>
          </a:xfrm>
          <a:prstGeom prst="rect">
            <a:avLst/>
          </a:prstGeom>
        </p:spPr>
        <p:txBody>
          <a:bodyPr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r>
              <a:rPr lang="en-US" sz="1800" b="1" dirty="0" smtClean="0"/>
              <a:t>2</a:t>
            </a:r>
            <a:r>
              <a:rPr lang="en-US" sz="1800" b="1" dirty="0"/>
              <a:t>. Distributed Processing</a:t>
            </a:r>
          </a:p>
          <a:p>
            <a:pPr marL="569913" indent="-225425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 err="1"/>
              <a:t>Hadoop</a:t>
            </a:r>
            <a:r>
              <a:rPr lang="en-US" sz="1800" dirty="0"/>
              <a:t> processes data using </a:t>
            </a:r>
            <a:r>
              <a:rPr lang="en-US" sz="1800" b="1" dirty="0" err="1"/>
              <a:t>MapReduce</a:t>
            </a:r>
            <a:r>
              <a:rPr lang="en-US" sz="1800" dirty="0"/>
              <a:t>.</a:t>
            </a:r>
          </a:p>
          <a:p>
            <a:pPr marL="569913" indent="-225425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/>
              <a:t>Tasks are divided into smaller parts and processed in parallel across many nodes.</a:t>
            </a:r>
          </a:p>
          <a:p>
            <a:pPr marL="569913" indent="-225425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/>
              <a:t>This greatly </a:t>
            </a:r>
            <a:r>
              <a:rPr lang="en-US" sz="1800" b="1" dirty="0"/>
              <a:t>speeds up large data processing</a:t>
            </a:r>
            <a:r>
              <a:rPr lang="en-US" sz="1800" dirty="0"/>
              <a:t>.</a:t>
            </a:r>
          </a:p>
          <a:p>
            <a:pPr marL="109728" indent="0">
              <a:buNone/>
            </a:pPr>
            <a:r>
              <a:rPr lang="en-US" sz="1800" b="1" dirty="0"/>
              <a:t>3. Scalability</a:t>
            </a:r>
          </a:p>
          <a:p>
            <a:pPr marL="630238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 err="1"/>
              <a:t>Hadoop</a:t>
            </a:r>
            <a:r>
              <a:rPr lang="en-US" sz="1800" dirty="0"/>
              <a:t> clusters can easily grow by </a:t>
            </a:r>
            <a:r>
              <a:rPr lang="en-US" sz="1800" b="1" dirty="0"/>
              <a:t>adding more machines (nodes)</a:t>
            </a:r>
            <a:r>
              <a:rPr lang="en-US" sz="1800" dirty="0"/>
              <a:t>.</a:t>
            </a:r>
          </a:p>
          <a:p>
            <a:pPr marL="630238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/>
              <a:t>It can scale from a few computers to </a:t>
            </a:r>
            <a:r>
              <a:rPr lang="en-US" sz="1800" b="1" dirty="0"/>
              <a:t>thousands of nodes</a:t>
            </a:r>
            <a:r>
              <a:rPr lang="en-US" sz="1800" dirty="0"/>
              <a:t>.</a:t>
            </a:r>
          </a:p>
          <a:p>
            <a:pPr marL="109728" indent="0">
              <a:buNone/>
            </a:pPr>
            <a:r>
              <a:rPr lang="en-US" sz="1800" b="1" dirty="0"/>
              <a:t>4. Fault Tolerance</a:t>
            </a:r>
          </a:p>
          <a:p>
            <a:pPr marL="569913" indent="-225425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 err="1"/>
              <a:t>Hadoop</a:t>
            </a:r>
            <a:r>
              <a:rPr lang="en-US" sz="1800" dirty="0"/>
              <a:t> automatically </a:t>
            </a:r>
            <a:r>
              <a:rPr lang="en-US" sz="1800" b="1" dirty="0"/>
              <a:t>replicates data across different nodes</a:t>
            </a:r>
            <a:r>
              <a:rPr lang="en-US" sz="1800" dirty="0"/>
              <a:t>.</a:t>
            </a:r>
          </a:p>
          <a:p>
            <a:pPr marL="569913" indent="-225425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/>
              <a:t>If one machine fails, data can be recovered from another copy.</a:t>
            </a:r>
          </a:p>
          <a:p>
            <a:pPr marL="109728" indent="0">
              <a:buNone/>
            </a:pPr>
            <a:r>
              <a:rPr lang="en-US" sz="1800" b="1" dirty="0"/>
              <a:t>5. Cost Effective</a:t>
            </a:r>
          </a:p>
          <a:p>
            <a:pPr marL="569913" indent="-225425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/>
              <a:t>Runs on </a:t>
            </a:r>
            <a:r>
              <a:rPr lang="en-US" sz="1800" b="1" dirty="0"/>
              <a:t>commodity hardware (regular inexpensive servers)</a:t>
            </a:r>
            <a:r>
              <a:rPr lang="en-US" sz="1800" dirty="0"/>
              <a:t> instead of expensive supercomputers.</a:t>
            </a:r>
          </a:p>
          <a:p>
            <a:pPr marL="569913" indent="-225425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/>
              <a:t>The software itself is </a:t>
            </a:r>
            <a:r>
              <a:rPr lang="en-US" sz="1800" b="1" dirty="0"/>
              <a:t>open source</a:t>
            </a:r>
            <a:r>
              <a:rPr lang="en-US" sz="1800" dirty="0"/>
              <a:t>.</a:t>
            </a:r>
          </a:p>
          <a:p>
            <a:pPr marL="109728" indent="0">
              <a:buNone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81288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33400" y="152400"/>
            <a:ext cx="7772400" cy="381000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800" dirty="0" err="1" smtClean="0">
                <a:solidFill>
                  <a:schemeClr val="accent1"/>
                </a:solidFill>
              </a:rPr>
              <a:t>Hadoop</a:t>
            </a:r>
            <a:r>
              <a:rPr lang="en-US" sz="2800" dirty="0" smtClean="0">
                <a:solidFill>
                  <a:schemeClr val="accent1"/>
                </a:solidFill>
              </a:rPr>
              <a:t>  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381000" y="533400"/>
            <a:ext cx="8458200" cy="5867400"/>
          </a:xfrm>
          <a:prstGeom prst="rect">
            <a:avLst/>
          </a:prstGeom>
        </p:spPr>
        <p:txBody>
          <a:bodyPr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r>
              <a:rPr lang="en-US" sz="1800" b="1" dirty="0" smtClean="0"/>
              <a:t>6</a:t>
            </a:r>
            <a:r>
              <a:rPr lang="en-US" sz="1800" b="1" dirty="0"/>
              <a:t>. High Throughput</a:t>
            </a:r>
          </a:p>
          <a:p>
            <a:pPr marL="569913" indent="-225425">
              <a:buFont typeface="Wingdings" pitchFamily="2" charset="2"/>
              <a:buChar char="§"/>
            </a:pPr>
            <a:r>
              <a:rPr lang="en-US" sz="1800" dirty="0"/>
              <a:t>Optimized for </a:t>
            </a:r>
            <a:r>
              <a:rPr lang="en-US" sz="1800" b="1" dirty="0"/>
              <a:t>processing large volumes of data quickly</a:t>
            </a:r>
            <a:r>
              <a:rPr lang="en-US" sz="1800" dirty="0"/>
              <a:t>, rather than low-latency queries.</a:t>
            </a:r>
          </a:p>
          <a:p>
            <a:pPr marL="109728" indent="0">
              <a:buNone/>
            </a:pPr>
            <a:r>
              <a:rPr lang="en-US" sz="1800" b="1" dirty="0"/>
              <a:t>7. Flexibility</a:t>
            </a:r>
          </a:p>
          <a:p>
            <a:pPr marL="569913" indent="-225425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 err="1"/>
              <a:t>Hadoop</a:t>
            </a:r>
            <a:r>
              <a:rPr lang="en-US" sz="1800" dirty="0"/>
              <a:t> can process </a:t>
            </a:r>
            <a:r>
              <a:rPr lang="en-US" sz="1800" b="1" dirty="0"/>
              <a:t>structured, semi-structured, and unstructured data</a:t>
            </a:r>
            <a:r>
              <a:rPr lang="en-US" sz="1800" dirty="0"/>
              <a:t> (text, logs, images, etc.).</a:t>
            </a:r>
          </a:p>
          <a:p>
            <a:pPr marL="109728" indent="0">
              <a:buNone/>
            </a:pPr>
            <a:r>
              <a:rPr lang="en-US" sz="1800" b="1" dirty="0"/>
              <a:t>8. Data Locality</a:t>
            </a:r>
          </a:p>
          <a:p>
            <a:pPr marL="569913" indent="-1714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 err="1"/>
              <a:t>Hadoop</a:t>
            </a:r>
            <a:r>
              <a:rPr lang="en-US" sz="1800" dirty="0"/>
              <a:t> moves </a:t>
            </a:r>
            <a:r>
              <a:rPr lang="en-US" sz="1800" b="1" dirty="0"/>
              <a:t>computation to where the data is stored</a:t>
            </a:r>
            <a:r>
              <a:rPr lang="en-US" sz="1800" dirty="0"/>
              <a:t>, reducing network traffic and increasing performance.</a:t>
            </a:r>
          </a:p>
          <a:p>
            <a:pPr marL="0" indent="0" algn="just">
              <a:buNone/>
            </a:pPr>
            <a:endParaRPr lang="en-US" sz="1800" dirty="0"/>
          </a:p>
          <a:p>
            <a:pPr marL="630238" indent="-285750">
              <a:buClr>
                <a:schemeClr val="tx1"/>
              </a:buClr>
              <a:buFont typeface="Wingdings" pitchFamily="2" charset="2"/>
              <a:buChar char="§"/>
            </a:pPr>
            <a:endParaRPr lang="en-US" sz="1800" dirty="0"/>
          </a:p>
          <a:p>
            <a:pPr marL="0" indent="0" algn="just">
              <a:buNone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18783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33400" y="152400"/>
            <a:ext cx="7772400" cy="381000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 err="1" smtClean="0">
                <a:solidFill>
                  <a:schemeClr val="accent1"/>
                </a:solidFill>
              </a:rPr>
              <a:t>Hadoop</a:t>
            </a:r>
            <a:r>
              <a:rPr lang="en-US" sz="2800" b="1" dirty="0" smtClean="0">
                <a:solidFill>
                  <a:schemeClr val="accent1"/>
                </a:solidFill>
              </a:rPr>
              <a:t> 2.0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533400" y="685800"/>
            <a:ext cx="8001000" cy="54864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200" dirty="0" smtClean="0"/>
              <a:t>HDFS continues to be the data storage framework.</a:t>
            </a:r>
          </a:p>
          <a:p>
            <a:pPr algn="just"/>
            <a:r>
              <a:rPr lang="en-US" sz="2200" dirty="0" smtClean="0"/>
              <a:t>YARN – Yet Another Resource Negotiator has been added.</a:t>
            </a:r>
          </a:p>
          <a:p>
            <a:pPr algn="just"/>
            <a:r>
              <a:rPr lang="en-US" sz="2200" dirty="0" smtClean="0"/>
              <a:t>Any application capable of dividing itself into parallel tasks is supported by YARN.</a:t>
            </a:r>
          </a:p>
          <a:p>
            <a:pPr algn="just"/>
            <a:r>
              <a:rPr lang="en-US" sz="2200" dirty="0" smtClean="0"/>
              <a:t>It works by having an </a:t>
            </a:r>
            <a:r>
              <a:rPr lang="en-US" sz="2200" dirty="0" err="1" smtClean="0"/>
              <a:t>ApplicationMaster</a:t>
            </a:r>
            <a:r>
              <a:rPr lang="en-US" sz="2200" dirty="0" smtClean="0"/>
              <a:t> in place of the former </a:t>
            </a:r>
            <a:r>
              <a:rPr lang="en-US" sz="2200" dirty="0" err="1" smtClean="0"/>
              <a:t>JobTracker</a:t>
            </a:r>
            <a:endParaRPr lang="en-US" sz="2200" dirty="0" smtClean="0"/>
          </a:p>
          <a:p>
            <a:pPr algn="just"/>
            <a:r>
              <a:rPr lang="en-US" sz="2200" dirty="0" smtClean="0"/>
              <a:t>There is a </a:t>
            </a:r>
            <a:r>
              <a:rPr lang="en-US" sz="2200" dirty="0" err="1" smtClean="0"/>
              <a:t>NodeManager</a:t>
            </a:r>
            <a:r>
              <a:rPr lang="en-US" sz="2200" dirty="0" smtClean="0"/>
              <a:t> in place of a Task Tracker</a:t>
            </a:r>
          </a:p>
          <a:p>
            <a:pPr algn="just"/>
            <a:r>
              <a:rPr lang="en-US" sz="2200" dirty="0" err="1" smtClean="0"/>
              <a:t>ApplicationMaster</a:t>
            </a:r>
            <a:r>
              <a:rPr lang="en-US" sz="2200" dirty="0" smtClean="0"/>
              <a:t> is able to run any application and not just </a:t>
            </a:r>
            <a:r>
              <a:rPr lang="en-US" sz="2200" dirty="0" err="1" smtClean="0"/>
              <a:t>MapReduce</a:t>
            </a:r>
            <a:endParaRPr lang="en-US" sz="2200" dirty="0" smtClean="0"/>
          </a:p>
          <a:p>
            <a:pPr algn="just"/>
            <a:r>
              <a:rPr lang="en-US" sz="2200" dirty="0" err="1" smtClean="0"/>
              <a:t>MapReduce</a:t>
            </a:r>
            <a:r>
              <a:rPr lang="en-US" sz="2200" dirty="0" smtClean="0"/>
              <a:t> expertise is no longer needed</a:t>
            </a:r>
          </a:p>
          <a:p>
            <a:pPr algn="just"/>
            <a:r>
              <a:rPr lang="en-US" sz="2200" dirty="0" smtClean="0"/>
              <a:t>Supports </a:t>
            </a:r>
            <a:r>
              <a:rPr lang="en-US" sz="2200" dirty="0" err="1" smtClean="0"/>
              <a:t>realtime</a:t>
            </a:r>
            <a:r>
              <a:rPr lang="en-US" sz="2200" dirty="0" smtClean="0"/>
              <a:t> processing also</a:t>
            </a:r>
          </a:p>
          <a:p>
            <a:pPr algn="just"/>
            <a:r>
              <a:rPr lang="en-US" sz="2200" dirty="0" smtClean="0"/>
              <a:t>Data processing function like data standardization, master data management can now be performed natively in HDFS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04473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304800"/>
            <a:ext cx="7772400" cy="612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Hadoop</a:t>
            </a:r>
            <a:r>
              <a:rPr lang="en-US" sz="2800" dirty="0" smtClean="0"/>
              <a:t> 2.0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533400" y="1066800"/>
            <a:ext cx="80010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b="1" dirty="0" err="1" smtClean="0"/>
              <a:t>Hadoop</a:t>
            </a:r>
            <a:r>
              <a:rPr lang="en-US" sz="2200" b="1" dirty="0" smtClean="0"/>
              <a:t> Ecosystem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200" dirty="0" smtClean="0"/>
              <a:t>Following are the components of </a:t>
            </a:r>
            <a:r>
              <a:rPr lang="en-US" sz="2200" dirty="0" err="1" smtClean="0"/>
              <a:t>Hadoop</a:t>
            </a:r>
            <a:r>
              <a:rPr lang="en-US" sz="2200" dirty="0" smtClean="0"/>
              <a:t> ecosystem: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 smtClean="0"/>
              <a:t>HDFS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 err="1" smtClean="0"/>
              <a:t>Hbase</a:t>
            </a:r>
            <a:endParaRPr lang="en-US" sz="1800" dirty="0" smtClean="0"/>
          </a:p>
          <a:p>
            <a:pPr lvl="1" algn="just">
              <a:buFont typeface="Wingdings" pitchFamily="2" charset="2"/>
              <a:buChar char="§"/>
            </a:pPr>
            <a:r>
              <a:rPr lang="en-US" sz="1800" dirty="0" smtClean="0"/>
              <a:t>Hive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 smtClean="0"/>
              <a:t>Pig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 smtClean="0"/>
              <a:t>Zookeeper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 err="1" smtClean="0"/>
              <a:t>Oozie</a:t>
            </a:r>
            <a:endParaRPr lang="en-US" sz="1800" dirty="0" smtClean="0"/>
          </a:p>
          <a:p>
            <a:pPr lvl="1" algn="just">
              <a:buFont typeface="Wingdings" pitchFamily="2" charset="2"/>
              <a:buChar char="§"/>
            </a:pPr>
            <a:r>
              <a:rPr lang="en-US" sz="1800" dirty="0" err="1" smtClean="0"/>
              <a:t>Mahoute</a:t>
            </a:r>
            <a:endParaRPr lang="en-US" sz="1800" dirty="0" smtClean="0"/>
          </a:p>
          <a:p>
            <a:pPr lvl="1" algn="just">
              <a:buFont typeface="Wingdings" pitchFamily="2" charset="2"/>
              <a:buChar char="§"/>
            </a:pPr>
            <a:r>
              <a:rPr lang="en-US" sz="1800" dirty="0" err="1" smtClean="0"/>
              <a:t>Chukwa</a:t>
            </a:r>
            <a:endParaRPr lang="en-US" sz="1800" dirty="0" smtClean="0"/>
          </a:p>
          <a:p>
            <a:pPr lvl="1" algn="just">
              <a:buFont typeface="Wingdings" pitchFamily="2" charset="2"/>
              <a:buChar char="§"/>
            </a:pPr>
            <a:r>
              <a:rPr lang="en-US" sz="1800" dirty="0" err="1" smtClean="0"/>
              <a:t>Sqoop</a:t>
            </a:r>
            <a:endParaRPr lang="en-US" sz="1800" dirty="0" smtClean="0"/>
          </a:p>
          <a:p>
            <a:pPr lvl="1" algn="just">
              <a:buFont typeface="Wingdings" pitchFamily="2" charset="2"/>
              <a:buChar char="§"/>
            </a:pPr>
            <a:r>
              <a:rPr lang="en-US" sz="1800" dirty="0" err="1" smtClean="0"/>
              <a:t>Ambari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195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99868"/>
              </p:ext>
            </p:extLst>
          </p:nvPr>
        </p:nvGraphicFramePr>
        <p:xfrm>
          <a:off x="304800" y="1371600"/>
          <a:ext cx="8534400" cy="329184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24000"/>
                <a:gridCol w="1295400"/>
                <a:gridCol w="914400"/>
                <a:gridCol w="1447800"/>
                <a:gridCol w="1447800"/>
                <a:gridCol w="1905000"/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rgbClr val="FF0000"/>
                          </a:solidFill>
                        </a:rPr>
                        <a:t>Ambari</a:t>
                      </a:r>
                      <a:endParaRPr lang="en-US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dirty="0" smtClean="0"/>
                        <a:t>(Provisioning, Managing and Monitoring </a:t>
                      </a:r>
                      <a:r>
                        <a:rPr lang="en-US" dirty="0" err="1" smtClean="0"/>
                        <a:t>Hadoop</a:t>
                      </a:r>
                      <a:r>
                        <a:rPr lang="en-US" dirty="0" smtClean="0"/>
                        <a:t> cluster)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 err="1" smtClean="0"/>
                        <a:t>Sqoop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Relational Database</a:t>
                      </a:r>
                      <a:r>
                        <a:rPr lang="en-US" baseline="0" dirty="0" smtClean="0"/>
                        <a:t> Data Collector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Mahoute</a:t>
                      </a:r>
                      <a:r>
                        <a:rPr lang="en-US" dirty="0" smtClean="0"/>
                        <a:t> (Machine Learning)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Pig (Data Flow)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 (Statistics)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Hive (Data Warehouse)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 err="1" smtClean="0"/>
                        <a:t>Oozie</a:t>
                      </a:r>
                      <a:r>
                        <a:rPr lang="en-US" dirty="0" smtClean="0"/>
                        <a:t> (Workflow)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r>
                        <a:rPr lang="en-US" dirty="0" err="1" smtClean="0"/>
                        <a:t>MapReduce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(Distributed Processing)</a:t>
                      </a:r>
                      <a:endParaRPr lang="en-US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r>
                        <a:rPr lang="en-US" dirty="0" err="1" smtClean="0"/>
                        <a:t>Hbase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(Distributed Table Store)</a:t>
                      </a:r>
                      <a:endParaRPr lang="en-US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Flume/ </a:t>
                      </a:r>
                      <a:r>
                        <a:rPr lang="en-US" dirty="0" err="1" smtClean="0"/>
                        <a:t>Chukwa</a:t>
                      </a:r>
                      <a:r>
                        <a:rPr lang="en-US" dirty="0" smtClean="0"/>
                        <a:t> (Log Data collector)</a:t>
                      </a:r>
                      <a:endParaRPr lang="en-US" dirty="0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Zookeeper</a:t>
                      </a:r>
                    </a:p>
                    <a:p>
                      <a:r>
                        <a:rPr lang="en-US" dirty="0" smtClean="0"/>
                        <a:t>(Coordination)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accent1"/>
                          </a:solidFill>
                        </a:rPr>
                        <a:t>HDFS</a:t>
                      </a:r>
                    </a:p>
                    <a:p>
                      <a:pPr algn="ctr"/>
                      <a:r>
                        <a:rPr lang="en-US" b="1" dirty="0" smtClean="0">
                          <a:solidFill>
                            <a:schemeClr val="accent1"/>
                          </a:solidFill>
                        </a:rPr>
                        <a:t>(</a:t>
                      </a:r>
                      <a:r>
                        <a:rPr lang="en-US" b="1" dirty="0" err="1" smtClean="0">
                          <a:solidFill>
                            <a:schemeClr val="accent1"/>
                          </a:solidFill>
                        </a:rPr>
                        <a:t>Hadoop</a:t>
                      </a:r>
                      <a:r>
                        <a:rPr lang="en-US" b="1" dirty="0" smtClean="0">
                          <a:solidFill>
                            <a:schemeClr val="accent1"/>
                          </a:solidFill>
                        </a:rPr>
                        <a:t> Distributed File System)</a:t>
                      </a:r>
                      <a:endParaRPr 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457200" y="304800"/>
            <a:ext cx="7772400" cy="612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 err="1"/>
              <a:t>Hadoop</a:t>
            </a:r>
            <a:r>
              <a:rPr lang="en-US" sz="2800" b="1" dirty="0"/>
              <a:t> Ecosystem</a:t>
            </a:r>
          </a:p>
        </p:txBody>
      </p:sp>
    </p:spTree>
    <p:extLst>
      <p:ext uri="{BB962C8B-B14F-4D97-AF65-F5344CB8AC3E}">
        <p14:creationId xmlns:p14="http://schemas.microsoft.com/office/powerpoint/2010/main" val="3783091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Hadoop</a:t>
            </a:r>
            <a:r>
              <a:rPr lang="en-US" sz="2800" dirty="0" smtClean="0"/>
              <a:t> Distribution</a:t>
            </a:r>
            <a:endParaRPr lang="en-US" sz="2800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533400" y="685800"/>
            <a:ext cx="80010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dirty="0" smtClean="0"/>
              <a:t>The core aspects of </a:t>
            </a:r>
            <a:r>
              <a:rPr lang="en-US" sz="2200" dirty="0" err="1" smtClean="0"/>
              <a:t>Hadoop</a:t>
            </a:r>
            <a:r>
              <a:rPr lang="en-US" sz="2200" dirty="0" smtClean="0"/>
              <a:t> include the following: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err="1" smtClean="0"/>
              <a:t>Hadoop</a:t>
            </a:r>
            <a:r>
              <a:rPr lang="en-US" sz="2000" dirty="0" smtClean="0"/>
              <a:t> Common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err="1" smtClean="0"/>
              <a:t>Hadoop</a:t>
            </a:r>
            <a:r>
              <a:rPr lang="en-US" sz="2000" dirty="0" smtClean="0"/>
              <a:t> Distributed File System (HDFS)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err="1" smtClean="0"/>
              <a:t>Hadoop</a:t>
            </a:r>
            <a:r>
              <a:rPr lang="en-US" sz="2000" dirty="0" smtClean="0"/>
              <a:t> YARN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err="1" smtClean="0"/>
              <a:t>Hadoop</a:t>
            </a:r>
            <a:r>
              <a:rPr lang="en-US" sz="2000" dirty="0" smtClean="0"/>
              <a:t> </a:t>
            </a:r>
            <a:r>
              <a:rPr lang="en-US" sz="2000" dirty="0" err="1" smtClean="0"/>
              <a:t>MapReduce</a:t>
            </a:r>
            <a:endParaRPr lang="en-US" sz="2000" dirty="0" smtClean="0"/>
          </a:p>
          <a:p>
            <a:pPr marL="457200" lvl="1" indent="0" algn="just">
              <a:buNone/>
            </a:pPr>
            <a:endParaRPr lang="en-US" sz="2000" dirty="0" smtClean="0"/>
          </a:p>
          <a:p>
            <a:pPr marL="0" indent="0" algn="just">
              <a:buNone/>
            </a:pPr>
            <a:r>
              <a:rPr lang="en-US" sz="2200" dirty="0" smtClean="0"/>
              <a:t>Cloud based </a:t>
            </a:r>
            <a:r>
              <a:rPr lang="en-US" sz="2200" dirty="0" err="1" smtClean="0"/>
              <a:t>Hadoop</a:t>
            </a:r>
            <a:r>
              <a:rPr lang="en-US" sz="2200" dirty="0" smtClean="0"/>
              <a:t> solution</a:t>
            </a:r>
            <a:endParaRPr lang="en-US" sz="2200" dirty="0"/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Amazon web services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Google </a:t>
            </a:r>
            <a:r>
              <a:rPr lang="en-US" sz="2000" dirty="0" err="1" smtClean="0"/>
              <a:t>BigQuery</a:t>
            </a:r>
            <a:endParaRPr lang="en-US" sz="2000" dirty="0" smtClean="0"/>
          </a:p>
          <a:p>
            <a:pPr lvl="1" algn="just">
              <a:buFont typeface="Wingdings" pitchFamily="2" charset="2"/>
              <a:buChar char="§"/>
            </a:pPr>
            <a:endParaRPr lang="en-US" sz="1400" dirty="0"/>
          </a:p>
        </p:txBody>
      </p:sp>
      <p:sp>
        <p:nvSpPr>
          <p:cNvPr id="4" name="Oval 3"/>
          <p:cNvSpPr/>
          <p:nvPr/>
        </p:nvSpPr>
        <p:spPr>
          <a:xfrm>
            <a:off x="6587905" y="1828800"/>
            <a:ext cx="2362200" cy="381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Hortonworks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6705600" y="4267200"/>
            <a:ext cx="2362200" cy="685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IBM </a:t>
            </a:r>
            <a:r>
              <a:rPr lang="en-US" sz="1200" dirty="0" err="1" smtClean="0">
                <a:solidFill>
                  <a:schemeClr val="tx1"/>
                </a:solidFill>
              </a:rPr>
              <a:t>InfoSphere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BiglnSights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6705600" y="5715000"/>
            <a:ext cx="2362200" cy="4572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MS Big Data Solution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6590923" y="1066800"/>
            <a:ext cx="2362200" cy="685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Intel distribution for </a:t>
            </a:r>
            <a:r>
              <a:rPr lang="en-US" sz="1200" dirty="0" err="1" smtClean="0">
                <a:solidFill>
                  <a:schemeClr val="tx1"/>
                </a:solidFill>
              </a:rPr>
              <a:t>Apachee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Hadoop</a:t>
            </a:r>
            <a:r>
              <a:rPr lang="en-US" sz="1200" dirty="0" smtClean="0">
                <a:solidFill>
                  <a:schemeClr val="tx1"/>
                </a:solidFill>
              </a:rPr>
              <a:t> Software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705600" y="5105400"/>
            <a:ext cx="2362200" cy="4572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MapR</a:t>
            </a:r>
            <a:r>
              <a:rPr lang="en-US" sz="1200" dirty="0" smtClean="0">
                <a:solidFill>
                  <a:schemeClr val="tx1"/>
                </a:solidFill>
              </a:rPr>
              <a:t> M5 Edition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6553200" y="2362200"/>
            <a:ext cx="2362200" cy="95325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Cloudera</a:t>
            </a:r>
            <a:r>
              <a:rPr lang="en-US" sz="1200" dirty="0" smtClean="0">
                <a:solidFill>
                  <a:schemeClr val="tx1"/>
                </a:solidFill>
              </a:rPr>
              <a:t> distribution including Apache </a:t>
            </a:r>
            <a:r>
              <a:rPr lang="en-US" sz="1200" dirty="0" err="1" smtClean="0">
                <a:solidFill>
                  <a:schemeClr val="tx1"/>
                </a:solidFill>
              </a:rPr>
              <a:t>Hadoop</a:t>
            </a:r>
            <a:r>
              <a:rPr lang="en-US" sz="1200" dirty="0" smtClean="0">
                <a:solidFill>
                  <a:schemeClr val="tx1"/>
                </a:solidFill>
              </a:rPr>
              <a:t> (CDH)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553200" y="3472004"/>
            <a:ext cx="2362200" cy="5665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EMC </a:t>
            </a:r>
            <a:r>
              <a:rPr lang="en-US" sz="1200" dirty="0" err="1" smtClean="0">
                <a:solidFill>
                  <a:schemeClr val="tx1"/>
                </a:solidFill>
              </a:rPr>
              <a:t>Greenplum</a:t>
            </a:r>
            <a:r>
              <a:rPr lang="en-US" sz="1200" dirty="0" smtClean="0">
                <a:solidFill>
                  <a:schemeClr val="tx1"/>
                </a:solidFill>
              </a:rPr>
              <a:t>  HD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71800" y="4343400"/>
            <a:ext cx="25146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chemeClr val="tx1"/>
                </a:solidFill>
              </a:rPr>
              <a:t>Hadoop</a:t>
            </a:r>
            <a:r>
              <a:rPr lang="en-US" sz="1400" dirty="0" smtClean="0">
                <a:solidFill>
                  <a:schemeClr val="tx1"/>
                </a:solidFill>
              </a:rPr>
              <a:t> Distribution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5486400" y="1409700"/>
            <a:ext cx="1104523" cy="2933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4" idx="2"/>
          </p:cNvCxnSpPr>
          <p:nvPr/>
        </p:nvCxnSpPr>
        <p:spPr>
          <a:xfrm flipV="1">
            <a:off x="5429061" y="2019300"/>
            <a:ext cx="1158844" cy="24961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1" idx="3"/>
            <a:endCxn id="9" idx="2"/>
          </p:cNvCxnSpPr>
          <p:nvPr/>
        </p:nvCxnSpPr>
        <p:spPr>
          <a:xfrm flipV="1">
            <a:off x="5486400" y="2838827"/>
            <a:ext cx="1066800" cy="17712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5" idx="2"/>
          </p:cNvCxnSpPr>
          <p:nvPr/>
        </p:nvCxnSpPr>
        <p:spPr>
          <a:xfrm>
            <a:off x="5562600" y="4610100"/>
            <a:ext cx="1143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1" idx="3"/>
            <a:endCxn id="10" idx="2"/>
          </p:cNvCxnSpPr>
          <p:nvPr/>
        </p:nvCxnSpPr>
        <p:spPr>
          <a:xfrm flipV="1">
            <a:off x="5486400" y="3755302"/>
            <a:ext cx="1066800" cy="8547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8" idx="2"/>
          </p:cNvCxnSpPr>
          <p:nvPr/>
        </p:nvCxnSpPr>
        <p:spPr>
          <a:xfrm>
            <a:off x="5562600" y="4724400"/>
            <a:ext cx="11430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6" idx="2"/>
          </p:cNvCxnSpPr>
          <p:nvPr/>
        </p:nvCxnSpPr>
        <p:spPr>
          <a:xfrm>
            <a:off x="5486400" y="4724400"/>
            <a:ext cx="1219200" cy="1219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205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solidFill>
                  <a:srgbClr val="0070C0"/>
                </a:solidFill>
              </a:rPr>
              <a:t>Advantages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533401"/>
            <a:ext cx="8114097" cy="5638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Advantages</a:t>
            </a:r>
          </a:p>
          <a:p>
            <a:pPr algn="just">
              <a:buFont typeface="Wingdings" pitchFamily="2" charset="2"/>
              <a:buChar char="§"/>
            </a:pPr>
            <a:r>
              <a:rPr lang="en-US" sz="1800" dirty="0" smtClean="0"/>
              <a:t>Stores data in its naïve format: HDFS format.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1800" dirty="0" smtClean="0"/>
              <a:t>Scalable</a:t>
            </a:r>
          </a:p>
          <a:p>
            <a:pPr algn="just">
              <a:buFont typeface="Wingdings" pitchFamily="2" charset="2"/>
              <a:buChar char="§"/>
            </a:pPr>
            <a:r>
              <a:rPr lang="en-US" sz="1800" dirty="0" smtClean="0"/>
              <a:t>Cost effective</a:t>
            </a:r>
          </a:p>
          <a:p>
            <a:pPr algn="just">
              <a:buFont typeface="Wingdings" pitchFamily="2" charset="2"/>
              <a:buChar char="§"/>
            </a:pPr>
            <a:r>
              <a:rPr lang="en-US" sz="1800" dirty="0" smtClean="0"/>
              <a:t>Resilient to failure</a:t>
            </a:r>
          </a:p>
          <a:p>
            <a:pPr algn="just">
              <a:buFont typeface="Wingdings" pitchFamily="2" charset="2"/>
              <a:buChar char="§"/>
            </a:pPr>
            <a:r>
              <a:rPr lang="en-US" sz="1800" dirty="0" smtClean="0"/>
              <a:t>Flexibility</a:t>
            </a:r>
          </a:p>
          <a:p>
            <a:pPr algn="just">
              <a:buFont typeface="Wingdings" pitchFamily="2" charset="2"/>
              <a:buChar char="§"/>
            </a:pPr>
            <a:r>
              <a:rPr lang="en-US" sz="1800" dirty="0" smtClean="0"/>
              <a:t>Extremely fast</a:t>
            </a:r>
          </a:p>
          <a:p>
            <a:pPr algn="just">
              <a:buFont typeface="Wingdings" pitchFamily="2" charset="2"/>
              <a:buChar char="§"/>
            </a:pPr>
            <a:endParaRPr lang="en-US" sz="1800" dirty="0"/>
          </a:p>
          <a:p>
            <a:pPr marL="0" indent="0" algn="just">
              <a:buNone/>
            </a:pPr>
            <a:r>
              <a:rPr lang="en-US" sz="2200" dirty="0"/>
              <a:t>The key considerations are::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/>
              <a:t>Its capability to handle massive amount of data, different categories of data- fairly quickly. </a:t>
            </a:r>
          </a:p>
          <a:p>
            <a:pPr marL="457200" lvl="1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200" dirty="0"/>
              <a:t>The other considerations are: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/>
              <a:t>Low cost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/>
              <a:t>Computing power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/>
              <a:t>Scalability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/>
              <a:t>Storage flexibility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/>
              <a:t>Inherent data protection</a:t>
            </a:r>
          </a:p>
          <a:p>
            <a:pPr algn="just">
              <a:buFont typeface="Wingdings" pitchFamily="2" charset="2"/>
              <a:buChar char="§"/>
            </a:pPr>
            <a:endParaRPr lang="en-US" sz="1800" dirty="0" smtClean="0"/>
          </a:p>
          <a:p>
            <a:pPr marL="0" indent="0" algn="just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5154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>
                <a:solidFill>
                  <a:srgbClr val="0070C0"/>
                </a:solidFill>
              </a:rPr>
              <a:t>Hadoop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 smtClean="0"/>
              <a:t>Cluster</a:t>
            </a:r>
            <a:endParaRPr lang="en-US" sz="1800" b="1" dirty="0"/>
          </a:p>
          <a:p>
            <a:pPr marL="398463" lvl="1" indent="-280988" algn="just">
              <a:buFont typeface="Wingdings" pitchFamily="2" charset="2"/>
              <a:buChar char="§"/>
            </a:pPr>
            <a:r>
              <a:rPr lang="en-US" sz="1800" dirty="0" err="1" smtClean="0"/>
              <a:t>Hadoop</a:t>
            </a:r>
            <a:r>
              <a:rPr lang="en-US" sz="1800" dirty="0" smtClean="0"/>
              <a:t> makes use of commodity hardware, distributed file system and distributed computing. In this new design, the groups of machine are gathered together which is known as cluster.</a:t>
            </a:r>
          </a:p>
          <a:p>
            <a:pPr marL="457200" lvl="1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/>
              <a:t>Data can be managed using </a:t>
            </a:r>
            <a:r>
              <a:rPr lang="en-US" sz="1800" dirty="0" err="1"/>
              <a:t>Hadoop</a:t>
            </a:r>
            <a:r>
              <a:rPr lang="en-US" sz="1800" dirty="0"/>
              <a:t> as follows: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/>
              <a:t>Distributes the data and duplicates chunks of each data files across several nodes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/>
              <a:t>Locally available computer resource is used to process each chunk of data in parallel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 err="1"/>
              <a:t>Hadoop</a:t>
            </a:r>
            <a:r>
              <a:rPr lang="en-US" sz="1800" dirty="0"/>
              <a:t> framework handles failover smartly and automatically</a:t>
            </a:r>
          </a:p>
          <a:p>
            <a:pPr marL="457200" lvl="1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b="1" dirty="0"/>
              <a:t>Distributed computing challenges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/>
              <a:t>Hardware failure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/>
              <a:t>How to process this Gigantic store of Data</a:t>
            </a:r>
          </a:p>
          <a:p>
            <a:pPr marL="344488" lvl="1" indent="-290513" algn="just">
              <a:buFont typeface="Wingdings" pitchFamily="2" charset="2"/>
              <a:buChar char="§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0396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Hadoop</a:t>
            </a:r>
            <a:endParaRPr lang="en-US" sz="2800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533401"/>
            <a:ext cx="8342697" cy="59435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 err="1" smtClean="0">
                <a:solidFill>
                  <a:schemeClr val="accent1"/>
                </a:solidFill>
              </a:rPr>
              <a:t>Hadoop</a:t>
            </a:r>
            <a:r>
              <a:rPr lang="en-US" sz="1800" b="1" dirty="0" smtClean="0">
                <a:solidFill>
                  <a:schemeClr val="accent1"/>
                </a:solidFill>
              </a:rPr>
              <a:t> components</a:t>
            </a:r>
          </a:p>
          <a:p>
            <a:pPr marL="0" indent="0" algn="just">
              <a:buNone/>
            </a:pPr>
            <a:r>
              <a:rPr lang="en-US" sz="1800" dirty="0" err="1" smtClean="0">
                <a:solidFill>
                  <a:srgbClr val="0070C0"/>
                </a:solidFill>
              </a:rPr>
              <a:t>Hadoop</a:t>
            </a:r>
            <a:r>
              <a:rPr lang="en-US" sz="1800" dirty="0" smtClean="0">
                <a:solidFill>
                  <a:srgbClr val="0070C0"/>
                </a:solidFill>
              </a:rPr>
              <a:t> core components</a:t>
            </a:r>
          </a:p>
          <a:p>
            <a:pPr algn="just">
              <a:buAutoNum type="arabicPeriod"/>
            </a:pPr>
            <a:r>
              <a:rPr lang="en-US" sz="1800" dirty="0" smtClean="0"/>
              <a:t>HDFS: </a:t>
            </a:r>
          </a:p>
          <a:p>
            <a:pPr marL="857250" lvl="1" indent="-400050" algn="just">
              <a:buFont typeface="+mj-lt"/>
              <a:buAutoNum type="romanLcPeriod"/>
            </a:pPr>
            <a:r>
              <a:rPr lang="en-US" sz="1400" dirty="0" smtClean="0"/>
              <a:t>Storage components</a:t>
            </a:r>
          </a:p>
          <a:p>
            <a:pPr marL="857250" lvl="1" indent="-400050" algn="just">
              <a:buFont typeface="+mj-lt"/>
              <a:buAutoNum type="romanLcPeriod"/>
            </a:pPr>
            <a:r>
              <a:rPr lang="en-US" sz="1400" dirty="0" smtClean="0"/>
              <a:t>Distributes data across several nodes</a:t>
            </a:r>
          </a:p>
          <a:p>
            <a:pPr marL="857250" lvl="1" indent="-400050" algn="just">
              <a:buFont typeface="+mj-lt"/>
              <a:buAutoNum type="romanLcPeriod"/>
            </a:pPr>
            <a:r>
              <a:rPr lang="en-US" sz="1400" dirty="0" smtClean="0"/>
              <a:t>Natively redundant</a:t>
            </a:r>
          </a:p>
          <a:p>
            <a:pPr marL="0" indent="0" algn="just">
              <a:buNone/>
            </a:pPr>
            <a:r>
              <a:rPr lang="en-US" sz="1800" dirty="0" smtClean="0"/>
              <a:t>2.   </a:t>
            </a:r>
            <a:r>
              <a:rPr lang="en-US" sz="1800" dirty="0" err="1" smtClean="0"/>
              <a:t>MapReduce</a:t>
            </a:r>
            <a:r>
              <a:rPr lang="en-US" sz="1800" dirty="0" smtClean="0"/>
              <a:t>: </a:t>
            </a:r>
            <a:endParaRPr lang="en-US" sz="1800" dirty="0"/>
          </a:p>
          <a:p>
            <a:pPr lvl="1" algn="just">
              <a:buAutoNum type="romanLcPeriod"/>
            </a:pPr>
            <a:r>
              <a:rPr lang="en-US" sz="1400" dirty="0" smtClean="0"/>
              <a:t>Computational Framework</a:t>
            </a:r>
          </a:p>
          <a:p>
            <a:pPr lvl="1" algn="just">
              <a:buAutoNum type="romanLcPeriod"/>
            </a:pPr>
            <a:r>
              <a:rPr lang="en-US" sz="1400" dirty="0" smtClean="0"/>
              <a:t>Splits a task across multiple nodes</a:t>
            </a:r>
          </a:p>
          <a:p>
            <a:pPr lvl="1" algn="just">
              <a:buAutoNum type="romanLcPeriod"/>
            </a:pPr>
            <a:r>
              <a:rPr lang="en-US" sz="1400" dirty="0" smtClean="0"/>
              <a:t>Processes data in parallel</a:t>
            </a:r>
          </a:p>
          <a:p>
            <a:pPr algn="just">
              <a:buAutoNum type="romanLcPeriod"/>
            </a:pPr>
            <a:endParaRPr lang="en-US" sz="1800" dirty="0" smtClean="0"/>
          </a:p>
          <a:p>
            <a:pPr marL="0" indent="0" algn="just">
              <a:buNone/>
            </a:pPr>
            <a:r>
              <a:rPr lang="en-US" sz="1800" dirty="0" err="1" smtClean="0"/>
              <a:t>Hadoop</a:t>
            </a:r>
            <a:r>
              <a:rPr lang="en-US" sz="1800" dirty="0" smtClean="0"/>
              <a:t> ecosystem: It is a support system to enhance the functionality of </a:t>
            </a:r>
            <a:r>
              <a:rPr lang="en-US" sz="1800" dirty="0" err="1" smtClean="0"/>
              <a:t>Hadoop</a:t>
            </a:r>
            <a:r>
              <a:rPr lang="en-US" sz="1800" dirty="0" smtClean="0"/>
              <a:t> components. The eco projects are as follows:</a:t>
            </a:r>
            <a:endParaRPr lang="en-US" sz="1800" dirty="0"/>
          </a:p>
          <a:p>
            <a:pPr lvl="1" algn="just">
              <a:buAutoNum type="arabicPeriod"/>
            </a:pPr>
            <a:r>
              <a:rPr lang="en-US" sz="1400" dirty="0" smtClean="0"/>
              <a:t>HIVE</a:t>
            </a:r>
          </a:p>
          <a:p>
            <a:pPr lvl="1" algn="just">
              <a:buAutoNum type="arabicPeriod"/>
            </a:pPr>
            <a:r>
              <a:rPr lang="en-US" sz="1400" dirty="0" smtClean="0"/>
              <a:t>PIG</a:t>
            </a:r>
          </a:p>
          <a:p>
            <a:pPr lvl="1" algn="just">
              <a:buAutoNum type="arabicPeriod"/>
            </a:pPr>
            <a:r>
              <a:rPr lang="en-US" sz="1400" dirty="0" smtClean="0"/>
              <a:t>SQOOP</a:t>
            </a:r>
          </a:p>
          <a:p>
            <a:pPr lvl="1" algn="just">
              <a:buAutoNum type="arabicPeriod"/>
            </a:pPr>
            <a:r>
              <a:rPr lang="en-US" sz="1400" dirty="0" smtClean="0"/>
              <a:t>HBASE</a:t>
            </a:r>
          </a:p>
          <a:p>
            <a:pPr lvl="1" algn="just">
              <a:buAutoNum type="arabicPeriod"/>
            </a:pPr>
            <a:r>
              <a:rPr lang="en-US" sz="1400" dirty="0" smtClean="0"/>
              <a:t>FLUME</a:t>
            </a:r>
          </a:p>
          <a:p>
            <a:pPr lvl="1" algn="just">
              <a:buAutoNum type="arabicPeriod"/>
            </a:pPr>
            <a:r>
              <a:rPr lang="en-US" sz="1400" dirty="0" smtClean="0"/>
              <a:t>OOZIE</a:t>
            </a:r>
          </a:p>
          <a:p>
            <a:pPr lvl="1" algn="just">
              <a:buAutoNum type="arabicPeriod"/>
            </a:pPr>
            <a:r>
              <a:rPr lang="en-US" sz="1400" dirty="0" smtClean="0"/>
              <a:t>MAHOUT</a:t>
            </a:r>
            <a:endParaRPr lang="en-US" sz="1400" dirty="0"/>
          </a:p>
          <a:p>
            <a:pPr lvl="1" algn="just">
              <a:buAutoNum type="arabicPeriod"/>
            </a:pPr>
            <a:endParaRPr lang="en-US" sz="1400" dirty="0"/>
          </a:p>
          <a:p>
            <a:pPr marL="457200" lvl="1" indent="0" algn="just">
              <a:buNone/>
            </a:pPr>
            <a:endParaRPr lang="en-US" sz="1400" dirty="0" smtClean="0"/>
          </a:p>
          <a:p>
            <a:pPr marL="0" indent="0" algn="just">
              <a:buNone/>
            </a:pPr>
            <a:r>
              <a:rPr lang="en-US" sz="1800" dirty="0"/>
              <a:t>	</a:t>
            </a:r>
            <a:endParaRPr lang="en-US" sz="1800" dirty="0" smtClean="0"/>
          </a:p>
          <a:p>
            <a:pPr marL="0" indent="0" algn="just">
              <a:buNone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865589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300" b="1" dirty="0" smtClean="0">
                <a:solidFill>
                  <a:schemeClr val="accent1"/>
                </a:solidFill>
              </a:rPr>
              <a:t>High level Architecture of </a:t>
            </a:r>
            <a:r>
              <a:rPr lang="en-US" sz="2300" b="1" dirty="0" err="1" smtClean="0">
                <a:solidFill>
                  <a:schemeClr val="accent1"/>
                </a:solidFill>
              </a:rPr>
              <a:t>Hadoop</a:t>
            </a:r>
            <a:endParaRPr lang="en-US" sz="2300" b="1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 err="1" smtClean="0"/>
              <a:t>Hadoop</a:t>
            </a:r>
            <a:r>
              <a:rPr lang="en-US" sz="1800" dirty="0" smtClean="0"/>
              <a:t> is a distributed Master-slave architecture.</a:t>
            </a:r>
          </a:p>
          <a:p>
            <a:pPr algn="just"/>
            <a:r>
              <a:rPr lang="en-US" sz="1800" dirty="0" smtClean="0"/>
              <a:t>Master node is known as </a:t>
            </a:r>
            <a:r>
              <a:rPr lang="en-US" sz="1800" b="1" dirty="0" err="1" smtClean="0"/>
              <a:t>Namenode</a:t>
            </a:r>
            <a:r>
              <a:rPr lang="en-US" sz="1800" dirty="0" smtClean="0"/>
              <a:t> and slave node is known as </a:t>
            </a:r>
            <a:r>
              <a:rPr lang="en-US" sz="1800" b="1" dirty="0" err="1" smtClean="0"/>
              <a:t>Datanode</a:t>
            </a:r>
            <a:r>
              <a:rPr lang="en-US" sz="1800" b="1" dirty="0" smtClean="0"/>
              <a:t>.</a:t>
            </a:r>
            <a:r>
              <a:rPr lang="en-US" sz="1800" dirty="0" smtClean="0"/>
              <a:t> Figure depicts the master-slave architecture of </a:t>
            </a:r>
            <a:r>
              <a:rPr lang="en-US" sz="1800" dirty="0" err="1" smtClean="0"/>
              <a:t>Hadoop</a:t>
            </a:r>
            <a:r>
              <a:rPr lang="en-US" sz="1800" dirty="0" smtClean="0"/>
              <a:t> framework.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 smtClean="0"/>
              <a:t>Key components of the Master node</a:t>
            </a:r>
          </a:p>
          <a:p>
            <a:pPr marL="0" indent="0" algn="just">
              <a:buNone/>
            </a:pPr>
            <a:r>
              <a:rPr lang="en-US" sz="1800" b="1" dirty="0" smtClean="0"/>
              <a:t>Master HDFS</a:t>
            </a:r>
            <a:endParaRPr lang="en-US" sz="1800" dirty="0"/>
          </a:p>
          <a:p>
            <a:pPr algn="just">
              <a:buFont typeface="Wingdings" pitchFamily="2" charset="2"/>
              <a:buChar char="§"/>
            </a:pPr>
            <a:r>
              <a:rPr lang="en-US" sz="1800" dirty="0" smtClean="0"/>
              <a:t>The  main responsibility is partitioning the data storage across the slave nodes. </a:t>
            </a:r>
          </a:p>
          <a:p>
            <a:pPr algn="just">
              <a:buFont typeface="Wingdings" pitchFamily="2" charset="2"/>
              <a:buChar char="§"/>
            </a:pPr>
            <a:r>
              <a:rPr lang="en-US" sz="1800" dirty="0" smtClean="0"/>
              <a:t>It also keeps track of locations of data on </a:t>
            </a:r>
            <a:r>
              <a:rPr lang="en-US" sz="1800" dirty="0" err="1" smtClean="0"/>
              <a:t>Datanodes</a:t>
            </a:r>
            <a:r>
              <a:rPr lang="en-US" sz="1800" dirty="0" smtClean="0"/>
              <a:t>.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b="1" dirty="0" smtClean="0"/>
              <a:t>Master </a:t>
            </a:r>
            <a:r>
              <a:rPr lang="en-US" sz="1800" b="1" dirty="0" err="1" smtClean="0"/>
              <a:t>MapReduce</a:t>
            </a:r>
            <a:endParaRPr lang="en-US" sz="1800" b="1" dirty="0"/>
          </a:p>
          <a:p>
            <a:pPr algn="just"/>
            <a:r>
              <a:rPr lang="en-US" sz="1800" dirty="0" smtClean="0"/>
              <a:t>It decides and schedules computation task on slave nodes.</a:t>
            </a:r>
          </a:p>
          <a:p>
            <a:pPr marL="0" indent="0" algn="just">
              <a:buNone/>
            </a:pPr>
            <a:endParaRPr lang="en-US" sz="1800" dirty="0" smtClean="0"/>
          </a:p>
          <a:p>
            <a:pPr algn="just"/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00200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/>
              <a:t>  </a:t>
            </a:r>
            <a:r>
              <a:rPr lang="en-US" sz="2800" b="1" dirty="0">
                <a:solidFill>
                  <a:schemeClr val="accent1"/>
                </a:solidFill>
              </a:rPr>
              <a:t>High level Architecture of </a:t>
            </a:r>
            <a:r>
              <a:rPr lang="en-US" sz="2800" b="1" dirty="0" err="1" smtClean="0">
                <a:solidFill>
                  <a:schemeClr val="accent1"/>
                </a:solidFill>
              </a:rPr>
              <a:t>Hadoop</a:t>
            </a:r>
            <a:endParaRPr lang="en-US" sz="2800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dirty="0" smtClean="0"/>
              <a:t> </a:t>
            </a:r>
            <a:endParaRPr lang="en-US" sz="20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581398" y="875437"/>
            <a:ext cx="2057400" cy="163121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Master node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24574" y="1066800"/>
            <a:ext cx="1752600" cy="4001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Computation </a:t>
            </a:r>
          </a:p>
          <a:p>
            <a:pPr algn="ctr"/>
            <a:r>
              <a:rPr lang="en-US" sz="1000" dirty="0" smtClean="0"/>
              <a:t>(</a:t>
            </a:r>
            <a:r>
              <a:rPr lang="en-US" sz="1000" dirty="0" err="1" smtClean="0"/>
              <a:t>MapReduce</a:t>
            </a:r>
            <a:r>
              <a:rPr lang="en-US" sz="1000" dirty="0" smtClean="0"/>
              <a:t>)</a:t>
            </a:r>
            <a:endParaRPr lang="en-US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3724574" y="1567934"/>
            <a:ext cx="1771049" cy="4001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Storage (HDFS)</a:t>
            </a:r>
          </a:p>
          <a:p>
            <a:pPr algn="ctr"/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3724574" y="2094637"/>
            <a:ext cx="1771049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210299" y="4000340"/>
            <a:ext cx="2057400" cy="163121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Slave node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39140" y="4197439"/>
            <a:ext cx="1752600" cy="4001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Computation </a:t>
            </a:r>
          </a:p>
          <a:p>
            <a:pPr algn="ctr"/>
            <a:r>
              <a:rPr lang="en-US" sz="1000" dirty="0"/>
              <a:t>(</a:t>
            </a:r>
            <a:r>
              <a:rPr lang="en-US" sz="1000" dirty="0" err="1"/>
              <a:t>MapReduce</a:t>
            </a:r>
            <a:r>
              <a:rPr lang="en-US" sz="1000" dirty="0" smtClean="0"/>
              <a:t>)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6353475" y="4662308"/>
            <a:ext cx="1771049" cy="4001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Storage (HDFS)</a:t>
            </a:r>
          </a:p>
          <a:p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6353475" y="5189011"/>
            <a:ext cx="1771049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57600" y="4000340"/>
            <a:ext cx="2057400" cy="175432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Slave node</a:t>
            </a:r>
          </a:p>
          <a:p>
            <a:pPr algn="ctr"/>
            <a:endParaRPr lang="en-US" sz="1000" dirty="0"/>
          </a:p>
          <a:p>
            <a:pPr algn="ctr"/>
            <a:endParaRPr lang="en-US" sz="1000" dirty="0" smtClean="0"/>
          </a:p>
          <a:p>
            <a:pPr algn="ctr"/>
            <a:endParaRPr lang="en-US" sz="1000" dirty="0"/>
          </a:p>
          <a:p>
            <a:pPr algn="ctr"/>
            <a:endParaRPr lang="en-US" sz="1000" dirty="0" smtClean="0"/>
          </a:p>
          <a:p>
            <a:pPr algn="ctr"/>
            <a:endParaRPr lang="en-US" sz="1000" dirty="0"/>
          </a:p>
          <a:p>
            <a:pPr algn="ctr"/>
            <a:endParaRPr lang="en-US" sz="1000" dirty="0" smtClean="0"/>
          </a:p>
          <a:p>
            <a:pPr algn="ctr"/>
            <a:endParaRPr lang="en-US" sz="1000" dirty="0"/>
          </a:p>
          <a:p>
            <a:pPr algn="ctr"/>
            <a:endParaRPr lang="en-US" sz="1000" dirty="0" smtClean="0"/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771899" y="4191000"/>
            <a:ext cx="1752600" cy="4001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Computation </a:t>
            </a:r>
          </a:p>
          <a:p>
            <a:pPr algn="ctr"/>
            <a:r>
              <a:rPr lang="en-US" sz="1000" dirty="0"/>
              <a:t>(</a:t>
            </a:r>
            <a:r>
              <a:rPr lang="en-US" sz="1000" dirty="0" err="1"/>
              <a:t>MapReduce</a:t>
            </a:r>
            <a:r>
              <a:rPr lang="en-US" sz="1000" dirty="0" smtClean="0"/>
              <a:t>)</a:t>
            </a:r>
            <a:endParaRPr 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3762675" y="4692837"/>
            <a:ext cx="1771049" cy="4001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Storage (HDFS)</a:t>
            </a:r>
          </a:p>
          <a:p>
            <a:pPr algn="ctr"/>
            <a:endParaRPr 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3762675" y="5219540"/>
            <a:ext cx="1771049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739744" y="4032213"/>
            <a:ext cx="2057400" cy="1785104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Slave node</a:t>
            </a:r>
          </a:p>
          <a:p>
            <a:pPr algn="ctr"/>
            <a:endParaRPr lang="en-US" sz="1000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44819" y="4229023"/>
            <a:ext cx="1752600" cy="4001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Computation </a:t>
            </a:r>
          </a:p>
          <a:p>
            <a:pPr algn="ctr"/>
            <a:r>
              <a:rPr lang="en-US" sz="1000" dirty="0"/>
              <a:t>(</a:t>
            </a:r>
            <a:r>
              <a:rPr lang="en-US" sz="1000" dirty="0" err="1"/>
              <a:t>MapReduce</a:t>
            </a:r>
            <a:r>
              <a:rPr lang="en-US" sz="1000" dirty="0" smtClean="0"/>
              <a:t>)</a:t>
            </a:r>
            <a:endParaRPr 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844819" y="4724710"/>
            <a:ext cx="1771049" cy="4001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Storage (HDFS)</a:t>
            </a:r>
          </a:p>
          <a:p>
            <a:pPr algn="ctr"/>
            <a:endParaRPr 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844819" y="5251413"/>
            <a:ext cx="1771049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25" name="Straight Arrow Connector 24"/>
          <p:cNvCxnSpPr>
            <a:stCxn id="20" idx="0"/>
          </p:cNvCxnSpPr>
          <p:nvPr/>
        </p:nvCxnSpPr>
        <p:spPr>
          <a:xfrm flipV="1">
            <a:off x="1768444" y="2506653"/>
            <a:ext cx="2286000" cy="15255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5" idx="0"/>
            <a:endCxn id="4" idx="2"/>
          </p:cNvCxnSpPr>
          <p:nvPr/>
        </p:nvCxnSpPr>
        <p:spPr>
          <a:xfrm flipH="1" flipV="1">
            <a:off x="4610098" y="2506653"/>
            <a:ext cx="76202" cy="14936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0" idx="0"/>
          </p:cNvCxnSpPr>
          <p:nvPr/>
        </p:nvCxnSpPr>
        <p:spPr>
          <a:xfrm flipH="1" flipV="1">
            <a:off x="5219699" y="2537182"/>
            <a:ext cx="2019300" cy="14631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942992"/>
              </p:ext>
            </p:extLst>
          </p:nvPr>
        </p:nvGraphicFramePr>
        <p:xfrm>
          <a:off x="3743606" y="2036544"/>
          <a:ext cx="17427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381000"/>
                <a:gridCol w="381000"/>
                <a:gridCol w="294994"/>
                <a:gridCol w="3048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326586"/>
              </p:ext>
            </p:extLst>
          </p:nvPr>
        </p:nvGraphicFramePr>
        <p:xfrm>
          <a:off x="6385574" y="5256292"/>
          <a:ext cx="17427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381000"/>
                <a:gridCol w="381000"/>
                <a:gridCol w="294994"/>
                <a:gridCol w="3048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168580"/>
              </p:ext>
            </p:extLst>
          </p:nvPr>
        </p:nvGraphicFramePr>
        <p:xfrm>
          <a:off x="3814903" y="5229131"/>
          <a:ext cx="17427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381000"/>
                <a:gridCol w="381000"/>
                <a:gridCol w="294994"/>
                <a:gridCol w="3048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23814"/>
              </p:ext>
            </p:extLst>
          </p:nvPr>
        </p:nvGraphicFramePr>
        <p:xfrm>
          <a:off x="881203" y="5257800"/>
          <a:ext cx="17427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381000"/>
                <a:gridCol w="381000"/>
                <a:gridCol w="294994"/>
                <a:gridCol w="3048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20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 smtClean="0">
                <a:solidFill>
                  <a:schemeClr val="accent1"/>
                </a:solidFill>
              </a:rPr>
              <a:t>HDFS Commands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533401"/>
            <a:ext cx="8495097" cy="56387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b="1" dirty="0" smtClean="0">
                <a:solidFill>
                  <a:schemeClr val="accent1"/>
                </a:solidFill>
              </a:rPr>
              <a:t>HDFS </a:t>
            </a:r>
            <a:r>
              <a:rPr lang="en-US" sz="2200" b="1" dirty="0">
                <a:solidFill>
                  <a:schemeClr val="accent1"/>
                </a:solidFill>
              </a:rPr>
              <a:t>Commands (File System</a:t>
            </a:r>
            <a:r>
              <a:rPr lang="en-US" sz="2200" b="1" dirty="0" smtClean="0">
                <a:solidFill>
                  <a:schemeClr val="accent1"/>
                </a:solidFill>
              </a:rPr>
              <a:t>) (</a:t>
            </a:r>
            <a:r>
              <a:rPr lang="en-US" sz="2200" b="1" dirty="0" smtClean="0"/>
              <a:t>Alternate: </a:t>
            </a:r>
            <a:r>
              <a:rPr lang="en-US" sz="2200" b="1" dirty="0" err="1" smtClean="0"/>
              <a:t>hdfs</a:t>
            </a:r>
            <a:r>
              <a:rPr lang="en-US" sz="2200" b="1" dirty="0" smtClean="0"/>
              <a:t>- </a:t>
            </a:r>
            <a:r>
              <a:rPr lang="en-US" sz="2200" b="1" dirty="0" err="1" smtClean="0"/>
              <a:t>hadoop</a:t>
            </a:r>
            <a:r>
              <a:rPr lang="en-US" sz="2200" b="1" dirty="0" smtClean="0"/>
              <a:t>, </a:t>
            </a:r>
            <a:r>
              <a:rPr lang="en-US" sz="2200" b="1" dirty="0" err="1" smtClean="0"/>
              <a:t>dfs</a:t>
            </a:r>
            <a:r>
              <a:rPr lang="en-US" sz="2200" b="1" dirty="0" smtClean="0"/>
              <a:t>- </a:t>
            </a:r>
            <a:r>
              <a:rPr lang="en-US" sz="2200" b="1" dirty="0" err="1" smtClean="0"/>
              <a:t>fs</a:t>
            </a:r>
            <a:r>
              <a:rPr lang="en-US" sz="2200" b="1" dirty="0" smtClean="0">
                <a:solidFill>
                  <a:schemeClr val="accent1"/>
                </a:solidFill>
              </a:rPr>
              <a:t>)</a:t>
            </a:r>
          </a:p>
          <a:p>
            <a:pPr algn="just"/>
            <a:r>
              <a:rPr lang="en-US" sz="2200" dirty="0" smtClean="0">
                <a:solidFill>
                  <a:schemeClr val="accent1"/>
                </a:solidFill>
              </a:rPr>
              <a:t>List files</a:t>
            </a:r>
          </a:p>
          <a:p>
            <a:pPr marL="0" indent="0" algn="just">
              <a:buNone/>
            </a:pPr>
            <a:r>
              <a:rPr lang="en-US" sz="2200" dirty="0" smtClean="0"/>
              <a:t>	</a:t>
            </a:r>
            <a:r>
              <a:rPr lang="en-US" sz="2200" dirty="0" err="1" smtClean="0"/>
              <a:t>hdfs</a:t>
            </a:r>
            <a:r>
              <a:rPr lang="en-US" sz="2200" dirty="0" smtClean="0"/>
              <a:t> </a:t>
            </a:r>
            <a:r>
              <a:rPr lang="en-US" sz="2200" dirty="0" err="1"/>
              <a:t>dfs</a:t>
            </a:r>
            <a:r>
              <a:rPr lang="en-US" sz="2200" dirty="0"/>
              <a:t> -</a:t>
            </a:r>
            <a:r>
              <a:rPr lang="en-US" sz="2200" dirty="0" err="1"/>
              <a:t>ls</a:t>
            </a:r>
            <a:r>
              <a:rPr lang="en-US" sz="2200" dirty="0"/>
              <a:t> /</a:t>
            </a:r>
            <a:r>
              <a:rPr lang="en-US" sz="2200" dirty="0" smtClean="0"/>
              <a:t>path</a:t>
            </a:r>
          </a:p>
          <a:p>
            <a:pPr algn="just"/>
            <a:r>
              <a:rPr lang="en-US" sz="2200" dirty="0" smtClean="0">
                <a:solidFill>
                  <a:schemeClr val="accent1"/>
                </a:solidFill>
              </a:rPr>
              <a:t>Create directory</a:t>
            </a:r>
          </a:p>
          <a:p>
            <a:pPr marL="0" indent="0" algn="just">
              <a:buNone/>
            </a:pPr>
            <a:r>
              <a:rPr lang="en-US" sz="2200" dirty="0" smtClean="0"/>
              <a:t>	</a:t>
            </a:r>
            <a:r>
              <a:rPr lang="en-US" sz="2200" dirty="0" err="1" smtClean="0"/>
              <a:t>hdfs</a:t>
            </a:r>
            <a:r>
              <a:rPr lang="en-US" sz="2200" dirty="0" smtClean="0"/>
              <a:t> </a:t>
            </a:r>
            <a:r>
              <a:rPr lang="en-US" sz="2200" dirty="0" err="1"/>
              <a:t>dfs</a:t>
            </a:r>
            <a:r>
              <a:rPr lang="en-US" sz="2200" dirty="0"/>
              <a:t> -</a:t>
            </a:r>
            <a:r>
              <a:rPr lang="en-US" sz="2200" dirty="0" err="1"/>
              <a:t>mkdir</a:t>
            </a:r>
            <a:r>
              <a:rPr lang="en-US" sz="2200" dirty="0"/>
              <a:t> /</a:t>
            </a:r>
            <a:r>
              <a:rPr lang="en-US" sz="2200" dirty="0" err="1" smtClean="0"/>
              <a:t>dir</a:t>
            </a:r>
            <a:endParaRPr lang="en-US" sz="2200" dirty="0" smtClean="0"/>
          </a:p>
          <a:p>
            <a:pPr algn="just"/>
            <a:r>
              <a:rPr lang="en-US" sz="2200" dirty="0" smtClean="0">
                <a:solidFill>
                  <a:schemeClr val="accent1"/>
                </a:solidFill>
              </a:rPr>
              <a:t>Upload file</a:t>
            </a:r>
          </a:p>
          <a:p>
            <a:pPr marL="0" indent="0" algn="just">
              <a:buNone/>
            </a:pPr>
            <a:r>
              <a:rPr lang="en-US" sz="2200" dirty="0" smtClean="0"/>
              <a:t>	</a:t>
            </a:r>
            <a:r>
              <a:rPr lang="en-US" sz="2200" dirty="0" err="1" smtClean="0"/>
              <a:t>hdfs</a:t>
            </a:r>
            <a:r>
              <a:rPr lang="en-US" sz="2200" dirty="0" smtClean="0"/>
              <a:t> </a:t>
            </a:r>
            <a:r>
              <a:rPr lang="en-US" sz="2200" dirty="0" err="1"/>
              <a:t>dfs</a:t>
            </a:r>
            <a:r>
              <a:rPr lang="en-US" sz="2200" dirty="0"/>
              <a:t> -put file.txt /</a:t>
            </a:r>
            <a:r>
              <a:rPr lang="en-US" sz="2200" dirty="0" err="1" smtClean="0"/>
              <a:t>dir</a:t>
            </a:r>
            <a:endParaRPr lang="en-US" sz="2200" dirty="0" smtClean="0"/>
          </a:p>
          <a:p>
            <a:pPr algn="just"/>
            <a:r>
              <a:rPr lang="en-US" sz="2200" dirty="0" smtClean="0">
                <a:solidFill>
                  <a:schemeClr val="accent1"/>
                </a:solidFill>
              </a:rPr>
              <a:t>Download file</a:t>
            </a:r>
          </a:p>
          <a:p>
            <a:pPr marL="0" indent="0" algn="just">
              <a:buNone/>
            </a:pPr>
            <a:r>
              <a:rPr lang="en-US" sz="2200" dirty="0" smtClean="0"/>
              <a:t>	</a:t>
            </a:r>
            <a:r>
              <a:rPr lang="en-US" sz="2200" dirty="0" err="1" smtClean="0"/>
              <a:t>hdfs</a:t>
            </a:r>
            <a:r>
              <a:rPr lang="en-US" sz="2200" dirty="0" smtClean="0"/>
              <a:t> </a:t>
            </a:r>
            <a:r>
              <a:rPr lang="en-US" sz="2200" dirty="0" err="1"/>
              <a:t>dfs</a:t>
            </a:r>
            <a:r>
              <a:rPr lang="en-US" sz="2200" dirty="0"/>
              <a:t> -get /</a:t>
            </a:r>
            <a:r>
              <a:rPr lang="en-US" sz="2200" dirty="0" err="1" smtClean="0"/>
              <a:t>dir</a:t>
            </a:r>
            <a:r>
              <a:rPr lang="en-US" sz="2200" dirty="0" smtClean="0"/>
              <a:t>/file.txt</a:t>
            </a:r>
          </a:p>
          <a:p>
            <a:pPr algn="just"/>
            <a:r>
              <a:rPr lang="en-US" sz="2200" dirty="0" smtClean="0">
                <a:solidFill>
                  <a:schemeClr val="accent1"/>
                </a:solidFill>
              </a:rPr>
              <a:t>View file</a:t>
            </a:r>
          </a:p>
          <a:p>
            <a:pPr marL="0" indent="0" algn="just">
              <a:buNone/>
            </a:pPr>
            <a:r>
              <a:rPr lang="en-US" sz="2200" dirty="0" smtClean="0"/>
              <a:t>	</a:t>
            </a:r>
            <a:r>
              <a:rPr lang="en-US" sz="2200" dirty="0" err="1" smtClean="0"/>
              <a:t>hdfs</a:t>
            </a:r>
            <a:r>
              <a:rPr lang="en-US" sz="2200" dirty="0" smtClean="0"/>
              <a:t> </a:t>
            </a:r>
            <a:r>
              <a:rPr lang="en-US" sz="2200" dirty="0" err="1"/>
              <a:t>dfs</a:t>
            </a:r>
            <a:r>
              <a:rPr lang="en-US" sz="2200" dirty="0"/>
              <a:t> -cat /</a:t>
            </a:r>
            <a:r>
              <a:rPr lang="en-US" sz="2200" dirty="0" smtClean="0"/>
              <a:t>file</a:t>
            </a:r>
          </a:p>
          <a:p>
            <a:pPr algn="just"/>
            <a:r>
              <a:rPr lang="en-US" sz="2200" dirty="0" smtClean="0">
                <a:solidFill>
                  <a:schemeClr val="accent1"/>
                </a:solidFill>
              </a:rPr>
              <a:t>Delete file</a:t>
            </a:r>
          </a:p>
          <a:p>
            <a:pPr marL="0" indent="0" algn="just">
              <a:buNone/>
            </a:pPr>
            <a:r>
              <a:rPr lang="en-US" sz="2200" dirty="0" smtClean="0"/>
              <a:t>	</a:t>
            </a:r>
            <a:r>
              <a:rPr lang="en-US" sz="2200" dirty="0" err="1" smtClean="0"/>
              <a:t>hdfs</a:t>
            </a:r>
            <a:r>
              <a:rPr lang="en-US" sz="2200" dirty="0" smtClean="0"/>
              <a:t> </a:t>
            </a:r>
            <a:r>
              <a:rPr lang="en-US" sz="2200" dirty="0" err="1"/>
              <a:t>dfs</a:t>
            </a:r>
            <a:r>
              <a:rPr lang="en-US" sz="2200" dirty="0"/>
              <a:t> -</a:t>
            </a:r>
            <a:r>
              <a:rPr lang="en-US" sz="2200" dirty="0" err="1"/>
              <a:t>rm</a:t>
            </a:r>
            <a:r>
              <a:rPr lang="en-US" sz="2200" dirty="0"/>
              <a:t> /</a:t>
            </a:r>
            <a:r>
              <a:rPr lang="en-US" sz="2200" dirty="0" smtClean="0"/>
              <a:t>file</a:t>
            </a:r>
          </a:p>
          <a:p>
            <a:pPr algn="just"/>
            <a:r>
              <a:rPr lang="en-US" sz="2200" dirty="0" smtClean="0">
                <a:solidFill>
                  <a:schemeClr val="accent1"/>
                </a:solidFill>
              </a:rPr>
              <a:t>Copy file</a:t>
            </a:r>
          </a:p>
          <a:p>
            <a:pPr marL="0" indent="0" algn="just">
              <a:buNone/>
            </a:pPr>
            <a:r>
              <a:rPr lang="en-US" sz="2200" dirty="0" smtClean="0"/>
              <a:t>	</a:t>
            </a:r>
            <a:r>
              <a:rPr lang="en-US" sz="2200" dirty="0" err="1" smtClean="0"/>
              <a:t>hdfs</a:t>
            </a:r>
            <a:r>
              <a:rPr lang="en-US" sz="2200" dirty="0" smtClean="0"/>
              <a:t> </a:t>
            </a:r>
            <a:r>
              <a:rPr lang="en-US" sz="2200" dirty="0" err="1"/>
              <a:t>dfs</a:t>
            </a:r>
            <a:r>
              <a:rPr lang="en-US" sz="2200" dirty="0"/>
              <a:t> -</a:t>
            </a:r>
            <a:r>
              <a:rPr lang="en-US" sz="2200" dirty="0" err="1"/>
              <a:t>cp</a:t>
            </a:r>
            <a:r>
              <a:rPr lang="en-US" sz="2200" dirty="0"/>
              <a:t> /</a:t>
            </a:r>
            <a:r>
              <a:rPr lang="en-US" sz="2200" dirty="0" err="1"/>
              <a:t>src</a:t>
            </a:r>
            <a:r>
              <a:rPr lang="en-US" sz="2200" dirty="0"/>
              <a:t> /</a:t>
            </a:r>
            <a:r>
              <a:rPr lang="en-US" sz="2200" dirty="0" err="1" smtClean="0"/>
              <a:t>dest</a:t>
            </a:r>
            <a:endParaRPr lang="en-US" sz="2200" dirty="0" smtClean="0"/>
          </a:p>
          <a:p>
            <a:pPr algn="just"/>
            <a:r>
              <a:rPr lang="en-US" sz="2200" dirty="0" smtClean="0">
                <a:solidFill>
                  <a:schemeClr val="accent1"/>
                </a:solidFill>
              </a:rPr>
              <a:t>Move file</a:t>
            </a:r>
          </a:p>
          <a:p>
            <a:pPr marL="0" indent="0" algn="just">
              <a:buNone/>
            </a:pPr>
            <a:r>
              <a:rPr lang="en-US" sz="2200" dirty="0" smtClean="0"/>
              <a:t>	</a:t>
            </a:r>
            <a:r>
              <a:rPr lang="en-US" sz="2200" dirty="0" err="1" smtClean="0"/>
              <a:t>hdfs</a:t>
            </a:r>
            <a:r>
              <a:rPr lang="en-US" sz="2200" dirty="0" smtClean="0"/>
              <a:t> </a:t>
            </a:r>
            <a:r>
              <a:rPr lang="en-US" sz="2200" dirty="0" err="1"/>
              <a:t>dfs</a:t>
            </a:r>
            <a:r>
              <a:rPr lang="en-US" sz="2200" dirty="0"/>
              <a:t> -mv /</a:t>
            </a:r>
            <a:r>
              <a:rPr lang="en-US" sz="2200" dirty="0" err="1"/>
              <a:t>src</a:t>
            </a:r>
            <a:r>
              <a:rPr lang="en-US" sz="2200" dirty="0"/>
              <a:t> /</a:t>
            </a:r>
            <a:r>
              <a:rPr lang="en-US" sz="2200" dirty="0" err="1"/>
              <a:t>dest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176138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1"/>
                </a:solidFill>
              </a:rPr>
              <a:t>HDFS Commands</a:t>
            </a: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533400" y="685800"/>
            <a:ext cx="82296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dirty="0" smtClean="0">
                <a:solidFill>
                  <a:schemeClr val="accent1"/>
                </a:solidFill>
              </a:rPr>
              <a:t>Copy </a:t>
            </a:r>
            <a:r>
              <a:rPr lang="en-US" sz="1800" dirty="0">
                <a:solidFill>
                  <a:schemeClr val="accent1"/>
                </a:solidFill>
              </a:rPr>
              <a:t>file inside </a:t>
            </a:r>
            <a:r>
              <a:rPr lang="en-US" sz="1800" dirty="0" smtClean="0">
                <a:solidFill>
                  <a:schemeClr val="accent1"/>
                </a:solidFill>
              </a:rPr>
              <a:t>HDFS</a:t>
            </a:r>
          </a:p>
          <a:p>
            <a:pPr marL="0" indent="0" algn="just">
              <a:buNone/>
            </a:pPr>
            <a:r>
              <a:rPr lang="en-US" sz="1800" dirty="0" err="1" smtClean="0"/>
              <a:t>hdfs</a:t>
            </a:r>
            <a:r>
              <a:rPr lang="en-US" sz="1800" dirty="0" smtClean="0"/>
              <a:t> </a:t>
            </a:r>
            <a:r>
              <a:rPr lang="en-US" sz="1800" dirty="0" err="1"/>
              <a:t>dfs</a:t>
            </a:r>
            <a:r>
              <a:rPr lang="en-US" sz="1800" dirty="0"/>
              <a:t> -</a:t>
            </a:r>
            <a:r>
              <a:rPr lang="en-US" sz="1800" dirty="0" err="1"/>
              <a:t>cp</a:t>
            </a:r>
            <a:r>
              <a:rPr lang="en-US" sz="1800" dirty="0"/>
              <a:t> /source /</a:t>
            </a:r>
            <a:r>
              <a:rPr lang="en-US" sz="1800" dirty="0" smtClean="0"/>
              <a:t>destination</a:t>
            </a:r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accent1"/>
                </a:solidFill>
              </a:rPr>
              <a:t>Copies </a:t>
            </a:r>
            <a:r>
              <a:rPr lang="en-US" sz="1800" dirty="0">
                <a:solidFill>
                  <a:schemeClr val="accent1"/>
                </a:solidFill>
              </a:rPr>
              <a:t>files within </a:t>
            </a:r>
            <a:r>
              <a:rPr lang="en-US" sz="1800" dirty="0" smtClean="0">
                <a:solidFill>
                  <a:schemeClr val="accent1"/>
                </a:solidFill>
              </a:rPr>
              <a:t>HDFS</a:t>
            </a:r>
          </a:p>
          <a:p>
            <a:pPr marL="0" indent="0" algn="just">
              <a:buNone/>
            </a:pPr>
            <a:r>
              <a:rPr lang="en-US" sz="1800" dirty="0" err="1" smtClean="0"/>
              <a:t>hdfs</a:t>
            </a:r>
            <a:r>
              <a:rPr lang="en-US" sz="1800" dirty="0" smtClean="0"/>
              <a:t> </a:t>
            </a:r>
            <a:r>
              <a:rPr lang="en-US" sz="1800" dirty="0" err="1"/>
              <a:t>dfs</a:t>
            </a:r>
            <a:r>
              <a:rPr lang="en-US" sz="1800" dirty="0"/>
              <a:t> -</a:t>
            </a:r>
            <a:r>
              <a:rPr lang="en-US" sz="1800" dirty="0" err="1"/>
              <a:t>cp</a:t>
            </a:r>
            <a:r>
              <a:rPr lang="en-US" sz="1800" dirty="0"/>
              <a:t> /data/file.txt /backup</a:t>
            </a:r>
            <a:r>
              <a:rPr lang="en-US" sz="1800" dirty="0" smtClean="0"/>
              <a:t>/</a:t>
            </a:r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accent1"/>
                </a:solidFill>
              </a:rPr>
              <a:t>Copy </a:t>
            </a:r>
            <a:r>
              <a:rPr lang="en-US" sz="1800" dirty="0">
                <a:solidFill>
                  <a:schemeClr val="accent1"/>
                </a:solidFill>
              </a:rPr>
              <a:t>from Local → </a:t>
            </a:r>
            <a:r>
              <a:rPr lang="en-US" sz="1800" dirty="0" smtClean="0">
                <a:solidFill>
                  <a:schemeClr val="accent1"/>
                </a:solidFill>
              </a:rPr>
              <a:t>HDFS</a:t>
            </a:r>
          </a:p>
          <a:p>
            <a:pPr marL="0" indent="0" algn="just">
              <a:buNone/>
            </a:pPr>
            <a:r>
              <a:rPr lang="en-US" sz="1800" dirty="0" err="1" smtClean="0"/>
              <a:t>hdfs</a:t>
            </a:r>
            <a:r>
              <a:rPr lang="en-US" sz="1800" dirty="0" smtClean="0"/>
              <a:t> </a:t>
            </a:r>
            <a:r>
              <a:rPr lang="en-US" sz="1800" dirty="0" err="1"/>
              <a:t>dfs</a:t>
            </a:r>
            <a:r>
              <a:rPr lang="en-US" sz="1800" dirty="0"/>
              <a:t> -</a:t>
            </a:r>
            <a:r>
              <a:rPr lang="en-US" sz="1800" dirty="0" err="1"/>
              <a:t>copyFromLocal</a:t>
            </a:r>
            <a:r>
              <a:rPr lang="en-US" sz="1800" dirty="0"/>
              <a:t> </a:t>
            </a:r>
            <a:r>
              <a:rPr lang="en-US" sz="1800" dirty="0" err="1"/>
              <a:t>localfile</a:t>
            </a:r>
            <a:r>
              <a:rPr lang="en-US" sz="1800" dirty="0"/>
              <a:t> /</a:t>
            </a:r>
            <a:r>
              <a:rPr lang="en-US" sz="1800" dirty="0" err="1" smtClean="0"/>
              <a:t>hdfs</a:t>
            </a:r>
            <a:r>
              <a:rPr lang="en-US" sz="1800" dirty="0" smtClean="0"/>
              <a:t>/path</a:t>
            </a:r>
          </a:p>
          <a:p>
            <a:pPr marL="0" indent="0" algn="just">
              <a:buNone/>
            </a:pPr>
            <a:r>
              <a:rPr lang="en-US" sz="1800" dirty="0" err="1" smtClean="0"/>
              <a:t>hdfs</a:t>
            </a:r>
            <a:r>
              <a:rPr lang="en-US" sz="1800" dirty="0" smtClean="0"/>
              <a:t> </a:t>
            </a:r>
            <a:r>
              <a:rPr lang="en-US" sz="1800" dirty="0" err="1"/>
              <a:t>dfs</a:t>
            </a:r>
            <a:r>
              <a:rPr lang="en-US" sz="1800" dirty="0"/>
              <a:t> -</a:t>
            </a:r>
            <a:r>
              <a:rPr lang="en-US" sz="1800" dirty="0" err="1"/>
              <a:t>copyFromLocal</a:t>
            </a:r>
            <a:r>
              <a:rPr lang="en-US" sz="1800" dirty="0"/>
              <a:t> file.txt /user/</a:t>
            </a:r>
            <a:r>
              <a:rPr lang="en-US" sz="1800" dirty="0" err="1"/>
              <a:t>hadoop</a:t>
            </a:r>
            <a:r>
              <a:rPr lang="en-US" sz="1800" dirty="0"/>
              <a:t>/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70847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Hadoop</a:t>
            </a:r>
            <a:r>
              <a:rPr lang="en-US" sz="2800" dirty="0" smtClean="0"/>
              <a:t> Overview</a:t>
            </a:r>
            <a:endParaRPr lang="en-US" sz="2800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685800"/>
            <a:ext cx="83426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dirty="0" smtClean="0">
                <a:solidFill>
                  <a:schemeClr val="accent1"/>
                </a:solidFill>
              </a:rPr>
              <a:t>Tasks done </a:t>
            </a:r>
            <a:endParaRPr lang="en-US" sz="2200" dirty="0" smtClean="0"/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Massive data storage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Faster data processing</a:t>
            </a:r>
          </a:p>
          <a:p>
            <a:pPr marL="457200" lvl="1" indent="0" algn="just">
              <a:buNone/>
            </a:pPr>
            <a:endParaRPr lang="en-US" sz="2000" dirty="0" smtClean="0"/>
          </a:p>
          <a:p>
            <a:pPr marL="0" indent="0" algn="just">
              <a:buNone/>
            </a:pPr>
            <a:r>
              <a:rPr lang="en-US" sz="2200" dirty="0" smtClean="0">
                <a:solidFill>
                  <a:schemeClr val="accent1"/>
                </a:solidFill>
              </a:rPr>
              <a:t>Key aspects of </a:t>
            </a:r>
            <a:r>
              <a:rPr lang="en-US" sz="2200" dirty="0" err="1" smtClean="0">
                <a:solidFill>
                  <a:schemeClr val="accent1"/>
                </a:solidFill>
              </a:rPr>
              <a:t>hadoop</a:t>
            </a:r>
            <a:endParaRPr lang="en-US" sz="2200" dirty="0">
              <a:solidFill>
                <a:schemeClr val="accent1"/>
              </a:solidFill>
            </a:endParaRP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Open source software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Framework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Distributed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Massive storage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Faster processing</a:t>
            </a:r>
          </a:p>
          <a:p>
            <a:pPr marL="457200" lvl="1" indent="0" algn="just">
              <a:buNone/>
            </a:pPr>
            <a:endParaRPr lang="en-US" sz="2000" dirty="0" smtClean="0"/>
          </a:p>
          <a:p>
            <a:pPr marL="0" indent="0" algn="just">
              <a:buNone/>
            </a:pPr>
            <a:r>
              <a:rPr lang="en-US" sz="2200" b="1" dirty="0" smtClean="0"/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1274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Hadoop</a:t>
            </a:r>
            <a:r>
              <a:rPr lang="en-US" sz="2800" dirty="0" smtClean="0"/>
              <a:t> Overview</a:t>
            </a:r>
            <a:endParaRPr lang="en-US" sz="2800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533401"/>
            <a:ext cx="8342697" cy="56387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dirty="0" err="1" smtClean="0">
                <a:solidFill>
                  <a:schemeClr val="accent1"/>
                </a:solidFill>
              </a:rPr>
              <a:t>Hadoop</a:t>
            </a:r>
            <a:r>
              <a:rPr lang="en-US" sz="2200" dirty="0" smtClean="0">
                <a:solidFill>
                  <a:schemeClr val="accent1"/>
                </a:solidFill>
              </a:rPr>
              <a:t> conceptual layer</a:t>
            </a:r>
          </a:p>
          <a:p>
            <a:pPr marL="746125" lvl="1" indent="-514350" algn="just">
              <a:buAutoNum type="romanLcParenR"/>
            </a:pPr>
            <a:r>
              <a:rPr lang="en-US" sz="2000" dirty="0" smtClean="0"/>
              <a:t>Data storage layer: Sores huge volume of data</a:t>
            </a:r>
            <a:endParaRPr lang="en-US" sz="2000" dirty="0"/>
          </a:p>
          <a:p>
            <a:pPr marL="746125" lvl="1" indent="-514350" algn="just">
              <a:buAutoNum type="romanLcParenR"/>
            </a:pPr>
            <a:r>
              <a:rPr lang="en-US" sz="2000" dirty="0" smtClean="0"/>
              <a:t>Data processing layer: Processes data in parallel to extract richer and meaningful insights from data.</a:t>
            </a:r>
            <a:endParaRPr lang="en-US" sz="2000" dirty="0"/>
          </a:p>
          <a:p>
            <a:pPr marL="457200" lvl="1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200" dirty="0" smtClean="0">
                <a:solidFill>
                  <a:schemeClr val="accent1"/>
                </a:solidFill>
              </a:rPr>
              <a:t>High level architecture of </a:t>
            </a:r>
            <a:r>
              <a:rPr lang="en-US" sz="2200" dirty="0" err="1" smtClean="0">
                <a:solidFill>
                  <a:schemeClr val="accent1"/>
                </a:solidFill>
              </a:rPr>
              <a:t>Hadoop</a:t>
            </a:r>
            <a:endParaRPr lang="en-US" sz="2200" dirty="0">
              <a:solidFill>
                <a:schemeClr val="accent1"/>
              </a:solidFill>
            </a:endParaRPr>
          </a:p>
          <a:p>
            <a:pPr marL="625475" lvl="1" indent="-393700" algn="just">
              <a:buFont typeface="Wingdings" pitchFamily="2" charset="2"/>
              <a:buChar char="§"/>
            </a:pPr>
            <a:r>
              <a:rPr lang="en-US" sz="2000" dirty="0" err="1" smtClean="0"/>
              <a:t>Hadoop</a:t>
            </a:r>
            <a:r>
              <a:rPr lang="en-US" sz="2000" dirty="0" smtClean="0"/>
              <a:t> is a distributed Master-Slave  architecture</a:t>
            </a:r>
          </a:p>
          <a:p>
            <a:pPr marL="625475" lvl="1" indent="-393700" algn="just">
              <a:buFont typeface="Wingdings" pitchFamily="2" charset="2"/>
              <a:buChar char="§"/>
            </a:pPr>
            <a:r>
              <a:rPr lang="en-US" sz="2000" dirty="0" smtClean="0"/>
              <a:t>Master node is known as </a:t>
            </a:r>
            <a:r>
              <a:rPr lang="en-US" sz="2000" dirty="0" err="1" smtClean="0"/>
              <a:t>Namenode</a:t>
            </a:r>
            <a:r>
              <a:rPr lang="en-US" sz="2000" dirty="0" smtClean="0"/>
              <a:t>, and slave nodes are known as </a:t>
            </a:r>
            <a:r>
              <a:rPr lang="en-US" sz="2000" dirty="0" err="1" smtClean="0"/>
              <a:t>Datanodes</a:t>
            </a:r>
            <a:endParaRPr lang="en-US" sz="2000" dirty="0" smtClean="0"/>
          </a:p>
          <a:p>
            <a:pPr marL="231775" lvl="1" indent="0" algn="just">
              <a:buNone/>
            </a:pPr>
            <a:endParaRPr lang="en-US" sz="2000" dirty="0" smtClean="0"/>
          </a:p>
          <a:p>
            <a:pPr marL="57150" lvl="1" indent="0" algn="just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Key components of the Master node</a:t>
            </a:r>
            <a:endParaRPr lang="en-US" sz="2000" dirty="0" smtClean="0">
              <a:solidFill>
                <a:schemeClr val="accent1"/>
              </a:solidFill>
            </a:endParaRPr>
          </a:p>
          <a:p>
            <a:pPr marL="514350" lvl="1" indent="-457200" algn="just">
              <a:buAutoNum type="arabicPeriod"/>
            </a:pPr>
            <a:r>
              <a:rPr lang="en-US" sz="2000" dirty="0" smtClean="0"/>
              <a:t>Master HDFS: Partitioning the data storage across the slave nodes.</a:t>
            </a:r>
          </a:p>
          <a:p>
            <a:pPr marL="514350" lvl="1" indent="-457200" algn="just">
              <a:buAutoNum type="arabicPeriod"/>
            </a:pPr>
            <a:r>
              <a:rPr lang="en-US" sz="2000" dirty="0" smtClean="0"/>
              <a:t>Keeps track of locations of data on </a:t>
            </a:r>
            <a:r>
              <a:rPr lang="en-US" sz="2000" dirty="0" err="1" smtClean="0"/>
              <a:t>DataNodes</a:t>
            </a:r>
            <a:r>
              <a:rPr lang="en-US" sz="2000" dirty="0" smtClean="0"/>
              <a:t>.</a:t>
            </a:r>
          </a:p>
          <a:p>
            <a:pPr marL="514350" lvl="1" indent="-457200" algn="just">
              <a:buAutoNum type="arabicPeriod"/>
            </a:pPr>
            <a:r>
              <a:rPr lang="en-US" sz="2000" dirty="0" smtClean="0"/>
              <a:t>Master </a:t>
            </a:r>
            <a:r>
              <a:rPr lang="en-US" sz="2000" dirty="0" err="1" smtClean="0"/>
              <a:t>MapReduce</a:t>
            </a:r>
            <a:r>
              <a:rPr lang="en-US" sz="2000" dirty="0" smtClean="0"/>
              <a:t>: It decides and schedules computation tasks on slave nodes.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6893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Database Commands</a:t>
            </a:r>
          </a:p>
          <a:p>
            <a:pPr marL="0" indent="0" algn="just">
              <a:buNone/>
            </a:pPr>
            <a:r>
              <a:rPr lang="en-US" sz="1800" dirty="0" smtClean="0"/>
              <a:t>Show </a:t>
            </a:r>
            <a:r>
              <a:rPr lang="en-US" sz="1800" dirty="0"/>
              <a:t>all databases	</a:t>
            </a:r>
            <a:r>
              <a:rPr lang="en-US" sz="1800" dirty="0" smtClean="0"/>
              <a:t>show </a:t>
            </a:r>
            <a:r>
              <a:rPr lang="en-US" sz="1800" dirty="0" err="1" smtClean="0"/>
              <a:t>dbs</a:t>
            </a:r>
            <a:endParaRPr lang="en-US" sz="1800" dirty="0" smtClean="0"/>
          </a:p>
          <a:p>
            <a:pPr marL="0" indent="0" algn="just">
              <a:buNone/>
            </a:pPr>
            <a:r>
              <a:rPr lang="en-US" sz="1800" dirty="0" smtClean="0"/>
              <a:t>use </a:t>
            </a:r>
            <a:r>
              <a:rPr lang="en-US" sz="1800" dirty="0" err="1" smtClean="0"/>
              <a:t>databaseName</a:t>
            </a:r>
            <a:r>
              <a:rPr lang="en-US" sz="1800" dirty="0" smtClean="0"/>
              <a:t>	use </a:t>
            </a:r>
            <a:r>
              <a:rPr lang="en-US" sz="1800" dirty="0" err="1" smtClean="0"/>
              <a:t>databasename</a:t>
            </a:r>
            <a:endParaRPr lang="en-US" sz="1800" dirty="0" smtClean="0"/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Collection Commands</a:t>
            </a:r>
            <a:endParaRPr lang="en-US" sz="1800" b="1" dirty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r>
              <a:rPr lang="en-US" sz="1800" dirty="0"/>
              <a:t>Show all collections	show collections	—</a:t>
            </a:r>
          </a:p>
          <a:p>
            <a:pPr marL="0" indent="0" algn="just">
              <a:buNone/>
            </a:pPr>
            <a:r>
              <a:rPr lang="en-US" sz="1800" dirty="0"/>
              <a:t>Create a collection	</a:t>
            </a:r>
            <a:r>
              <a:rPr lang="en-US" sz="1800" dirty="0" err="1"/>
              <a:t>db.createCollection</a:t>
            </a:r>
            <a:r>
              <a:rPr lang="en-US" sz="1800" dirty="0"/>
              <a:t>("</a:t>
            </a:r>
            <a:r>
              <a:rPr lang="en-US" sz="1800" dirty="0" err="1"/>
              <a:t>collectionName</a:t>
            </a:r>
            <a:r>
              <a:rPr lang="en-US" sz="1800" dirty="0"/>
              <a:t>")	</a:t>
            </a:r>
            <a:r>
              <a:rPr lang="en-US" sz="1800" dirty="0" err="1"/>
              <a:t>db.createCollection</a:t>
            </a:r>
            <a:r>
              <a:rPr lang="en-US" sz="1800" dirty="0"/>
              <a:t>("students")</a:t>
            </a:r>
          </a:p>
          <a:p>
            <a:pPr marL="0" indent="0" algn="just">
              <a:buNone/>
            </a:pPr>
            <a:r>
              <a:rPr lang="en-US" sz="1800" dirty="0"/>
              <a:t>Drop a collection	</a:t>
            </a:r>
            <a:r>
              <a:rPr lang="en-US" sz="1800" dirty="0" err="1"/>
              <a:t>db.collectionName.drop</a:t>
            </a:r>
            <a:r>
              <a:rPr lang="en-US" sz="1800" dirty="0"/>
              <a:t>()	</a:t>
            </a:r>
            <a:r>
              <a:rPr lang="en-US" sz="1800" dirty="0" err="1"/>
              <a:t>db.students.drop</a:t>
            </a:r>
            <a:r>
              <a:rPr lang="en-US" sz="1800" dirty="0" smtClean="0"/>
              <a:t>()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Insert (Create data)</a:t>
            </a:r>
          </a:p>
          <a:p>
            <a:pPr marL="0" indent="0" algn="just">
              <a:buNone/>
            </a:pPr>
            <a:r>
              <a:rPr lang="en-US" sz="1800" dirty="0"/>
              <a:t> Insert one document	</a:t>
            </a:r>
            <a:r>
              <a:rPr lang="en-US" sz="1800" dirty="0" err="1"/>
              <a:t>db.collection.insertOne</a:t>
            </a:r>
            <a:r>
              <a:rPr lang="en-US" sz="1800" dirty="0"/>
              <a:t>({...})	</a:t>
            </a:r>
            <a:r>
              <a:rPr lang="en-US" sz="1800" dirty="0" err="1"/>
              <a:t>db.students.insertOne</a:t>
            </a:r>
            <a:r>
              <a:rPr lang="en-US" sz="1800" dirty="0"/>
              <a:t>({</a:t>
            </a:r>
            <a:r>
              <a:rPr lang="en-US" sz="1800" dirty="0" err="1"/>
              <a:t>name:"Ali</a:t>
            </a:r>
            <a:r>
              <a:rPr lang="en-US" sz="1800" dirty="0"/>
              <a:t>", age:20})</a:t>
            </a:r>
          </a:p>
          <a:p>
            <a:pPr marL="0" indent="0" algn="just">
              <a:buNone/>
            </a:pPr>
            <a:r>
              <a:rPr lang="en-US" sz="1800" dirty="0"/>
              <a:t>Insert many documents	</a:t>
            </a:r>
            <a:r>
              <a:rPr lang="en-US" sz="1800" dirty="0" err="1"/>
              <a:t>db.collection.insertMany</a:t>
            </a:r>
            <a:r>
              <a:rPr lang="en-US" sz="1800" dirty="0"/>
              <a:t>([{...}, {...}])	</a:t>
            </a:r>
            <a:r>
              <a:rPr lang="en-US" sz="1800" dirty="0" err="1"/>
              <a:t>db.students.insertMany</a:t>
            </a:r>
            <a:r>
              <a:rPr lang="en-US" sz="1800" dirty="0"/>
              <a:t>([{</a:t>
            </a:r>
            <a:r>
              <a:rPr lang="en-US" sz="1800" dirty="0" err="1"/>
              <a:t>name:"Sara</a:t>
            </a:r>
            <a:r>
              <a:rPr lang="en-US" sz="1800" dirty="0"/>
              <a:t>", age:22}, {</a:t>
            </a:r>
            <a:r>
              <a:rPr lang="en-US" sz="1800" dirty="0" err="1"/>
              <a:t>name:"Rafi</a:t>
            </a:r>
            <a:r>
              <a:rPr lang="en-US" sz="1800" dirty="0"/>
              <a:t>", age:21}])</a:t>
            </a:r>
          </a:p>
        </p:txBody>
      </p:sp>
    </p:spTree>
    <p:extLst>
      <p:ext uri="{BB962C8B-B14F-4D97-AF65-F5344CB8AC3E}">
        <p14:creationId xmlns:p14="http://schemas.microsoft.com/office/powerpoint/2010/main" val="2141350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</a:t>
            </a:r>
            <a:r>
              <a:rPr lang="en-US" sz="1800" b="1" dirty="0" smtClean="0">
                <a:solidFill>
                  <a:schemeClr val="accent1"/>
                </a:solidFill>
              </a:rPr>
              <a:t>uery (Read Data)</a:t>
            </a:r>
          </a:p>
          <a:p>
            <a:pPr marL="0" indent="0" algn="just">
              <a:buNone/>
            </a:pPr>
            <a:r>
              <a:rPr lang="en-US" sz="1800" dirty="0"/>
              <a:t>Show all documents	</a:t>
            </a:r>
            <a:r>
              <a:rPr lang="en-US" sz="1800" dirty="0" err="1"/>
              <a:t>db.collection.find</a:t>
            </a:r>
            <a:r>
              <a:rPr lang="en-US" sz="1800" dirty="0"/>
              <a:t>()	</a:t>
            </a:r>
            <a:r>
              <a:rPr lang="en-US" sz="1800" dirty="0" err="1"/>
              <a:t>db.students.find</a:t>
            </a:r>
            <a:r>
              <a:rPr lang="en-US" sz="1800" dirty="0"/>
              <a:t>()</a:t>
            </a:r>
          </a:p>
          <a:p>
            <a:pPr marL="0" indent="0" algn="just">
              <a:buNone/>
            </a:pPr>
            <a:r>
              <a:rPr lang="en-US" sz="1800" dirty="0"/>
              <a:t>Show formatted output	</a:t>
            </a:r>
            <a:r>
              <a:rPr lang="en-US" sz="1800" dirty="0" err="1"/>
              <a:t>db.collection.find</a:t>
            </a:r>
            <a:r>
              <a:rPr lang="en-US" sz="1800" dirty="0"/>
              <a:t>().pretty()	</a:t>
            </a:r>
            <a:r>
              <a:rPr lang="en-US" sz="1800" dirty="0" err="1"/>
              <a:t>db.students.find</a:t>
            </a:r>
            <a:r>
              <a:rPr lang="en-US" sz="1800" dirty="0"/>
              <a:t>().pretty()</a:t>
            </a:r>
          </a:p>
          <a:p>
            <a:pPr marL="0" indent="0" algn="just">
              <a:buNone/>
            </a:pPr>
            <a:r>
              <a:rPr lang="en-US" sz="1800" dirty="0"/>
              <a:t>Find with condition	</a:t>
            </a:r>
            <a:r>
              <a:rPr lang="en-US" sz="1800" dirty="0" err="1"/>
              <a:t>db.collection.find</a:t>
            </a:r>
            <a:r>
              <a:rPr lang="en-US" sz="1800" dirty="0"/>
              <a:t>({</a:t>
            </a:r>
            <a:r>
              <a:rPr lang="en-US" sz="1800" dirty="0" err="1"/>
              <a:t>field:value</a:t>
            </a:r>
            <a:r>
              <a:rPr lang="en-US" sz="1800" dirty="0"/>
              <a:t>})	</a:t>
            </a:r>
            <a:r>
              <a:rPr lang="en-US" sz="1800" dirty="0" err="1"/>
              <a:t>db.students.find</a:t>
            </a:r>
            <a:r>
              <a:rPr lang="en-US" sz="1800" dirty="0"/>
              <a:t>({age:20})</a:t>
            </a:r>
          </a:p>
          <a:p>
            <a:pPr marL="0" indent="0" algn="just">
              <a:buNone/>
            </a:pPr>
            <a:r>
              <a:rPr lang="en-US" sz="1800" dirty="0"/>
              <a:t>Find specific fields	</a:t>
            </a:r>
            <a:r>
              <a:rPr lang="en-US" sz="1800" dirty="0" err="1"/>
              <a:t>db.collection.find</a:t>
            </a:r>
            <a:r>
              <a:rPr lang="en-US" sz="1800" dirty="0"/>
              <a:t>({}, {field:1, _id:0})	</a:t>
            </a:r>
            <a:r>
              <a:rPr lang="en-US" sz="1800" dirty="0" err="1"/>
              <a:t>db.students.find</a:t>
            </a:r>
            <a:r>
              <a:rPr lang="en-US" sz="1800" dirty="0"/>
              <a:t>({}, {name:1, _id:0})</a:t>
            </a:r>
          </a:p>
          <a:p>
            <a:pPr marL="0" indent="0" algn="just">
              <a:buNone/>
            </a:pPr>
            <a:r>
              <a:rPr lang="en-US" sz="1800" dirty="0"/>
              <a:t>Find one document	</a:t>
            </a:r>
            <a:r>
              <a:rPr lang="en-US" sz="1800" dirty="0" err="1"/>
              <a:t>db.collection.findOne</a:t>
            </a:r>
            <a:r>
              <a:rPr lang="en-US" sz="1800" dirty="0"/>
              <a:t>({</a:t>
            </a:r>
            <a:r>
              <a:rPr lang="en-US" sz="1800" dirty="0" err="1"/>
              <a:t>field:value</a:t>
            </a:r>
            <a:r>
              <a:rPr lang="en-US" sz="1800" dirty="0"/>
              <a:t>})	</a:t>
            </a:r>
            <a:r>
              <a:rPr lang="en-US" sz="1800" dirty="0" err="1"/>
              <a:t>db.students.findOne</a:t>
            </a:r>
            <a:r>
              <a:rPr lang="en-US" sz="1800" dirty="0"/>
              <a:t>({</a:t>
            </a:r>
            <a:r>
              <a:rPr lang="en-US" sz="1800" dirty="0" err="1"/>
              <a:t>name:"Ali</a:t>
            </a:r>
            <a:r>
              <a:rPr lang="en-US" sz="1800" dirty="0"/>
              <a:t>"}) </a:t>
            </a:r>
          </a:p>
        </p:txBody>
      </p:sp>
    </p:spTree>
    <p:extLst>
      <p:ext uri="{BB962C8B-B14F-4D97-AF65-F5344CB8AC3E}">
        <p14:creationId xmlns:p14="http://schemas.microsoft.com/office/powerpoint/2010/main" val="329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</a:t>
            </a:r>
            <a:r>
              <a:rPr lang="en-US" sz="1800" b="1" dirty="0" smtClean="0">
                <a:solidFill>
                  <a:schemeClr val="accent1"/>
                </a:solidFill>
              </a:rPr>
              <a:t>pdate data</a:t>
            </a:r>
          </a:p>
          <a:p>
            <a:pPr marL="0" indent="0" algn="just">
              <a:buNone/>
            </a:pPr>
            <a:r>
              <a:rPr lang="en-US" sz="1800" dirty="0"/>
              <a:t>Update one document	</a:t>
            </a:r>
            <a:r>
              <a:rPr lang="en-US" sz="1800" dirty="0" err="1"/>
              <a:t>db.collection.updateOne</a:t>
            </a:r>
            <a:r>
              <a:rPr lang="en-US" sz="1800" dirty="0"/>
              <a:t>(filter, update)	</a:t>
            </a:r>
            <a:r>
              <a:rPr lang="en-US" sz="1800" dirty="0" err="1"/>
              <a:t>db.students.updateOne</a:t>
            </a:r>
            <a:r>
              <a:rPr lang="en-US" sz="1800" dirty="0"/>
              <a:t>({</a:t>
            </a:r>
            <a:r>
              <a:rPr lang="en-US" sz="1800" dirty="0" err="1"/>
              <a:t>name:"Ali</a:t>
            </a:r>
            <a:r>
              <a:rPr lang="en-US" sz="1800" dirty="0"/>
              <a:t>"}, {$set:{age:21}})</a:t>
            </a:r>
          </a:p>
          <a:p>
            <a:pPr marL="0" indent="0" algn="just">
              <a:buNone/>
            </a:pPr>
            <a:r>
              <a:rPr lang="en-US" sz="1800" dirty="0"/>
              <a:t>Update many documents	</a:t>
            </a:r>
            <a:r>
              <a:rPr lang="en-US" sz="1800" dirty="0" err="1"/>
              <a:t>db.collection.updateMany</a:t>
            </a:r>
            <a:r>
              <a:rPr lang="en-US" sz="1800" dirty="0"/>
              <a:t>(filter, update)	</a:t>
            </a:r>
            <a:r>
              <a:rPr lang="en-US" sz="1800" dirty="0" err="1"/>
              <a:t>db.students.updateMany</a:t>
            </a:r>
            <a:r>
              <a:rPr lang="en-US" sz="1800" dirty="0"/>
              <a:t>({age:20}, {$set:{</a:t>
            </a:r>
            <a:r>
              <a:rPr lang="en-US" sz="1800" dirty="0" err="1"/>
              <a:t>status:"active</a:t>
            </a:r>
            <a:r>
              <a:rPr lang="en-US" sz="1800" dirty="0"/>
              <a:t>"}})</a:t>
            </a:r>
          </a:p>
          <a:p>
            <a:pPr marL="0" indent="0" algn="just">
              <a:buNone/>
            </a:pPr>
            <a:r>
              <a:rPr lang="en-US" sz="1800" dirty="0"/>
              <a:t>Replace a document	</a:t>
            </a:r>
            <a:r>
              <a:rPr lang="en-US" sz="1800" dirty="0" err="1"/>
              <a:t>db.collection.replaceOne</a:t>
            </a:r>
            <a:r>
              <a:rPr lang="en-US" sz="1800" dirty="0"/>
              <a:t>(filter, </a:t>
            </a:r>
            <a:r>
              <a:rPr lang="en-US" sz="1800" dirty="0" err="1"/>
              <a:t>newDocument</a:t>
            </a:r>
            <a:r>
              <a:rPr lang="en-US" sz="1800" dirty="0"/>
              <a:t>)	</a:t>
            </a:r>
            <a:r>
              <a:rPr lang="en-US" sz="1800" dirty="0" err="1"/>
              <a:t>db.students.replaceOne</a:t>
            </a:r>
            <a:r>
              <a:rPr lang="en-US" sz="1800" dirty="0"/>
              <a:t>({</a:t>
            </a:r>
            <a:r>
              <a:rPr lang="en-US" sz="1800" dirty="0" err="1"/>
              <a:t>name:"Ali</a:t>
            </a:r>
            <a:r>
              <a:rPr lang="en-US" sz="1800" dirty="0"/>
              <a:t>"}, {</a:t>
            </a:r>
            <a:r>
              <a:rPr lang="en-US" sz="1800" dirty="0" err="1"/>
              <a:t>name:"Ali</a:t>
            </a:r>
            <a:r>
              <a:rPr lang="en-US" sz="1800" dirty="0"/>
              <a:t>", age:22, </a:t>
            </a:r>
            <a:r>
              <a:rPr lang="en-US" sz="1800" dirty="0" err="1"/>
              <a:t>grade:"A</a:t>
            </a:r>
            <a:r>
              <a:rPr lang="en-US" sz="1800" dirty="0"/>
              <a:t>"}) </a:t>
            </a:r>
          </a:p>
        </p:txBody>
      </p:sp>
    </p:spTree>
    <p:extLst>
      <p:ext uri="{BB962C8B-B14F-4D97-AF65-F5344CB8AC3E}">
        <p14:creationId xmlns:p14="http://schemas.microsoft.com/office/powerpoint/2010/main" val="1148031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</a:t>
            </a:r>
            <a:r>
              <a:rPr lang="en-US" sz="1800" b="1" dirty="0" smtClean="0">
                <a:solidFill>
                  <a:schemeClr val="accent1"/>
                </a:solidFill>
              </a:rPr>
              <a:t>elete Data</a:t>
            </a:r>
          </a:p>
          <a:p>
            <a:pPr marL="0" indent="0" algn="just">
              <a:buNone/>
            </a:pPr>
            <a:r>
              <a:rPr lang="en-US" sz="1800" dirty="0"/>
              <a:t>Delete one document	</a:t>
            </a:r>
            <a:r>
              <a:rPr lang="en-US" sz="1800" dirty="0" err="1"/>
              <a:t>db.collection.deleteOne</a:t>
            </a:r>
            <a:r>
              <a:rPr lang="en-US" sz="1800" dirty="0"/>
              <a:t>(filter)	</a:t>
            </a:r>
            <a:r>
              <a:rPr lang="en-US" sz="1800" dirty="0" err="1"/>
              <a:t>db.students.deleteOne</a:t>
            </a:r>
            <a:r>
              <a:rPr lang="en-US" sz="1800" dirty="0"/>
              <a:t>({</a:t>
            </a:r>
            <a:r>
              <a:rPr lang="en-US" sz="1800" dirty="0" err="1"/>
              <a:t>name:"Rafi</a:t>
            </a:r>
            <a:r>
              <a:rPr lang="en-US" sz="1800" dirty="0"/>
              <a:t>"})</a:t>
            </a:r>
          </a:p>
          <a:p>
            <a:pPr marL="0" indent="0" algn="just">
              <a:buNone/>
            </a:pPr>
            <a:r>
              <a:rPr lang="en-US" sz="1800" dirty="0"/>
              <a:t>Delete many documents	</a:t>
            </a:r>
            <a:r>
              <a:rPr lang="en-US" sz="1800" dirty="0" err="1"/>
              <a:t>db.collection.deleteMany</a:t>
            </a:r>
            <a:r>
              <a:rPr lang="en-US" sz="1800" dirty="0"/>
              <a:t>(filter)	</a:t>
            </a:r>
            <a:r>
              <a:rPr lang="en-US" sz="1800" dirty="0" err="1"/>
              <a:t>db.students.deleteMany</a:t>
            </a:r>
            <a:r>
              <a:rPr lang="en-US" sz="1800" dirty="0"/>
              <a:t>({age:22}) </a:t>
            </a:r>
            <a:endParaRPr lang="en-US" sz="1800" dirty="0" smtClean="0"/>
          </a:p>
          <a:p>
            <a:pPr marL="0" indent="0" algn="just">
              <a:buNone/>
            </a:pPr>
            <a:endParaRPr lang="en-US" sz="1800" dirty="0" smtClean="0"/>
          </a:p>
          <a:p>
            <a:pPr marL="0" indent="0" algn="just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Some commands</a:t>
            </a:r>
            <a:endParaRPr lang="en-US" sz="1800" b="1" dirty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r>
              <a:rPr lang="en-US" sz="1800" dirty="0"/>
              <a:t>Count documents	</a:t>
            </a:r>
            <a:r>
              <a:rPr lang="en-US" sz="1800" dirty="0" err="1"/>
              <a:t>db.collection.countDocuments</a:t>
            </a:r>
            <a:r>
              <a:rPr lang="en-US" sz="1800" dirty="0"/>
              <a:t>()	</a:t>
            </a:r>
            <a:r>
              <a:rPr lang="en-US" sz="1800" dirty="0" err="1"/>
              <a:t>db.students.countDocuments</a:t>
            </a:r>
            <a:r>
              <a:rPr lang="en-US" sz="1800" dirty="0"/>
              <a:t>()</a:t>
            </a:r>
          </a:p>
          <a:p>
            <a:pPr marL="0" indent="0" algn="just">
              <a:buNone/>
            </a:pPr>
            <a:r>
              <a:rPr lang="en-US" sz="1800" dirty="0"/>
              <a:t>Sort results	</a:t>
            </a:r>
            <a:r>
              <a:rPr lang="en-US" sz="1800" dirty="0" err="1"/>
              <a:t>db.collection.find</a:t>
            </a:r>
            <a:r>
              <a:rPr lang="en-US" sz="1800" dirty="0"/>
              <a:t>().sort({field:1})	</a:t>
            </a:r>
            <a:r>
              <a:rPr lang="en-US" sz="1800" dirty="0" err="1"/>
              <a:t>db.students.find</a:t>
            </a:r>
            <a:r>
              <a:rPr lang="en-US" sz="1800" dirty="0"/>
              <a:t>().sort({age:-1})</a:t>
            </a:r>
          </a:p>
          <a:p>
            <a:pPr marL="0" indent="0" algn="just">
              <a:buNone/>
            </a:pPr>
            <a:r>
              <a:rPr lang="en-US" sz="1800" dirty="0"/>
              <a:t>Limit results	</a:t>
            </a:r>
            <a:r>
              <a:rPr lang="en-US" sz="1800" dirty="0" err="1"/>
              <a:t>db.collection.find</a:t>
            </a:r>
            <a:r>
              <a:rPr lang="en-US" sz="1800" dirty="0"/>
              <a:t>().limit(n)	</a:t>
            </a:r>
            <a:r>
              <a:rPr lang="en-US" sz="1800" dirty="0" err="1"/>
              <a:t>db.students.find</a:t>
            </a:r>
            <a:r>
              <a:rPr lang="en-US" sz="1800" dirty="0"/>
              <a:t>().limit(5)</a:t>
            </a:r>
          </a:p>
          <a:p>
            <a:pPr marL="0" indent="0" algn="just">
              <a:buNone/>
            </a:pPr>
            <a:r>
              <a:rPr lang="en-US" sz="1800" dirty="0"/>
              <a:t>Create an index	</a:t>
            </a:r>
            <a:r>
              <a:rPr lang="en-US" sz="1800" dirty="0" err="1"/>
              <a:t>db.collection.createIndex</a:t>
            </a:r>
            <a:r>
              <a:rPr lang="en-US" sz="1800" dirty="0"/>
              <a:t>({field:1})	</a:t>
            </a:r>
            <a:r>
              <a:rPr lang="en-US" sz="1800" dirty="0" err="1"/>
              <a:t>db.students.createIndex</a:t>
            </a:r>
            <a:r>
              <a:rPr lang="en-US" sz="1800" dirty="0"/>
              <a:t>({name:1})</a:t>
            </a:r>
          </a:p>
          <a:p>
            <a:pPr marL="0" indent="0" algn="just">
              <a:buNone/>
            </a:pPr>
            <a:r>
              <a:rPr lang="en-US" sz="1800" dirty="0"/>
              <a:t>Drop database	</a:t>
            </a:r>
            <a:r>
              <a:rPr lang="en-US" sz="1800" dirty="0" err="1"/>
              <a:t>db.dropDatabase</a:t>
            </a:r>
            <a:r>
              <a:rPr lang="en-US" sz="1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5355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0303" y="685800"/>
            <a:ext cx="8418897" cy="579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dirty="0" smtClean="0">
                <a:solidFill>
                  <a:schemeClr val="accent1"/>
                </a:solidFill>
              </a:rPr>
              <a:t>Aggregation Examples</a:t>
            </a:r>
          </a:p>
          <a:p>
            <a:pPr marL="0" indent="0" algn="just">
              <a:buNone/>
            </a:pPr>
            <a:r>
              <a:rPr lang="en-US" sz="1800" dirty="0"/>
              <a:t>Count students per department</a:t>
            </a:r>
          </a:p>
          <a:p>
            <a:pPr marL="0" indent="0" algn="just">
              <a:buNone/>
            </a:pPr>
            <a:r>
              <a:rPr lang="en-US" sz="1800" dirty="0" err="1"/>
              <a:t>db.students.aggregate</a:t>
            </a:r>
            <a:r>
              <a:rPr lang="en-US" sz="1800" dirty="0"/>
              <a:t>([</a:t>
            </a:r>
          </a:p>
          <a:p>
            <a:pPr marL="0" indent="0" algn="just">
              <a:buNone/>
            </a:pPr>
            <a:r>
              <a:rPr lang="en-US" sz="1800" dirty="0"/>
              <a:t>  { $group: { _id: "$department", </a:t>
            </a:r>
            <a:r>
              <a:rPr lang="en-US" sz="1800" dirty="0" err="1"/>
              <a:t>totalStudents</a:t>
            </a:r>
            <a:r>
              <a:rPr lang="en-US" sz="1800" dirty="0"/>
              <a:t>: { $sum: 1 } } </a:t>
            </a:r>
            <a:r>
              <a:rPr lang="en-US" sz="1800" dirty="0" smtClean="0"/>
              <a:t>}])</a:t>
            </a:r>
            <a:endParaRPr lang="en-US" sz="1800" dirty="0"/>
          </a:p>
          <a:p>
            <a:pPr marL="0" indent="0" algn="just">
              <a:buNone/>
            </a:pPr>
            <a:r>
              <a:rPr lang="en-US" sz="1800" dirty="0" smtClean="0"/>
              <a:t>→ </a:t>
            </a:r>
            <a:r>
              <a:rPr lang="en-US" sz="1800" dirty="0"/>
              <a:t>Groups by department and counts students. </a:t>
            </a:r>
            <a:endParaRPr lang="en-US" sz="1800" dirty="0" smtClean="0"/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>
                <a:solidFill>
                  <a:schemeClr val="accent1"/>
                </a:solidFill>
              </a:rPr>
              <a:t>Average age of students per department</a:t>
            </a:r>
          </a:p>
          <a:p>
            <a:pPr marL="0" indent="0" algn="just">
              <a:buNone/>
            </a:pPr>
            <a:r>
              <a:rPr lang="en-US" sz="1800" dirty="0" err="1"/>
              <a:t>db.students.aggregate</a:t>
            </a:r>
            <a:r>
              <a:rPr lang="en-US" sz="1800" dirty="0"/>
              <a:t>([</a:t>
            </a:r>
          </a:p>
          <a:p>
            <a:pPr marL="0" indent="0" algn="just">
              <a:buNone/>
            </a:pPr>
            <a:r>
              <a:rPr lang="en-US" sz="1800" dirty="0"/>
              <a:t>  { $group: { _id: "$department", </a:t>
            </a:r>
            <a:r>
              <a:rPr lang="en-US" sz="1800" dirty="0" err="1"/>
              <a:t>avgAge</a:t>
            </a:r>
            <a:r>
              <a:rPr lang="en-US" sz="1800" dirty="0"/>
              <a:t>: { $</a:t>
            </a:r>
            <a:r>
              <a:rPr lang="en-US" sz="1800" dirty="0" err="1"/>
              <a:t>avg</a:t>
            </a:r>
            <a:r>
              <a:rPr lang="en-US" sz="1800" dirty="0"/>
              <a:t>: "$age" } } </a:t>
            </a:r>
            <a:r>
              <a:rPr lang="en-US" sz="1800" dirty="0" smtClean="0"/>
              <a:t>}])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4712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Students </a:t>
            </a:r>
            <a:r>
              <a:rPr lang="en-US" sz="1800" b="1" dirty="0">
                <a:solidFill>
                  <a:schemeClr val="accent1"/>
                </a:solidFill>
              </a:rPr>
              <a:t>older than 20, sorted by age</a:t>
            </a:r>
          </a:p>
          <a:p>
            <a:pPr marL="0" indent="0" algn="just">
              <a:buNone/>
            </a:pPr>
            <a:r>
              <a:rPr lang="en-US" sz="1800" dirty="0" err="1"/>
              <a:t>db.students.aggregate</a:t>
            </a:r>
            <a:r>
              <a:rPr lang="en-US" sz="1800" dirty="0"/>
              <a:t>([</a:t>
            </a:r>
          </a:p>
          <a:p>
            <a:pPr marL="0" indent="0" algn="just">
              <a:buNone/>
            </a:pPr>
            <a:r>
              <a:rPr lang="en-US" sz="1800" dirty="0"/>
              <a:t>  { $match: { age: { $</a:t>
            </a:r>
            <a:r>
              <a:rPr lang="en-US" sz="1800" dirty="0" err="1"/>
              <a:t>gt</a:t>
            </a:r>
            <a:r>
              <a:rPr lang="en-US" sz="1800" dirty="0"/>
              <a:t>: 20 } } },</a:t>
            </a:r>
          </a:p>
          <a:p>
            <a:pPr marL="0" indent="0" algn="just">
              <a:buNone/>
            </a:pPr>
            <a:r>
              <a:rPr lang="en-US" sz="1800" dirty="0"/>
              <a:t>  { $sort: { age: 1 } </a:t>
            </a:r>
            <a:r>
              <a:rPr lang="en-US" sz="1800" dirty="0" smtClean="0"/>
              <a:t>}])</a:t>
            </a:r>
            <a:endParaRPr lang="en-US" sz="1800" dirty="0"/>
          </a:p>
          <a:p>
            <a:pPr marL="0" indent="0" algn="just">
              <a:buNone/>
            </a:pPr>
            <a:endParaRPr lang="en-US" sz="1800" dirty="0" smtClean="0"/>
          </a:p>
          <a:p>
            <a:pPr marL="0" indent="0" algn="just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Join </a:t>
            </a:r>
            <a:r>
              <a:rPr lang="en-US" sz="1800" b="1" dirty="0">
                <a:solidFill>
                  <a:schemeClr val="accent1"/>
                </a:solidFill>
              </a:rPr>
              <a:t>students with department collection</a:t>
            </a:r>
          </a:p>
          <a:p>
            <a:pPr marL="0" indent="0" algn="just">
              <a:buNone/>
            </a:pPr>
            <a:r>
              <a:rPr lang="en-US" sz="1800" dirty="0" err="1"/>
              <a:t>db.students.aggregate</a:t>
            </a:r>
            <a:r>
              <a:rPr lang="en-US" sz="1800" dirty="0"/>
              <a:t>([</a:t>
            </a:r>
          </a:p>
          <a:p>
            <a:pPr marL="0" indent="0" algn="just">
              <a:buNone/>
            </a:pPr>
            <a:r>
              <a:rPr lang="en-US" sz="1800" dirty="0"/>
              <a:t>  {</a:t>
            </a:r>
          </a:p>
          <a:p>
            <a:pPr marL="0" indent="0" algn="just">
              <a:buNone/>
            </a:pPr>
            <a:r>
              <a:rPr lang="en-US" sz="1800" dirty="0"/>
              <a:t>    $lookup: {</a:t>
            </a:r>
          </a:p>
          <a:p>
            <a:pPr marL="0" indent="0" algn="just">
              <a:buNone/>
            </a:pPr>
            <a:r>
              <a:rPr lang="en-US" sz="1800" dirty="0"/>
              <a:t>      from: "departments",</a:t>
            </a:r>
          </a:p>
          <a:p>
            <a:pPr marL="0" indent="0" algn="just">
              <a:buNone/>
            </a:pPr>
            <a:r>
              <a:rPr lang="en-US" sz="1800" dirty="0"/>
              <a:t>      </a:t>
            </a:r>
            <a:r>
              <a:rPr lang="en-US" sz="1800" dirty="0" err="1"/>
              <a:t>localField</a:t>
            </a:r>
            <a:r>
              <a:rPr lang="en-US" sz="1800" dirty="0"/>
              <a:t>: "</a:t>
            </a:r>
            <a:r>
              <a:rPr lang="en-US" sz="1800" dirty="0" err="1"/>
              <a:t>deptId</a:t>
            </a:r>
            <a:r>
              <a:rPr lang="en-US" sz="1800" dirty="0"/>
              <a:t>",</a:t>
            </a:r>
          </a:p>
          <a:p>
            <a:pPr marL="0" indent="0" algn="just">
              <a:buNone/>
            </a:pPr>
            <a:r>
              <a:rPr lang="en-US" sz="1800" dirty="0"/>
              <a:t>      </a:t>
            </a:r>
            <a:r>
              <a:rPr lang="en-US" sz="1800" dirty="0" err="1"/>
              <a:t>foreignField</a:t>
            </a:r>
            <a:r>
              <a:rPr lang="en-US" sz="1800" dirty="0"/>
              <a:t>: "_id",</a:t>
            </a:r>
          </a:p>
          <a:p>
            <a:pPr marL="0" indent="0" algn="just">
              <a:buNone/>
            </a:pPr>
            <a:r>
              <a:rPr lang="en-US" sz="1800" dirty="0"/>
              <a:t>      as: "</a:t>
            </a:r>
            <a:r>
              <a:rPr lang="en-US" sz="1800" dirty="0" err="1"/>
              <a:t>deptInfo</a:t>
            </a:r>
            <a:r>
              <a:rPr lang="en-US" sz="1800" dirty="0"/>
              <a:t>"</a:t>
            </a:r>
          </a:p>
          <a:p>
            <a:pPr marL="0" indent="0" algn="just">
              <a:buNone/>
            </a:pPr>
            <a:r>
              <a:rPr lang="en-US" sz="1800" dirty="0"/>
              <a:t>    }</a:t>
            </a:r>
          </a:p>
          <a:p>
            <a:pPr marL="0" indent="0" algn="just">
              <a:buNone/>
            </a:pPr>
            <a:r>
              <a:rPr lang="en-US" sz="1800" dirty="0"/>
              <a:t>  </a:t>
            </a:r>
            <a:r>
              <a:rPr lang="en-US" sz="1800" dirty="0" smtClean="0"/>
              <a:t>}])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6258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0303" y="685800"/>
            <a:ext cx="84188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 smtClean="0">
                <a:solidFill>
                  <a:schemeClr val="bg2">
                    <a:lumMod val="50000"/>
                  </a:schemeClr>
                </a:solidFill>
              </a:rPr>
              <a:t>Total </a:t>
            </a:r>
            <a:r>
              <a:rPr lang="en-US" sz="1800" b="1" dirty="0">
                <a:solidFill>
                  <a:schemeClr val="bg2">
                    <a:lumMod val="50000"/>
                  </a:schemeClr>
                </a:solidFill>
              </a:rPr>
              <a:t>marks per student (sum of array values)</a:t>
            </a:r>
          </a:p>
          <a:p>
            <a:pPr marL="0" indent="0" algn="just">
              <a:buNone/>
            </a:pPr>
            <a:r>
              <a:rPr lang="en-US" sz="1800" dirty="0" err="1"/>
              <a:t>db.students.aggregate</a:t>
            </a:r>
            <a:r>
              <a:rPr lang="en-US" sz="1800" dirty="0"/>
              <a:t>([</a:t>
            </a:r>
          </a:p>
          <a:p>
            <a:pPr marL="0" indent="0" algn="just">
              <a:buNone/>
            </a:pPr>
            <a:r>
              <a:rPr lang="en-US" sz="1800" dirty="0"/>
              <a:t>  { $project: { name: 1, </a:t>
            </a:r>
            <a:r>
              <a:rPr lang="en-US" sz="1800" dirty="0" err="1"/>
              <a:t>totalMarks</a:t>
            </a:r>
            <a:r>
              <a:rPr lang="en-US" sz="1800" dirty="0"/>
              <a:t>: { $sum: "$marks" } } </a:t>
            </a:r>
            <a:r>
              <a:rPr lang="en-US" sz="1800" dirty="0" smtClean="0"/>
              <a:t>}])</a:t>
            </a:r>
            <a:endParaRPr lang="en-US" sz="1800" dirty="0"/>
          </a:p>
          <a:p>
            <a:pPr marL="0" indent="0" algn="just">
              <a:buNone/>
            </a:pPr>
            <a:endParaRPr lang="en-US" sz="1800" dirty="0" smtClean="0"/>
          </a:p>
          <a:p>
            <a:pPr marL="0" indent="0" algn="just">
              <a:buNone/>
            </a:pPr>
            <a:r>
              <a:rPr lang="en-US" sz="1800" b="1" dirty="0" smtClean="0">
                <a:solidFill>
                  <a:schemeClr val="bg2">
                    <a:lumMod val="50000"/>
                  </a:schemeClr>
                </a:solidFill>
              </a:rPr>
              <a:t>Group </a:t>
            </a:r>
            <a:r>
              <a:rPr lang="en-US" sz="1800" b="1" dirty="0">
                <a:solidFill>
                  <a:schemeClr val="bg2">
                    <a:lumMod val="50000"/>
                  </a:schemeClr>
                </a:solidFill>
              </a:rPr>
              <a:t>and filter (using $match + $group)</a:t>
            </a:r>
          </a:p>
          <a:p>
            <a:pPr marL="0" indent="0" algn="just">
              <a:buNone/>
            </a:pPr>
            <a:r>
              <a:rPr lang="en-US" sz="1800" dirty="0" err="1"/>
              <a:t>db.students.aggregate</a:t>
            </a:r>
            <a:r>
              <a:rPr lang="en-US" sz="1800" dirty="0"/>
              <a:t>([</a:t>
            </a:r>
          </a:p>
          <a:p>
            <a:pPr marL="0" indent="0" algn="just">
              <a:buNone/>
            </a:pPr>
            <a:r>
              <a:rPr lang="en-US" sz="1800" dirty="0"/>
              <a:t>  { $match: { age: { $</a:t>
            </a:r>
            <a:r>
              <a:rPr lang="en-US" sz="1800" dirty="0" err="1"/>
              <a:t>gte</a:t>
            </a:r>
            <a:r>
              <a:rPr lang="en-US" sz="1800" dirty="0"/>
              <a:t>: 20 } } },</a:t>
            </a:r>
          </a:p>
          <a:p>
            <a:pPr marL="0" indent="0" algn="just">
              <a:buNone/>
            </a:pPr>
            <a:r>
              <a:rPr lang="en-US" sz="1800" dirty="0"/>
              <a:t>  { $group: { _id: "$department", </a:t>
            </a:r>
            <a:r>
              <a:rPr lang="en-US" sz="1800" dirty="0" err="1"/>
              <a:t>avgAge</a:t>
            </a:r>
            <a:r>
              <a:rPr lang="en-US" sz="1800" dirty="0"/>
              <a:t>: { $</a:t>
            </a:r>
            <a:r>
              <a:rPr lang="en-US" sz="1800" dirty="0" err="1"/>
              <a:t>avg</a:t>
            </a:r>
            <a:r>
              <a:rPr lang="en-US" sz="1800" dirty="0"/>
              <a:t>: "$age" } } </a:t>
            </a:r>
            <a:r>
              <a:rPr lang="en-US" sz="1800" dirty="0" smtClean="0"/>
              <a:t>}])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895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Count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total documents in a collection</a:t>
            </a:r>
          </a:p>
          <a:p>
            <a:pPr marL="0" indent="0" algn="just">
              <a:buNone/>
            </a:pPr>
            <a:r>
              <a:rPr lang="en-US" sz="1800" dirty="0" err="1"/>
              <a:t>db.students.aggregate</a:t>
            </a:r>
            <a:r>
              <a:rPr lang="en-US" sz="1800" dirty="0"/>
              <a:t>([</a:t>
            </a:r>
          </a:p>
          <a:p>
            <a:pPr marL="0" indent="0" algn="just">
              <a:buNone/>
            </a:pPr>
            <a:r>
              <a:rPr lang="en-US" sz="1800" dirty="0"/>
              <a:t>  { $count: "</a:t>
            </a:r>
            <a:r>
              <a:rPr lang="en-US" sz="1800" dirty="0" err="1"/>
              <a:t>total_students</a:t>
            </a:r>
            <a:r>
              <a:rPr lang="en-US" sz="1800" dirty="0"/>
              <a:t>" }</a:t>
            </a:r>
          </a:p>
          <a:p>
            <a:pPr marL="0" indent="0" algn="just">
              <a:buNone/>
            </a:pPr>
            <a:r>
              <a:rPr lang="en-US" sz="1800" dirty="0"/>
              <a:t>])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 smtClean="0"/>
              <a:t>Example </a:t>
            </a:r>
            <a:r>
              <a:rPr lang="en-US" sz="1800" dirty="0"/>
              <a:t>with $unwind (for arrays</a:t>
            </a:r>
            <a:r>
              <a:rPr lang="en-US" sz="1800" dirty="0" smtClean="0"/>
              <a:t>)</a:t>
            </a:r>
            <a:endParaRPr lang="en-US" sz="1800" dirty="0"/>
          </a:p>
          <a:p>
            <a:pPr marL="0" indent="0" algn="just">
              <a:buNone/>
            </a:pPr>
            <a:r>
              <a:rPr lang="en-US" sz="1800" dirty="0"/>
              <a:t>Suppose each student has an array field subjects: ["Math", "CS", "Physics"]: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 err="1"/>
              <a:t>db.students.aggregate</a:t>
            </a:r>
            <a:r>
              <a:rPr lang="en-US" sz="1800" dirty="0"/>
              <a:t>([</a:t>
            </a:r>
          </a:p>
          <a:p>
            <a:pPr marL="0" indent="0" algn="just">
              <a:buNone/>
            </a:pPr>
            <a:r>
              <a:rPr lang="en-US" sz="1800" dirty="0"/>
              <a:t>  { $unwind: "$subjects" },</a:t>
            </a:r>
          </a:p>
          <a:p>
            <a:pPr marL="0" indent="0" algn="just">
              <a:buNone/>
            </a:pPr>
            <a:r>
              <a:rPr lang="en-US" sz="1800" dirty="0"/>
              <a:t>  { $group: { _id: "$subjects", total: { $sum: 1 } } }</a:t>
            </a:r>
          </a:p>
          <a:p>
            <a:pPr marL="0" indent="0" algn="just">
              <a:buNone/>
            </a:pPr>
            <a:r>
              <a:rPr lang="en-US" sz="1800" dirty="0"/>
              <a:t>])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/>
              <a:t>→ Counts how many students take each subject. </a:t>
            </a:r>
          </a:p>
        </p:txBody>
      </p:sp>
    </p:spTree>
    <p:extLst>
      <p:ext uri="{BB962C8B-B14F-4D97-AF65-F5344CB8AC3E}">
        <p14:creationId xmlns:p14="http://schemas.microsoft.com/office/powerpoint/2010/main" val="173401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0303" y="533401"/>
            <a:ext cx="8342697" cy="5638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 smtClean="0">
                <a:solidFill>
                  <a:schemeClr val="bg2">
                    <a:lumMod val="50000"/>
                  </a:schemeClr>
                </a:solidFill>
              </a:rPr>
              <a:t>Array</a:t>
            </a:r>
          </a:p>
          <a:p>
            <a:pPr algn="just"/>
            <a:r>
              <a:rPr lang="en-US" sz="1800" dirty="0" smtClean="0"/>
              <a:t>An </a:t>
            </a:r>
            <a:r>
              <a:rPr lang="en-US" sz="1800" dirty="0"/>
              <a:t>array is a list of values inside a document field.</a:t>
            </a:r>
          </a:p>
          <a:p>
            <a:pPr marL="0" indent="0" algn="just">
              <a:buNone/>
            </a:pPr>
            <a:r>
              <a:rPr lang="en-US" sz="1800" dirty="0" smtClean="0"/>
              <a:t>Example:</a:t>
            </a:r>
            <a:endParaRPr lang="en-US" sz="1800" dirty="0"/>
          </a:p>
          <a:p>
            <a:pPr marL="0" indent="0" algn="just">
              <a:buNone/>
            </a:pPr>
            <a:r>
              <a:rPr lang="en-US" sz="1800" dirty="0"/>
              <a:t>{</a:t>
            </a:r>
          </a:p>
          <a:p>
            <a:pPr marL="0" indent="0" algn="just">
              <a:buNone/>
            </a:pPr>
            <a:r>
              <a:rPr lang="en-US" sz="1800" dirty="0"/>
              <a:t>  name: "Alice",</a:t>
            </a:r>
          </a:p>
          <a:p>
            <a:pPr marL="0" indent="0" algn="just">
              <a:buNone/>
            </a:pPr>
            <a:r>
              <a:rPr lang="en-US" sz="1800" dirty="0"/>
              <a:t>  hobbies: ["reading", "traveling", "painting"]</a:t>
            </a:r>
          </a:p>
          <a:p>
            <a:pPr marL="0" indent="0" algn="just">
              <a:buNone/>
            </a:pPr>
            <a:r>
              <a:rPr lang="en-US" sz="1800" dirty="0"/>
              <a:t>} </a:t>
            </a:r>
            <a:endParaRPr lang="en-US" sz="1800" dirty="0" smtClean="0"/>
          </a:p>
          <a:p>
            <a:pPr marL="0" indent="0" algn="just">
              <a:buNone/>
            </a:pPr>
            <a:endParaRPr lang="en-US" sz="1800" dirty="0" smtClean="0"/>
          </a:p>
          <a:p>
            <a:pPr marL="0" indent="0" algn="just">
              <a:buNone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Inserting Documents with Arrays</a:t>
            </a:r>
          </a:p>
          <a:p>
            <a:pPr algn="just"/>
            <a:r>
              <a:rPr lang="en-US" sz="1800" dirty="0" smtClean="0"/>
              <a:t>Directly </a:t>
            </a:r>
            <a:r>
              <a:rPr lang="en-US" sz="1800" dirty="0"/>
              <a:t>insert arrays into a collection: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 err="1"/>
              <a:t>db.students.insertOne</a:t>
            </a:r>
            <a:r>
              <a:rPr lang="en-US" sz="1800" dirty="0"/>
              <a:t>({</a:t>
            </a:r>
          </a:p>
          <a:p>
            <a:pPr marL="0" indent="0" algn="just">
              <a:buNone/>
            </a:pPr>
            <a:r>
              <a:rPr lang="en-US" sz="1800" dirty="0"/>
              <a:t>  name: "John",</a:t>
            </a:r>
          </a:p>
          <a:p>
            <a:pPr marL="0" indent="0" algn="just">
              <a:buNone/>
            </a:pPr>
            <a:r>
              <a:rPr lang="en-US" sz="1800" dirty="0"/>
              <a:t>  scores: [85, 92, 78]</a:t>
            </a:r>
          </a:p>
          <a:p>
            <a:pPr marL="0" indent="0" algn="just">
              <a:buNone/>
            </a:pPr>
            <a:r>
              <a:rPr lang="en-US" sz="1800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3670227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>
                <a:solidFill>
                  <a:schemeClr val="bg2">
                    <a:lumMod val="50000"/>
                  </a:schemeClr>
                </a:solidFill>
              </a:rPr>
              <a:t>Querying Array Fields</a:t>
            </a:r>
          </a:p>
          <a:p>
            <a:pPr algn="just"/>
            <a:r>
              <a:rPr lang="en-US" sz="1800" dirty="0" smtClean="0"/>
              <a:t>search </a:t>
            </a:r>
            <a:r>
              <a:rPr lang="en-US" sz="1800" dirty="0"/>
              <a:t>inside arrays easily.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/>
              <a:t>a. Match if an element exists in the array</a:t>
            </a:r>
          </a:p>
          <a:p>
            <a:pPr marL="0" indent="0" algn="just">
              <a:buNone/>
            </a:pPr>
            <a:r>
              <a:rPr lang="en-US" sz="1800" dirty="0" err="1" smtClean="0"/>
              <a:t>db.students.find</a:t>
            </a:r>
            <a:r>
              <a:rPr lang="en-US" sz="1800" dirty="0"/>
              <a:t>({ scores: 85 </a:t>
            </a:r>
            <a:r>
              <a:rPr lang="en-US" sz="1800" dirty="0" smtClean="0"/>
              <a:t>});</a:t>
            </a:r>
            <a:endParaRPr lang="en-US" sz="1800" dirty="0"/>
          </a:p>
          <a:p>
            <a:pPr marL="0" indent="0" algn="just">
              <a:buNone/>
            </a:pPr>
            <a:r>
              <a:rPr lang="en-US" sz="1800" dirty="0" smtClean="0"/>
              <a:t>→ </a:t>
            </a:r>
            <a:r>
              <a:rPr lang="en-US" sz="1800" dirty="0"/>
              <a:t>Returns all documents where the array scores contains 85</a:t>
            </a:r>
            <a:r>
              <a:rPr lang="en-US" sz="1800" dirty="0" smtClean="0"/>
              <a:t>.</a:t>
            </a:r>
            <a:endParaRPr lang="en-US" sz="1800" dirty="0"/>
          </a:p>
          <a:p>
            <a:pPr marL="0" indent="0" algn="just">
              <a:buNone/>
            </a:pPr>
            <a:endParaRPr lang="en-US" sz="1800" dirty="0" smtClean="0"/>
          </a:p>
          <a:p>
            <a:pPr marL="0" indent="0" algn="just">
              <a:buNone/>
            </a:pPr>
            <a:r>
              <a:rPr lang="en-US" sz="1800" dirty="0" smtClean="0"/>
              <a:t>b</a:t>
            </a:r>
            <a:r>
              <a:rPr lang="en-US" sz="1800" dirty="0"/>
              <a:t>. Match if array exactly equals</a:t>
            </a:r>
          </a:p>
          <a:p>
            <a:pPr marL="0" indent="0" algn="just">
              <a:buNone/>
            </a:pPr>
            <a:r>
              <a:rPr lang="en-US" sz="1800" dirty="0" err="1" smtClean="0"/>
              <a:t>db.students.find</a:t>
            </a:r>
            <a:r>
              <a:rPr lang="en-US" sz="1800" dirty="0"/>
              <a:t>({ scores: [85, 92, 78] });</a:t>
            </a:r>
          </a:p>
          <a:p>
            <a:pPr marL="0" indent="0" algn="just">
              <a:buNone/>
            </a:pPr>
            <a:endParaRPr lang="en-US" sz="1800" dirty="0" smtClean="0"/>
          </a:p>
          <a:p>
            <a:pPr marL="0" indent="0" algn="just">
              <a:buNone/>
            </a:pPr>
            <a:r>
              <a:rPr lang="en-US" sz="1800" dirty="0" smtClean="0"/>
              <a:t>→ </a:t>
            </a:r>
            <a:r>
              <a:rPr lang="en-US" sz="1800" dirty="0"/>
              <a:t>Matches only if the array has exactly these values in this order. </a:t>
            </a:r>
          </a:p>
        </p:txBody>
      </p:sp>
    </p:spTree>
    <p:extLst>
      <p:ext uri="{BB962C8B-B14F-4D97-AF65-F5344CB8AC3E}">
        <p14:creationId xmlns:p14="http://schemas.microsoft.com/office/powerpoint/2010/main" val="1015643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Add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one element</a:t>
            </a:r>
            <a:r>
              <a:rPr lang="en-US" sz="1800" dirty="0" smtClean="0"/>
              <a:t>:</a:t>
            </a:r>
            <a:endParaRPr lang="en-US" sz="1800" dirty="0"/>
          </a:p>
          <a:p>
            <a:pPr marL="0" indent="0" algn="just">
              <a:buNone/>
            </a:pPr>
            <a:r>
              <a:rPr lang="en-US" sz="1800" dirty="0" err="1"/>
              <a:t>db.students.updateOne</a:t>
            </a:r>
            <a:r>
              <a:rPr lang="en-US" sz="1800" dirty="0"/>
              <a:t>(</a:t>
            </a:r>
          </a:p>
          <a:p>
            <a:pPr marL="0" indent="0" algn="just">
              <a:buNone/>
            </a:pPr>
            <a:r>
              <a:rPr lang="en-US" sz="1800" dirty="0"/>
              <a:t>  { name: "John" },</a:t>
            </a:r>
          </a:p>
          <a:p>
            <a:pPr marL="0" indent="0" algn="just">
              <a:buNone/>
            </a:pPr>
            <a:r>
              <a:rPr lang="en-US" sz="1800" dirty="0"/>
              <a:t>  { $push: { scores: 95 } }</a:t>
            </a:r>
          </a:p>
          <a:p>
            <a:pPr marL="0" indent="0" algn="just">
              <a:buNone/>
            </a:pPr>
            <a:r>
              <a:rPr lang="en-US" sz="1800" dirty="0" smtClean="0"/>
              <a:t>);</a:t>
            </a:r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Add only if it doesn’t already exist</a:t>
            </a: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:</a:t>
            </a: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800" dirty="0" err="1"/>
              <a:t>db.students.updateOne</a:t>
            </a:r>
            <a:r>
              <a:rPr lang="en-US" sz="1800" dirty="0"/>
              <a:t>(</a:t>
            </a:r>
          </a:p>
          <a:p>
            <a:pPr marL="0" indent="0" algn="just">
              <a:buNone/>
            </a:pPr>
            <a:r>
              <a:rPr lang="en-US" sz="1800" dirty="0"/>
              <a:t>  { name: "John" },</a:t>
            </a:r>
          </a:p>
          <a:p>
            <a:pPr marL="0" indent="0" algn="just">
              <a:buNone/>
            </a:pPr>
            <a:r>
              <a:rPr lang="en-US" sz="1800" dirty="0"/>
              <a:t>  { $</a:t>
            </a:r>
            <a:r>
              <a:rPr lang="en-US" sz="1800" dirty="0" err="1"/>
              <a:t>addToSet</a:t>
            </a:r>
            <a:r>
              <a:rPr lang="en-US" sz="1800" dirty="0"/>
              <a:t>: { scores: 95 } }</a:t>
            </a:r>
          </a:p>
          <a:p>
            <a:pPr marL="0" indent="0" algn="just">
              <a:buNone/>
            </a:pPr>
            <a:r>
              <a:rPr lang="en-US" sz="1800" dirty="0" smtClean="0"/>
              <a:t>);</a:t>
            </a:r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Add multiple elements at once</a:t>
            </a:r>
            <a:r>
              <a:rPr lang="en-US" sz="1800" dirty="0" smtClean="0"/>
              <a:t>:</a:t>
            </a:r>
            <a:endParaRPr lang="en-US" sz="1800" dirty="0"/>
          </a:p>
          <a:p>
            <a:pPr marL="0" indent="0" algn="just">
              <a:buNone/>
            </a:pPr>
            <a:r>
              <a:rPr lang="en-US" sz="1800" dirty="0" err="1"/>
              <a:t>db.students.updateOne</a:t>
            </a:r>
            <a:r>
              <a:rPr lang="en-US" sz="1800" dirty="0"/>
              <a:t>(</a:t>
            </a:r>
          </a:p>
          <a:p>
            <a:pPr marL="0" indent="0" algn="just">
              <a:buNone/>
            </a:pPr>
            <a:r>
              <a:rPr lang="en-US" sz="1800" dirty="0"/>
              <a:t>  { name: "John" },</a:t>
            </a:r>
          </a:p>
          <a:p>
            <a:pPr marL="0" indent="0" algn="just">
              <a:buNone/>
            </a:pPr>
            <a:r>
              <a:rPr lang="en-US" sz="1800" dirty="0"/>
              <a:t>  { $push: { scores: { $each: [88, 90] } } }</a:t>
            </a:r>
          </a:p>
          <a:p>
            <a:pPr marL="0" indent="0" algn="just">
              <a:buNone/>
            </a:pPr>
            <a:r>
              <a:rPr lang="en-US" sz="1800" dirty="0"/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3922172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Removing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Items from an Array</a:t>
            </a:r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Remove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specific value:</a:t>
            </a:r>
          </a:p>
          <a:p>
            <a:pPr marL="0" indent="0" algn="just">
              <a:buNone/>
            </a:pPr>
            <a:r>
              <a:rPr lang="en-US" sz="1800" dirty="0" err="1" smtClean="0"/>
              <a:t>db.students.updateOne</a:t>
            </a:r>
            <a:r>
              <a:rPr lang="en-US" sz="1800" dirty="0"/>
              <a:t>(</a:t>
            </a:r>
          </a:p>
          <a:p>
            <a:pPr marL="0" indent="0" algn="just">
              <a:buNone/>
            </a:pPr>
            <a:r>
              <a:rPr lang="en-US" sz="1800" dirty="0"/>
              <a:t>  { name: "John" },</a:t>
            </a:r>
          </a:p>
          <a:p>
            <a:pPr marL="0" indent="0" algn="just">
              <a:buNone/>
            </a:pPr>
            <a:r>
              <a:rPr lang="en-US" sz="1800" dirty="0"/>
              <a:t>  { $pull: { scores: 78 } }</a:t>
            </a:r>
          </a:p>
          <a:p>
            <a:pPr marL="0" indent="0" algn="just">
              <a:buNone/>
            </a:pPr>
            <a:r>
              <a:rPr lang="en-US" sz="1800" dirty="0"/>
              <a:t>);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Remove multiple matching values:</a:t>
            </a:r>
          </a:p>
          <a:p>
            <a:pPr marL="0" indent="0" algn="just">
              <a:buNone/>
            </a:pPr>
            <a:r>
              <a:rPr lang="en-US" sz="1800" dirty="0" err="1" smtClean="0"/>
              <a:t>db.students.updateOne</a:t>
            </a:r>
            <a:r>
              <a:rPr lang="en-US" sz="1800" dirty="0"/>
              <a:t>(</a:t>
            </a:r>
          </a:p>
          <a:p>
            <a:pPr marL="0" indent="0" algn="just">
              <a:buNone/>
            </a:pPr>
            <a:r>
              <a:rPr lang="en-US" sz="1800" dirty="0"/>
              <a:t>  { name: "John" },</a:t>
            </a:r>
          </a:p>
          <a:p>
            <a:pPr marL="0" indent="0" algn="just">
              <a:buNone/>
            </a:pPr>
            <a:r>
              <a:rPr lang="en-US" sz="1800" dirty="0"/>
              <a:t>  { $</a:t>
            </a:r>
            <a:r>
              <a:rPr lang="en-US" sz="1800" dirty="0" err="1"/>
              <a:t>pullAll</a:t>
            </a:r>
            <a:r>
              <a:rPr lang="en-US" sz="1800" dirty="0"/>
              <a:t>: { scores: [78, 90] } }</a:t>
            </a:r>
          </a:p>
          <a:p>
            <a:pPr marL="0" indent="0" algn="just">
              <a:buNone/>
            </a:pPr>
            <a:r>
              <a:rPr lang="en-US" sz="1800" dirty="0"/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2821817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Access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by index (e.g., 1st element = 92):</a:t>
            </a:r>
          </a:p>
          <a:p>
            <a:pPr marL="0" indent="0" algn="just">
              <a:buNone/>
            </a:pPr>
            <a:r>
              <a:rPr lang="en-US" sz="1800" dirty="0" err="1" smtClean="0"/>
              <a:t>db.students.find</a:t>
            </a:r>
            <a:r>
              <a:rPr lang="en-US" sz="1800" dirty="0"/>
              <a:t>({ "scores.0": 85 });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Using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$size and $all</a:t>
            </a:r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Find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arrays with exact length:</a:t>
            </a:r>
          </a:p>
          <a:p>
            <a:pPr marL="0" indent="0" algn="just">
              <a:buNone/>
            </a:pPr>
            <a:r>
              <a:rPr lang="en-US" sz="1800" dirty="0" err="1" smtClean="0"/>
              <a:t>db.students.find</a:t>
            </a:r>
            <a:r>
              <a:rPr lang="en-US" sz="1800" dirty="0"/>
              <a:t>({ scores: { $size: 3 } });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Find arrays containing all given elements:</a:t>
            </a:r>
          </a:p>
          <a:p>
            <a:pPr marL="0" indent="0" algn="just">
              <a:buNone/>
            </a:pPr>
            <a:r>
              <a:rPr lang="en-US" sz="1800" dirty="0" err="1" smtClean="0"/>
              <a:t>db.students.find</a:t>
            </a:r>
            <a:r>
              <a:rPr lang="en-US" sz="1800" dirty="0"/>
              <a:t>({ scores: { $all: [85, 92] } }); </a:t>
            </a:r>
          </a:p>
        </p:txBody>
      </p:sp>
    </p:spTree>
    <p:extLst>
      <p:ext uri="{BB962C8B-B14F-4D97-AF65-F5344CB8AC3E}">
        <p14:creationId xmlns:p14="http://schemas.microsoft.com/office/powerpoint/2010/main" val="36340356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b="1" dirty="0" smtClean="0">
                <a:solidFill>
                  <a:schemeClr val="accent1"/>
                </a:solidFill>
              </a:rPr>
              <a:t>Documents</a:t>
            </a:r>
          </a:p>
          <a:p>
            <a:pPr marL="0" indent="0" algn="just">
              <a:buNone/>
            </a:pPr>
            <a:r>
              <a:rPr lang="en-US" sz="2200" dirty="0"/>
              <a:t>{</a:t>
            </a:r>
          </a:p>
          <a:p>
            <a:pPr marL="0" indent="0" algn="just">
              <a:buNone/>
            </a:pPr>
            <a:r>
              <a:rPr lang="en-US" sz="2200" dirty="0"/>
              <a:t>  _id: 1,</a:t>
            </a:r>
          </a:p>
          <a:p>
            <a:pPr marL="0" indent="0" algn="just">
              <a:buNone/>
            </a:pPr>
            <a:r>
              <a:rPr lang="en-US" sz="2200" dirty="0"/>
              <a:t>  name: "Sarah",</a:t>
            </a:r>
          </a:p>
          <a:p>
            <a:pPr marL="0" indent="0" algn="just">
              <a:buNone/>
            </a:pPr>
            <a:r>
              <a:rPr lang="en-US" sz="2200" dirty="0"/>
              <a:t>  subjects: [</a:t>
            </a:r>
          </a:p>
          <a:p>
            <a:pPr marL="0" indent="0" algn="just">
              <a:buNone/>
            </a:pPr>
            <a:r>
              <a:rPr lang="en-US" sz="2200" dirty="0"/>
              <a:t>    { name: "Math", grade: 90 },</a:t>
            </a:r>
          </a:p>
          <a:p>
            <a:pPr marL="0" indent="0" algn="just">
              <a:buNone/>
            </a:pPr>
            <a:r>
              <a:rPr lang="en-US" sz="2200" dirty="0"/>
              <a:t>    { name: "English", grade: 88 }</a:t>
            </a:r>
          </a:p>
          <a:p>
            <a:pPr marL="0" indent="0" algn="just">
              <a:buNone/>
            </a:pPr>
            <a:r>
              <a:rPr lang="en-US" sz="2200" dirty="0"/>
              <a:t>  ]</a:t>
            </a:r>
          </a:p>
          <a:p>
            <a:pPr marL="0" indent="0" algn="just">
              <a:buNone/>
            </a:pPr>
            <a:r>
              <a:rPr lang="en-US" sz="2200" dirty="0"/>
              <a:t>}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63529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685800"/>
            <a:ext cx="8114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b="1" dirty="0" smtClean="0">
                <a:solidFill>
                  <a:schemeClr val="accent1"/>
                </a:solidFill>
              </a:rPr>
              <a:t> </a:t>
            </a:r>
          </a:p>
          <a:p>
            <a:pPr marL="0" indent="0" algn="just">
              <a:buNone/>
            </a:pPr>
            <a:r>
              <a:rPr lang="en-US" sz="2200" dirty="0" smtClean="0"/>
              <a:t> </a:t>
            </a:r>
            <a:endParaRPr lang="en-US" sz="14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81001" y="838200"/>
            <a:ext cx="83058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Documents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Create or switch database</a:t>
            </a:r>
            <a:r>
              <a:rPr lang="en-US" sz="1800" dirty="0"/>
              <a:t>	use </a:t>
            </a:r>
            <a:r>
              <a:rPr lang="en-US" sz="1800" dirty="0" err="1"/>
              <a:t>myDB</a:t>
            </a:r>
            <a:r>
              <a:rPr lang="en-US" sz="1800" dirty="0"/>
              <a:t>	</a:t>
            </a:r>
            <a:endParaRPr lang="en-US" sz="1800" dirty="0" smtClean="0"/>
          </a:p>
          <a:p>
            <a:pPr marL="0" indent="0" algn="just">
              <a:buNone/>
            </a:pPr>
            <a:r>
              <a:rPr lang="en-US" sz="1800" dirty="0" smtClean="0"/>
              <a:t>-- Creates </a:t>
            </a:r>
            <a:r>
              <a:rPr lang="en-US" sz="1800" dirty="0"/>
              <a:t>or switches to database </a:t>
            </a:r>
            <a:r>
              <a:rPr lang="en-US" sz="1800" dirty="0" err="1"/>
              <a:t>myDB</a:t>
            </a:r>
            <a:r>
              <a:rPr lang="en-US" sz="1800" dirty="0"/>
              <a:t>.</a:t>
            </a:r>
          </a:p>
          <a:p>
            <a:pPr marL="0" indent="0" algn="just">
              <a:buNone/>
            </a:pPr>
            <a:endParaRPr lang="en-US" sz="1800" dirty="0" smtClean="0"/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Show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current database</a:t>
            </a:r>
            <a:r>
              <a:rPr lang="en-US" sz="1800" dirty="0"/>
              <a:t>	</a:t>
            </a:r>
            <a:r>
              <a:rPr lang="en-US" sz="1800" dirty="0" err="1" smtClean="0"/>
              <a:t>db</a:t>
            </a:r>
            <a:r>
              <a:rPr lang="en-US" sz="1800" dirty="0"/>
              <a:t> </a:t>
            </a:r>
            <a:r>
              <a:rPr lang="en-US" sz="1800" dirty="0" smtClean="0"/>
              <a:t>      --Displays </a:t>
            </a:r>
            <a:r>
              <a:rPr lang="en-US" sz="1800" dirty="0"/>
              <a:t>the current database name.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List all databases</a:t>
            </a:r>
            <a:r>
              <a:rPr lang="en-US" sz="1800" dirty="0"/>
              <a:t>	show </a:t>
            </a:r>
            <a:r>
              <a:rPr lang="en-US" sz="1800" dirty="0" err="1" smtClean="0"/>
              <a:t>dbs</a:t>
            </a:r>
            <a:r>
              <a:rPr lang="en-US" sz="1800" dirty="0"/>
              <a:t> </a:t>
            </a:r>
            <a:r>
              <a:rPr lang="en-US" sz="1800" dirty="0" smtClean="0"/>
              <a:t>     --Lists </a:t>
            </a:r>
            <a:r>
              <a:rPr lang="en-US" sz="1800" dirty="0"/>
              <a:t>all available databases.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Drop a </a:t>
            </a: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database     </a:t>
            </a:r>
            <a:r>
              <a:rPr lang="en-US" sz="1800" dirty="0" err="1" smtClean="0"/>
              <a:t>db.dropDatabase</a:t>
            </a:r>
            <a:r>
              <a:rPr lang="en-US" sz="1800" dirty="0" smtClean="0"/>
              <a:t>()  --Deletes </a:t>
            </a:r>
            <a:r>
              <a:rPr lang="en-US" sz="1800" dirty="0"/>
              <a:t>the current database.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</a:rPr>
              <a:t>Collection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Commands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accent2"/>
                </a:solidFill>
              </a:rPr>
              <a:t>Operation	</a:t>
            </a:r>
            <a:r>
              <a:rPr lang="en-US" sz="1800" dirty="0" smtClean="0">
                <a:solidFill>
                  <a:schemeClr val="accent2"/>
                </a:solidFill>
              </a:rPr>
              <a:t>	Command</a:t>
            </a:r>
            <a:r>
              <a:rPr lang="en-US" sz="1800" dirty="0">
                <a:solidFill>
                  <a:schemeClr val="accent2"/>
                </a:solidFill>
              </a:rPr>
              <a:t>	</a:t>
            </a:r>
            <a:r>
              <a:rPr lang="en-US" sz="1800" dirty="0" smtClean="0">
                <a:solidFill>
                  <a:schemeClr val="accent2"/>
                </a:solidFill>
              </a:rPr>
              <a:t>		Description</a:t>
            </a:r>
            <a:endParaRPr lang="en-US" sz="18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800" dirty="0"/>
              <a:t>Create collection	</a:t>
            </a:r>
            <a:r>
              <a:rPr lang="en-US" sz="1800" dirty="0" err="1"/>
              <a:t>db.createCollection</a:t>
            </a:r>
            <a:r>
              <a:rPr lang="en-US" sz="1800" dirty="0"/>
              <a:t>("students")	</a:t>
            </a:r>
            <a:r>
              <a:rPr lang="en-US" sz="1800" dirty="0" smtClean="0"/>
              <a:t>Creates a 							new collection</a:t>
            </a:r>
            <a:r>
              <a:rPr lang="en-US" sz="1800" dirty="0"/>
              <a:t>.</a:t>
            </a:r>
          </a:p>
          <a:p>
            <a:pPr marL="0" indent="0" algn="just">
              <a:buNone/>
            </a:pPr>
            <a:r>
              <a:rPr lang="en-US" sz="1800" dirty="0"/>
              <a:t>Show all collections	show collections	Lists all collections in </a:t>
            </a:r>
            <a:r>
              <a:rPr lang="en-US" sz="1800" dirty="0" smtClean="0"/>
              <a:t>						the </a:t>
            </a:r>
            <a:r>
              <a:rPr lang="en-US" sz="1800" dirty="0"/>
              <a:t>current DB.</a:t>
            </a:r>
          </a:p>
          <a:p>
            <a:pPr marL="0" indent="0" algn="just">
              <a:buNone/>
            </a:pPr>
            <a:r>
              <a:rPr lang="en-US" sz="1800" dirty="0"/>
              <a:t>Drop collection	</a:t>
            </a:r>
            <a:r>
              <a:rPr lang="en-US" sz="1800" dirty="0" smtClean="0"/>
              <a:t>	</a:t>
            </a:r>
            <a:r>
              <a:rPr lang="en-US" sz="1800" dirty="0" err="1" smtClean="0"/>
              <a:t>db.students.drop</a:t>
            </a:r>
            <a:r>
              <a:rPr lang="en-US" sz="1800" dirty="0"/>
              <a:t>()	Deletes the collection </a:t>
            </a:r>
            <a:r>
              <a:rPr lang="en-US" sz="1800" dirty="0" smtClean="0"/>
              <a:t>						students</a:t>
            </a:r>
            <a:r>
              <a:rPr lang="en-US" sz="1800" dirty="0"/>
              <a:t>. </a:t>
            </a:r>
            <a:endParaRPr lang="en-US" sz="1800" dirty="0" smtClean="0"/>
          </a:p>
          <a:p>
            <a:pPr marL="0" indent="0" algn="just">
              <a:buNone/>
            </a:pPr>
            <a:r>
              <a:rPr lang="en-US" sz="1800" dirty="0" smtClean="0"/>
              <a:t>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098678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685800"/>
            <a:ext cx="84950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Document </a:t>
            </a:r>
            <a:r>
              <a:rPr lang="en-US" sz="1800" b="1" dirty="0">
                <a:solidFill>
                  <a:schemeClr val="accent1"/>
                </a:solidFill>
              </a:rPr>
              <a:t>Insertion Commands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accent2"/>
                </a:solidFill>
              </a:rPr>
              <a:t>Operation	</a:t>
            </a:r>
            <a:r>
              <a:rPr lang="en-US" sz="1800" dirty="0" smtClean="0">
                <a:solidFill>
                  <a:schemeClr val="accent2"/>
                </a:solidFill>
              </a:rPr>
              <a:t>	Command</a:t>
            </a:r>
            <a:r>
              <a:rPr lang="en-US" sz="1800" dirty="0">
                <a:solidFill>
                  <a:schemeClr val="accent2"/>
                </a:solidFill>
              </a:rPr>
              <a:t>	</a:t>
            </a:r>
            <a:r>
              <a:rPr lang="en-US" sz="1800" dirty="0" smtClean="0">
                <a:solidFill>
                  <a:schemeClr val="accent2"/>
                </a:solidFill>
              </a:rPr>
              <a:t>	Description</a:t>
            </a:r>
            <a:endParaRPr lang="en-US" sz="18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1800" dirty="0"/>
              <a:t>Insert one document	</a:t>
            </a:r>
            <a:r>
              <a:rPr lang="en-US" sz="1800" dirty="0" err="1"/>
              <a:t>db.students.insertOne</a:t>
            </a:r>
            <a:r>
              <a:rPr lang="en-US" sz="1800" dirty="0"/>
              <a:t>({</a:t>
            </a:r>
            <a:r>
              <a:rPr lang="en-US" sz="1800" dirty="0" err="1"/>
              <a:t>name:"Ali</a:t>
            </a:r>
            <a:r>
              <a:rPr lang="en-US" sz="1800" dirty="0"/>
              <a:t>", age:22, </a:t>
            </a:r>
            <a:r>
              <a:rPr lang="en-US" sz="1800" dirty="0" err="1"/>
              <a:t>dept</a:t>
            </a:r>
            <a:r>
              <a:rPr lang="en-US" sz="1800" dirty="0"/>
              <a:t>:"CSE"})	</a:t>
            </a:r>
            <a:r>
              <a:rPr lang="en-US" sz="1800" dirty="0" smtClean="0"/>
              <a:t>				Inserts </a:t>
            </a:r>
            <a:r>
              <a:rPr lang="en-US" sz="1800" dirty="0"/>
              <a:t>a single record.</a:t>
            </a:r>
          </a:p>
          <a:p>
            <a:pPr marL="0" indent="0">
              <a:buNone/>
            </a:pPr>
            <a:r>
              <a:rPr lang="en-US" sz="1800" dirty="0"/>
              <a:t>Insert many documents	</a:t>
            </a:r>
            <a:r>
              <a:rPr lang="en-US" sz="1800" dirty="0" err="1"/>
              <a:t>db.students.insertMany</a:t>
            </a:r>
            <a:r>
              <a:rPr lang="en-US" sz="1800" dirty="0"/>
              <a:t>([{name:"</a:t>
            </a:r>
            <a:r>
              <a:rPr lang="en-US" sz="1800" dirty="0" err="1"/>
              <a:t>Asha</a:t>
            </a:r>
            <a:r>
              <a:rPr lang="en-US" sz="1800" dirty="0"/>
              <a:t>", age:21},{</a:t>
            </a:r>
            <a:r>
              <a:rPr lang="en-US" sz="1800" dirty="0" err="1"/>
              <a:t>name:"Ravi</a:t>
            </a:r>
            <a:r>
              <a:rPr lang="en-US" sz="1800" dirty="0"/>
              <a:t>", age:23}])	</a:t>
            </a:r>
            <a:r>
              <a:rPr lang="en-US" sz="1800" dirty="0" smtClean="0"/>
              <a:t>		Inserts </a:t>
            </a:r>
            <a:r>
              <a:rPr lang="en-US" sz="1800" dirty="0"/>
              <a:t>multiple </a:t>
            </a:r>
            <a:r>
              <a:rPr lang="en-US" sz="1800" dirty="0" smtClean="0"/>
              <a:t>								documents</a:t>
            </a:r>
            <a:r>
              <a:rPr lang="en-US" sz="1800" dirty="0"/>
              <a:t>.</a:t>
            </a:r>
          </a:p>
          <a:p>
            <a:pPr marL="0" indent="0" algn="just">
              <a:buNone/>
            </a:pPr>
            <a:endParaRPr lang="en-US" sz="1800" dirty="0" smtClean="0"/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accent1"/>
                </a:solidFill>
              </a:rPr>
              <a:t>Querying </a:t>
            </a:r>
            <a:r>
              <a:rPr lang="en-US" sz="1800" dirty="0">
                <a:solidFill>
                  <a:schemeClr val="accent1"/>
                </a:solidFill>
              </a:rPr>
              <a:t>(Retrieval) Commands</a:t>
            </a:r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accent2"/>
                </a:solidFill>
              </a:rPr>
              <a:t>Operation	Command</a:t>
            </a:r>
            <a:r>
              <a:rPr lang="en-US" sz="1800" dirty="0">
                <a:solidFill>
                  <a:schemeClr val="accent2"/>
                </a:solidFill>
              </a:rPr>
              <a:t>	</a:t>
            </a:r>
            <a:r>
              <a:rPr lang="en-US" sz="1800" dirty="0" smtClean="0">
                <a:solidFill>
                  <a:schemeClr val="accent2"/>
                </a:solidFill>
              </a:rPr>
              <a:t>	Description</a:t>
            </a:r>
            <a:endParaRPr lang="en-US" sz="1800" dirty="0">
              <a:solidFill>
                <a:schemeClr val="accent2"/>
              </a:solidFill>
            </a:endParaRPr>
          </a:p>
          <a:p>
            <a:pPr marL="0" indent="0" algn="just">
              <a:buNone/>
            </a:pPr>
            <a:r>
              <a:rPr lang="en-US" sz="1800" dirty="0"/>
              <a:t>Find all	</a:t>
            </a:r>
            <a:r>
              <a:rPr lang="en-US" sz="1800" dirty="0" smtClean="0"/>
              <a:t>	</a:t>
            </a:r>
            <a:r>
              <a:rPr lang="en-US" sz="1800" dirty="0" err="1" smtClean="0"/>
              <a:t>db.students.find</a:t>
            </a:r>
            <a:r>
              <a:rPr lang="en-US" sz="1800" dirty="0"/>
              <a:t>()	Displays all documents.</a:t>
            </a:r>
          </a:p>
          <a:p>
            <a:pPr marL="0" indent="0">
              <a:buNone/>
            </a:pPr>
            <a:r>
              <a:rPr lang="en-US" sz="1800" dirty="0"/>
              <a:t>Find with condition	</a:t>
            </a:r>
            <a:r>
              <a:rPr lang="en-US" sz="1800" dirty="0" err="1"/>
              <a:t>db.students.find</a:t>
            </a:r>
            <a:r>
              <a:rPr lang="en-US" sz="1800" dirty="0"/>
              <a:t>({</a:t>
            </a:r>
            <a:r>
              <a:rPr lang="en-US" sz="1800" dirty="0" err="1"/>
              <a:t>dept</a:t>
            </a:r>
            <a:r>
              <a:rPr lang="en-US" sz="1800" dirty="0"/>
              <a:t>:"CSE"})	Shows </a:t>
            </a:r>
            <a:r>
              <a:rPr lang="en-US" sz="1800" dirty="0" smtClean="0"/>
              <a:t>							documents </a:t>
            </a:r>
            <a:r>
              <a:rPr lang="en-US" sz="1800" dirty="0"/>
              <a:t>matching the </a:t>
            </a:r>
            <a:r>
              <a:rPr lang="en-US" sz="1800" dirty="0" smtClean="0"/>
              <a:t>						condition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Display formatted </a:t>
            </a:r>
            <a:r>
              <a:rPr lang="en-US" sz="1800" dirty="0" smtClean="0"/>
              <a:t>output    </a:t>
            </a:r>
            <a:r>
              <a:rPr lang="en-US" sz="1800" dirty="0" err="1" smtClean="0"/>
              <a:t>db.students.find</a:t>
            </a:r>
            <a:r>
              <a:rPr lang="en-US" sz="1800" dirty="0"/>
              <a:t>().pretty</a:t>
            </a:r>
            <a:r>
              <a:rPr lang="en-US" sz="1800" dirty="0" smtClean="0"/>
              <a:t>()     Neatly </a:t>
            </a:r>
            <a:r>
              <a:rPr lang="en-US" sz="1800" dirty="0"/>
              <a:t>formats </a:t>
            </a:r>
            <a:r>
              <a:rPr lang="en-US" sz="1800" dirty="0" smtClean="0"/>
              <a:t>						query </a:t>
            </a:r>
            <a:r>
              <a:rPr lang="en-US" sz="1800" dirty="0"/>
              <a:t>output.</a:t>
            </a:r>
          </a:p>
          <a:p>
            <a:pPr marL="0" indent="0" algn="just">
              <a:buNone/>
            </a:pPr>
            <a:r>
              <a:rPr lang="en-US" sz="1800" dirty="0"/>
              <a:t>Find with projection	</a:t>
            </a:r>
            <a:r>
              <a:rPr lang="en-US" sz="1800" dirty="0" err="1"/>
              <a:t>db.students.find</a:t>
            </a:r>
            <a:r>
              <a:rPr lang="en-US" sz="1800" dirty="0"/>
              <a:t>({}, {name:1, age:1})	Shows </a:t>
            </a:r>
            <a:r>
              <a:rPr lang="en-US" sz="1800" dirty="0" smtClean="0"/>
              <a:t>						only </a:t>
            </a:r>
            <a:r>
              <a:rPr lang="en-US" sz="1800" dirty="0"/>
              <a:t>selected fields. </a:t>
            </a:r>
            <a:endParaRPr lang="en-US" sz="1800" dirty="0" smtClean="0"/>
          </a:p>
          <a:p>
            <a:pPr marL="0" indent="0" algn="just">
              <a:buNone/>
            </a:pPr>
            <a:r>
              <a:rPr lang="en-US" sz="1800" dirty="0" smtClean="0"/>
              <a:t>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189426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685800"/>
            <a:ext cx="8418897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Update </a:t>
            </a:r>
            <a:r>
              <a:rPr lang="en-US" sz="1800" b="1" dirty="0">
                <a:solidFill>
                  <a:schemeClr val="accent1"/>
                </a:solidFill>
              </a:rPr>
              <a:t>Commands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accent2"/>
                </a:solidFill>
              </a:rPr>
              <a:t>Operation	</a:t>
            </a:r>
            <a:r>
              <a:rPr lang="en-US" sz="1800" dirty="0" smtClean="0">
                <a:solidFill>
                  <a:schemeClr val="accent2"/>
                </a:solidFill>
              </a:rPr>
              <a:t>Command</a:t>
            </a:r>
            <a:r>
              <a:rPr lang="en-US" sz="1800" dirty="0">
                <a:solidFill>
                  <a:schemeClr val="accent2"/>
                </a:solidFill>
              </a:rPr>
              <a:t>	</a:t>
            </a:r>
            <a:r>
              <a:rPr lang="en-US" sz="1800" dirty="0" smtClean="0">
                <a:solidFill>
                  <a:schemeClr val="accent2"/>
                </a:solidFill>
              </a:rPr>
              <a:t>	Description</a:t>
            </a:r>
            <a:endParaRPr lang="en-US" sz="1800" dirty="0">
              <a:solidFill>
                <a:schemeClr val="accent2"/>
              </a:solidFill>
            </a:endParaRPr>
          </a:p>
          <a:p>
            <a:pPr marL="0" indent="0" algn="just">
              <a:buNone/>
            </a:pPr>
            <a:r>
              <a:rPr lang="en-US" sz="1800" dirty="0"/>
              <a:t>Update one	</a:t>
            </a:r>
            <a:r>
              <a:rPr lang="en-US" sz="1800" dirty="0" err="1"/>
              <a:t>db.students.updateOne</a:t>
            </a:r>
            <a:r>
              <a:rPr lang="en-US" sz="1800" dirty="0"/>
              <a:t>({name:"</a:t>
            </a:r>
            <a:r>
              <a:rPr lang="en-US" sz="1800" dirty="0" err="1"/>
              <a:t>Asha</a:t>
            </a:r>
            <a:r>
              <a:rPr lang="en-US" sz="1800" dirty="0"/>
              <a:t>"}, {$set:{age:22}})	</a:t>
            </a:r>
            <a:r>
              <a:rPr lang="en-US" sz="1800" dirty="0" smtClean="0"/>
              <a:t>			Updates </a:t>
            </a:r>
            <a:r>
              <a:rPr lang="en-US" sz="1800" dirty="0"/>
              <a:t>a single matching record.</a:t>
            </a:r>
          </a:p>
          <a:p>
            <a:pPr marL="0" indent="0" algn="just">
              <a:buNone/>
            </a:pPr>
            <a:r>
              <a:rPr lang="en-US" sz="1800" dirty="0"/>
              <a:t>Update many	</a:t>
            </a:r>
            <a:r>
              <a:rPr lang="en-US" sz="1800" dirty="0" err="1"/>
              <a:t>db.students.updateMany</a:t>
            </a:r>
            <a:r>
              <a:rPr lang="en-US" sz="1800" dirty="0"/>
              <a:t>({</a:t>
            </a:r>
            <a:r>
              <a:rPr lang="en-US" sz="1800" dirty="0" err="1"/>
              <a:t>dept</a:t>
            </a:r>
            <a:r>
              <a:rPr lang="en-US" sz="1800" dirty="0"/>
              <a:t>:"CSE</a:t>
            </a:r>
            <a:r>
              <a:rPr lang="en-US" sz="1800" dirty="0" smtClean="0"/>
              <a:t>"},{$</a:t>
            </a:r>
            <a:r>
              <a:rPr lang="en-US" sz="1800" dirty="0"/>
              <a:t>set:{</a:t>
            </a:r>
            <a:r>
              <a:rPr lang="en-US" sz="1800" dirty="0" err="1"/>
              <a:t>dept</a:t>
            </a:r>
            <a:r>
              <a:rPr lang="en-US" sz="1800" dirty="0"/>
              <a:t>:"CS"}})	</a:t>
            </a:r>
            <a:r>
              <a:rPr lang="en-US" sz="1800" dirty="0" smtClean="0"/>
              <a:t>			Updates </a:t>
            </a:r>
            <a:r>
              <a:rPr lang="en-US" sz="1800" dirty="0"/>
              <a:t>multiple records.</a:t>
            </a:r>
          </a:p>
          <a:p>
            <a:pPr marL="0" indent="0" algn="just">
              <a:buNone/>
            </a:pPr>
            <a:r>
              <a:rPr lang="en-US" sz="1800" dirty="0"/>
              <a:t>Replace one	</a:t>
            </a:r>
            <a:r>
              <a:rPr lang="en-US" sz="1800" dirty="0" err="1"/>
              <a:t>db.students.replaceOne</a:t>
            </a:r>
            <a:r>
              <a:rPr lang="en-US" sz="1800" dirty="0"/>
              <a:t>({</a:t>
            </a:r>
            <a:r>
              <a:rPr lang="en-US" sz="1800" dirty="0" err="1"/>
              <a:t>name:"Ali</a:t>
            </a:r>
            <a:r>
              <a:rPr lang="en-US" sz="1800" dirty="0" smtClean="0"/>
              <a:t>"},{</a:t>
            </a:r>
            <a:r>
              <a:rPr lang="en-US" sz="1800" dirty="0" err="1"/>
              <a:t>name:"Ali</a:t>
            </a:r>
            <a:r>
              <a:rPr lang="en-US" sz="1800" dirty="0"/>
              <a:t>", age:23, </a:t>
            </a:r>
            <a:r>
              <a:rPr lang="en-US" sz="1800" dirty="0" smtClean="0"/>
              <a:t>			</a:t>
            </a:r>
            <a:r>
              <a:rPr lang="en-US" sz="1800" dirty="0" err="1" smtClean="0"/>
              <a:t>dept</a:t>
            </a:r>
            <a:r>
              <a:rPr lang="en-US" sz="1800" dirty="0"/>
              <a:t>:"IT"})	</a:t>
            </a:r>
            <a:r>
              <a:rPr lang="en-US" sz="1800" dirty="0" smtClean="0"/>
              <a:t>	Replaces </a:t>
            </a:r>
            <a:r>
              <a:rPr lang="en-US" sz="1800" dirty="0"/>
              <a:t>entire document</a:t>
            </a:r>
            <a:r>
              <a:rPr lang="en-US" sz="1800" dirty="0" smtClean="0"/>
              <a:t>.</a:t>
            </a:r>
          </a:p>
          <a:p>
            <a:pPr marL="0" indent="0" algn="just">
              <a:buNone/>
            </a:pPr>
            <a:endParaRPr lang="en-US" sz="1800" dirty="0" smtClean="0"/>
          </a:p>
          <a:p>
            <a:pPr marL="0" indent="0" algn="just">
              <a:buNone/>
            </a:pPr>
            <a:r>
              <a:rPr lang="en-US" sz="1800" dirty="0" smtClean="0">
                <a:solidFill>
                  <a:schemeClr val="accent1"/>
                </a:solidFill>
              </a:rPr>
              <a:t>Delete </a:t>
            </a:r>
            <a:r>
              <a:rPr lang="en-US" sz="1800" dirty="0">
                <a:solidFill>
                  <a:schemeClr val="accent1"/>
                </a:solidFill>
              </a:rPr>
              <a:t>Commands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accent2"/>
                </a:solidFill>
              </a:rPr>
              <a:t>Operation	Command	</a:t>
            </a:r>
            <a:r>
              <a:rPr lang="en-US" sz="1800" dirty="0" smtClean="0">
                <a:solidFill>
                  <a:schemeClr val="accent2"/>
                </a:solidFill>
              </a:rPr>
              <a:t>		Description</a:t>
            </a:r>
            <a:endParaRPr lang="en-US" sz="1800" dirty="0">
              <a:solidFill>
                <a:schemeClr val="accent2"/>
              </a:solidFill>
            </a:endParaRPr>
          </a:p>
          <a:p>
            <a:pPr marL="0" indent="0" algn="just">
              <a:buNone/>
            </a:pPr>
            <a:r>
              <a:rPr lang="en-US" sz="1800" dirty="0"/>
              <a:t>Delete one	</a:t>
            </a:r>
            <a:r>
              <a:rPr lang="en-US" sz="1800" dirty="0" err="1"/>
              <a:t>db.students.deleteOne</a:t>
            </a:r>
            <a:r>
              <a:rPr lang="en-US" sz="1800" dirty="0"/>
              <a:t>({</a:t>
            </a:r>
            <a:r>
              <a:rPr lang="en-US" sz="1800" dirty="0" err="1"/>
              <a:t>name:"Ravi</a:t>
            </a:r>
            <a:r>
              <a:rPr lang="en-US" sz="1800" dirty="0"/>
              <a:t>"})	Deletes a single </a:t>
            </a:r>
            <a:r>
              <a:rPr lang="en-US" sz="1800" dirty="0" smtClean="0"/>
              <a:t>								document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Delete many	</a:t>
            </a:r>
            <a:r>
              <a:rPr lang="en-US" sz="1800" dirty="0" err="1"/>
              <a:t>db.students.deleteMany</a:t>
            </a:r>
            <a:r>
              <a:rPr lang="en-US" sz="1800" dirty="0"/>
              <a:t>({</a:t>
            </a:r>
            <a:r>
              <a:rPr lang="en-US" sz="1800" dirty="0" err="1"/>
              <a:t>dept</a:t>
            </a:r>
            <a:r>
              <a:rPr lang="en-US" sz="1800" dirty="0"/>
              <a:t>:"CS</a:t>
            </a:r>
            <a:r>
              <a:rPr lang="en-US" sz="1800" dirty="0" smtClean="0"/>
              <a:t>"})	Deletes </a:t>
            </a:r>
            <a:r>
              <a:rPr lang="en-US" sz="1800" dirty="0"/>
              <a:t>all </a:t>
            </a:r>
            <a:r>
              <a:rPr lang="en-US" sz="1800" dirty="0" smtClean="0"/>
              <a:t>							matching </a:t>
            </a:r>
            <a:r>
              <a:rPr lang="en-US" sz="1800" dirty="0"/>
              <a:t>documents. </a:t>
            </a:r>
            <a:endParaRPr lang="en-US" sz="1800" dirty="0" smtClean="0"/>
          </a:p>
          <a:p>
            <a:pPr marL="0" indent="0" algn="just">
              <a:buNone/>
            </a:pPr>
            <a:r>
              <a:rPr lang="en-US" sz="1800" dirty="0" smtClean="0"/>
              <a:t>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177639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20303" y="44919"/>
            <a:ext cx="7772400" cy="488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 smtClean="0"/>
              <a:t>NoSQL</a:t>
            </a:r>
            <a:r>
              <a:rPr lang="en-US" sz="2800" dirty="0" smtClean="0"/>
              <a:t> Commands</a:t>
            </a:r>
            <a:endParaRPr lang="en-US" sz="2800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420303" y="685800"/>
            <a:ext cx="8418897" cy="5486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Sorting</a:t>
            </a:r>
            <a:r>
              <a:rPr lang="en-US" sz="1800" b="1" dirty="0">
                <a:solidFill>
                  <a:schemeClr val="accent1"/>
                </a:solidFill>
              </a:rPr>
              <a:t>, Limiting, Counting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Operation	Command	Description</a:t>
            </a:r>
          </a:p>
          <a:p>
            <a:pPr marL="0" indent="0">
              <a:buNone/>
            </a:pPr>
            <a:r>
              <a:rPr lang="en-US" sz="1800" dirty="0"/>
              <a:t>Sort ascending	</a:t>
            </a:r>
            <a:r>
              <a:rPr lang="en-US" sz="1800" dirty="0" err="1"/>
              <a:t>db.students.find</a:t>
            </a:r>
            <a:r>
              <a:rPr lang="en-US" sz="1800" dirty="0"/>
              <a:t>().sort({age:1})	Sorts by age ascending.</a:t>
            </a:r>
          </a:p>
          <a:p>
            <a:pPr marL="0" indent="0">
              <a:buNone/>
            </a:pPr>
            <a:r>
              <a:rPr lang="en-US" sz="1800" dirty="0"/>
              <a:t>Sort descending	</a:t>
            </a:r>
            <a:r>
              <a:rPr lang="en-US" sz="1800" dirty="0" err="1"/>
              <a:t>db.students.find</a:t>
            </a:r>
            <a:r>
              <a:rPr lang="en-US" sz="1800" dirty="0"/>
              <a:t>().sort({age:-1})	Sorts by age </a:t>
            </a:r>
            <a:r>
              <a:rPr lang="en-US" sz="1800" dirty="0" smtClean="0"/>
              <a:t>							descending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Limit results	</a:t>
            </a:r>
            <a:r>
              <a:rPr lang="en-US" sz="1800" dirty="0" err="1"/>
              <a:t>db.students.find</a:t>
            </a:r>
            <a:r>
              <a:rPr lang="en-US" sz="1800" dirty="0"/>
              <a:t>().limit(3)	Displays only 3 </a:t>
            </a:r>
            <a:r>
              <a:rPr lang="en-US" sz="1800" dirty="0" smtClean="0"/>
              <a:t>								documents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Count documents	</a:t>
            </a:r>
            <a:r>
              <a:rPr lang="en-US" sz="1800" dirty="0" err="1"/>
              <a:t>db.students.countDocuments</a:t>
            </a:r>
            <a:r>
              <a:rPr lang="en-US" sz="1800" dirty="0"/>
              <a:t>()	Counts total </a:t>
            </a:r>
            <a:r>
              <a:rPr lang="en-US" sz="1800" dirty="0" smtClean="0"/>
              <a:t>						number </a:t>
            </a:r>
            <a:r>
              <a:rPr lang="en-US" sz="1800" dirty="0"/>
              <a:t>of documents.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accent1"/>
                </a:solidFill>
              </a:rPr>
              <a:t>Indexing </a:t>
            </a:r>
            <a:r>
              <a:rPr lang="en-US" sz="1800" b="1" dirty="0">
                <a:solidFill>
                  <a:schemeClr val="accent1"/>
                </a:solidFill>
              </a:rPr>
              <a:t>and Aggregation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Operation	Command	</a:t>
            </a:r>
            <a:r>
              <a:rPr lang="en-US" sz="1800" dirty="0" smtClean="0">
                <a:solidFill>
                  <a:schemeClr val="accent1"/>
                </a:solidFill>
              </a:rPr>
              <a:t>	Description</a:t>
            </a:r>
            <a:endParaRPr lang="en-US" sz="18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800" dirty="0"/>
              <a:t>Create index	</a:t>
            </a:r>
            <a:r>
              <a:rPr lang="en-US" sz="1800" dirty="0" err="1"/>
              <a:t>db.students.createIndex</a:t>
            </a:r>
            <a:r>
              <a:rPr lang="en-US" sz="1800" dirty="0"/>
              <a:t>({name:1})	Creates an </a:t>
            </a:r>
            <a:r>
              <a:rPr lang="en-US" sz="1800" dirty="0" smtClean="0"/>
              <a:t>					ascending </a:t>
            </a:r>
            <a:r>
              <a:rPr lang="en-US" sz="1800" dirty="0"/>
              <a:t>index on name.</a:t>
            </a:r>
          </a:p>
          <a:p>
            <a:pPr marL="0" indent="0">
              <a:buNone/>
            </a:pPr>
            <a:r>
              <a:rPr lang="en-US" sz="1800" dirty="0"/>
              <a:t>Drop index	</a:t>
            </a:r>
            <a:r>
              <a:rPr lang="en-US" sz="1800" dirty="0" err="1"/>
              <a:t>db.students.dropIndex</a:t>
            </a:r>
            <a:r>
              <a:rPr lang="en-US" sz="1800" dirty="0"/>
              <a:t>({name:1})	Removes the index.</a:t>
            </a:r>
          </a:p>
          <a:p>
            <a:pPr marL="0" indent="0">
              <a:buNone/>
            </a:pPr>
            <a:r>
              <a:rPr lang="en-US" sz="1800" dirty="0"/>
              <a:t>Aggregation example	</a:t>
            </a:r>
            <a:r>
              <a:rPr lang="en-US" sz="1800" dirty="0" err="1"/>
              <a:t>db.students.aggregate</a:t>
            </a:r>
            <a:r>
              <a:rPr lang="en-US" sz="1800" dirty="0"/>
              <a:t>([{$group:{_id:"$</a:t>
            </a:r>
            <a:r>
              <a:rPr lang="en-US" sz="1800" dirty="0" err="1"/>
              <a:t>dept</a:t>
            </a:r>
            <a:r>
              <a:rPr lang="en-US" sz="1800"/>
              <a:t>", </a:t>
            </a:r>
            <a:r>
              <a:rPr lang="en-US" sz="1800" smtClean="0"/>
              <a:t>		total</a:t>
            </a:r>
            <a:r>
              <a:rPr lang="en-US" sz="1800" dirty="0"/>
              <a:t>:{$sum:1}}}])	Groups by department and counts.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19675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1257</TotalTime>
  <Words>1875</Words>
  <Application>Microsoft Office PowerPoint</Application>
  <PresentationFormat>On-screen Show (4:3)</PresentationFormat>
  <Paragraphs>477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Lucida Sans Unicode</vt:lpstr>
      <vt:lpstr>Verdana</vt:lpstr>
      <vt:lpstr>Wingdings</vt:lpstr>
      <vt:lpstr>Wingdings 2</vt:lpstr>
      <vt:lpstr>Wingdings 3</vt:lpstr>
      <vt:lpstr>Concourse</vt:lpstr>
      <vt:lpstr>Big Data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Hadoop 2.0</dc:title>
  <dc:creator>USER</dc:creator>
  <cp:lastModifiedBy>CSELAB3</cp:lastModifiedBy>
  <cp:revision>79</cp:revision>
  <dcterms:created xsi:type="dcterms:W3CDTF">2025-03-13T16:08:49Z</dcterms:created>
  <dcterms:modified xsi:type="dcterms:W3CDTF">2026-04-09T03:58:23Z</dcterms:modified>
</cp:coreProperties>
</file>