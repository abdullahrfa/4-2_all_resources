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  <p:sldMasterId id="2147483660" r:id="rId6"/>
    <p:sldMasterId id="2147483661" r:id="rId7"/>
    <p:sldMasterId id="2147483662" r:id="rId8"/>
    <p:sldMasterId id="2147483663" r:id="rId9"/>
    <p:sldMasterId id="2147483664" r:id="rId10"/>
    <p:sldMasterId id="2147483665" r:id="rId11"/>
    <p:sldMasterId id="2147483666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FA01EF-4112-470D-AD45-27AC17A21B8D}">
  <a:tblStyle styleId="{33FA01EF-4112-470D-AD45-27AC17A21B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11" Type="http://schemas.openxmlformats.org/officeDocument/2006/relationships/slideMaster" Target="slideMasters/slideMaster7.xml"/><Relationship Id="rId10" Type="http://schemas.openxmlformats.org/officeDocument/2006/relationships/slideMaster" Target="slideMasters/slideMaster6.xml"/><Relationship Id="rId21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8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6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5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E8F0F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51" name="Google Shape;151;p19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4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-12192" y="4953000"/>
            <a:ext cx="9156192" cy="1911350"/>
            <a:chOff x="-12783" y="4832896"/>
            <a:chExt cx="9156783" cy="2032192"/>
          </a:xfrm>
        </p:grpSpPr>
        <p:sp>
          <p:nvSpPr>
            <p:cNvPr id="12" name="Google Shape;12;p1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607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5" name="Google Shape;15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56783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E8F0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4294967295" type="ctrTitle"/>
          </p:nvPr>
        </p:nvSpPr>
        <p:spPr>
          <a:xfrm>
            <a:off x="6096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Mining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57200" y="1066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Books for the slides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Introduction to Data Mining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1" baseline="3000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Author: P N Tan, M Steinbach and V Kumar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Data Mining: Concepts and Techniques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Author: J Han and M Kamber</a:t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304800" y="762000"/>
            <a:ext cx="8610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Sequential pattern discovery</a:t>
            </a:r>
            <a:endParaRPr/>
          </a:p>
          <a:p>
            <a:pPr indent="-255586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Given a sequence data set D and a user specified minimum support threshold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minsup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the task of sequential pattern discovery is to find all sequences with support ≥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minsup. </a:t>
            </a:r>
            <a:endParaRPr b="0" i="1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5586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input to sequential pattern discovery is </a:t>
            </a: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sequence data set</a:t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aphicFrame>
        <p:nvGraphicFramePr>
          <p:cNvPr id="170" name="Google Shape;170;p21"/>
          <p:cNvGraphicFramePr/>
          <p:nvPr/>
        </p:nvGraphicFramePr>
        <p:xfrm>
          <a:off x="24384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{33FA01EF-4112-470D-AD45-27AC17A21B8D}</a:tableStyleId>
              </a:tblPr>
              <a:tblGrid>
                <a:gridCol w="901700"/>
                <a:gridCol w="1384300"/>
                <a:gridCol w="1447800"/>
              </a:tblGrid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Object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Timestamp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Events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2, 3, 5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6, 1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4, 5, 6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7, 8, 1, 2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1, 6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1, 8, 7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152400" y="609600"/>
            <a:ext cx="8763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row records the occurrences of events associated with a particular object at a given time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Sequence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an ordered list of elements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can be denoted as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 = &lt;e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e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e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… e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&gt;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where each element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collection of one or more events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&lt;i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 , i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of web pages viewed by a web site visitor: &lt;{Homepage} {Electronics} {Cameras and Camcorders} {Digital Cameras} {Shopping cart} {Order confirmation} {Return to shopping}&gt;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can be characterized by its length i.e., number of elements, and  the number of occurring events. Hence, a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-sequence is a sequence that contains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381000" y="2286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152400" y="685800"/>
            <a:ext cx="8763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Subsequence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sequence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is a subsequence of another sequence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if each ordered element in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is a subset of an ordered element in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 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sequence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 = &lt;t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t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… t</a:t>
            </a:r>
            <a:r>
              <a:rPr b="0" baseline="-2500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&gt;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is a subsequence of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&lt;s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there exists integers 1≤ j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&lt;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j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⊆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j1 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⊆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j2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⊆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jm 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If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is a subsequence of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then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is contained in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	</a:t>
            </a:r>
            <a:endParaRPr/>
          </a:p>
          <a:p>
            <a:pPr indent="-233361" lvl="0" marL="34131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	</a:t>
            </a:r>
            <a:endParaRPr/>
          </a:p>
        </p:txBody>
      </p:sp>
      <p:graphicFrame>
        <p:nvGraphicFramePr>
          <p:cNvPr id="185" name="Google Shape;185;p23"/>
          <p:cNvGraphicFramePr/>
          <p:nvPr/>
        </p:nvGraphicFramePr>
        <p:xfrm>
          <a:off x="6858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{33FA01EF-4112-470D-AD45-27AC17A21B8D}</a:tableStyleId>
              </a:tblPr>
              <a:tblGrid>
                <a:gridCol w="2713025"/>
                <a:gridCol w="2132000"/>
                <a:gridCol w="3003550"/>
              </a:tblGrid>
              <a:tr h="7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Sequence, 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Sequence, </a:t>
                      </a:r>
                      <a:r>
                        <a:rPr b="0" i="1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Is </a:t>
                      </a:r>
                      <a:r>
                        <a:rPr b="0" i="1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</a:t>
                      </a: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a subsequence of </a:t>
                      </a:r>
                      <a:r>
                        <a:rPr b="0" i="1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&lt;{2,4} {3,5,6} {8}&gt;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&lt;{2} {3,6} {8}&gt;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&lt;{1,2} {3,4} 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&lt;{1} {2} 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cida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152400" y="6096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125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Sequential pattern discovery basics</a:t>
            </a:r>
            <a:endParaRPr/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FAECD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Data sequence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: It refers to an ordered list of events associated with a single data object</a:t>
            </a:r>
            <a:endParaRPr/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Let D be a data set that contains one or more data sequences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support of a sequence s is the fraction of all data sequences that contain 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FAECD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Sequential pattern or frequent sequence</a:t>
            </a: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support for a sequence </a:t>
            </a:r>
            <a:r>
              <a:rPr b="0" i="1" lang="en-US" sz="22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greater than or equal to a user specified threshold </a:t>
            </a:r>
            <a:r>
              <a:rPr b="0" i="1" lang="en-US" sz="22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minsup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b="0" i="1" lang="en-US" sz="22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frequent sequence.</a:t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discovery definition</a:t>
            </a:r>
            <a:endParaRPr/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Given a sequence data set D and a user specified minimum support threshold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minsup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the task of sequential pattern discovery is to find all sequences with support ≥ </a:t>
            </a:r>
            <a:r>
              <a:rPr b="0" i="1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minsup.</a:t>
            </a:r>
            <a:endParaRPr/>
          </a:p>
          <a:p>
            <a:pPr indent="-365125" lvl="0" marL="365125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199" name="Google Shape;199;p25"/>
          <p:cNvSpPr txBox="1"/>
          <p:nvPr/>
        </p:nvSpPr>
        <p:spPr>
          <a:xfrm>
            <a:off x="152400" y="685800"/>
            <a:ext cx="8763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7" lvl="0" marL="287337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Counting support for a sequence</a:t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See Figure 7.5 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data set that contains 5 data sequences for data objects A, B, C, D and E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Support for the sequence &lt;{1}{2}&gt;: s=80% as it occurs in the 4 of the 5 data sequences every object except for D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Assume minimum  support threshold is 50%, any sequence that appears in at least three data sequences is a </a:t>
            </a:r>
            <a:r>
              <a:rPr b="0" i="0" lang="en-US" sz="22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sequential pattern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/>
          </a:p>
          <a:p>
            <a:pPr indent="-287337" lvl="0" marL="2873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Apriori principle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holds for sequential data as any data sequence that contains a particular k-sequence must also contain all of its (k-1)  subsequences.</a:t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152400" y="609600"/>
            <a:ext cx="8763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125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88"/>
              <a:buFont typeface="Arial"/>
              <a:buChar char="•"/>
            </a:pPr>
            <a:r>
              <a:rPr b="0" i="0" lang="en-US" sz="16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 </a:t>
            </a:r>
            <a:r>
              <a:rPr b="1" i="0" lang="en-US" sz="16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n-US" sz="16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0" i="1" sz="16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aphicFrame>
        <p:nvGraphicFramePr>
          <p:cNvPr id="207" name="Google Shape;207;p26"/>
          <p:cNvGraphicFramePr/>
          <p:nvPr/>
        </p:nvGraphicFramePr>
        <p:xfrm>
          <a:off x="2057400" y="7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{33FA01EF-4112-470D-AD45-27AC17A21B8D}</a:tableStyleId>
              </a:tblPr>
              <a:tblGrid>
                <a:gridCol w="901700"/>
                <a:gridCol w="1384300"/>
                <a:gridCol w="1447800"/>
              </a:tblGrid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Object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Timestamp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Events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1,2, 4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2,4,5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3,4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4,5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2,4,5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457200" y="838200"/>
            <a:ext cx="82296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Example</a:t>
            </a:r>
            <a:endParaRPr/>
          </a:p>
          <a:p>
            <a:pPr indent="-255586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Consider minimum support = 50%</a:t>
            </a:r>
            <a:endParaRPr/>
          </a:p>
          <a:p>
            <a:pPr indent="-255586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Sequential pattern: &lt;{1, 2}&gt;, s = 60%</a:t>
            </a:r>
            <a:endParaRPr/>
          </a:p>
          <a:p>
            <a:pPr indent="-255586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Five data sequences</a:t>
            </a:r>
            <a:endParaRPr/>
          </a:p>
          <a:p>
            <a:pPr indent="-255586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Support for the sequence &lt;{1} {2}&gt; = 80%, appear in 4 of the 5 data sequences (every object except D) 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Pattern Mining/Discovery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