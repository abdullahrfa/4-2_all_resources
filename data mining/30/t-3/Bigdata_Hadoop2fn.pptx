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469" y="-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63560-DD94-484A-BE56-00BC06A9DA9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40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63560-DD94-484A-BE56-00BC06A9DA9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517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63560-DD94-484A-BE56-00BC06A9DA9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15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63560-DD94-484A-BE56-00BC06A9DA9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863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63560-DD94-484A-BE56-00BC06A9DA9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66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63560-DD94-484A-BE56-00BC06A9DA9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09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63560-DD94-484A-BE56-00BC06A9DA9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51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63560-DD94-484A-BE56-00BC06A9DA9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08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63560-DD94-484A-BE56-00BC06A9DA9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717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63560-DD94-484A-BE56-00BC06A9DA9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85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63560-DD94-484A-BE56-00BC06A9DA9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780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63560-DD94-484A-BE56-00BC06A9DA9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457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04800"/>
            <a:ext cx="7772400" cy="612775"/>
          </a:xfrm>
        </p:spPr>
        <p:txBody>
          <a:bodyPr>
            <a:normAutofit/>
          </a:bodyPr>
          <a:lstStyle/>
          <a:p>
            <a:r>
              <a:rPr lang="en-US" sz="2800" dirty="0" err="1" smtClean="0"/>
              <a:t>Hadoop</a:t>
            </a:r>
            <a:r>
              <a:rPr lang="en-US" sz="2800" dirty="0" smtClean="0"/>
              <a:t> 2.0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066800"/>
            <a:ext cx="8001000" cy="5105400"/>
          </a:xfrm>
        </p:spPr>
        <p:txBody>
          <a:bodyPr>
            <a:norm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</a:rPr>
              <a:t>HDFS continues to be the data storage framework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</a:rPr>
              <a:t>YARN – Yet Another Resource Negotiator has been added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</a:rPr>
              <a:t>Any application capable of dividing itself into parallel tasks is supported by YARN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</a:rPr>
              <a:t>It works by having an </a:t>
            </a:r>
            <a:r>
              <a:rPr lang="en-US" sz="2200" dirty="0" err="1" smtClean="0">
                <a:solidFill>
                  <a:schemeClr val="tx1"/>
                </a:solidFill>
              </a:rPr>
              <a:t>ApplicationMaster</a:t>
            </a:r>
            <a:r>
              <a:rPr lang="en-US" sz="2200" dirty="0" smtClean="0">
                <a:solidFill>
                  <a:schemeClr val="tx1"/>
                </a:solidFill>
              </a:rPr>
              <a:t> in place of the former </a:t>
            </a:r>
            <a:r>
              <a:rPr lang="en-US" sz="2200" dirty="0" err="1" smtClean="0">
                <a:solidFill>
                  <a:schemeClr val="tx1"/>
                </a:solidFill>
              </a:rPr>
              <a:t>JobTracker</a:t>
            </a:r>
            <a:endParaRPr lang="en-US" sz="22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</a:rPr>
              <a:t>There is a </a:t>
            </a:r>
            <a:r>
              <a:rPr lang="en-US" sz="2200" dirty="0" err="1" smtClean="0">
                <a:solidFill>
                  <a:schemeClr val="tx1"/>
                </a:solidFill>
              </a:rPr>
              <a:t>NodeManager</a:t>
            </a:r>
            <a:r>
              <a:rPr lang="en-US" sz="2200" dirty="0" smtClean="0">
                <a:solidFill>
                  <a:schemeClr val="tx1"/>
                </a:solidFill>
              </a:rPr>
              <a:t> in place of a Task Tracker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 err="1" smtClean="0">
                <a:solidFill>
                  <a:schemeClr val="tx1"/>
                </a:solidFill>
              </a:rPr>
              <a:t>ApplicationMaster</a:t>
            </a:r>
            <a:r>
              <a:rPr lang="en-US" sz="2200" dirty="0" smtClean="0">
                <a:solidFill>
                  <a:schemeClr val="tx1"/>
                </a:solidFill>
              </a:rPr>
              <a:t> is able to run any application and not just </a:t>
            </a:r>
            <a:r>
              <a:rPr lang="en-US" sz="2200" dirty="0" err="1" smtClean="0">
                <a:solidFill>
                  <a:schemeClr val="tx1"/>
                </a:solidFill>
              </a:rPr>
              <a:t>MapReduce</a:t>
            </a:r>
            <a:endParaRPr lang="en-US" sz="22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 err="1" smtClean="0">
                <a:solidFill>
                  <a:schemeClr val="tx1"/>
                </a:solidFill>
              </a:rPr>
              <a:t>MapReduce</a:t>
            </a:r>
            <a:r>
              <a:rPr lang="en-US" sz="2200" dirty="0" smtClean="0">
                <a:solidFill>
                  <a:schemeClr val="tx1"/>
                </a:solidFill>
              </a:rPr>
              <a:t> expertise is no longer needed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</a:rPr>
              <a:t>Supports </a:t>
            </a:r>
            <a:r>
              <a:rPr lang="en-US" sz="2200" dirty="0" err="1" smtClean="0">
                <a:solidFill>
                  <a:schemeClr val="tx1"/>
                </a:solidFill>
              </a:rPr>
              <a:t>realtime</a:t>
            </a:r>
            <a:r>
              <a:rPr lang="en-US" sz="2200" dirty="0" smtClean="0">
                <a:solidFill>
                  <a:schemeClr val="tx1"/>
                </a:solidFill>
              </a:rPr>
              <a:t> processing also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</a:rPr>
              <a:t>Data processing function like data standardization, master data management can now be performed natively in HDFS</a:t>
            </a: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40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304800"/>
            <a:ext cx="7772400" cy="612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Hadoop</a:t>
            </a:r>
            <a:r>
              <a:rPr lang="en-US" sz="2800" dirty="0" smtClean="0"/>
              <a:t> 2.0</a:t>
            </a:r>
            <a:endParaRPr lang="en-US" sz="28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533400" y="1066800"/>
            <a:ext cx="80010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200" b="1" dirty="0" err="1" smtClean="0"/>
              <a:t>Hadoop</a:t>
            </a:r>
            <a:r>
              <a:rPr lang="en-US" sz="2200" b="1" dirty="0" smtClean="0"/>
              <a:t> Ecosystem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200" dirty="0" smtClean="0"/>
              <a:t>Following are the components of </a:t>
            </a:r>
            <a:r>
              <a:rPr lang="en-US" sz="2200" dirty="0" err="1" smtClean="0"/>
              <a:t>Hadoop</a:t>
            </a:r>
            <a:r>
              <a:rPr lang="en-US" sz="2200" dirty="0" smtClean="0"/>
              <a:t> ecosystem (Fig. 4.11)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 smtClean="0"/>
              <a:t>HDFS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 err="1" smtClean="0"/>
              <a:t>Hbase</a:t>
            </a:r>
            <a:endParaRPr lang="en-US" sz="1800" dirty="0" smtClean="0"/>
          </a:p>
          <a:p>
            <a:pPr lvl="1" algn="just">
              <a:buFont typeface="Wingdings" pitchFamily="2" charset="2"/>
              <a:buChar char="§"/>
            </a:pPr>
            <a:r>
              <a:rPr lang="en-US" sz="1800" dirty="0" smtClean="0"/>
              <a:t>Hive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 smtClean="0"/>
              <a:t>Pig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 smtClean="0"/>
              <a:t>Zookeeper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 err="1" smtClean="0"/>
              <a:t>Oozie</a:t>
            </a:r>
            <a:endParaRPr lang="en-US" sz="1800" dirty="0" smtClean="0"/>
          </a:p>
          <a:p>
            <a:pPr lvl="1" algn="just">
              <a:buFont typeface="Wingdings" pitchFamily="2" charset="2"/>
              <a:buChar char="§"/>
            </a:pPr>
            <a:r>
              <a:rPr lang="en-US" sz="1800" dirty="0" err="1" smtClean="0"/>
              <a:t>Mahoute</a:t>
            </a:r>
            <a:endParaRPr lang="en-US" sz="1800" dirty="0" smtClean="0"/>
          </a:p>
          <a:p>
            <a:pPr lvl="1" algn="just">
              <a:buFont typeface="Wingdings" pitchFamily="2" charset="2"/>
              <a:buChar char="§"/>
            </a:pPr>
            <a:r>
              <a:rPr lang="en-US" sz="1800" dirty="0" err="1" smtClean="0"/>
              <a:t>Chukwa</a:t>
            </a:r>
            <a:endParaRPr lang="en-US" sz="1800" dirty="0" smtClean="0"/>
          </a:p>
          <a:p>
            <a:pPr lvl="1" algn="just">
              <a:buFont typeface="Wingdings" pitchFamily="2" charset="2"/>
              <a:buChar char="§"/>
            </a:pPr>
            <a:r>
              <a:rPr lang="en-US" sz="1800" dirty="0" err="1" smtClean="0"/>
              <a:t>Sqoop</a:t>
            </a:r>
            <a:endParaRPr lang="en-US" sz="1800" dirty="0" smtClean="0"/>
          </a:p>
          <a:p>
            <a:pPr lvl="1" algn="just">
              <a:buFont typeface="Wingdings" pitchFamily="2" charset="2"/>
              <a:buChar char="§"/>
            </a:pPr>
            <a:r>
              <a:rPr lang="en-US" sz="1800" dirty="0" err="1" smtClean="0"/>
              <a:t>Ambari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1954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Hadoop</a:t>
            </a:r>
            <a:r>
              <a:rPr lang="en-US" sz="2800" dirty="0" smtClean="0"/>
              <a:t> Distribution</a:t>
            </a:r>
            <a:endParaRPr lang="en-US" sz="2800" dirty="0"/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533400" y="685800"/>
            <a:ext cx="8001000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200" dirty="0" smtClean="0"/>
              <a:t>The core aspects of </a:t>
            </a:r>
            <a:r>
              <a:rPr lang="en-US" sz="2200" dirty="0" err="1" smtClean="0"/>
              <a:t>Hadoop</a:t>
            </a:r>
            <a:r>
              <a:rPr lang="en-US" sz="2200" dirty="0" smtClean="0"/>
              <a:t> include the following: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err="1" smtClean="0"/>
              <a:t>Hadoop</a:t>
            </a:r>
            <a:r>
              <a:rPr lang="en-US" sz="2000" dirty="0" smtClean="0"/>
              <a:t> Common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err="1" smtClean="0"/>
              <a:t>Hadoop</a:t>
            </a:r>
            <a:r>
              <a:rPr lang="en-US" sz="2000" dirty="0" smtClean="0"/>
              <a:t> Distributed File System (HDFS)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err="1" smtClean="0"/>
              <a:t>Hadoop</a:t>
            </a:r>
            <a:r>
              <a:rPr lang="en-US" sz="2000" dirty="0" smtClean="0"/>
              <a:t> YARN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err="1" smtClean="0"/>
              <a:t>Hadoop</a:t>
            </a:r>
            <a:r>
              <a:rPr lang="en-US" sz="2000" dirty="0" smtClean="0"/>
              <a:t> </a:t>
            </a:r>
            <a:r>
              <a:rPr lang="en-US" sz="2000" dirty="0" err="1" smtClean="0"/>
              <a:t>MapReduce</a:t>
            </a:r>
            <a:endParaRPr lang="en-US" sz="2000" dirty="0" smtClean="0"/>
          </a:p>
          <a:p>
            <a:pPr marL="457200" lvl="1" indent="0" algn="just">
              <a:buNone/>
            </a:pPr>
            <a:endParaRPr lang="en-US" sz="2000" dirty="0" smtClean="0"/>
          </a:p>
          <a:p>
            <a:pPr marL="0" indent="0" algn="just">
              <a:buNone/>
            </a:pPr>
            <a:r>
              <a:rPr lang="en-US" sz="2200" dirty="0" smtClean="0"/>
              <a:t>Cloud based </a:t>
            </a:r>
            <a:r>
              <a:rPr lang="en-US" sz="2200" dirty="0" err="1" smtClean="0"/>
              <a:t>Hadoop</a:t>
            </a:r>
            <a:r>
              <a:rPr lang="en-US" sz="2200" dirty="0" smtClean="0"/>
              <a:t> solution</a:t>
            </a:r>
            <a:endParaRPr lang="en-US" sz="2200" dirty="0"/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Amazon web services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Google </a:t>
            </a:r>
            <a:r>
              <a:rPr lang="en-US" sz="2000" dirty="0" err="1" smtClean="0"/>
              <a:t>BigQuery</a:t>
            </a:r>
            <a:endParaRPr lang="en-US" sz="2000" dirty="0" smtClean="0"/>
          </a:p>
          <a:p>
            <a:pPr lvl="1" algn="just">
              <a:buFont typeface="Wingdings" pitchFamily="2" charset="2"/>
              <a:buChar char="§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36205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/>
              <a:t>Why </a:t>
            </a:r>
            <a:r>
              <a:rPr lang="en-US" sz="2800" dirty="0" err="1" smtClean="0"/>
              <a:t>Hadoop</a:t>
            </a:r>
            <a:endParaRPr lang="en-US" sz="2800" dirty="0"/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420303" y="685800"/>
            <a:ext cx="8114097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200" dirty="0" smtClean="0"/>
              <a:t>The key considerations are::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Its capability to handle massive amount of data, different categories of data- fairly quickly. </a:t>
            </a:r>
          </a:p>
          <a:p>
            <a:pPr marL="457200" lvl="1" indent="0" algn="just">
              <a:buNone/>
            </a:pPr>
            <a:endParaRPr lang="en-US" sz="2000" dirty="0" smtClean="0"/>
          </a:p>
          <a:p>
            <a:pPr marL="0" indent="0" algn="just">
              <a:buNone/>
            </a:pPr>
            <a:r>
              <a:rPr lang="en-US" sz="2200" dirty="0" smtClean="0"/>
              <a:t>The other considerations are:</a:t>
            </a:r>
            <a:endParaRPr lang="en-US" sz="2200" dirty="0"/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 Low cost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Computing power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Scalability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Storage flexibility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Inherent data protection</a:t>
            </a:r>
          </a:p>
          <a:p>
            <a:pPr marL="457200" lvl="1" indent="0" algn="just">
              <a:buNone/>
            </a:pPr>
            <a:endParaRPr lang="en-US" sz="2000" dirty="0" smtClean="0"/>
          </a:p>
          <a:p>
            <a:pPr marL="0" indent="0" algn="just">
              <a:buNone/>
            </a:pPr>
            <a:r>
              <a:rPr lang="en-US" sz="2200" b="1" dirty="0" smtClean="0"/>
              <a:t>Cluster</a:t>
            </a:r>
            <a:endParaRPr lang="en-US" sz="2200" b="1" dirty="0"/>
          </a:p>
          <a:p>
            <a:pPr lvl="1" algn="just">
              <a:buFont typeface="Wingdings" pitchFamily="2" charset="2"/>
              <a:buChar char="§"/>
            </a:pPr>
            <a:r>
              <a:rPr lang="en-US" sz="2000" dirty="0" err="1" smtClean="0"/>
              <a:t>Hadoop</a:t>
            </a:r>
            <a:r>
              <a:rPr lang="en-US" sz="2000" dirty="0" smtClean="0"/>
              <a:t> makes use of commodity hardware, distributed file system and distributed computing. In this new design, the groups of machine are gathered together which is known as cluster.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03964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/>
              <a:t>Why </a:t>
            </a:r>
            <a:r>
              <a:rPr lang="en-US" sz="2800" dirty="0" err="1" smtClean="0"/>
              <a:t>Hadoop</a:t>
            </a:r>
            <a:endParaRPr lang="en-US" sz="2800" dirty="0"/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420303" y="685800"/>
            <a:ext cx="8114097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200" dirty="0" smtClean="0"/>
              <a:t>Data can be managed using </a:t>
            </a:r>
            <a:r>
              <a:rPr lang="en-US" sz="2200" dirty="0" err="1" smtClean="0"/>
              <a:t>Hadoop</a:t>
            </a:r>
            <a:r>
              <a:rPr lang="en-US" sz="2200" dirty="0" smtClean="0"/>
              <a:t> as follows: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Distributes the data and duplicates chunks of each data files across several nodes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 Locally available computer resource is used to process each chunk of data in parallel 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err="1" smtClean="0"/>
              <a:t>Hadoop</a:t>
            </a:r>
            <a:r>
              <a:rPr lang="en-US" sz="2000" dirty="0" smtClean="0"/>
              <a:t> framework handles failover smartly and automatically</a:t>
            </a:r>
          </a:p>
          <a:p>
            <a:pPr marL="457200" lvl="1" indent="0" algn="just">
              <a:buNone/>
            </a:pPr>
            <a:endParaRPr lang="en-US" sz="2000" dirty="0" smtClean="0"/>
          </a:p>
          <a:p>
            <a:pPr marL="0" indent="0" algn="just">
              <a:buNone/>
            </a:pPr>
            <a:r>
              <a:rPr lang="en-US" sz="2200" dirty="0" smtClean="0"/>
              <a:t>RDBMS </a:t>
            </a:r>
            <a:r>
              <a:rPr lang="en-US" sz="2200" dirty="0" err="1" smtClean="0"/>
              <a:t>vs</a:t>
            </a:r>
            <a:r>
              <a:rPr lang="en-US" sz="2200" dirty="0" smtClean="0"/>
              <a:t> </a:t>
            </a:r>
            <a:r>
              <a:rPr lang="en-US" sz="2200" dirty="0" err="1" smtClean="0"/>
              <a:t>Hadoop</a:t>
            </a:r>
            <a:endParaRPr lang="en-US" sz="2200" dirty="0"/>
          </a:p>
          <a:p>
            <a:pPr marL="457200" lvl="1" indent="0" algn="just">
              <a:buNone/>
            </a:pPr>
            <a:r>
              <a:rPr lang="en-US" sz="2000" dirty="0" smtClean="0"/>
              <a:t>Book pages</a:t>
            </a:r>
          </a:p>
          <a:p>
            <a:pPr marL="457200" lvl="1" indent="0" algn="just">
              <a:buNone/>
            </a:pPr>
            <a:endParaRPr lang="en-US" sz="2000" dirty="0" smtClean="0"/>
          </a:p>
          <a:p>
            <a:pPr marL="0" indent="0" algn="just">
              <a:buNone/>
            </a:pPr>
            <a:r>
              <a:rPr lang="en-US" sz="2200" b="1" dirty="0" smtClean="0"/>
              <a:t>Distributed computing challenges</a:t>
            </a:r>
            <a:endParaRPr lang="en-US" sz="2200" b="1" dirty="0"/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Hardware failure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How to process this Gigantic store of Data</a:t>
            </a:r>
          </a:p>
          <a:p>
            <a:pPr marL="457200" lvl="1" indent="0" algn="just">
              <a:buNone/>
            </a:pPr>
            <a:r>
              <a:rPr lang="en-US" sz="2000" dirty="0" smtClean="0"/>
              <a:t>Book pages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67166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Hadoop</a:t>
            </a:r>
            <a:r>
              <a:rPr lang="en-US" sz="2800" dirty="0" smtClean="0"/>
              <a:t> Overview</a:t>
            </a:r>
            <a:endParaRPr lang="en-US" sz="2800" dirty="0"/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420303" y="685800"/>
            <a:ext cx="8114097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200" dirty="0" smtClean="0"/>
              <a:t>Tasks done are: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 Massive data storage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Faster data processing</a:t>
            </a:r>
          </a:p>
          <a:p>
            <a:pPr marL="457200" lvl="1" indent="0" algn="just">
              <a:buNone/>
            </a:pPr>
            <a:endParaRPr lang="en-US" sz="2000" dirty="0" smtClean="0"/>
          </a:p>
          <a:p>
            <a:pPr marL="0" indent="0" algn="just">
              <a:buNone/>
            </a:pPr>
            <a:r>
              <a:rPr lang="en-US" sz="2200" dirty="0" smtClean="0"/>
              <a:t>Key aspects of </a:t>
            </a:r>
            <a:r>
              <a:rPr lang="en-US" sz="2200" dirty="0" err="1" smtClean="0"/>
              <a:t>hadoop</a:t>
            </a:r>
            <a:endParaRPr lang="en-US" sz="2200" dirty="0"/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Open source software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Framework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Distributed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Massive storage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Faster processing</a:t>
            </a:r>
          </a:p>
          <a:p>
            <a:pPr marL="457200" lvl="1" indent="0" algn="just">
              <a:buNone/>
            </a:pPr>
            <a:endParaRPr lang="en-US" sz="2000" dirty="0" smtClean="0"/>
          </a:p>
          <a:p>
            <a:pPr marL="0" indent="0" algn="just">
              <a:buNone/>
            </a:pPr>
            <a:r>
              <a:rPr lang="en-US" sz="2200" b="1" dirty="0" smtClean="0"/>
              <a:t>Book pages</a:t>
            </a:r>
          </a:p>
          <a:p>
            <a:pPr marL="0" indent="0" algn="just">
              <a:buNone/>
            </a:pPr>
            <a:endParaRPr lang="en-US" sz="2200" b="1" dirty="0"/>
          </a:p>
          <a:p>
            <a:pPr marL="0" indent="0" algn="just">
              <a:buNone/>
            </a:pPr>
            <a:r>
              <a:rPr lang="en-US" sz="2200" b="1" dirty="0" err="1" smtClean="0"/>
              <a:t>Hadoop</a:t>
            </a:r>
            <a:r>
              <a:rPr lang="en-US" sz="2200" b="1" dirty="0" smtClean="0"/>
              <a:t> components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12741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Hadoop</a:t>
            </a:r>
            <a:r>
              <a:rPr lang="en-US" sz="2800" dirty="0" smtClean="0"/>
              <a:t> Overview</a:t>
            </a:r>
            <a:endParaRPr lang="en-US" sz="2800" dirty="0"/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420303" y="685800"/>
            <a:ext cx="8114097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200" dirty="0" err="1" smtClean="0"/>
              <a:t>Hadoop</a:t>
            </a:r>
            <a:r>
              <a:rPr lang="en-US" sz="2200" dirty="0" smtClean="0"/>
              <a:t> conceptual layer</a:t>
            </a:r>
          </a:p>
          <a:p>
            <a:pPr marL="746125" lvl="1" indent="-514350" algn="just">
              <a:buAutoNum type="romanLcParenR"/>
            </a:pPr>
            <a:r>
              <a:rPr lang="en-US" sz="2000" dirty="0" smtClean="0"/>
              <a:t>Data storage layer: Sores huge volume of data</a:t>
            </a:r>
            <a:endParaRPr lang="en-US" sz="2000" dirty="0"/>
          </a:p>
          <a:p>
            <a:pPr marL="746125" lvl="1" indent="-514350" algn="just">
              <a:buAutoNum type="romanLcParenR"/>
            </a:pPr>
            <a:r>
              <a:rPr lang="en-US" sz="2000" dirty="0" smtClean="0"/>
              <a:t>Data processing layer: Processes data in parallel to extract richer and meaningful insights from data.</a:t>
            </a:r>
            <a:endParaRPr lang="en-US" sz="2000" dirty="0"/>
          </a:p>
          <a:p>
            <a:pPr marL="457200" lvl="1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US" sz="2200" dirty="0" smtClean="0"/>
              <a:t>High level architecture of </a:t>
            </a:r>
            <a:r>
              <a:rPr lang="en-US" sz="2200" dirty="0" err="1" smtClean="0"/>
              <a:t>Hadoop</a:t>
            </a:r>
            <a:endParaRPr lang="en-US" sz="2200" dirty="0"/>
          </a:p>
          <a:p>
            <a:pPr marL="625475" lvl="1" indent="-393700" algn="just">
              <a:buFont typeface="Wingdings" pitchFamily="2" charset="2"/>
              <a:buChar char="§"/>
            </a:pPr>
            <a:r>
              <a:rPr lang="en-US" sz="2000" dirty="0" err="1" smtClean="0"/>
              <a:t>Hadoop</a:t>
            </a:r>
            <a:r>
              <a:rPr lang="en-US" sz="2000" dirty="0" smtClean="0"/>
              <a:t> is a distributed Master-Slave  architecture</a:t>
            </a:r>
          </a:p>
          <a:p>
            <a:pPr marL="625475" lvl="1" indent="-393700" algn="just">
              <a:buFont typeface="Wingdings" pitchFamily="2" charset="2"/>
              <a:buChar char="§"/>
            </a:pPr>
            <a:r>
              <a:rPr lang="en-US" sz="2000" dirty="0" smtClean="0"/>
              <a:t>Master node is known as </a:t>
            </a:r>
            <a:r>
              <a:rPr lang="en-US" sz="2000" dirty="0" err="1" smtClean="0"/>
              <a:t>Namenode</a:t>
            </a:r>
            <a:r>
              <a:rPr lang="en-US" sz="2000" dirty="0" smtClean="0"/>
              <a:t>, and slave nodes are known as </a:t>
            </a:r>
            <a:r>
              <a:rPr lang="en-US" sz="2000" dirty="0" err="1" smtClean="0"/>
              <a:t>Datanodes</a:t>
            </a:r>
            <a:endParaRPr lang="en-US" sz="2000" dirty="0" smtClean="0"/>
          </a:p>
          <a:p>
            <a:pPr marL="231775" lvl="1" indent="0" algn="just">
              <a:buNone/>
            </a:pPr>
            <a:endParaRPr lang="en-US" sz="2000" dirty="0" smtClean="0"/>
          </a:p>
          <a:p>
            <a:pPr marL="57150" lvl="1" indent="0" algn="just">
              <a:buNone/>
            </a:pPr>
            <a:r>
              <a:rPr lang="en-US" sz="2000" b="1" dirty="0" smtClean="0"/>
              <a:t>Key components of the Master node</a:t>
            </a:r>
            <a:endParaRPr lang="en-US" sz="2000" dirty="0" smtClean="0"/>
          </a:p>
          <a:p>
            <a:pPr marL="514350" lvl="1" indent="-457200" algn="just">
              <a:buAutoNum type="arabicPeriod"/>
            </a:pPr>
            <a:r>
              <a:rPr lang="en-US" sz="2000" dirty="0" smtClean="0"/>
              <a:t>Master HDFS: : Partitioning the data storage across the slave nodes.</a:t>
            </a:r>
          </a:p>
          <a:p>
            <a:pPr marL="57150" lvl="1" indent="0" algn="just">
              <a:buNone/>
            </a:pPr>
            <a:r>
              <a:rPr lang="en-US" sz="2000" dirty="0" smtClean="0"/>
              <a:t>        Keeps track of locations of data on </a:t>
            </a:r>
            <a:r>
              <a:rPr lang="en-US" sz="2000" dirty="0" err="1" smtClean="0"/>
              <a:t>DataNodes</a:t>
            </a:r>
            <a:r>
              <a:rPr lang="en-US" sz="2000" dirty="0" smtClean="0"/>
              <a:t>.</a:t>
            </a:r>
            <a:endParaRPr lang="en-US" sz="2000" dirty="0"/>
          </a:p>
          <a:p>
            <a:pPr marL="400050" lvl="1" indent="-342900" algn="just">
              <a:buAutoNum type="arabicPeriod"/>
            </a:pPr>
            <a:r>
              <a:rPr lang="en-US" sz="2000" dirty="0" smtClean="0"/>
              <a:t>Master </a:t>
            </a:r>
            <a:r>
              <a:rPr lang="en-US" sz="2000" dirty="0" err="1" smtClean="0"/>
              <a:t>MapReduce</a:t>
            </a:r>
            <a:r>
              <a:rPr lang="en-US" sz="2000" dirty="0" smtClean="0"/>
              <a:t>: It decides and schedules computation tasks </a:t>
            </a:r>
            <a:r>
              <a:rPr lang="en-US" sz="2000" smtClean="0"/>
              <a:t>on slave nodes.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68938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417</Words>
  <Application>Microsoft Office PowerPoint</Application>
  <PresentationFormat>On-screen Show (4:3)</PresentationFormat>
  <Paragraphs>87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Hadoop 2.0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Hadoop 2.0</dc:title>
  <dc:creator>USER</dc:creator>
  <cp:lastModifiedBy>USER</cp:lastModifiedBy>
  <cp:revision>20</cp:revision>
  <dcterms:created xsi:type="dcterms:W3CDTF">2025-03-13T16:08:49Z</dcterms:created>
  <dcterms:modified xsi:type="dcterms:W3CDTF">2025-03-19T16:23:22Z</dcterms:modified>
</cp:coreProperties>
</file>