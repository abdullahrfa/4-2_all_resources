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  <p:sldMasterId id="2147483660" r:id="rId6"/>
    <p:sldMasterId id="2147483661" r:id="rId7"/>
    <p:sldMasterId id="2147483662" r:id="rId8"/>
    <p:sldMasterId id="2147483663" r:id="rId9"/>
    <p:sldMasterId id="2147483664" r:id="rId10"/>
    <p:sldMasterId id="2147483665" r:id="rId11"/>
    <p:sldMasterId id="2147483666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9BA045-3A2C-4D54-B85C-C951F810F270}">
  <a:tblStyle styleId="{FD9BA045-3A2C-4D54-B85C-C951F810F2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7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1" Type="http://schemas.openxmlformats.org/officeDocument/2006/relationships/theme" Target="theme/theme8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Master" Target="slideMasters/slideMaster7.xml"/><Relationship Id="rId10" Type="http://schemas.openxmlformats.org/officeDocument/2006/relationships/slideMaster" Target="slideMasters/slideMaster6.xml"/><Relationship Id="rId13" Type="http://schemas.openxmlformats.org/officeDocument/2006/relationships/notesMaster" Target="notesMasters/notesMaster1.xml"/><Relationship Id="rId12" Type="http://schemas.openxmlformats.org/officeDocument/2006/relationships/slideMaster" Target="slideMasters/slideMaster8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7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7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E8F0F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51" name="Google Shape;151;p19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6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2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897"/>
              </a:gs>
              <a:gs pos="55000">
                <a:srgbClr val="4ABBE0"/>
              </a:gs>
              <a:gs pos="100000">
                <a:srgbClr val="007897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-12192" y="4953000"/>
            <a:ext cx="9162288" cy="1911350"/>
            <a:chOff x="-12783" y="4832896"/>
            <a:chExt cx="9162879" cy="2032192"/>
          </a:xfrm>
        </p:grpSpPr>
        <p:sp>
          <p:nvSpPr>
            <p:cNvPr id="12" name="Google Shape;12;p1"/>
            <p:cNvSpPr/>
            <p:nvPr/>
          </p:nvSpPr>
          <p:spPr>
            <a:xfrm>
              <a:off x="1687032" y="4832896"/>
              <a:ext cx="7456968" cy="51817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39607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5926" y="5135025"/>
              <a:ext cx="9108074" cy="838869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pic>
          <p:nvPicPr>
            <p:cNvPr id="15" name="Google Shape;15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83" y="4875025"/>
              <a:ext cx="9162879" cy="855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E8F0F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3636962" y="3005137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3449637" y="3005137"/>
            <a:ext cx="18415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81" name="Google Shape;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1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7" name="Google Shape;127;p1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8664575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8477250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6" name="Google Shape;146;p1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idx="4294967295" type="ctrTitle"/>
          </p:nvPr>
        </p:nvSpPr>
        <p:spPr>
          <a:xfrm>
            <a:off x="6096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 Mining  </a:t>
            </a:r>
            <a:endParaRPr b="1" i="0" sz="24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57200" y="1066800"/>
            <a:ext cx="82296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Books for the slides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arenR"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 And Analytics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By Seema Acharya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Subhashini Chellappan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Willey publications	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AutoNum type="arabicParenR" startAt="2"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By Anil Maheshwari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152400" y="685800"/>
            <a:ext cx="85344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Characteristics</a:t>
            </a:r>
            <a:endParaRPr/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3 key characteristics:</a:t>
            </a:r>
            <a:endParaRPr/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Composition: </a:t>
            </a:r>
            <a:endParaRPr/>
          </a:p>
          <a:p>
            <a:pPr indent="-228599" lvl="1" marL="7667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Deals with the structure of data- sources of data, the granularity, the types, and the nature of data</a:t>
            </a:r>
            <a:endParaRPr/>
          </a:p>
          <a:p>
            <a:pPr indent="-88899" lvl="1" marL="7667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Condition:</a:t>
            </a:r>
            <a:endParaRPr/>
          </a:p>
          <a:p>
            <a:pPr indent="-228599" lvl="1" marL="7667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Deals with the state of data- can be used as is, or require cleansing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Context:</a:t>
            </a:r>
            <a:endParaRPr/>
          </a:p>
          <a:p>
            <a:pPr indent="-228599" lvl="1" marL="7667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Place of data generated</a:t>
            </a:r>
            <a:endParaRPr/>
          </a:p>
        </p:txBody>
      </p:sp>
      <p:sp>
        <p:nvSpPr>
          <p:cNvPr id="168" name="Google Shape;168;p21"/>
          <p:cNvSpPr txBox="1"/>
          <p:nvPr>
            <p:ph idx="4294967295" type="title"/>
          </p:nvPr>
        </p:nvSpPr>
        <p:spPr>
          <a:xfrm>
            <a:off x="457200" y="2286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Big Data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457200" y="8382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Evolution of Big Data</a:t>
            </a:r>
            <a:endParaRPr b="0" i="0" sz="22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Definition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 in Source: Gartner IT Glossary</a:t>
            </a:r>
            <a:endParaRPr/>
          </a:p>
          <a:p>
            <a:pPr indent="-94996" lvl="0" marL="107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Big-data is high-volume, high-velocity, and high-variety information assets that demand cost effective, innovative forms of information processing, for enhanced insight and decision making.</a:t>
            </a:r>
            <a:endParaRPr/>
          </a:p>
          <a:p>
            <a:pPr indent="-94996" lvl="0" marL="107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Big data is data that is big in volume, velocity, and variety</a:t>
            </a:r>
            <a:endParaRPr/>
          </a:p>
          <a:p>
            <a:pPr indent="-94996" lvl="0" marL="107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Extremely large, very fast, highly diverse, and complex data that cannot be managed with traditional data management tools. See Figure.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					</a:t>
            </a:r>
            <a:endParaRPr/>
          </a:p>
        </p:txBody>
      </p:sp>
      <p:sp>
        <p:nvSpPr>
          <p:cNvPr id="175" name="Google Shape;175;p22"/>
          <p:cNvSpPr txBox="1"/>
          <p:nvPr>
            <p:ph idx="4294967295" type="title"/>
          </p:nvPr>
        </p:nvSpPr>
        <p:spPr>
          <a:xfrm>
            <a:off x="457200" y="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Big Data</a:t>
            </a:r>
            <a:endParaRPr b="0" i="0" sz="24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1482725" y="2640012"/>
            <a:ext cx="1041400" cy="400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4953000" y="5105400"/>
            <a:ext cx="1295400" cy="400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Velocity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1295400" y="5105400"/>
            <a:ext cx="2744787" cy="708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Variety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(from, function,source)</a:t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4724400" y="2743200"/>
            <a:ext cx="1096962" cy="400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Veracity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6705600" y="3505200"/>
            <a:ext cx="1212850" cy="400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2825750" y="1676400"/>
            <a:ext cx="1227137" cy="400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6400800" y="1676400"/>
            <a:ext cx="1482725" cy="400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2057400" y="3352800"/>
            <a:ext cx="2895600" cy="1524000"/>
          </a:xfrm>
          <a:custGeom>
            <a:rect b="b" l="l" r="r" t="t"/>
            <a:pathLst>
              <a:path extrusionOk="0" h="43200" w="43200">
                <a:moveTo>
                  <a:pt x="3900" y="14370"/>
                </a:moveTo>
                <a:cubicBezTo>
                  <a:pt x="3629" y="11657"/>
                  <a:pt x="4261" y="8921"/>
                  <a:pt x="5623" y="6907"/>
                </a:cubicBezTo>
                <a:cubicBezTo>
                  <a:pt x="7775" y="3726"/>
                  <a:pt x="11264" y="3017"/>
                  <a:pt x="14005" y="5202"/>
                </a:cubicBezTo>
                <a:cubicBezTo>
                  <a:pt x="15678" y="909"/>
                  <a:pt x="19914" y="22"/>
                  <a:pt x="22456" y="3432"/>
                </a:cubicBezTo>
                <a:cubicBezTo>
                  <a:pt x="23097" y="1683"/>
                  <a:pt x="24328" y="474"/>
                  <a:pt x="25749" y="200"/>
                </a:cubicBezTo>
                <a:cubicBezTo>
                  <a:pt x="27313" y="-102"/>
                  <a:pt x="28875" y="770"/>
                  <a:pt x="29833" y="2481"/>
                </a:cubicBezTo>
                <a:cubicBezTo>
                  <a:pt x="31215" y="267"/>
                  <a:pt x="33501" y="-460"/>
                  <a:pt x="35463" y="690"/>
                </a:cubicBezTo>
                <a:cubicBezTo>
                  <a:pt x="36958" y="1566"/>
                  <a:pt x="38030" y="3400"/>
                  <a:pt x="38318" y="5576"/>
                </a:cubicBezTo>
                <a:cubicBezTo>
                  <a:pt x="40046" y="6218"/>
                  <a:pt x="41422" y="7998"/>
                  <a:pt x="41982" y="10318"/>
                </a:cubicBezTo>
                <a:cubicBezTo>
                  <a:pt x="42389" y="12002"/>
                  <a:pt x="42331" y="13831"/>
                  <a:pt x="41818" y="15460"/>
                </a:cubicBezTo>
                <a:cubicBezTo>
                  <a:pt x="43079" y="17694"/>
                  <a:pt x="43520" y="20590"/>
                  <a:pt x="43016" y="23322"/>
                </a:cubicBezTo>
                <a:cubicBezTo>
                  <a:pt x="42346" y="26954"/>
                  <a:pt x="40128" y="29674"/>
                  <a:pt x="37404" y="30204"/>
                </a:cubicBezTo>
                <a:cubicBezTo>
                  <a:pt x="37391" y="32471"/>
                  <a:pt x="36658" y="34621"/>
                  <a:pt x="35395" y="36101"/>
                </a:cubicBezTo>
                <a:cubicBezTo>
                  <a:pt x="33476" y="38350"/>
                  <a:pt x="30704" y="38639"/>
                  <a:pt x="28555" y="36815"/>
                </a:cubicBezTo>
                <a:cubicBezTo>
                  <a:pt x="27860" y="39948"/>
                  <a:pt x="25999" y="42343"/>
                  <a:pt x="23667" y="43106"/>
                </a:cubicBezTo>
                <a:cubicBezTo>
                  <a:pt x="20919" y="44005"/>
                  <a:pt x="18051" y="42473"/>
                  <a:pt x="16480" y="39266"/>
                </a:cubicBezTo>
                <a:cubicBezTo>
                  <a:pt x="12772" y="42310"/>
                  <a:pt x="7956" y="40599"/>
                  <a:pt x="5804" y="35472"/>
                </a:cubicBezTo>
                <a:cubicBezTo>
                  <a:pt x="3690" y="35809"/>
                  <a:pt x="1705" y="34024"/>
                  <a:pt x="1110" y="31250"/>
                </a:cubicBezTo>
                <a:cubicBezTo>
                  <a:pt x="679" y="29243"/>
                  <a:pt x="1060" y="27077"/>
                  <a:pt x="2113" y="25551"/>
                </a:cubicBezTo>
                <a:cubicBezTo>
                  <a:pt x="619" y="24354"/>
                  <a:pt x="-213" y="22057"/>
                  <a:pt x="-5" y="19704"/>
                </a:cubicBezTo>
                <a:cubicBezTo>
                  <a:pt x="239" y="16949"/>
                  <a:pt x="1845" y="14791"/>
                  <a:pt x="3863" y="14507"/>
                </a:cubicBezTo>
                <a:cubicBezTo>
                  <a:pt x="3875" y="14461"/>
                  <a:pt x="3888" y="14416"/>
                  <a:pt x="3900" y="14370"/>
                </a:cubicBezTo>
                <a:close/>
              </a:path>
              <a:path extrusionOk="0" fill="none" h="43200" w="43200">
                <a:moveTo>
                  <a:pt x="4693" y="26177"/>
                </a:moveTo>
                <a:cubicBezTo>
                  <a:pt x="3809" y="26271"/>
                  <a:pt x="2925" y="25993"/>
                  <a:pt x="2160" y="25380"/>
                </a:cubicBezTo>
                <a:moveTo>
                  <a:pt x="6928" y="34899"/>
                </a:moveTo>
                <a:cubicBezTo>
                  <a:pt x="6573" y="35092"/>
                  <a:pt x="6200" y="35220"/>
                  <a:pt x="5820" y="35280"/>
                </a:cubicBezTo>
                <a:moveTo>
                  <a:pt x="16478" y="39090"/>
                </a:moveTo>
                <a:cubicBezTo>
                  <a:pt x="16211" y="38544"/>
                  <a:pt x="15987" y="37961"/>
                  <a:pt x="15810" y="37350"/>
                </a:cubicBezTo>
                <a:moveTo>
                  <a:pt x="28827" y="34751"/>
                </a:moveTo>
                <a:cubicBezTo>
                  <a:pt x="28788" y="35398"/>
                  <a:pt x="28698" y="36038"/>
                  <a:pt x="28560" y="36660"/>
                </a:cubicBezTo>
                <a:moveTo>
                  <a:pt x="34129" y="22954"/>
                </a:moveTo>
                <a:cubicBezTo>
                  <a:pt x="36133" y="24282"/>
                  <a:pt x="37398" y="27058"/>
                  <a:pt x="37380" y="30090"/>
                </a:cubicBezTo>
                <a:moveTo>
                  <a:pt x="41798" y="15354"/>
                </a:move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cubicBezTo>
                  <a:pt x="38379" y="5843"/>
                  <a:pt x="38405" y="6266"/>
                  <a:pt x="38400" y="6690"/>
                </a:cubicBezTo>
                <a:moveTo>
                  <a:pt x="29078" y="3952"/>
                </a:moveTo>
                <a:cubicBezTo>
                  <a:pt x="29267" y="3369"/>
                  <a:pt x="29516" y="2826"/>
                  <a:pt x="29820" y="2340"/>
                </a:cubicBezTo>
                <a:moveTo>
                  <a:pt x="22141" y="4720"/>
                </a:moveTo>
                <a:cubicBezTo>
                  <a:pt x="22218" y="4238"/>
                  <a:pt x="22339" y="3771"/>
                  <a:pt x="22500" y="3330"/>
                </a:cubicBezTo>
                <a:moveTo>
                  <a:pt x="14000" y="5192"/>
                </a:moveTo>
                <a:cubicBezTo>
                  <a:pt x="14472" y="5568"/>
                  <a:pt x="14908" y="6021"/>
                  <a:pt x="15300" y="6540"/>
                </a:cubicBezTo>
                <a:moveTo>
                  <a:pt x="4127" y="15789"/>
                </a:moveTo>
                <a:cubicBezTo>
                  <a:pt x="4024" y="15325"/>
                  <a:pt x="3948" y="14851"/>
                  <a:pt x="3900" y="14370"/>
                </a:cubicBezTo>
              </a:path>
            </a:pathLst>
          </a:custGeom>
          <a:solidFill>
            <a:srgbClr val="78D6EA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Lucida Sans"/>
              <a:buNone/>
            </a:pPr>
            <a:r>
              <a:rPr b="1" i="0" lang="en-US" sz="2400" u="none">
                <a:solidFill>
                  <a:srgbClr val="002060"/>
                </a:solidFill>
                <a:latin typeface="Lucida Sans"/>
                <a:ea typeface="Lucida Sans"/>
                <a:cs typeface="Lucida Sans"/>
                <a:sym typeface="Lucida Sans"/>
              </a:rPr>
              <a:t>BIG DATA</a:t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4038600" y="5257800"/>
            <a:ext cx="914400" cy="76200"/>
          </a:xfrm>
          <a:prstGeom prst="rightArrow">
            <a:avLst>
              <a:gd fmla="val 20700" name="adj1"/>
              <a:gd fmla="val 50000" name="adj2"/>
            </a:avLst>
          </a:prstGeom>
          <a:noFill/>
          <a:ln cap="flat" cmpd="thickThin" w="55000">
            <a:solidFill>
              <a:srgbClr val="A6DDE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l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5334000" y="3124200"/>
            <a:ext cx="76200" cy="1981200"/>
          </a:xfrm>
          <a:prstGeom prst="upDownArrow">
            <a:avLst>
              <a:gd fmla="val 50000" name="adj1"/>
              <a:gd fmla="val 415" name="adj2"/>
            </a:avLst>
          </a:prstGeom>
          <a:solidFill>
            <a:srgbClr val="66CCFF"/>
          </a:solidFill>
          <a:ln cap="flat" cmpd="thickThin" w="55000">
            <a:solidFill>
              <a:srgbClr val="B5E9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4953000" y="3733800"/>
            <a:ext cx="1752600" cy="76200"/>
          </a:xfrm>
          <a:prstGeom prst="rightArrow">
            <a:avLst>
              <a:gd fmla="val 21130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B5E9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7162800" y="2133600"/>
            <a:ext cx="46037" cy="1371600"/>
          </a:xfrm>
          <a:prstGeom prst="upArrow">
            <a:avLst>
              <a:gd fmla="val 363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B5E9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1752600" y="3048000"/>
            <a:ext cx="46037" cy="2057400"/>
          </a:xfrm>
          <a:prstGeom prst="upArrow">
            <a:avLst>
              <a:gd fmla="val 242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B5E9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2514600" y="2819400"/>
            <a:ext cx="2133600" cy="76200"/>
          </a:xfrm>
          <a:prstGeom prst="leftRightArrow">
            <a:avLst>
              <a:gd fmla="val 386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B5E9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3429000" y="2133600"/>
            <a:ext cx="46037" cy="1219200"/>
          </a:xfrm>
          <a:prstGeom prst="downArrow">
            <a:avLst>
              <a:gd fmla="val 21192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B5E9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4038600" y="1981200"/>
            <a:ext cx="2362200" cy="76200"/>
          </a:xfrm>
          <a:prstGeom prst="leftArrow">
            <a:avLst>
              <a:gd fmla="val 348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B5E9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4267200" y="6096000"/>
            <a:ext cx="25908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 Context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aphicFrame>
        <p:nvGraphicFramePr>
          <p:cNvPr id="204" name="Google Shape;204;p24"/>
          <p:cNvGraphicFramePr/>
          <p:nvPr/>
        </p:nvGraphicFramePr>
        <p:xfrm>
          <a:off x="15240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{FD9BA045-3A2C-4D54-B85C-C951F810F270}</a:tableStyleId>
              </a:tblPr>
              <a:tblGrid>
                <a:gridCol w="2844800"/>
                <a:gridCol w="2844800"/>
                <a:gridCol w="28448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Traditional data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Big data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Source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Business transactions, documents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Social media, web access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Volume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Gigabytes, Terabytes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Petabytes, Exabytes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Velocity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Ingest level is controlled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Realtime unpredictable ingest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Variety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Alphanumeric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Audio, Video, Text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Veracity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Clean, more trustworthy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Varies depending on source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Structure of data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Well structured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Semi or unstructured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Data manipulation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Conventional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Parallel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4B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4B78">
                        <a:alpha val="1960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24"/>
          <p:cNvSpPr txBox="1"/>
          <p:nvPr>
            <p:ph idx="4294967295" type="title"/>
          </p:nvPr>
        </p:nvSpPr>
        <p:spPr>
          <a:xfrm>
            <a:off x="457200" y="2286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Big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228600" y="838200"/>
            <a:ext cx="8458200" cy="5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Big Data Analytics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is technology enabled analytics-</a:t>
            </a:r>
            <a:endParaRPr/>
          </a:p>
          <a:p>
            <a:pPr indent="-94996" lvl="0" marL="107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quite few data analytics and visualization tools are available e.g., from SAS, R Analytics to help process and analyze big data.</a:t>
            </a:r>
            <a:endParaRPr/>
          </a:p>
          <a:p>
            <a:pPr indent="-94996" lvl="0" marL="107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About gaining a meaningful, deeper and richer insight into the business, better leveraging the services of the vendors and suppliers.</a:t>
            </a:r>
            <a:endParaRPr/>
          </a:p>
          <a:p>
            <a:pPr indent="-94996" lvl="0" marL="107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Enables to obtain findings that allow quicker and better decision making in a competitive edge over the competitors</a:t>
            </a:r>
            <a:endParaRPr/>
          </a:p>
          <a:p>
            <a:pPr indent="-94996" lvl="0" marL="107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handshake between 3 communities- IT, business users and data scientists</a:t>
            </a:r>
            <a:endParaRPr/>
          </a:p>
        </p:txBody>
      </p:sp>
      <p:sp>
        <p:nvSpPr>
          <p:cNvPr id="211" name="Google Shape;211;p25"/>
          <p:cNvSpPr txBox="1"/>
          <p:nvPr>
            <p:ph idx="4294967295" type="title"/>
          </p:nvPr>
        </p:nvSpPr>
        <p:spPr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Big Data Analytics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533400" y="1003300"/>
            <a:ext cx="8229600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0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Working with datasets exceeding the storage and processing capability and infrastructure of the organization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About moving code to data</a:t>
            </a:r>
            <a:endParaRPr/>
          </a:p>
          <a:p>
            <a:pPr indent="-247904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Big Data processing tools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Hadoop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NoSQL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Mongo DB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Lotus Domino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4508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					</a:t>
            </a:r>
            <a:endParaRPr/>
          </a:p>
          <a:p>
            <a:pPr indent="-16059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9" name="Google Shape;219;p26"/>
          <p:cNvSpPr txBox="1"/>
          <p:nvPr>
            <p:ph idx="4294967295" type="title"/>
          </p:nvPr>
        </p:nvSpPr>
        <p:spPr>
          <a:xfrm>
            <a:off x="533400" y="3635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Big Data Analytics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5" name="Google Shape;225;p27"/>
          <p:cNvSpPr txBox="1"/>
          <p:nvPr>
            <p:ph idx="4294967295" type="title"/>
          </p:nvPr>
        </p:nvSpPr>
        <p:spPr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Generic Big Data Architecture</a:t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111125" y="1447800"/>
            <a:ext cx="1981200" cy="338137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76200" y="1849437"/>
            <a:ext cx="1981200" cy="4248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Human-Human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social media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Human-machine communication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Machine-machine communication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transactions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7008812" y="1427162"/>
            <a:ext cx="2058987" cy="338137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Consumption</a:t>
            </a:r>
            <a:endParaRPr/>
          </a:p>
        </p:txBody>
      </p:sp>
      <p:sp>
        <p:nvSpPr>
          <p:cNvPr id="229" name="Google Shape;229;p27"/>
          <p:cNvSpPr txBox="1"/>
          <p:nvPr/>
        </p:nvSpPr>
        <p:spPr>
          <a:xfrm>
            <a:off x="7008812" y="1828800"/>
            <a:ext cx="2057400" cy="42465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Mining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Access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2438400" y="1427162"/>
            <a:ext cx="4267200" cy="400050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 Ecosystem</a:t>
            </a:r>
            <a:endParaRPr/>
          </a:p>
        </p:txBody>
      </p:sp>
      <p:sp>
        <p:nvSpPr>
          <p:cNvPr id="231" name="Google Shape;231;p27"/>
          <p:cNvSpPr txBox="1"/>
          <p:nvPr/>
        </p:nvSpPr>
        <p:spPr>
          <a:xfrm>
            <a:off x="2438400" y="1905000"/>
            <a:ext cx="4191000" cy="4191000"/>
          </a:xfrm>
          <a:prstGeom prst="rect">
            <a:avLst/>
          </a:prstGeom>
          <a:solidFill>
            <a:schemeClr val="l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2590800" y="4973637"/>
            <a:ext cx="3962400" cy="708025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Compute, Storage, Network, Infrastructure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2590800" y="4191000"/>
            <a:ext cx="3962400" cy="400050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Distributed File System</a:t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4038600" y="2259012"/>
            <a:ext cx="1066800" cy="830262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 Processing</a:t>
            </a:r>
            <a:endParaRPr/>
          </a:p>
        </p:txBody>
      </p:sp>
      <p:sp>
        <p:nvSpPr>
          <p:cNvPr id="235" name="Google Shape;235;p27"/>
          <p:cNvSpPr txBox="1"/>
          <p:nvPr/>
        </p:nvSpPr>
        <p:spPr>
          <a:xfrm>
            <a:off x="4038600" y="3151187"/>
            <a:ext cx="1066800" cy="831850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Batch Processing</a:t>
            </a:r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2590800" y="2286000"/>
            <a:ext cx="990600" cy="1676400"/>
          </a:xfrm>
          <a:prstGeom prst="rect">
            <a:avLst/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ucida Sans"/>
              <a:buNone/>
            </a:pPr>
            <a:r>
              <a:rPr b="0" i="0" lang="en-US" sz="18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Data Ingest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5548312" y="2251075"/>
            <a:ext cx="990600" cy="1676400"/>
          </a:xfrm>
          <a:prstGeom prst="rect">
            <a:avLst/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ucida Sans"/>
              <a:buNone/>
            </a:pPr>
            <a:r>
              <a:rPr b="0" i="0" lang="en-US" sz="16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Data Organizing</a:t>
            </a:r>
            <a:endParaRPr/>
          </a:p>
        </p:txBody>
      </p:sp>
      <p:sp>
        <p:nvSpPr>
          <p:cNvPr id="238" name="Google Shape;238;p27"/>
          <p:cNvSpPr/>
          <p:nvPr/>
        </p:nvSpPr>
        <p:spPr>
          <a:xfrm>
            <a:off x="2071687" y="3581400"/>
            <a:ext cx="304800" cy="46037"/>
          </a:xfrm>
          <a:prstGeom prst="rightArrow">
            <a:avLst>
              <a:gd fmla="val 19969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6670675" y="3505200"/>
            <a:ext cx="304800" cy="46037"/>
          </a:xfrm>
          <a:prstGeom prst="rightArrow">
            <a:avLst>
              <a:gd fmla="val 19969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3657600" y="3581400"/>
            <a:ext cx="304800" cy="46037"/>
          </a:xfrm>
          <a:prstGeom prst="rightArrow">
            <a:avLst>
              <a:gd fmla="val 19969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3657600" y="2667000"/>
            <a:ext cx="304800" cy="46037"/>
          </a:xfrm>
          <a:prstGeom prst="rightArrow">
            <a:avLst>
              <a:gd fmla="val 19969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5181600" y="3352800"/>
            <a:ext cx="304800" cy="46037"/>
          </a:xfrm>
          <a:prstGeom prst="rightArrow">
            <a:avLst>
              <a:gd fmla="val 19969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5181600" y="2632075"/>
            <a:ext cx="304800" cy="46037"/>
          </a:xfrm>
          <a:prstGeom prst="rightArrow">
            <a:avLst>
              <a:gd fmla="val 19969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5181600" y="3657600"/>
            <a:ext cx="304800" cy="46037"/>
          </a:xfrm>
          <a:prstGeom prst="leftArrow">
            <a:avLst>
              <a:gd fmla="val 1631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0" name="Google Shape;250;p28"/>
          <p:cNvSpPr txBox="1"/>
          <p:nvPr>
            <p:ph idx="1" type="body"/>
          </p:nvPr>
        </p:nvSpPr>
        <p:spPr>
          <a:xfrm>
            <a:off x="228600" y="914400"/>
            <a:ext cx="8610600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0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Big Data Source layer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Can be internal or external to the system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Access could be limited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Choice of sources depend on the application to analyze data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Ingest layer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Responsible for acquiring data from various data sources</a:t>
            </a: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	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Batch processing layer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is processed using parallel programming techniques, e.g. MapReduce to produce the desired results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Stream processing layer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is processed using parallel programming techniques, e.g. MapReduce to process it in real time and understand super-light algorithms</a:t>
            </a: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			</a:t>
            </a:r>
            <a:endParaRPr/>
          </a:p>
          <a:p>
            <a:pPr indent="-16059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1" name="Google Shape;251;p28"/>
          <p:cNvSpPr txBox="1"/>
          <p:nvPr>
            <p:ph idx="4294967295" type="title"/>
          </p:nvPr>
        </p:nvSpPr>
        <p:spPr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Big Data Architecture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228600" y="685800"/>
            <a:ext cx="8610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0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organizing layer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Receives data from both the batch and stream processing layers to organize the data for easy access. NoSQL databases can be used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Infrastructure layer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Manages the raw resources of storage, computation and communication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Distributed file system layer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Heart of the system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Can store huge quantities of data to make it quickly and securely available and accessible to other layers. Hadoop Distributed File System (HDFS)  is used in this layer.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consumption layer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Consumes the output provided by the analysis layers using reports, dashboards, data analytics etc.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059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8" name="Google Shape;258;p29"/>
          <p:cNvSpPr txBox="1"/>
          <p:nvPr>
            <p:ph idx="4294967295" type="title"/>
          </p:nvPr>
        </p:nvSpPr>
        <p:spPr>
          <a:xfrm>
            <a:off x="457200" y="152400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Big Data Architecture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4" name="Google Shape;264;p30"/>
          <p:cNvSpPr txBox="1"/>
          <p:nvPr>
            <p:ph idx="1" type="body"/>
          </p:nvPr>
        </p:nvSpPr>
        <p:spPr>
          <a:xfrm>
            <a:off x="533400" y="914400"/>
            <a:ext cx="8229600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0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Monitoring and Tracking Applications</a:t>
            </a:r>
            <a:endParaRPr/>
          </a:p>
          <a:p>
            <a:pPr indent="-342899" lvl="2" marL="94456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Public health monitoring</a:t>
            </a:r>
            <a:endParaRPr/>
          </a:p>
          <a:p>
            <a:pPr indent="-342899" lvl="2" marL="94456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Consumer sentiment monitoring</a:t>
            </a:r>
            <a:endParaRPr/>
          </a:p>
          <a:p>
            <a:pPr indent="-342899" lvl="2" marL="94456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Electricity consumption tracking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Analysis and Insight Applications</a:t>
            </a:r>
            <a:endParaRPr/>
          </a:p>
          <a:p>
            <a:pPr indent="-342899" lvl="2" marL="94456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Predictive policing</a:t>
            </a:r>
            <a:endParaRPr/>
          </a:p>
          <a:p>
            <a:pPr indent="-342899" lvl="2" marL="94456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Winning political elections</a:t>
            </a:r>
            <a:endParaRPr/>
          </a:p>
          <a:p>
            <a:pPr indent="-342899" lvl="2" marL="94456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Personal health</a:t>
            </a:r>
            <a:endParaRPr/>
          </a:p>
          <a:p>
            <a:pPr indent="-342900" lvl="0" marL="4508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New product development</a:t>
            </a:r>
            <a:endParaRPr/>
          </a:p>
          <a:p>
            <a:pPr indent="-342899" lvl="2" marL="94456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Flexible auto insurance</a:t>
            </a:r>
            <a:endParaRPr/>
          </a:p>
          <a:p>
            <a:pPr indent="-342899" lvl="2" marL="944562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Location-based  retail promotion</a:t>
            </a:r>
            <a:endParaRPr/>
          </a:p>
        </p:txBody>
      </p:sp>
      <p:sp>
        <p:nvSpPr>
          <p:cNvPr id="265" name="Google Shape;265;p30"/>
          <p:cNvSpPr txBox="1"/>
          <p:nvPr>
            <p:ph idx="4294967295" type="title"/>
          </p:nvPr>
        </p:nvSpPr>
        <p:spPr>
          <a:xfrm>
            <a:off x="533400" y="2746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Big Data Applications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idx="1" type="body"/>
          </p:nvPr>
        </p:nvSpPr>
        <p:spPr>
          <a:xfrm>
            <a:off x="152400" y="838200"/>
            <a:ext cx="85344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rgbClr val="1FAECD"/>
                </a:solidFill>
                <a:latin typeface="Lucida Sans"/>
                <a:ea typeface="Lucida Sans"/>
                <a:cs typeface="Lucida Sans"/>
                <a:sym typeface="Lucida Sans"/>
              </a:rPr>
              <a:t>MapReduce Programming</a:t>
            </a:r>
            <a:endParaRPr/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is a parallel programming framework for speeding up large scale data processing for certain types of tasks</a:t>
            </a:r>
            <a:endParaRPr/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has minimal movement of data in distributed file systems on Hadoop clusters</a:t>
            </a:r>
            <a:endParaRPr/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speeds up the computation by reading and processing small chunks of file by different computers in parallel</a:t>
            </a:r>
            <a:endParaRPr/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Map step distributes the full job into smaller tasks that can be done on separate computers using a part of the data set producing intermediate results</a:t>
            </a:r>
            <a:endParaRPr/>
          </a:p>
          <a:p>
            <a:pPr indent="-94996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Reduce step read the intermediate results, combine all of them and produce the result </a:t>
            </a:r>
            <a:endParaRPr/>
          </a:p>
          <a:p>
            <a:pPr indent="-16059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1" name="Google Shape;271;p31"/>
          <p:cNvSpPr txBox="1"/>
          <p:nvPr>
            <p:ph idx="4294967295" type="title"/>
          </p:nvPr>
        </p:nvSpPr>
        <p:spPr>
          <a:xfrm>
            <a:off x="457200" y="2286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Big Data Processing</a:t>
            </a:r>
            <a:endParaRPr/>
          </a:p>
        </p:txBody>
      </p:sp>
      <p:sp>
        <p:nvSpPr>
          <p:cNvPr id="272" name="Google Shape;272;p31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>
            <p:ph idx="4294967295" type="title"/>
          </p:nvPr>
        </p:nvSpPr>
        <p:spPr>
          <a:xfrm>
            <a:off x="457200" y="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MapReduce Architecture</a:t>
            </a:r>
            <a:endParaRPr b="0" i="0" sz="2400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304800" y="2514600"/>
            <a:ext cx="990600" cy="2308225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input data file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2"/>
          <p:cNvSpPr txBox="1"/>
          <p:nvPr/>
        </p:nvSpPr>
        <p:spPr>
          <a:xfrm>
            <a:off x="7772400" y="2514600"/>
            <a:ext cx="990600" cy="2308225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data file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1981200" y="3124200"/>
            <a:ext cx="990600" cy="1200150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Mapper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3962400" y="3124200"/>
            <a:ext cx="990600" cy="1200150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Sorter by key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5867400" y="3124200"/>
            <a:ext cx="1066800" cy="1200150"/>
          </a:xfrm>
          <a:prstGeom prst="rect">
            <a:avLst/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1295400" y="3657600"/>
            <a:ext cx="685800" cy="76200"/>
          </a:xfrm>
          <a:prstGeom prst="rightArrow">
            <a:avLst>
              <a:gd fmla="val 20400" name="adj1"/>
              <a:gd fmla="val 50000" name="adj2"/>
            </a:avLst>
          </a:prstGeom>
          <a:gradFill>
            <a:gsLst>
              <a:gs pos="0">
                <a:srgbClr val="91CFE8"/>
              </a:gs>
              <a:gs pos="50000">
                <a:srgbClr val="BDE0EF"/>
              </a:gs>
              <a:gs pos="100000">
                <a:srgbClr val="DFEFF6"/>
              </a:gs>
            </a:gsLst>
            <a:lin ang="5400000" scaled="0"/>
          </a:gra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2"/>
          <p:cNvSpPr/>
          <p:nvPr/>
        </p:nvSpPr>
        <p:spPr>
          <a:xfrm>
            <a:off x="2971800" y="3581400"/>
            <a:ext cx="990600" cy="76200"/>
          </a:xfrm>
          <a:prstGeom prst="rightArrow">
            <a:avLst>
              <a:gd fmla="val 20769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4953000" y="3581400"/>
            <a:ext cx="914400" cy="76200"/>
          </a:xfrm>
          <a:prstGeom prst="rightArrow">
            <a:avLst>
              <a:gd fmla="val 20700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6934200" y="3581400"/>
            <a:ext cx="838200" cy="76200"/>
          </a:xfrm>
          <a:prstGeom prst="rightArrow">
            <a:avLst>
              <a:gd fmla="val 20618" name="adj1"/>
              <a:gd fmla="val 50000" name="adj2"/>
            </a:avLst>
          </a:prstGeom>
          <a:solidFill>
            <a:schemeClr val="accent1"/>
          </a:solidFill>
          <a:ln cap="flat" cmpd="thickThin" w="55000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2"/>
          <p:cNvSpPr txBox="1"/>
          <p:nvPr/>
        </p:nvSpPr>
        <p:spPr>
          <a:xfrm rot="-5400000">
            <a:off x="510365" y="3147236"/>
            <a:ext cx="23365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Key-value pairs (K, V)</a:t>
            </a:r>
            <a:endParaRPr/>
          </a:p>
        </p:txBody>
      </p:sp>
      <p:sp>
        <p:nvSpPr>
          <p:cNvPr id="289" name="Google Shape;289;p32"/>
          <p:cNvSpPr txBox="1"/>
          <p:nvPr/>
        </p:nvSpPr>
        <p:spPr>
          <a:xfrm rot="-5400000">
            <a:off x="2178005" y="3232195"/>
            <a:ext cx="25064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Key-value pairs (K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90" name="Google Shape;290;p32"/>
          <p:cNvSpPr txBox="1"/>
          <p:nvPr/>
        </p:nvSpPr>
        <p:spPr>
          <a:xfrm rot="-5400000">
            <a:off x="4159205" y="3232195"/>
            <a:ext cx="25064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Key-value pairs (K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91" name="Google Shape;291;p32"/>
          <p:cNvSpPr txBox="1"/>
          <p:nvPr/>
        </p:nvSpPr>
        <p:spPr>
          <a:xfrm rot="-5400000">
            <a:off x="6064205" y="3308395"/>
            <a:ext cx="25064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Key-value pairs (K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 txBox="1"/>
          <p:nvPr>
            <p:ph idx="1" type="body"/>
          </p:nvPr>
        </p:nvSpPr>
        <p:spPr>
          <a:xfrm>
            <a:off x="228600" y="838200"/>
            <a:ext cx="8610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7" lvl="0" marL="4016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To manage the variety of data structures stored in the file system, data is stored as one key and one non-key attribute value as a key-value pair.</a:t>
            </a:r>
            <a:endParaRPr/>
          </a:p>
          <a:p>
            <a:pPr indent="-293687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Both of the input and output data must be represented in key-values formats</a:t>
            </a:r>
            <a:endParaRPr/>
          </a:p>
          <a:p>
            <a:pPr indent="-293687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Map step reads data in key-value pair format, and produces results in key-value pair format, also called key2-value2 pairs</a:t>
            </a:r>
            <a:endParaRPr/>
          </a:p>
          <a:p>
            <a:pPr indent="-293687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Reduce step reads this, and produces an output using the same keys, which can also be labeled key2-value3 format. </a:t>
            </a:r>
            <a:endParaRPr/>
          </a:p>
          <a:p>
            <a:pPr indent="-293687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059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97" name="Google Shape;297;p33"/>
          <p:cNvSpPr txBox="1"/>
          <p:nvPr>
            <p:ph idx="4294967295" type="title"/>
          </p:nvPr>
        </p:nvSpPr>
        <p:spPr>
          <a:xfrm>
            <a:off x="381000" y="152400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MapReduce Architecture</a:t>
            </a:r>
            <a:endParaRPr b="1" i="0" sz="24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4" name="Google Shape;304;p34"/>
          <p:cNvSpPr txBox="1"/>
          <p:nvPr>
            <p:ph idx="1" type="body"/>
          </p:nvPr>
        </p:nvSpPr>
        <p:spPr>
          <a:xfrm>
            <a:off x="228600" y="838200"/>
            <a:ext cx="8610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7" lvl="0" marL="40163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>
                <a:solidFill>
                  <a:srgbClr val="1FAECD"/>
                </a:solidFill>
                <a:latin typeface="Lucida Sans"/>
                <a:ea typeface="Lucida Sans"/>
                <a:cs typeface="Lucida Sans"/>
                <a:sym typeface="Lucida Sans"/>
              </a:rPr>
              <a:t>MapReduce Programming Components</a:t>
            </a:r>
            <a:endParaRPr/>
          </a:p>
          <a:p>
            <a:pPr indent="-293687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</a:t>
            </a:r>
            <a:r>
              <a:rPr b="0" i="0" lang="en-US" sz="2200" u="none">
                <a:solidFill>
                  <a:srgbClr val="1FAECD"/>
                </a:solidFill>
                <a:latin typeface="Lucida Sans"/>
                <a:ea typeface="Lucida Sans"/>
                <a:cs typeface="Lucida Sans"/>
                <a:sym typeface="Lucida Sans"/>
              </a:rPr>
              <a:t>Mapper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commonly performs input format parsing, projection (selection), and filtering. </a:t>
            </a:r>
            <a:endParaRPr/>
          </a:p>
          <a:p>
            <a:pPr indent="-293687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rgbClr val="1FAECD"/>
                </a:solidFill>
                <a:latin typeface="Lucida Sans"/>
                <a:ea typeface="Lucida Sans"/>
                <a:cs typeface="Lucida Sans"/>
                <a:sym typeface="Lucida Sans"/>
              </a:rPr>
              <a:t>Reducer</a:t>
            </a: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typically combines (adds or averages) those values. </a:t>
            </a:r>
            <a:endParaRPr/>
          </a:p>
          <a:p>
            <a:pPr indent="-198691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93687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0" i="0" lang="en-US" sz="2200" u="none">
                <a:solidFill>
                  <a:srgbClr val="1FAECD"/>
                </a:solidFill>
                <a:latin typeface="Lucida Sans"/>
                <a:ea typeface="Lucida Sans"/>
                <a:cs typeface="Lucida Sans"/>
                <a:sym typeface="Lucida Sans"/>
              </a:rPr>
              <a:t>Example.</a:t>
            </a:r>
            <a:endParaRPr/>
          </a:p>
          <a:p>
            <a:pPr indent="-293687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program for word counting of all unique words in a text. </a:t>
            </a:r>
            <a:endParaRPr/>
          </a:p>
          <a:p>
            <a:pPr indent="-198691" lvl="0" marL="4016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059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05" name="Google Shape;305;p34"/>
          <p:cNvSpPr txBox="1"/>
          <p:nvPr>
            <p:ph idx="4294967295" type="title"/>
          </p:nvPr>
        </p:nvSpPr>
        <p:spPr>
          <a:xfrm>
            <a:off x="381000" y="152400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3688" lvl="0" marL="40163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MapReduce Programming Components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3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7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