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notesMasterIdLst>
    <p:notesMasterId r:id="rId36"/>
  </p:notesMasterIdLst>
  <p:handoutMasterIdLst>
    <p:handoutMasterId r:id="rId37"/>
  </p:handoutMasterIdLst>
  <p:sldIdLst>
    <p:sldId id="429" r:id="rId2"/>
    <p:sldId id="430" r:id="rId3"/>
    <p:sldId id="408" r:id="rId4"/>
    <p:sldId id="421" r:id="rId5"/>
    <p:sldId id="422" r:id="rId6"/>
    <p:sldId id="423" r:id="rId7"/>
    <p:sldId id="411" r:id="rId8"/>
    <p:sldId id="412" r:id="rId9"/>
    <p:sldId id="413" r:id="rId10"/>
    <p:sldId id="414" r:id="rId11"/>
    <p:sldId id="424" r:id="rId12"/>
    <p:sldId id="443" r:id="rId13"/>
    <p:sldId id="415" r:id="rId14"/>
    <p:sldId id="444" r:id="rId15"/>
    <p:sldId id="416" r:id="rId16"/>
    <p:sldId id="419" r:id="rId17"/>
    <p:sldId id="434" r:id="rId18"/>
    <p:sldId id="435" r:id="rId19"/>
    <p:sldId id="436" r:id="rId20"/>
    <p:sldId id="437" r:id="rId21"/>
    <p:sldId id="438" r:id="rId22"/>
    <p:sldId id="440" r:id="rId23"/>
    <p:sldId id="439" r:id="rId24"/>
    <p:sldId id="441" r:id="rId25"/>
    <p:sldId id="431" r:id="rId26"/>
    <p:sldId id="432" r:id="rId27"/>
    <p:sldId id="428" r:id="rId28"/>
    <p:sldId id="445" r:id="rId29"/>
    <p:sldId id="446" r:id="rId30"/>
    <p:sldId id="426" r:id="rId31"/>
    <p:sldId id="447" r:id="rId32"/>
    <p:sldId id="427" r:id="rId33"/>
    <p:sldId id="448" r:id="rId34"/>
    <p:sldId id="420" r:id="rId35"/>
  </p:sldIdLst>
  <p:sldSz cx="9144000" cy="6858000" type="screen4x3"/>
  <p:notesSz cx="6954838"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32" userDrawn="1">
          <p15:clr>
            <a:srgbClr val="A4A3A4"/>
          </p15:clr>
        </p15:guide>
        <p15:guide id="2" pos="219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a:srgbClr val="94F9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17" autoAdjust="0"/>
    <p:restoredTop sz="94660"/>
  </p:normalViewPr>
  <p:slideViewPr>
    <p:cSldViewPr>
      <p:cViewPr varScale="1">
        <p:scale>
          <a:sx n="109" d="100"/>
          <a:sy n="109" d="100"/>
        </p:scale>
        <p:origin x="1020" y="8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6234"/>
    </p:cViewPr>
  </p:sorterViewPr>
  <p:notesViewPr>
    <p:cSldViewPr>
      <p:cViewPr varScale="1">
        <p:scale>
          <a:sx n="55" d="100"/>
          <a:sy n="55" d="100"/>
        </p:scale>
        <p:origin x="-2904" y="-102"/>
      </p:cViewPr>
      <p:guideLst>
        <p:guide orient="horz" pos="2932"/>
        <p:guide pos="219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13763" cy="465455"/>
          </a:xfrm>
          <a:prstGeom prst="rect">
            <a:avLst/>
          </a:prstGeom>
        </p:spPr>
        <p:txBody>
          <a:bodyPr vert="horz" lIns="92051" tIns="46026" rIns="92051" bIns="46026" rtlCol="0"/>
          <a:lstStyle>
            <a:lvl1pPr algn="l">
              <a:defRPr sz="1200"/>
            </a:lvl1pPr>
          </a:lstStyle>
          <a:p>
            <a:endParaRPr lang="en-US"/>
          </a:p>
        </p:txBody>
      </p:sp>
      <p:sp>
        <p:nvSpPr>
          <p:cNvPr id="3" name="Date Placeholder 2"/>
          <p:cNvSpPr>
            <a:spLocks noGrp="1"/>
          </p:cNvSpPr>
          <p:nvPr>
            <p:ph type="dt" sz="quarter" idx="1"/>
          </p:nvPr>
        </p:nvSpPr>
        <p:spPr>
          <a:xfrm>
            <a:off x="3939466" y="1"/>
            <a:ext cx="3013763" cy="465455"/>
          </a:xfrm>
          <a:prstGeom prst="rect">
            <a:avLst/>
          </a:prstGeom>
        </p:spPr>
        <p:txBody>
          <a:bodyPr vert="horz" lIns="92051" tIns="46026" rIns="92051" bIns="46026" rtlCol="0"/>
          <a:lstStyle>
            <a:lvl1pPr algn="r">
              <a:defRPr sz="1200"/>
            </a:lvl1pPr>
          </a:lstStyle>
          <a:p>
            <a:fld id="{54B406EC-866D-4AAA-84EE-9578059F5FFC}" type="datetimeFigureOut">
              <a:rPr lang="en-US" smtClean="0"/>
              <a:pPr/>
              <a:t>1/13/2025</a:t>
            </a:fld>
            <a:endParaRPr lang="en-US"/>
          </a:p>
        </p:txBody>
      </p:sp>
      <p:sp>
        <p:nvSpPr>
          <p:cNvPr id="4" name="Footer Placeholder 3"/>
          <p:cNvSpPr>
            <a:spLocks noGrp="1"/>
          </p:cNvSpPr>
          <p:nvPr>
            <p:ph type="ftr" sz="quarter" idx="2"/>
          </p:nvPr>
        </p:nvSpPr>
        <p:spPr>
          <a:xfrm>
            <a:off x="0" y="8842030"/>
            <a:ext cx="3013763" cy="465455"/>
          </a:xfrm>
          <a:prstGeom prst="rect">
            <a:avLst/>
          </a:prstGeom>
        </p:spPr>
        <p:txBody>
          <a:bodyPr vert="horz" lIns="92051" tIns="46026" rIns="92051" bIns="46026" rtlCol="0" anchor="b"/>
          <a:lstStyle>
            <a:lvl1pPr algn="l">
              <a:defRPr sz="1200"/>
            </a:lvl1pPr>
          </a:lstStyle>
          <a:p>
            <a:endParaRPr lang="en-US"/>
          </a:p>
        </p:txBody>
      </p:sp>
      <p:sp>
        <p:nvSpPr>
          <p:cNvPr id="5" name="Slide Number Placeholder 4"/>
          <p:cNvSpPr>
            <a:spLocks noGrp="1"/>
          </p:cNvSpPr>
          <p:nvPr>
            <p:ph type="sldNum" sz="quarter" idx="3"/>
          </p:nvPr>
        </p:nvSpPr>
        <p:spPr>
          <a:xfrm>
            <a:off x="3939466" y="8842030"/>
            <a:ext cx="3013763" cy="465455"/>
          </a:xfrm>
          <a:prstGeom prst="rect">
            <a:avLst/>
          </a:prstGeom>
        </p:spPr>
        <p:txBody>
          <a:bodyPr vert="horz" lIns="92051" tIns="46026" rIns="92051" bIns="46026" rtlCol="0" anchor="b"/>
          <a:lstStyle>
            <a:lvl1pPr algn="r">
              <a:defRPr sz="1200"/>
            </a:lvl1pPr>
          </a:lstStyle>
          <a:p>
            <a:fld id="{538845BC-E5B8-4F76-AB4E-440694C63259}" type="slidenum">
              <a:rPr lang="en-US" smtClean="0"/>
              <a:pPr/>
              <a:t>‹#›</a:t>
            </a:fld>
            <a:endParaRPr lang="en-US"/>
          </a:p>
        </p:txBody>
      </p:sp>
    </p:spTree>
    <p:extLst>
      <p:ext uri="{BB962C8B-B14F-4D97-AF65-F5344CB8AC3E}">
        <p14:creationId xmlns:p14="http://schemas.microsoft.com/office/powerpoint/2010/main" val="27582111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13763" cy="465455"/>
          </a:xfrm>
          <a:prstGeom prst="rect">
            <a:avLst/>
          </a:prstGeom>
        </p:spPr>
        <p:txBody>
          <a:bodyPr vert="horz" lIns="92051" tIns="46026" rIns="92051" bIns="46026" rtlCol="0"/>
          <a:lstStyle>
            <a:lvl1pPr algn="l">
              <a:defRPr sz="1200"/>
            </a:lvl1pPr>
          </a:lstStyle>
          <a:p>
            <a:endParaRPr lang="en-US"/>
          </a:p>
        </p:txBody>
      </p:sp>
      <p:sp>
        <p:nvSpPr>
          <p:cNvPr id="3" name="Date Placeholder 2"/>
          <p:cNvSpPr>
            <a:spLocks noGrp="1"/>
          </p:cNvSpPr>
          <p:nvPr>
            <p:ph type="dt" idx="1"/>
          </p:nvPr>
        </p:nvSpPr>
        <p:spPr>
          <a:xfrm>
            <a:off x="3939466" y="1"/>
            <a:ext cx="3013763" cy="465455"/>
          </a:xfrm>
          <a:prstGeom prst="rect">
            <a:avLst/>
          </a:prstGeom>
        </p:spPr>
        <p:txBody>
          <a:bodyPr vert="horz" lIns="92051" tIns="46026" rIns="92051" bIns="46026" rtlCol="0"/>
          <a:lstStyle>
            <a:lvl1pPr algn="r">
              <a:defRPr sz="1200"/>
            </a:lvl1pPr>
          </a:lstStyle>
          <a:p>
            <a:fld id="{028DF241-7479-48D7-B926-3836CF66E8CA}" type="datetimeFigureOut">
              <a:rPr lang="en-US" smtClean="0"/>
              <a:pPr/>
              <a:t>1/13/2025</a:t>
            </a:fld>
            <a:endParaRPr lang="en-US"/>
          </a:p>
        </p:txBody>
      </p:sp>
      <p:sp>
        <p:nvSpPr>
          <p:cNvPr id="4" name="Slide Image Placeholder 3"/>
          <p:cNvSpPr>
            <a:spLocks noGrp="1" noRot="1" noChangeAspect="1"/>
          </p:cNvSpPr>
          <p:nvPr>
            <p:ph type="sldImg" idx="2"/>
          </p:nvPr>
        </p:nvSpPr>
        <p:spPr>
          <a:xfrm>
            <a:off x="1149350" y="696913"/>
            <a:ext cx="4656138" cy="3492500"/>
          </a:xfrm>
          <a:prstGeom prst="rect">
            <a:avLst/>
          </a:prstGeom>
          <a:noFill/>
          <a:ln w="12700">
            <a:solidFill>
              <a:prstClr val="black"/>
            </a:solidFill>
          </a:ln>
        </p:spPr>
        <p:txBody>
          <a:bodyPr vert="horz" lIns="92051" tIns="46026" rIns="92051" bIns="46026" rtlCol="0" anchor="ctr"/>
          <a:lstStyle/>
          <a:p>
            <a:endParaRPr lang="en-US"/>
          </a:p>
        </p:txBody>
      </p:sp>
      <p:sp>
        <p:nvSpPr>
          <p:cNvPr id="5" name="Notes Placeholder 4"/>
          <p:cNvSpPr>
            <a:spLocks noGrp="1"/>
          </p:cNvSpPr>
          <p:nvPr>
            <p:ph type="body" sz="quarter" idx="3"/>
          </p:nvPr>
        </p:nvSpPr>
        <p:spPr>
          <a:xfrm>
            <a:off x="695484" y="4421822"/>
            <a:ext cx="5563870" cy="4189095"/>
          </a:xfrm>
          <a:prstGeom prst="rect">
            <a:avLst/>
          </a:prstGeom>
        </p:spPr>
        <p:txBody>
          <a:bodyPr vert="horz" lIns="92051" tIns="46026" rIns="92051" bIns="46026"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42030"/>
            <a:ext cx="3013763" cy="465455"/>
          </a:xfrm>
          <a:prstGeom prst="rect">
            <a:avLst/>
          </a:prstGeom>
        </p:spPr>
        <p:txBody>
          <a:bodyPr vert="horz" lIns="92051" tIns="46026" rIns="92051" bIns="46026" rtlCol="0" anchor="b"/>
          <a:lstStyle>
            <a:lvl1pPr algn="l">
              <a:defRPr sz="1200"/>
            </a:lvl1pPr>
          </a:lstStyle>
          <a:p>
            <a:endParaRPr lang="en-US"/>
          </a:p>
        </p:txBody>
      </p:sp>
      <p:sp>
        <p:nvSpPr>
          <p:cNvPr id="7" name="Slide Number Placeholder 6"/>
          <p:cNvSpPr>
            <a:spLocks noGrp="1"/>
          </p:cNvSpPr>
          <p:nvPr>
            <p:ph type="sldNum" sz="quarter" idx="5"/>
          </p:nvPr>
        </p:nvSpPr>
        <p:spPr>
          <a:xfrm>
            <a:off x="3939466" y="8842030"/>
            <a:ext cx="3013763" cy="465455"/>
          </a:xfrm>
          <a:prstGeom prst="rect">
            <a:avLst/>
          </a:prstGeom>
        </p:spPr>
        <p:txBody>
          <a:bodyPr vert="horz" lIns="92051" tIns="46026" rIns="92051" bIns="46026" rtlCol="0" anchor="b"/>
          <a:lstStyle>
            <a:lvl1pPr algn="r">
              <a:defRPr sz="1200"/>
            </a:lvl1pPr>
          </a:lstStyle>
          <a:p>
            <a:fld id="{60658A72-D451-401C-9327-452145EF2A05}" type="slidenum">
              <a:rPr lang="en-US" smtClean="0"/>
              <a:pPr/>
              <a:t>‹#›</a:t>
            </a:fld>
            <a:endParaRPr lang="en-US"/>
          </a:p>
        </p:txBody>
      </p:sp>
    </p:spTree>
    <p:extLst>
      <p:ext uri="{BB962C8B-B14F-4D97-AF65-F5344CB8AC3E}">
        <p14:creationId xmlns:p14="http://schemas.microsoft.com/office/powerpoint/2010/main" val="42930586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1</a:t>
            </a:fld>
            <a:endParaRPr lang="en-US"/>
          </a:p>
        </p:txBody>
      </p:sp>
    </p:spTree>
    <p:extLst>
      <p:ext uri="{BB962C8B-B14F-4D97-AF65-F5344CB8AC3E}">
        <p14:creationId xmlns:p14="http://schemas.microsoft.com/office/powerpoint/2010/main" val="15907057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2</a:t>
            </a:fld>
            <a:endParaRPr lang="en-US"/>
          </a:p>
        </p:txBody>
      </p:sp>
    </p:spTree>
    <p:extLst>
      <p:ext uri="{BB962C8B-B14F-4D97-AF65-F5344CB8AC3E}">
        <p14:creationId xmlns:p14="http://schemas.microsoft.com/office/powerpoint/2010/main" val="32437436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3</a:t>
            </a:fld>
            <a:endParaRPr lang="en-US"/>
          </a:p>
        </p:txBody>
      </p:sp>
    </p:spTree>
    <p:extLst>
      <p:ext uri="{BB962C8B-B14F-4D97-AF65-F5344CB8AC3E}">
        <p14:creationId xmlns:p14="http://schemas.microsoft.com/office/powerpoint/2010/main" val="967444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4</a:t>
            </a:fld>
            <a:endParaRPr lang="en-US"/>
          </a:p>
        </p:txBody>
      </p:sp>
    </p:spTree>
    <p:extLst>
      <p:ext uri="{BB962C8B-B14F-4D97-AF65-F5344CB8AC3E}">
        <p14:creationId xmlns:p14="http://schemas.microsoft.com/office/powerpoint/2010/main" val="24323036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5</a:t>
            </a:fld>
            <a:endParaRPr lang="en-US"/>
          </a:p>
        </p:txBody>
      </p:sp>
    </p:spTree>
    <p:extLst>
      <p:ext uri="{BB962C8B-B14F-4D97-AF65-F5344CB8AC3E}">
        <p14:creationId xmlns:p14="http://schemas.microsoft.com/office/powerpoint/2010/main" val="22099869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6</a:t>
            </a:fld>
            <a:endParaRPr lang="en-US"/>
          </a:p>
        </p:txBody>
      </p:sp>
    </p:spTree>
    <p:extLst>
      <p:ext uri="{BB962C8B-B14F-4D97-AF65-F5344CB8AC3E}">
        <p14:creationId xmlns:p14="http://schemas.microsoft.com/office/powerpoint/2010/main" val="30277989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7</a:t>
            </a:fld>
            <a:endParaRPr lang="en-US"/>
          </a:p>
        </p:txBody>
      </p:sp>
    </p:spTree>
    <p:extLst>
      <p:ext uri="{BB962C8B-B14F-4D97-AF65-F5344CB8AC3E}">
        <p14:creationId xmlns:p14="http://schemas.microsoft.com/office/powerpoint/2010/main" val="19127073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8</a:t>
            </a:fld>
            <a:endParaRPr lang="en-US"/>
          </a:p>
        </p:txBody>
      </p:sp>
    </p:spTree>
    <p:extLst>
      <p:ext uri="{BB962C8B-B14F-4D97-AF65-F5344CB8AC3E}">
        <p14:creationId xmlns:p14="http://schemas.microsoft.com/office/powerpoint/2010/main" val="37339071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9</a:t>
            </a:fld>
            <a:endParaRPr lang="en-US"/>
          </a:p>
        </p:txBody>
      </p:sp>
    </p:spTree>
    <p:extLst>
      <p:ext uri="{BB962C8B-B14F-4D97-AF65-F5344CB8AC3E}">
        <p14:creationId xmlns:p14="http://schemas.microsoft.com/office/powerpoint/2010/main" val="21121270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10</a:t>
            </a:fld>
            <a:endParaRPr lang="en-US"/>
          </a:p>
        </p:txBody>
      </p:sp>
    </p:spTree>
    <p:extLst>
      <p:ext uri="{BB962C8B-B14F-4D97-AF65-F5344CB8AC3E}">
        <p14:creationId xmlns:p14="http://schemas.microsoft.com/office/powerpoint/2010/main" val="9145362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11</a:t>
            </a:fld>
            <a:endParaRPr lang="en-US"/>
          </a:p>
        </p:txBody>
      </p:sp>
    </p:spTree>
    <p:extLst>
      <p:ext uri="{BB962C8B-B14F-4D97-AF65-F5344CB8AC3E}">
        <p14:creationId xmlns:p14="http://schemas.microsoft.com/office/powerpoint/2010/main" val="23918392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12</a:t>
            </a:fld>
            <a:endParaRPr lang="en-US"/>
          </a:p>
        </p:txBody>
      </p:sp>
    </p:spTree>
    <p:extLst>
      <p:ext uri="{BB962C8B-B14F-4D97-AF65-F5344CB8AC3E}">
        <p14:creationId xmlns:p14="http://schemas.microsoft.com/office/powerpoint/2010/main" val="18342544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13</a:t>
            </a:fld>
            <a:endParaRPr lang="en-US"/>
          </a:p>
        </p:txBody>
      </p:sp>
    </p:spTree>
    <p:extLst>
      <p:ext uri="{BB962C8B-B14F-4D97-AF65-F5344CB8AC3E}">
        <p14:creationId xmlns:p14="http://schemas.microsoft.com/office/powerpoint/2010/main" val="29691872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14</a:t>
            </a:fld>
            <a:endParaRPr lang="en-US"/>
          </a:p>
        </p:txBody>
      </p:sp>
    </p:spTree>
    <p:extLst>
      <p:ext uri="{BB962C8B-B14F-4D97-AF65-F5344CB8AC3E}">
        <p14:creationId xmlns:p14="http://schemas.microsoft.com/office/powerpoint/2010/main" val="5912956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15</a:t>
            </a:fld>
            <a:endParaRPr lang="en-US"/>
          </a:p>
        </p:txBody>
      </p:sp>
    </p:spTree>
    <p:extLst>
      <p:ext uri="{BB962C8B-B14F-4D97-AF65-F5344CB8AC3E}">
        <p14:creationId xmlns:p14="http://schemas.microsoft.com/office/powerpoint/2010/main" val="18272385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16</a:t>
            </a:fld>
            <a:endParaRPr lang="en-US"/>
          </a:p>
        </p:txBody>
      </p:sp>
    </p:spTree>
    <p:extLst>
      <p:ext uri="{BB962C8B-B14F-4D97-AF65-F5344CB8AC3E}">
        <p14:creationId xmlns:p14="http://schemas.microsoft.com/office/powerpoint/2010/main" val="27234527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17</a:t>
            </a:fld>
            <a:endParaRPr lang="en-US"/>
          </a:p>
        </p:txBody>
      </p:sp>
    </p:spTree>
    <p:extLst>
      <p:ext uri="{BB962C8B-B14F-4D97-AF65-F5344CB8AC3E}">
        <p14:creationId xmlns:p14="http://schemas.microsoft.com/office/powerpoint/2010/main" val="12893306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18</a:t>
            </a:fld>
            <a:endParaRPr lang="en-US"/>
          </a:p>
        </p:txBody>
      </p:sp>
    </p:spTree>
    <p:extLst>
      <p:ext uri="{BB962C8B-B14F-4D97-AF65-F5344CB8AC3E}">
        <p14:creationId xmlns:p14="http://schemas.microsoft.com/office/powerpoint/2010/main" val="25933217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19</a:t>
            </a:fld>
            <a:endParaRPr lang="en-US"/>
          </a:p>
        </p:txBody>
      </p:sp>
    </p:spTree>
    <p:extLst>
      <p:ext uri="{BB962C8B-B14F-4D97-AF65-F5344CB8AC3E}">
        <p14:creationId xmlns:p14="http://schemas.microsoft.com/office/powerpoint/2010/main" val="31365720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20</a:t>
            </a:fld>
            <a:endParaRPr lang="en-US"/>
          </a:p>
        </p:txBody>
      </p:sp>
    </p:spTree>
    <p:extLst>
      <p:ext uri="{BB962C8B-B14F-4D97-AF65-F5344CB8AC3E}">
        <p14:creationId xmlns:p14="http://schemas.microsoft.com/office/powerpoint/2010/main" val="25276981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21</a:t>
            </a:fld>
            <a:endParaRPr lang="en-US"/>
          </a:p>
        </p:txBody>
      </p:sp>
    </p:spTree>
    <p:extLst>
      <p:ext uri="{BB962C8B-B14F-4D97-AF65-F5344CB8AC3E}">
        <p14:creationId xmlns:p14="http://schemas.microsoft.com/office/powerpoint/2010/main" val="30178802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22</a:t>
            </a:fld>
            <a:endParaRPr lang="en-US"/>
          </a:p>
        </p:txBody>
      </p:sp>
    </p:spTree>
    <p:extLst>
      <p:ext uri="{BB962C8B-B14F-4D97-AF65-F5344CB8AC3E}">
        <p14:creationId xmlns:p14="http://schemas.microsoft.com/office/powerpoint/2010/main" val="36417044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23</a:t>
            </a:fld>
            <a:endParaRPr lang="en-US"/>
          </a:p>
        </p:txBody>
      </p:sp>
    </p:spTree>
    <p:extLst>
      <p:ext uri="{BB962C8B-B14F-4D97-AF65-F5344CB8AC3E}">
        <p14:creationId xmlns:p14="http://schemas.microsoft.com/office/powerpoint/2010/main" val="35383806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24</a:t>
            </a:fld>
            <a:endParaRPr lang="en-US"/>
          </a:p>
        </p:txBody>
      </p:sp>
    </p:spTree>
    <p:extLst>
      <p:ext uri="{BB962C8B-B14F-4D97-AF65-F5344CB8AC3E}">
        <p14:creationId xmlns:p14="http://schemas.microsoft.com/office/powerpoint/2010/main" val="23068095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25</a:t>
            </a:fld>
            <a:endParaRPr lang="en-US"/>
          </a:p>
        </p:txBody>
      </p:sp>
    </p:spTree>
    <p:extLst>
      <p:ext uri="{BB962C8B-B14F-4D97-AF65-F5344CB8AC3E}">
        <p14:creationId xmlns:p14="http://schemas.microsoft.com/office/powerpoint/2010/main" val="25298576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26</a:t>
            </a:fld>
            <a:endParaRPr lang="en-US"/>
          </a:p>
        </p:txBody>
      </p:sp>
    </p:spTree>
    <p:extLst>
      <p:ext uri="{BB962C8B-B14F-4D97-AF65-F5344CB8AC3E}">
        <p14:creationId xmlns:p14="http://schemas.microsoft.com/office/powerpoint/2010/main" val="15841033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27</a:t>
            </a:fld>
            <a:endParaRPr lang="en-US"/>
          </a:p>
        </p:txBody>
      </p:sp>
    </p:spTree>
    <p:extLst>
      <p:ext uri="{BB962C8B-B14F-4D97-AF65-F5344CB8AC3E}">
        <p14:creationId xmlns:p14="http://schemas.microsoft.com/office/powerpoint/2010/main" val="14958656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28</a:t>
            </a:fld>
            <a:endParaRPr lang="en-US"/>
          </a:p>
        </p:txBody>
      </p:sp>
    </p:spTree>
    <p:extLst>
      <p:ext uri="{BB962C8B-B14F-4D97-AF65-F5344CB8AC3E}">
        <p14:creationId xmlns:p14="http://schemas.microsoft.com/office/powerpoint/2010/main" val="216817641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29</a:t>
            </a:fld>
            <a:endParaRPr lang="en-US"/>
          </a:p>
        </p:txBody>
      </p:sp>
    </p:spTree>
    <p:extLst>
      <p:ext uri="{BB962C8B-B14F-4D97-AF65-F5344CB8AC3E}">
        <p14:creationId xmlns:p14="http://schemas.microsoft.com/office/powerpoint/2010/main" val="29850958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30</a:t>
            </a:fld>
            <a:endParaRPr lang="en-US"/>
          </a:p>
        </p:txBody>
      </p:sp>
    </p:spTree>
    <p:extLst>
      <p:ext uri="{BB962C8B-B14F-4D97-AF65-F5344CB8AC3E}">
        <p14:creationId xmlns:p14="http://schemas.microsoft.com/office/powerpoint/2010/main" val="24689312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31</a:t>
            </a:fld>
            <a:endParaRPr lang="en-US"/>
          </a:p>
        </p:txBody>
      </p:sp>
    </p:spTree>
    <p:extLst>
      <p:ext uri="{BB962C8B-B14F-4D97-AF65-F5344CB8AC3E}">
        <p14:creationId xmlns:p14="http://schemas.microsoft.com/office/powerpoint/2010/main" val="418270117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32</a:t>
            </a:fld>
            <a:endParaRPr lang="en-US"/>
          </a:p>
        </p:txBody>
      </p:sp>
    </p:spTree>
    <p:extLst>
      <p:ext uri="{BB962C8B-B14F-4D97-AF65-F5344CB8AC3E}">
        <p14:creationId xmlns:p14="http://schemas.microsoft.com/office/powerpoint/2010/main" val="158772177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33</a:t>
            </a:fld>
            <a:endParaRPr lang="en-US"/>
          </a:p>
        </p:txBody>
      </p:sp>
    </p:spTree>
    <p:extLst>
      <p:ext uri="{BB962C8B-B14F-4D97-AF65-F5344CB8AC3E}">
        <p14:creationId xmlns:p14="http://schemas.microsoft.com/office/powerpoint/2010/main" val="40817712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34</a:t>
            </a:fld>
            <a:endParaRPr lang="en-US"/>
          </a:p>
        </p:txBody>
      </p:sp>
    </p:spTree>
    <p:extLst>
      <p:ext uri="{BB962C8B-B14F-4D97-AF65-F5344CB8AC3E}">
        <p14:creationId xmlns:p14="http://schemas.microsoft.com/office/powerpoint/2010/main" val="24311253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130628"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429000"/>
            <a:ext cx="6400800" cy="15240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97B10038-F89D-4298-8F1A-CB90076CC0D9}" type="datetime1">
              <a:rPr lang="en-US" smtClean="0"/>
              <a:t>1/13/2025</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8BC87070-6711-4EB4-A1B9-86156EA2E1B1}" type="slidenum">
              <a:rPr lang="en-US" smtClean="0"/>
              <a:pPr/>
              <a:t>‹#›</a:t>
            </a:fld>
            <a:endParaRPr lang="en-US"/>
          </a:p>
        </p:txBody>
      </p:sp>
      <p:sp>
        <p:nvSpPr>
          <p:cNvPr id="7" name="Rectangle 6"/>
          <p:cNvSpPr/>
          <p:nvPr/>
        </p:nvSpPr>
        <p:spPr>
          <a:xfrm>
            <a:off x="203916" y="1219200"/>
            <a:ext cx="8763000" cy="198120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dirty="0" smtClean="0"/>
              <a:t>Click to edit Master title style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681CF505-B873-45F3-A961-5C44A54FA86F}" type="datetime1">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C87070-6711-4EB4-A1B9-86156EA2E1B1}"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6444F34C-4D34-44D4-9F09-824BE64D3C56}" type="datetime1">
              <a:rPr lang="en-US" smtClean="0"/>
              <a:t>1/13/2025</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8BC87070-6711-4EB4-A1B9-86156EA2E1B1}"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739FC498-0383-4E59-859A-50702E616C94}" type="datetime1">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C87070-6711-4EB4-A1B9-86156EA2E1B1}"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239628F8-7EAA-4180-B790-F3A66853457F}" type="datetime1">
              <a:rPr lang="en-US" smtClean="0"/>
              <a:t>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BC87070-6711-4EB4-A1B9-86156EA2E1B1}"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73875EFA-E2DD-40E4-96F1-83E178E28AE5}" type="datetime1">
              <a:rPr lang="en-US" smtClean="0"/>
              <a:t>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BC87070-6711-4EB4-A1B9-86156EA2E1B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A9AB465-91DA-4DC3-BDC5-F79C236E33B9}" type="datetime1">
              <a:rPr lang="en-US" smtClean="0"/>
              <a:t>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BC87070-6711-4EB4-A1B9-86156EA2E1B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842722B2-5E53-43B8-A348-3A3F8CE77189}" type="datetime1">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C87070-6711-4EB4-A1B9-86156EA2E1B1}"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80D537A4-EB99-40EA-A21B-5911A1D36898}" type="datetime1">
              <a:rPr lang="en-US" smtClean="0"/>
              <a:t>1/13/2025</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8BC87070-6711-4EB4-A1B9-86156EA2E1B1}"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4EF9BB3-5A52-4FDD-9065-9C5975AE9424}" type="datetime1">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C87070-6711-4EB4-A1B9-86156EA2E1B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C497BB2-3479-4D4B-A8C2-BF72D282B92E}" type="datetime1">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C87070-6711-4EB4-A1B9-86156EA2E1B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B1FD2047-22FC-4185-9F7A-91AD22B69600}" type="datetime1">
              <a:rPr lang="en-US" smtClean="0"/>
              <a:t>1/13/2025</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8BC87070-6711-4EB4-A1B9-86156EA2E1B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hf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notesSlide" Target="../notesSlides/notesSlide18.xml"/><Relationship Id="rId7" Type="http://schemas.openxmlformats.org/officeDocument/2006/relationships/image" Target="../media/image11.wmf"/><Relationship Id="rId2" Type="http://schemas.openxmlformats.org/officeDocument/2006/relationships/slideLayout" Target="../slideLayouts/slideLayout6.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2.wm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7.xml"/><Relationship Id="rId1" Type="http://schemas.openxmlformats.org/officeDocument/2006/relationships/slideLayout" Target="../slideLayouts/slideLayout6.xml"/><Relationship Id="rId5" Type="http://schemas.openxmlformats.org/officeDocument/2006/relationships/image" Target="../media/image17.jpeg"/><Relationship Id="rId4" Type="http://schemas.openxmlformats.org/officeDocument/2006/relationships/image" Target="../media/image16.jpe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1</a:t>
            </a:fld>
            <a:endParaRPr lang="en-US" dirty="0"/>
          </a:p>
        </p:txBody>
      </p:sp>
      <p:sp>
        <p:nvSpPr>
          <p:cNvPr id="6" name="Content Placeholder 2"/>
          <p:cNvSpPr txBox="1">
            <a:spLocks/>
          </p:cNvSpPr>
          <p:nvPr/>
        </p:nvSpPr>
        <p:spPr>
          <a:xfrm>
            <a:off x="457200" y="685800"/>
            <a:ext cx="8534400" cy="5448300"/>
          </a:xfrm>
          <a:prstGeom prst="rect">
            <a:avLst/>
          </a:prstGeom>
        </p:spPr>
        <p:txBody>
          <a:bodyPr>
            <a:noAutofit/>
          </a:bodyPr>
          <a:lstStyle/>
          <a:p>
            <a:pPr marL="342900" indent="-342900" algn="just" eaLnBrk="0" hangingPunct="0">
              <a:spcBef>
                <a:spcPct val="20000"/>
              </a:spcBef>
              <a:buClr>
                <a:srgbClr val="FF0000"/>
              </a:buClr>
              <a:buFont typeface="Wingdings" pitchFamily="2" charset="2"/>
              <a:buChar char="q"/>
            </a:pPr>
            <a:r>
              <a:rPr lang="en-US" altLang="ja-JP" sz="2800" dirty="0" smtClean="0">
                <a:latin typeface="Tahoma" panose="020B0604030504040204" pitchFamily="34" charset="0"/>
                <a:ea typeface="Tahoma" panose="020B0604030504040204" pitchFamily="34" charset="0"/>
                <a:cs typeface="Tahoma" panose="020B0604030504040204" pitchFamily="34" charset="0"/>
              </a:rPr>
              <a:t>Intelligence </a:t>
            </a:r>
            <a:r>
              <a:rPr lang="en-US" altLang="ja-JP" sz="2800" dirty="0">
                <a:latin typeface="Tahoma" panose="020B0604030504040204" pitchFamily="34" charset="0"/>
                <a:ea typeface="Tahoma" panose="020B0604030504040204" pitchFamily="34" charset="0"/>
                <a:cs typeface="Tahoma" panose="020B0604030504040204" pitchFamily="34" charset="0"/>
              </a:rPr>
              <a:t>is the ability to understand and learn things. - Essential English </a:t>
            </a:r>
            <a:r>
              <a:rPr lang="en-US" altLang="ja-JP" sz="2800" dirty="0" err="1" smtClean="0">
                <a:latin typeface="Tahoma" panose="020B0604030504040204" pitchFamily="34" charset="0"/>
                <a:ea typeface="Tahoma" panose="020B0604030504040204" pitchFamily="34" charset="0"/>
                <a:cs typeface="Tahoma" panose="020B0604030504040204" pitchFamily="34" charset="0"/>
              </a:rPr>
              <a:t>Dcitionary</a:t>
            </a:r>
            <a:r>
              <a:rPr lang="en-US" altLang="ja-JP" sz="2800" dirty="0" smtClean="0">
                <a:latin typeface="Tahoma" panose="020B0604030504040204" pitchFamily="34" charset="0"/>
                <a:ea typeface="Tahoma" panose="020B0604030504040204" pitchFamily="34" charset="0"/>
                <a:cs typeface="Tahoma" panose="020B0604030504040204" pitchFamily="34" charset="0"/>
              </a:rPr>
              <a:t>. </a:t>
            </a:r>
          </a:p>
          <a:p>
            <a:pPr marL="342900" indent="-342900" algn="just" eaLnBrk="0" hangingPunct="0">
              <a:spcBef>
                <a:spcPct val="20000"/>
              </a:spcBef>
              <a:buClr>
                <a:srgbClr val="FF0000"/>
              </a:buClr>
              <a:buFont typeface="Wingdings" pitchFamily="2" charset="2"/>
              <a:buChar char="q"/>
            </a:pPr>
            <a:r>
              <a:rPr lang="en-US" altLang="ja-JP" sz="2800" dirty="0" smtClean="0">
                <a:latin typeface="Tahoma" panose="020B0604030504040204" pitchFamily="34" charset="0"/>
                <a:ea typeface="Tahoma" panose="020B0604030504040204" pitchFamily="34" charset="0"/>
                <a:cs typeface="Tahoma" panose="020B0604030504040204" pitchFamily="34" charset="0"/>
              </a:rPr>
              <a:t>“</a:t>
            </a:r>
            <a:r>
              <a:rPr lang="en-US" altLang="ja-JP" sz="2800" dirty="0">
                <a:latin typeface="Tahoma" panose="020B0604030504040204" pitchFamily="34" charset="0"/>
                <a:ea typeface="Tahoma" panose="020B0604030504040204" pitchFamily="34" charset="0"/>
                <a:cs typeface="Tahoma" panose="020B0604030504040204" pitchFamily="34" charset="0"/>
              </a:rPr>
              <a:t>Intelligence is the capacity to act purposefully with the environment”  - David </a:t>
            </a:r>
            <a:r>
              <a:rPr lang="en-US" altLang="ja-JP" sz="2800" dirty="0" err="1" smtClean="0">
                <a:latin typeface="Tahoma" panose="020B0604030504040204" pitchFamily="34" charset="0"/>
                <a:ea typeface="Tahoma" panose="020B0604030504040204" pitchFamily="34" charset="0"/>
                <a:cs typeface="Tahoma" panose="020B0604030504040204" pitchFamily="34" charset="0"/>
              </a:rPr>
              <a:t>Weshlar</a:t>
            </a:r>
            <a:endParaRPr lang="en-US" altLang="ja-JP" sz="2800" dirty="0" smtClean="0">
              <a:latin typeface="Tahoma" panose="020B0604030504040204" pitchFamily="34" charset="0"/>
              <a:ea typeface="Tahoma" panose="020B0604030504040204" pitchFamily="34" charset="0"/>
              <a:cs typeface="Tahoma" panose="020B0604030504040204" pitchFamily="34" charset="0"/>
            </a:endParaRPr>
          </a:p>
          <a:p>
            <a:pPr marL="342900" indent="-342900" algn="just" eaLnBrk="0" hangingPunct="0">
              <a:spcBef>
                <a:spcPct val="20000"/>
              </a:spcBef>
              <a:buClr>
                <a:srgbClr val="FF0000"/>
              </a:buClr>
              <a:buFont typeface="Wingdings" pitchFamily="2" charset="2"/>
              <a:buChar char="q"/>
            </a:pPr>
            <a:r>
              <a:rPr lang="en-US" altLang="ja-JP" sz="2800" dirty="0" smtClean="0">
                <a:latin typeface="Tahoma" panose="020B0604030504040204" pitchFamily="34" charset="0"/>
                <a:ea typeface="Tahoma" panose="020B0604030504040204" pitchFamily="34" charset="0"/>
                <a:cs typeface="Tahoma" panose="020B0604030504040204" pitchFamily="34" charset="0"/>
              </a:rPr>
              <a:t>“Intelligence </a:t>
            </a:r>
            <a:r>
              <a:rPr lang="en-US" altLang="ja-JP" sz="2800" dirty="0">
                <a:latin typeface="Tahoma" panose="020B0604030504040204" pitchFamily="34" charset="0"/>
                <a:ea typeface="Tahoma" panose="020B0604030504040204" pitchFamily="34" charset="0"/>
                <a:cs typeface="Tahoma" panose="020B0604030504040204" pitchFamily="34" charset="0"/>
              </a:rPr>
              <a:t>is the general mental </a:t>
            </a:r>
            <a:r>
              <a:rPr lang="en-US" altLang="ja-JP" sz="2800" dirty="0" err="1">
                <a:latin typeface="Tahoma" panose="020B0604030504040204" pitchFamily="34" charset="0"/>
                <a:ea typeface="Tahoma" panose="020B0604030504040204" pitchFamily="34" charset="0"/>
                <a:cs typeface="Tahoma" panose="020B0604030504040204" pitchFamily="34" charset="0"/>
              </a:rPr>
              <a:t>adaptibility</a:t>
            </a:r>
            <a:r>
              <a:rPr lang="en-US" altLang="ja-JP" sz="2800" dirty="0">
                <a:latin typeface="Tahoma" panose="020B0604030504040204" pitchFamily="34" charset="0"/>
                <a:ea typeface="Tahoma" panose="020B0604030504040204" pitchFamily="34" charset="0"/>
                <a:cs typeface="Tahoma" panose="020B0604030504040204" pitchFamily="34" charset="0"/>
              </a:rPr>
              <a:t> to new problems and conditions” - W. </a:t>
            </a:r>
            <a:r>
              <a:rPr lang="en-US" altLang="ja-JP" sz="2800" dirty="0" smtClean="0">
                <a:latin typeface="Tahoma" panose="020B0604030504040204" pitchFamily="34" charset="0"/>
                <a:ea typeface="Tahoma" panose="020B0604030504040204" pitchFamily="34" charset="0"/>
                <a:cs typeface="Tahoma" panose="020B0604030504040204" pitchFamily="34" charset="0"/>
              </a:rPr>
              <a:t>Stern</a:t>
            </a:r>
          </a:p>
          <a:p>
            <a:pPr marL="342900" indent="-342900" algn="just" eaLnBrk="0" hangingPunct="0">
              <a:spcBef>
                <a:spcPct val="20000"/>
              </a:spcBef>
              <a:buClr>
                <a:srgbClr val="FF0000"/>
              </a:buClr>
              <a:buFont typeface="Wingdings" pitchFamily="2" charset="2"/>
              <a:buChar char="q"/>
            </a:pPr>
            <a:r>
              <a:rPr lang="en-US" altLang="ja-JP" sz="2800" dirty="0" smtClean="0">
                <a:latin typeface="Tahoma" panose="020B0604030504040204" pitchFamily="34" charset="0"/>
                <a:ea typeface="Tahoma" panose="020B0604030504040204" pitchFamily="34" charset="0"/>
                <a:cs typeface="Tahoma" panose="020B0604030504040204" pitchFamily="34" charset="0"/>
              </a:rPr>
              <a:t>Learning</a:t>
            </a:r>
            <a:r>
              <a:rPr lang="en-US" altLang="ja-JP" sz="2800" dirty="0">
                <a:latin typeface="Tahoma" panose="020B0604030504040204" pitchFamily="34" charset="0"/>
                <a:ea typeface="Tahoma" panose="020B0604030504040204" pitchFamily="34" charset="0"/>
                <a:cs typeface="Tahoma" panose="020B0604030504040204" pitchFamily="34" charset="0"/>
              </a:rPr>
              <a:t>? - Any relatively permanent change in behavior which occurs as a result of experience or practice.</a:t>
            </a:r>
          </a:p>
          <a:p>
            <a:pPr marL="342900" indent="-342900" algn="just" eaLnBrk="0" hangingPunct="0">
              <a:spcBef>
                <a:spcPct val="20000"/>
              </a:spcBef>
              <a:buClr>
                <a:srgbClr val="FF0000"/>
              </a:buClr>
              <a:buFont typeface="Wingdings" pitchFamily="2" charset="2"/>
              <a:buChar char="q"/>
            </a:pPr>
            <a:endParaRPr lang="en-US" altLang="ja-JP" sz="2700" dirty="0">
              <a:latin typeface="Tahoma" panose="020B0604030504040204" pitchFamily="34" charset="0"/>
              <a:ea typeface="Tahoma" panose="020B0604030504040204" pitchFamily="34" charset="0"/>
              <a:cs typeface="Tahoma" panose="020B0604030504040204" pitchFamily="34" charset="0"/>
            </a:endParaRPr>
          </a:p>
        </p:txBody>
      </p:sp>
      <p:sp>
        <p:nvSpPr>
          <p:cNvPr id="5" name="TextBox 4"/>
          <p:cNvSpPr txBox="1"/>
          <p:nvPr/>
        </p:nvSpPr>
        <p:spPr>
          <a:xfrm>
            <a:off x="228600" y="228600"/>
            <a:ext cx="8686800" cy="523220"/>
          </a:xfrm>
          <a:prstGeom prst="rect">
            <a:avLst/>
          </a:prstGeom>
          <a:solidFill>
            <a:schemeClr val="tx2">
              <a:lumMod val="20000"/>
              <a:lumOff val="80000"/>
            </a:schemeClr>
          </a:solidFill>
        </p:spPr>
        <p:txBody>
          <a:bodyPr wrap="square" rtlCol="0">
            <a:spAutoFit/>
          </a:bodyPr>
          <a:lstStyle/>
          <a:p>
            <a:pPr algn="ctr"/>
            <a:r>
              <a:rPr lang="en-US" altLang="ja-JP" sz="2800" b="1" dirty="0">
                <a:solidFill>
                  <a:srgbClr val="FD1B03"/>
                </a:solidFill>
                <a:latin typeface="Tahoma" panose="020B0604030504040204" pitchFamily="34" charset="0"/>
                <a:ea typeface="MS PGothic" panose="020B0600070205080204" pitchFamily="34" charset="-128"/>
              </a:rPr>
              <a:t>What is </a:t>
            </a:r>
            <a:r>
              <a:rPr lang="en-US" altLang="ja-JP" sz="2800" b="1" dirty="0" smtClean="0">
                <a:solidFill>
                  <a:srgbClr val="FD1B03"/>
                </a:solidFill>
                <a:latin typeface="Tahoma" panose="020B0604030504040204" pitchFamily="34" charset="0"/>
                <a:ea typeface="MS PGothic" panose="020B0600070205080204" pitchFamily="34" charset="-128"/>
              </a:rPr>
              <a:t>Intelligence</a:t>
            </a:r>
            <a:r>
              <a:rPr lang="en-US" altLang="ja-JP" sz="2800" b="1" dirty="0">
                <a:solidFill>
                  <a:srgbClr val="FD1B03"/>
                </a:solidFill>
                <a:latin typeface="Tahoma" panose="020B0604030504040204" pitchFamily="34" charset="0"/>
                <a:ea typeface="MS PGothic" panose="020B0600070205080204" pitchFamily="34" charset="-128"/>
              </a:rPr>
              <a:t>?</a:t>
            </a:r>
            <a:endParaRPr lang="en-US" sz="28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0844518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2</a:t>
            </a:fld>
            <a:endParaRPr lang="en-US" dirty="0"/>
          </a:p>
        </p:txBody>
      </p:sp>
      <p:sp>
        <p:nvSpPr>
          <p:cNvPr id="6" name="Content Placeholder 2"/>
          <p:cNvSpPr txBox="1">
            <a:spLocks/>
          </p:cNvSpPr>
          <p:nvPr/>
        </p:nvSpPr>
        <p:spPr>
          <a:xfrm>
            <a:off x="457200" y="685800"/>
            <a:ext cx="8534400" cy="5448300"/>
          </a:xfrm>
          <a:prstGeom prst="rect">
            <a:avLst/>
          </a:prstGeom>
        </p:spPr>
        <p:txBody>
          <a:bodyPr>
            <a:noAutofit/>
          </a:bodyPr>
          <a:lstStyle/>
          <a:p>
            <a:pPr marL="342900" indent="-342900" algn="just" eaLnBrk="0" hangingPunct="0">
              <a:spcBef>
                <a:spcPct val="20000"/>
              </a:spcBef>
              <a:buClr>
                <a:srgbClr val="FF0000"/>
              </a:buClr>
              <a:buFont typeface="Wingdings" pitchFamily="2" charset="2"/>
              <a:buChar char="q"/>
            </a:pPr>
            <a:r>
              <a:rPr lang="en-US" altLang="ja-JP" sz="2700" dirty="0" smtClean="0">
                <a:latin typeface="Tahoma" panose="020B0604030504040204" pitchFamily="34" charset="0"/>
                <a:ea typeface="Tahoma" panose="020B0604030504040204" pitchFamily="34" charset="0"/>
                <a:cs typeface="Tahoma" panose="020B0604030504040204" pitchFamily="34" charset="0"/>
              </a:rPr>
              <a:t>AI </a:t>
            </a:r>
            <a:r>
              <a:rPr lang="en-US" altLang="ja-JP" sz="2700" dirty="0">
                <a:latin typeface="Tahoma" panose="020B0604030504040204" pitchFamily="34" charset="0"/>
                <a:ea typeface="Tahoma" panose="020B0604030504040204" pitchFamily="34" charset="0"/>
                <a:cs typeface="Tahoma" panose="020B0604030504040204" pitchFamily="34" charset="0"/>
              </a:rPr>
              <a:t>is a branch of Computer Science concerned with the study and creation of computer systems that exhibit some form of </a:t>
            </a:r>
            <a:r>
              <a:rPr lang="en-US" altLang="ja-JP" sz="2700" dirty="0" smtClean="0">
                <a:latin typeface="Tahoma" panose="020B0604030504040204" pitchFamily="34" charset="0"/>
                <a:ea typeface="Tahoma" panose="020B0604030504040204" pitchFamily="34" charset="0"/>
                <a:cs typeface="Tahoma" panose="020B0604030504040204" pitchFamily="34" charset="0"/>
              </a:rPr>
              <a:t>intelligence</a:t>
            </a:r>
          </a:p>
          <a:p>
            <a:pPr marL="342900" indent="-342900" algn="just" eaLnBrk="0" hangingPunct="0">
              <a:spcBef>
                <a:spcPct val="20000"/>
              </a:spcBef>
              <a:buClr>
                <a:srgbClr val="FF0000"/>
              </a:buClr>
              <a:buFont typeface="Wingdings" pitchFamily="2" charset="2"/>
              <a:buChar char="q"/>
            </a:pPr>
            <a:r>
              <a:rPr lang="en-US" altLang="ja-JP" sz="2700" dirty="0" smtClean="0">
                <a:latin typeface="Tahoma" panose="020B0604030504040204" pitchFamily="34" charset="0"/>
                <a:ea typeface="Tahoma" panose="020B0604030504040204" pitchFamily="34" charset="0"/>
                <a:cs typeface="Tahoma" panose="020B0604030504040204" pitchFamily="34" charset="0"/>
              </a:rPr>
              <a:t>Learn </a:t>
            </a:r>
            <a:r>
              <a:rPr lang="en-US" altLang="ja-JP" sz="2700" dirty="0">
                <a:latin typeface="Tahoma" panose="020B0604030504040204" pitchFamily="34" charset="0"/>
                <a:ea typeface="Tahoma" panose="020B0604030504040204" pitchFamily="34" charset="0"/>
                <a:cs typeface="Tahoma" panose="020B0604030504040204" pitchFamily="34" charset="0"/>
              </a:rPr>
              <a:t>new </a:t>
            </a:r>
            <a:r>
              <a:rPr lang="en-US" altLang="ja-JP" sz="2700" dirty="0" smtClean="0">
                <a:latin typeface="Tahoma" panose="020B0604030504040204" pitchFamily="34" charset="0"/>
                <a:ea typeface="Tahoma" panose="020B0604030504040204" pitchFamily="34" charset="0"/>
                <a:cs typeface="Tahoma" panose="020B0604030504040204" pitchFamily="34" charset="0"/>
              </a:rPr>
              <a:t>concepts</a:t>
            </a:r>
          </a:p>
          <a:p>
            <a:pPr marL="342900" indent="-342900" algn="just" eaLnBrk="0" hangingPunct="0">
              <a:spcBef>
                <a:spcPct val="20000"/>
              </a:spcBef>
              <a:buClr>
                <a:srgbClr val="FF0000"/>
              </a:buClr>
              <a:buFont typeface="Wingdings" pitchFamily="2" charset="2"/>
              <a:buChar char="q"/>
            </a:pPr>
            <a:r>
              <a:rPr lang="en-US" altLang="ja-JP" sz="2700" dirty="0" smtClean="0">
                <a:latin typeface="Tahoma" panose="020B0604030504040204" pitchFamily="34" charset="0"/>
                <a:ea typeface="Tahoma" panose="020B0604030504040204" pitchFamily="34" charset="0"/>
                <a:cs typeface="Tahoma" panose="020B0604030504040204" pitchFamily="34" charset="0"/>
              </a:rPr>
              <a:t>Reason </a:t>
            </a:r>
            <a:r>
              <a:rPr lang="en-US" altLang="ja-JP" sz="2700" dirty="0">
                <a:latin typeface="Tahoma" panose="020B0604030504040204" pitchFamily="34" charset="0"/>
                <a:ea typeface="Tahoma" panose="020B0604030504040204" pitchFamily="34" charset="0"/>
                <a:cs typeface="Tahoma" panose="020B0604030504040204" pitchFamily="34" charset="0"/>
              </a:rPr>
              <a:t>and draw useful conclusions about the </a:t>
            </a:r>
            <a:r>
              <a:rPr lang="en-US" altLang="ja-JP" sz="2700" dirty="0" smtClean="0">
                <a:latin typeface="Tahoma" panose="020B0604030504040204" pitchFamily="34" charset="0"/>
                <a:ea typeface="Tahoma" panose="020B0604030504040204" pitchFamily="34" charset="0"/>
                <a:cs typeface="Tahoma" panose="020B0604030504040204" pitchFamily="34" charset="0"/>
              </a:rPr>
              <a:t>world</a:t>
            </a:r>
          </a:p>
          <a:p>
            <a:pPr marL="342900" indent="-342900" algn="just" eaLnBrk="0" hangingPunct="0">
              <a:spcBef>
                <a:spcPct val="20000"/>
              </a:spcBef>
              <a:buClr>
                <a:srgbClr val="FF0000"/>
              </a:buClr>
              <a:buFont typeface="Wingdings" pitchFamily="2" charset="2"/>
              <a:buChar char="q"/>
            </a:pPr>
            <a:r>
              <a:rPr lang="en-US" altLang="ja-JP" sz="2700" dirty="0" smtClean="0">
                <a:latin typeface="Tahoma" panose="020B0604030504040204" pitchFamily="34" charset="0"/>
                <a:ea typeface="Tahoma" panose="020B0604030504040204" pitchFamily="34" charset="0"/>
                <a:cs typeface="Tahoma" panose="020B0604030504040204" pitchFamily="34" charset="0"/>
              </a:rPr>
              <a:t>Understand </a:t>
            </a:r>
            <a:r>
              <a:rPr lang="en-US" altLang="ja-JP" sz="2700" dirty="0">
                <a:latin typeface="Tahoma" panose="020B0604030504040204" pitchFamily="34" charset="0"/>
                <a:ea typeface="Tahoma" panose="020B0604030504040204" pitchFamily="34" charset="0"/>
                <a:cs typeface="Tahoma" panose="020B0604030504040204" pitchFamily="34" charset="0"/>
              </a:rPr>
              <a:t>a natural language or perceive and comprehend a visual scene </a:t>
            </a:r>
            <a:endParaRPr lang="en-US" altLang="ja-JP" sz="2700" dirty="0" smtClean="0">
              <a:latin typeface="Tahoma" panose="020B0604030504040204" pitchFamily="34" charset="0"/>
              <a:ea typeface="Tahoma" panose="020B0604030504040204" pitchFamily="34" charset="0"/>
              <a:cs typeface="Tahoma" panose="020B0604030504040204" pitchFamily="34" charset="0"/>
            </a:endParaRPr>
          </a:p>
          <a:p>
            <a:pPr marL="342900" indent="-342900" algn="just" eaLnBrk="0" hangingPunct="0">
              <a:spcBef>
                <a:spcPct val="20000"/>
              </a:spcBef>
              <a:buClr>
                <a:srgbClr val="FF0000"/>
              </a:buClr>
              <a:buFont typeface="Wingdings" pitchFamily="2" charset="2"/>
              <a:buChar char="q"/>
            </a:pPr>
            <a:r>
              <a:rPr lang="en-US" altLang="ja-JP" sz="2700" dirty="0" smtClean="0">
                <a:latin typeface="Tahoma" panose="020B0604030504040204" pitchFamily="34" charset="0"/>
                <a:ea typeface="Tahoma" panose="020B0604030504040204" pitchFamily="34" charset="0"/>
                <a:cs typeface="Tahoma" panose="020B0604030504040204" pitchFamily="34" charset="0"/>
              </a:rPr>
              <a:t>Perform </a:t>
            </a:r>
            <a:r>
              <a:rPr lang="en-US" altLang="ja-JP" sz="2700" dirty="0">
                <a:latin typeface="Tahoma" panose="020B0604030504040204" pitchFamily="34" charset="0"/>
                <a:ea typeface="Tahoma" panose="020B0604030504040204" pitchFamily="34" charset="0"/>
                <a:cs typeface="Tahoma" panose="020B0604030504040204" pitchFamily="34" charset="0"/>
              </a:rPr>
              <a:t>other types of feats that require human types of </a:t>
            </a:r>
            <a:r>
              <a:rPr lang="en-US" altLang="ja-JP" sz="2700" dirty="0" smtClean="0">
                <a:latin typeface="Tahoma" panose="020B0604030504040204" pitchFamily="34" charset="0"/>
                <a:ea typeface="Tahoma" panose="020B0604030504040204" pitchFamily="34" charset="0"/>
                <a:cs typeface="Tahoma" panose="020B0604030504040204" pitchFamily="34" charset="0"/>
              </a:rPr>
              <a:t>intelligence</a:t>
            </a:r>
          </a:p>
          <a:p>
            <a:pPr algn="just" eaLnBrk="0" hangingPunct="0">
              <a:spcBef>
                <a:spcPct val="20000"/>
              </a:spcBef>
              <a:buClr>
                <a:srgbClr val="FF0000"/>
              </a:buClr>
            </a:pPr>
            <a:r>
              <a:rPr lang="en-US" altLang="ja-JP" sz="2800" b="1" dirty="0" smtClean="0">
                <a:solidFill>
                  <a:srgbClr val="FD1B03"/>
                </a:solidFill>
                <a:latin typeface="Tahoma" panose="020B0604030504040204" pitchFamily="34" charset="0"/>
                <a:ea typeface="MS PGothic" panose="020B0600070205080204" pitchFamily="34" charset="-128"/>
              </a:rPr>
              <a:t>Goal of AI:</a:t>
            </a:r>
          </a:p>
          <a:p>
            <a:pPr marL="457200" indent="-457200" algn="just" eaLnBrk="0" hangingPunct="0">
              <a:spcBef>
                <a:spcPct val="20000"/>
              </a:spcBef>
              <a:buClr>
                <a:srgbClr val="FF0000"/>
              </a:buClr>
              <a:buFont typeface="Wingdings" panose="05000000000000000000" pitchFamily="2" charset="2"/>
              <a:buChar char="q"/>
            </a:pPr>
            <a:r>
              <a:rPr lang="en-US" altLang="ja-JP" sz="2800" dirty="0" smtClean="0">
                <a:latin typeface="Tahoma" panose="020B0604030504040204" pitchFamily="34" charset="0"/>
                <a:ea typeface="MS PGothic" panose="020B0600070205080204" pitchFamily="34" charset="-128"/>
              </a:rPr>
              <a:t>make machines do things that would require intelligence if done by humans</a:t>
            </a:r>
            <a:r>
              <a:rPr lang="en-US" altLang="ja-JP" sz="2800" dirty="0" smtClean="0">
                <a:ea typeface="MS PGothic" panose="020B0600070205080204" pitchFamily="34" charset="-128"/>
              </a:rPr>
              <a:t>. </a:t>
            </a:r>
          </a:p>
          <a:p>
            <a:pPr marL="457200" indent="-457200" algn="just" eaLnBrk="0" hangingPunct="0">
              <a:spcBef>
                <a:spcPct val="20000"/>
              </a:spcBef>
              <a:buClr>
                <a:srgbClr val="FF0000"/>
              </a:buClr>
              <a:buFont typeface="Wingdings" panose="05000000000000000000" pitchFamily="2" charset="2"/>
              <a:buChar char="q"/>
            </a:pPr>
            <a:r>
              <a:rPr lang="en-US" altLang="ar-JO" sz="2800" dirty="0">
                <a:latin typeface="Tahoma" panose="020B0604030504040204" pitchFamily="34" charset="0"/>
                <a:ea typeface="Tahoma" panose="020B0604030504040204" pitchFamily="34" charset="0"/>
                <a:cs typeface="Tahoma" panose="020B0604030504040204" pitchFamily="34" charset="0"/>
              </a:rPr>
              <a:t>Understand principles of human intelligence</a:t>
            </a:r>
            <a:endParaRPr lang="en-US" altLang="ja-JP" sz="2800" dirty="0" smtClean="0">
              <a:latin typeface="Tahoma" panose="020B0604030504040204" pitchFamily="34" charset="0"/>
              <a:ea typeface="Tahoma" panose="020B0604030504040204" pitchFamily="34" charset="0"/>
              <a:cs typeface="Tahoma" panose="020B0604030504040204" pitchFamily="34" charset="0"/>
            </a:endParaRPr>
          </a:p>
          <a:p>
            <a:pPr marL="342900" indent="-342900" algn="just" eaLnBrk="0" hangingPunct="0">
              <a:spcBef>
                <a:spcPct val="20000"/>
              </a:spcBef>
              <a:buClr>
                <a:srgbClr val="FF0000"/>
              </a:buClr>
              <a:buFont typeface="Wingdings" pitchFamily="2" charset="2"/>
              <a:buChar char="q"/>
            </a:pPr>
            <a:endParaRPr lang="en-US" altLang="ja-JP" sz="2700" dirty="0">
              <a:latin typeface="Tahoma" panose="020B0604030504040204" pitchFamily="34" charset="0"/>
              <a:ea typeface="Tahoma" panose="020B0604030504040204" pitchFamily="34" charset="0"/>
              <a:cs typeface="Tahoma" panose="020B0604030504040204" pitchFamily="34" charset="0"/>
            </a:endParaRPr>
          </a:p>
        </p:txBody>
      </p:sp>
      <p:sp>
        <p:nvSpPr>
          <p:cNvPr id="5" name="TextBox 4"/>
          <p:cNvSpPr txBox="1"/>
          <p:nvPr/>
        </p:nvSpPr>
        <p:spPr>
          <a:xfrm>
            <a:off x="228600" y="228600"/>
            <a:ext cx="8686800" cy="523220"/>
          </a:xfrm>
          <a:prstGeom prst="rect">
            <a:avLst/>
          </a:prstGeom>
          <a:solidFill>
            <a:schemeClr val="tx2">
              <a:lumMod val="20000"/>
              <a:lumOff val="80000"/>
            </a:schemeClr>
          </a:solidFill>
        </p:spPr>
        <p:txBody>
          <a:bodyPr wrap="square" rtlCol="0">
            <a:spAutoFit/>
          </a:bodyPr>
          <a:lstStyle/>
          <a:p>
            <a:pPr algn="ctr"/>
            <a:r>
              <a:rPr lang="en-US" altLang="ja-JP" sz="2800" b="1" dirty="0">
                <a:solidFill>
                  <a:srgbClr val="FD1B03"/>
                </a:solidFill>
                <a:latin typeface="Tahoma" panose="020B0604030504040204" pitchFamily="34" charset="0"/>
                <a:ea typeface="MS PGothic" panose="020B0600070205080204" pitchFamily="34" charset="-128"/>
              </a:rPr>
              <a:t>What is Artificial Intelligence?</a:t>
            </a:r>
            <a:endParaRPr lang="en-US" sz="28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2649772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3</a:t>
            </a:fld>
            <a:endParaRPr lang="en-US" dirty="0"/>
          </a:p>
        </p:txBody>
      </p:sp>
      <p:sp>
        <p:nvSpPr>
          <p:cNvPr id="6" name="Content Placeholder 2"/>
          <p:cNvSpPr txBox="1">
            <a:spLocks/>
          </p:cNvSpPr>
          <p:nvPr/>
        </p:nvSpPr>
        <p:spPr>
          <a:xfrm>
            <a:off x="457200" y="838200"/>
            <a:ext cx="8229600" cy="5212080"/>
          </a:xfrm>
          <a:prstGeom prst="rect">
            <a:avLst/>
          </a:prstGeom>
        </p:spPr>
        <p:txBody>
          <a:bodyPr>
            <a:noAutofit/>
          </a:bodyPr>
          <a:lstStyle/>
          <a:p>
            <a:pPr algn="just" eaLnBrk="0" hangingPunct="0">
              <a:spcBef>
                <a:spcPct val="20000"/>
              </a:spcBef>
              <a:buClr>
                <a:srgbClr val="FF0000"/>
              </a:buClr>
            </a:pPr>
            <a:endParaRPr kumimoji="0" lang="en-US" sz="2700" i="0" strike="noStrike" kern="1200" cap="none" spc="0" normalizeH="0" baseline="0" noProof="0" dirty="0">
              <a:ln>
                <a:noFill/>
              </a:ln>
              <a:solidFill>
                <a:srgbClr val="000099"/>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5" name="TextBox 4"/>
          <p:cNvSpPr txBox="1"/>
          <p:nvPr/>
        </p:nvSpPr>
        <p:spPr>
          <a:xfrm>
            <a:off x="228600" y="228600"/>
            <a:ext cx="8686800" cy="523220"/>
          </a:xfrm>
          <a:prstGeom prst="rect">
            <a:avLst/>
          </a:prstGeom>
          <a:solidFill>
            <a:schemeClr val="tx2">
              <a:lumMod val="20000"/>
              <a:lumOff val="80000"/>
            </a:schemeClr>
          </a:solidFill>
        </p:spPr>
        <p:txBody>
          <a:bodyPr wrap="square" rtlCol="0">
            <a:spAutoFit/>
          </a:bodyPr>
          <a:lstStyle/>
          <a:p>
            <a:pPr algn="ctr"/>
            <a:r>
              <a:rPr lang="en-US" sz="2800" b="1" dirty="0">
                <a:solidFill>
                  <a:srgbClr val="FD1B03"/>
                </a:solidFill>
                <a:latin typeface="Tahoma" panose="020B0604030504040204" pitchFamily="34" charset="0"/>
              </a:rPr>
              <a:t>Why study AI?</a:t>
            </a:r>
            <a:endParaRPr lang="en-US" sz="28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9" name="Picture 4" descr="C:\rover_thumb.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990600"/>
            <a:ext cx="2333625" cy="206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5" descr="D:\downloads\google.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3633" y="848191"/>
            <a:ext cx="1524000"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6" descr="D:\downloads\yahoo.gif"/>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50833" y="1533991"/>
            <a:ext cx="1679575"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 Box 7"/>
          <p:cNvSpPr txBox="1">
            <a:spLocks noChangeArrowheads="1"/>
          </p:cNvSpPr>
          <p:nvPr/>
        </p:nvSpPr>
        <p:spPr bwMode="auto">
          <a:xfrm>
            <a:off x="4298433" y="2067391"/>
            <a:ext cx="2019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sz="2400" dirty="0"/>
              <a:t>Search engines</a:t>
            </a:r>
          </a:p>
        </p:txBody>
      </p:sp>
      <p:sp>
        <p:nvSpPr>
          <p:cNvPr id="13" name="Text Box 8"/>
          <p:cNvSpPr txBox="1">
            <a:spLocks noChangeArrowheads="1"/>
          </p:cNvSpPr>
          <p:nvPr/>
        </p:nvSpPr>
        <p:spPr bwMode="auto">
          <a:xfrm>
            <a:off x="1219200" y="5715000"/>
            <a:ext cx="911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sz="2400" dirty="0"/>
              <a:t>Labor</a:t>
            </a:r>
          </a:p>
        </p:txBody>
      </p:sp>
      <p:pic>
        <p:nvPicPr>
          <p:cNvPr id="14" name="Picture 10" descr="D:\downloads\medicine.gif"/>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58000" y="1447800"/>
            <a:ext cx="84613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 Box 11"/>
          <p:cNvSpPr txBox="1">
            <a:spLocks noChangeArrowheads="1"/>
          </p:cNvSpPr>
          <p:nvPr/>
        </p:nvSpPr>
        <p:spPr bwMode="auto">
          <a:xfrm>
            <a:off x="6811962" y="2743200"/>
            <a:ext cx="1417638"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sz="2400" dirty="0"/>
              <a:t>Medicine/</a:t>
            </a:r>
          </a:p>
          <a:p>
            <a:pPr>
              <a:spcBef>
                <a:spcPct val="0"/>
              </a:spcBef>
              <a:buFontTx/>
              <a:buNone/>
            </a:pPr>
            <a:r>
              <a:rPr lang="en-US" sz="2400" dirty="0"/>
              <a:t>Diagnosis</a:t>
            </a:r>
          </a:p>
        </p:txBody>
      </p:sp>
      <p:pic>
        <p:nvPicPr>
          <p:cNvPr id="16" name="Picture 12" descr="D:\downloads\miele_1918a.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47804" y="3874960"/>
            <a:ext cx="1301750" cy="130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 Box 15"/>
          <p:cNvSpPr txBox="1">
            <a:spLocks noChangeArrowheads="1"/>
          </p:cNvSpPr>
          <p:nvPr/>
        </p:nvSpPr>
        <p:spPr bwMode="auto">
          <a:xfrm>
            <a:off x="4714404" y="5551360"/>
            <a:ext cx="1554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sz="2400"/>
              <a:t>Appliances</a:t>
            </a:r>
          </a:p>
        </p:txBody>
      </p:sp>
      <p:sp>
        <p:nvSpPr>
          <p:cNvPr id="20" name="Text Box 16"/>
          <p:cNvSpPr txBox="1">
            <a:spLocks noChangeArrowheads="1"/>
          </p:cNvSpPr>
          <p:nvPr/>
        </p:nvSpPr>
        <p:spPr bwMode="auto">
          <a:xfrm>
            <a:off x="6781800" y="5791200"/>
            <a:ext cx="175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sz="2400" b="1"/>
              <a:t>What else?</a:t>
            </a:r>
          </a:p>
        </p:txBody>
      </p:sp>
      <p:pic>
        <p:nvPicPr>
          <p:cNvPr id="2" name="Picture 1"/>
          <p:cNvPicPr>
            <a:picLocks noChangeAspect="1"/>
          </p:cNvPicPr>
          <p:nvPr/>
        </p:nvPicPr>
        <p:blipFill>
          <a:blip r:embed="rId8"/>
          <a:stretch>
            <a:fillRect/>
          </a:stretch>
        </p:blipFill>
        <p:spPr>
          <a:xfrm>
            <a:off x="6669535" y="3951160"/>
            <a:ext cx="1245269" cy="1371600"/>
          </a:xfrm>
          <a:prstGeom prst="rect">
            <a:avLst/>
          </a:prstGeom>
        </p:spPr>
      </p:pic>
      <p:pic>
        <p:nvPicPr>
          <p:cNvPr id="3" name="Picture 2"/>
          <p:cNvPicPr>
            <a:picLocks noChangeAspect="1"/>
          </p:cNvPicPr>
          <p:nvPr/>
        </p:nvPicPr>
        <p:blipFill>
          <a:blip r:embed="rId9"/>
          <a:stretch>
            <a:fillRect/>
          </a:stretch>
        </p:blipFill>
        <p:spPr>
          <a:xfrm>
            <a:off x="76200" y="3581400"/>
            <a:ext cx="4739851" cy="2011680"/>
          </a:xfrm>
          <a:prstGeom prst="rect">
            <a:avLst/>
          </a:prstGeom>
        </p:spPr>
      </p:pic>
      <p:sp>
        <p:nvSpPr>
          <p:cNvPr id="21" name="Text Box 9"/>
          <p:cNvSpPr txBox="1">
            <a:spLocks noChangeArrowheads="1"/>
          </p:cNvSpPr>
          <p:nvPr/>
        </p:nvSpPr>
        <p:spPr bwMode="auto">
          <a:xfrm>
            <a:off x="1219200" y="3124200"/>
            <a:ext cx="1130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sz="2400" dirty="0"/>
              <a:t>Science</a:t>
            </a:r>
          </a:p>
        </p:txBody>
      </p:sp>
    </p:spTree>
    <p:extLst>
      <p:ext uri="{BB962C8B-B14F-4D97-AF65-F5344CB8AC3E}">
        <p14:creationId xmlns:p14="http://schemas.microsoft.com/office/powerpoint/2010/main" val="385402023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4</a:t>
            </a:fld>
            <a:endParaRPr lang="en-US" dirty="0"/>
          </a:p>
        </p:txBody>
      </p:sp>
      <p:sp>
        <p:nvSpPr>
          <p:cNvPr id="6" name="Content Placeholder 2"/>
          <p:cNvSpPr txBox="1">
            <a:spLocks/>
          </p:cNvSpPr>
          <p:nvPr/>
        </p:nvSpPr>
        <p:spPr>
          <a:xfrm>
            <a:off x="457200" y="838200"/>
            <a:ext cx="8229600" cy="5212080"/>
          </a:xfrm>
          <a:prstGeom prst="rect">
            <a:avLst/>
          </a:prstGeom>
        </p:spPr>
        <p:txBody>
          <a:bodyPr>
            <a:noAutofit/>
          </a:bodyPr>
          <a:lstStyle/>
          <a:p>
            <a:pPr algn="just" eaLnBrk="0" hangingPunct="0">
              <a:spcBef>
                <a:spcPct val="20000"/>
              </a:spcBef>
              <a:buClr>
                <a:srgbClr val="FF0000"/>
              </a:buClr>
            </a:pPr>
            <a:endParaRPr lang="en-US" altLang="ja-JP" sz="2700" dirty="0">
              <a:latin typeface="Tahoma" panose="020B0604030504040204" pitchFamily="34" charset="0"/>
              <a:ea typeface="Tahoma" panose="020B0604030504040204" pitchFamily="34" charset="0"/>
              <a:cs typeface="Tahoma" panose="020B0604030504040204" pitchFamily="34" charset="0"/>
            </a:endParaRPr>
          </a:p>
        </p:txBody>
      </p:sp>
      <p:sp>
        <p:nvSpPr>
          <p:cNvPr id="5" name="TextBox 4"/>
          <p:cNvSpPr txBox="1"/>
          <p:nvPr/>
        </p:nvSpPr>
        <p:spPr>
          <a:xfrm>
            <a:off x="228600" y="228600"/>
            <a:ext cx="8686800" cy="523220"/>
          </a:xfrm>
          <a:prstGeom prst="rect">
            <a:avLst/>
          </a:prstGeom>
          <a:solidFill>
            <a:schemeClr val="tx2">
              <a:lumMod val="20000"/>
              <a:lumOff val="80000"/>
            </a:schemeClr>
          </a:solidFill>
        </p:spPr>
        <p:txBody>
          <a:bodyPr wrap="square" rtlCol="0">
            <a:spAutoFit/>
          </a:bodyPr>
          <a:lstStyle/>
          <a:p>
            <a:pPr algn="ctr"/>
            <a:r>
              <a:rPr lang="en-US" altLang="ja-JP" sz="2800" b="1" dirty="0">
                <a:solidFill>
                  <a:srgbClr val="FD1B03"/>
                </a:solidFill>
                <a:latin typeface="Tahoma" panose="020B0604030504040204" pitchFamily="34" charset="0"/>
                <a:ea typeface="MS PGothic" panose="020B0600070205080204" pitchFamily="34" charset="-128"/>
              </a:rPr>
              <a:t>What is Artificial Intelligence?</a:t>
            </a:r>
            <a:endParaRPr lang="en-US" sz="28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8" name="Rectangle 5" descr="Rectangle: Click to edit Master text styles&#10;Second level&#10;Third level&#10;Fourth level&#10;Fifth level"/>
          <p:cNvSpPr>
            <a:spLocks noChangeArrowheads="1"/>
          </p:cNvSpPr>
          <p:nvPr/>
        </p:nvSpPr>
        <p:spPr bwMode="auto">
          <a:xfrm>
            <a:off x="609600" y="1066800"/>
            <a:ext cx="80772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buFontTx/>
              <a:buNone/>
            </a:pPr>
            <a:r>
              <a:rPr lang="en-US" sz="2800" dirty="0" smtClean="0">
                <a:latin typeface="Tahoma" panose="020B0604030504040204" pitchFamily="34" charset="0"/>
                <a:ea typeface="Tahoma" panose="020B0604030504040204" pitchFamily="34" charset="0"/>
                <a:cs typeface="Tahoma" panose="020B0604030504040204" pitchFamily="34" charset="0"/>
              </a:rPr>
              <a:t>   </a:t>
            </a:r>
            <a:r>
              <a:rPr lang="en-US" sz="2800" b="1" dirty="0" smtClean="0">
                <a:latin typeface="Tahoma" panose="020B0604030504040204" pitchFamily="34" charset="0"/>
                <a:ea typeface="Tahoma" panose="020B0604030504040204" pitchFamily="34" charset="0"/>
                <a:cs typeface="Tahoma" panose="020B0604030504040204" pitchFamily="34" charset="0"/>
              </a:rPr>
              <a:t>AI is Discipline that systematizes and automates intellectual tasks to create machines to</a:t>
            </a:r>
            <a:endParaRPr lang="en-US" sz="2800" b="1" dirty="0">
              <a:latin typeface="Tahoma" panose="020B0604030504040204" pitchFamily="34" charset="0"/>
              <a:ea typeface="Tahoma" panose="020B0604030504040204" pitchFamily="34" charset="0"/>
              <a:cs typeface="Tahoma" panose="020B0604030504040204" pitchFamily="34" charset="0"/>
            </a:endParaRPr>
          </a:p>
        </p:txBody>
      </p:sp>
      <p:graphicFrame>
        <p:nvGraphicFramePr>
          <p:cNvPr id="9" name="Group 6"/>
          <p:cNvGraphicFramePr>
            <a:graphicFrameLocks/>
          </p:cNvGraphicFramePr>
          <p:nvPr>
            <p:extLst>
              <p:ext uri="{D42A27DB-BD31-4B8C-83A1-F6EECF244321}">
                <p14:modId xmlns:p14="http://schemas.microsoft.com/office/powerpoint/2010/main" val="4247216572"/>
              </p:ext>
            </p:extLst>
          </p:nvPr>
        </p:nvGraphicFramePr>
        <p:xfrm>
          <a:off x="1143000" y="3200400"/>
          <a:ext cx="6629400" cy="1630680"/>
        </p:xfrm>
        <a:graphic>
          <a:graphicData uri="http://schemas.openxmlformats.org/drawingml/2006/table">
            <a:tbl>
              <a:tblPr/>
              <a:tblGrid>
                <a:gridCol w="3314700"/>
                <a:gridCol w="3314700"/>
              </a:tblGrid>
              <a:tr h="6858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rgbClr val="000099"/>
                          </a:solidFill>
                          <a:effectLst/>
                          <a:latin typeface="Tahoma" pitchFamily="34" charset="0"/>
                        </a:rPr>
                        <a:t>Act like humans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000099"/>
                          </a:solidFill>
                          <a:effectLst/>
                          <a:latin typeface="Tahoma" pitchFamily="34" charset="0"/>
                        </a:rPr>
                        <a:t>Act rationally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858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000099"/>
                          </a:solidFill>
                          <a:effectLst/>
                          <a:latin typeface="Tahoma" pitchFamily="34" charset="0"/>
                        </a:rPr>
                        <a:t>Think like humans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rgbClr val="000099"/>
                          </a:solidFill>
                          <a:effectLst/>
                          <a:latin typeface="Tahoma" pitchFamily="34" charset="0"/>
                        </a:rPr>
                        <a:t>Think rationally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96837612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5</a:t>
            </a:fld>
            <a:endParaRPr lang="en-US" dirty="0"/>
          </a:p>
        </p:txBody>
      </p:sp>
      <p:sp>
        <p:nvSpPr>
          <p:cNvPr id="6" name="Content Placeholder 2"/>
          <p:cNvSpPr txBox="1">
            <a:spLocks/>
          </p:cNvSpPr>
          <p:nvPr/>
        </p:nvSpPr>
        <p:spPr>
          <a:xfrm>
            <a:off x="457200" y="838200"/>
            <a:ext cx="8229600" cy="5212080"/>
          </a:xfrm>
          <a:prstGeom prst="rect">
            <a:avLst/>
          </a:prstGeom>
        </p:spPr>
        <p:txBody>
          <a:bodyPr>
            <a:noAutofit/>
          </a:bodyPr>
          <a:lstStyle/>
          <a:p>
            <a:pPr marL="342900" indent="-342900" algn="just" eaLnBrk="0" hangingPunct="0">
              <a:spcBef>
                <a:spcPct val="20000"/>
              </a:spcBef>
              <a:buClr>
                <a:srgbClr val="FF0000"/>
              </a:buClr>
              <a:buFont typeface="Wingdings" pitchFamily="2" charset="2"/>
              <a:buChar char="q"/>
            </a:pPr>
            <a:r>
              <a:rPr lang="en-US" sz="2800" dirty="0" smtClean="0">
                <a:latin typeface="Tahoma" panose="020B0604030504040204" pitchFamily="34" charset="0"/>
                <a:ea typeface="Tahoma" panose="020B0604030504040204" pitchFamily="34" charset="0"/>
                <a:cs typeface="Tahoma" panose="020B0604030504040204" pitchFamily="34" charset="0"/>
              </a:rPr>
              <a:t>The </a:t>
            </a:r>
            <a:r>
              <a:rPr lang="en-US" sz="2800" dirty="0">
                <a:latin typeface="Tahoma" panose="020B0604030504040204" pitchFamily="34" charset="0"/>
                <a:ea typeface="Tahoma" panose="020B0604030504040204" pitchFamily="34" charset="0"/>
                <a:cs typeface="Tahoma" panose="020B0604030504040204" pitchFamily="34" charset="0"/>
              </a:rPr>
              <a:t>goal of AI is to create computer systems that perform functions that are assumed to require intelligence when done by </a:t>
            </a:r>
            <a:r>
              <a:rPr lang="en-US" sz="2800" dirty="0" smtClean="0">
                <a:latin typeface="Tahoma" panose="020B0604030504040204" pitchFamily="34" charset="0"/>
                <a:ea typeface="Tahoma" panose="020B0604030504040204" pitchFamily="34" charset="0"/>
                <a:cs typeface="Tahoma" panose="020B0604030504040204" pitchFamily="34" charset="0"/>
              </a:rPr>
              <a:t>humans</a:t>
            </a:r>
          </a:p>
          <a:p>
            <a:pPr algn="just" eaLnBrk="0" hangingPunct="0">
              <a:spcBef>
                <a:spcPct val="20000"/>
              </a:spcBef>
              <a:buClr>
                <a:srgbClr val="FF0000"/>
              </a:buClr>
            </a:pPr>
            <a:endParaRPr lang="en-US" sz="2800" dirty="0">
              <a:latin typeface="Tahoma" panose="020B0604030504040204" pitchFamily="34" charset="0"/>
              <a:ea typeface="Tahoma" panose="020B0604030504040204" pitchFamily="34" charset="0"/>
              <a:cs typeface="Tahoma" panose="020B0604030504040204" pitchFamily="34" charset="0"/>
            </a:endParaRPr>
          </a:p>
          <a:p>
            <a:pPr>
              <a:lnSpc>
                <a:spcPct val="90000"/>
              </a:lnSpc>
            </a:pPr>
            <a:r>
              <a:rPr lang="en-US" sz="2800"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 </a:t>
            </a:r>
            <a:r>
              <a:rPr lang="en-US" sz="2800" dirty="0">
                <a:latin typeface="Tahoma" panose="020B0604030504040204" pitchFamily="34" charset="0"/>
                <a:ea typeface="Tahoma" panose="020B0604030504040204" pitchFamily="34" charset="0"/>
                <a:cs typeface="Tahoma" panose="020B0604030504040204" pitchFamily="34" charset="0"/>
              </a:rPr>
              <a:t>Methodology: </a:t>
            </a:r>
            <a:br>
              <a:rPr lang="en-US" sz="2800" dirty="0">
                <a:latin typeface="Tahoma" panose="020B0604030504040204" pitchFamily="34" charset="0"/>
                <a:ea typeface="Tahoma" panose="020B0604030504040204" pitchFamily="34" charset="0"/>
                <a:cs typeface="Tahoma" panose="020B0604030504040204" pitchFamily="34" charset="0"/>
              </a:rPr>
            </a:br>
            <a:r>
              <a:rPr lang="en-US" sz="2800" dirty="0">
                <a:latin typeface="Tahoma" panose="020B0604030504040204" pitchFamily="34" charset="0"/>
                <a:ea typeface="Tahoma" panose="020B0604030504040204" pitchFamily="34" charset="0"/>
                <a:cs typeface="Tahoma" panose="020B0604030504040204" pitchFamily="34" charset="0"/>
              </a:rPr>
              <a:t>Take a task at which people are better, e.g.:</a:t>
            </a:r>
          </a:p>
          <a:p>
            <a:pPr lvl="1">
              <a:lnSpc>
                <a:spcPct val="90000"/>
              </a:lnSpc>
              <a:buClr>
                <a:srgbClr val="800000"/>
              </a:buClr>
            </a:pPr>
            <a:r>
              <a:rPr lang="en-US" sz="2800" dirty="0">
                <a:solidFill>
                  <a:srgbClr val="000099"/>
                </a:solidFill>
                <a:latin typeface="Tahoma" panose="020B0604030504040204" pitchFamily="34" charset="0"/>
                <a:ea typeface="Tahoma" panose="020B0604030504040204" pitchFamily="34" charset="0"/>
                <a:cs typeface="Tahoma" panose="020B0604030504040204" pitchFamily="34" charset="0"/>
              </a:rPr>
              <a:t>Prove a theorem</a:t>
            </a:r>
          </a:p>
          <a:p>
            <a:pPr lvl="1">
              <a:lnSpc>
                <a:spcPct val="90000"/>
              </a:lnSpc>
              <a:buClr>
                <a:srgbClr val="800000"/>
              </a:buClr>
            </a:pPr>
            <a:r>
              <a:rPr lang="en-US" sz="2800" dirty="0">
                <a:solidFill>
                  <a:srgbClr val="000099"/>
                </a:solidFill>
                <a:latin typeface="Tahoma" panose="020B0604030504040204" pitchFamily="34" charset="0"/>
                <a:ea typeface="Tahoma" panose="020B0604030504040204" pitchFamily="34" charset="0"/>
                <a:cs typeface="Tahoma" panose="020B0604030504040204" pitchFamily="34" charset="0"/>
              </a:rPr>
              <a:t>Play chess</a:t>
            </a:r>
          </a:p>
          <a:p>
            <a:pPr lvl="1">
              <a:lnSpc>
                <a:spcPct val="90000"/>
              </a:lnSpc>
              <a:buClr>
                <a:srgbClr val="800000"/>
              </a:buClr>
            </a:pPr>
            <a:r>
              <a:rPr lang="en-US" sz="2800" dirty="0">
                <a:solidFill>
                  <a:srgbClr val="000099"/>
                </a:solidFill>
                <a:latin typeface="Tahoma" panose="020B0604030504040204" pitchFamily="34" charset="0"/>
                <a:ea typeface="Tahoma" panose="020B0604030504040204" pitchFamily="34" charset="0"/>
                <a:cs typeface="Tahoma" panose="020B0604030504040204" pitchFamily="34" charset="0"/>
              </a:rPr>
              <a:t>Plan a surgical operation</a:t>
            </a:r>
          </a:p>
          <a:p>
            <a:pPr lvl="1">
              <a:lnSpc>
                <a:spcPct val="90000"/>
              </a:lnSpc>
              <a:buClr>
                <a:srgbClr val="800000"/>
              </a:buClr>
            </a:pPr>
            <a:r>
              <a:rPr lang="en-US" sz="2800" dirty="0">
                <a:solidFill>
                  <a:srgbClr val="000099"/>
                </a:solidFill>
                <a:latin typeface="Tahoma" panose="020B0604030504040204" pitchFamily="34" charset="0"/>
                <a:ea typeface="Tahoma" panose="020B0604030504040204" pitchFamily="34" charset="0"/>
                <a:cs typeface="Tahoma" panose="020B0604030504040204" pitchFamily="34" charset="0"/>
              </a:rPr>
              <a:t>Diagnose a disease</a:t>
            </a:r>
          </a:p>
          <a:p>
            <a:pPr lvl="1">
              <a:lnSpc>
                <a:spcPct val="90000"/>
              </a:lnSpc>
              <a:buClr>
                <a:srgbClr val="800000"/>
              </a:buClr>
            </a:pPr>
            <a:r>
              <a:rPr lang="en-US" sz="2800" dirty="0">
                <a:solidFill>
                  <a:srgbClr val="000099"/>
                </a:solidFill>
                <a:latin typeface="Tahoma" panose="020B0604030504040204" pitchFamily="34" charset="0"/>
                <a:ea typeface="Tahoma" panose="020B0604030504040204" pitchFamily="34" charset="0"/>
                <a:cs typeface="Tahoma" panose="020B0604030504040204" pitchFamily="34" charset="0"/>
              </a:rPr>
              <a:t>Navigate in a building</a:t>
            </a:r>
          </a:p>
          <a:p>
            <a:pPr>
              <a:lnSpc>
                <a:spcPct val="90000"/>
              </a:lnSpc>
            </a:pPr>
            <a:r>
              <a:rPr lang="en-US" sz="2800" dirty="0">
                <a:latin typeface="Tahoma" panose="020B0604030504040204" pitchFamily="34" charset="0"/>
                <a:ea typeface="Tahoma" panose="020B0604030504040204" pitchFamily="34" charset="0"/>
                <a:cs typeface="Tahoma" panose="020B0604030504040204" pitchFamily="34" charset="0"/>
              </a:rPr>
              <a:t>	and make a computer do it</a:t>
            </a:r>
          </a:p>
          <a:p>
            <a:pPr>
              <a:lnSpc>
                <a:spcPct val="90000"/>
              </a:lnSpc>
            </a:pPr>
            <a:endParaRPr lang="en-US" sz="2800" dirty="0">
              <a:latin typeface="Tahoma" panose="020B0604030504040204" pitchFamily="34" charset="0"/>
              <a:ea typeface="Tahoma" panose="020B0604030504040204" pitchFamily="34" charset="0"/>
              <a:cs typeface="Tahoma" panose="020B0604030504040204" pitchFamily="34" charset="0"/>
            </a:endParaRPr>
          </a:p>
          <a:p>
            <a:pPr marL="342900" indent="-342900" algn="just" eaLnBrk="0" hangingPunct="0">
              <a:spcBef>
                <a:spcPct val="20000"/>
              </a:spcBef>
              <a:buClr>
                <a:srgbClr val="FF0000"/>
              </a:buClr>
              <a:buFont typeface="Wingdings" pitchFamily="2" charset="2"/>
              <a:buChar char="q"/>
            </a:pPr>
            <a:endParaRPr lang="en-US" altLang="ja-JP" sz="2800" dirty="0">
              <a:latin typeface="Tahoma" panose="020B0604030504040204" pitchFamily="34" charset="0"/>
              <a:ea typeface="Tahoma" panose="020B0604030504040204" pitchFamily="34" charset="0"/>
              <a:cs typeface="Tahoma" panose="020B0604030504040204" pitchFamily="34" charset="0"/>
            </a:endParaRPr>
          </a:p>
        </p:txBody>
      </p:sp>
      <p:sp>
        <p:nvSpPr>
          <p:cNvPr id="5" name="TextBox 4"/>
          <p:cNvSpPr txBox="1"/>
          <p:nvPr/>
        </p:nvSpPr>
        <p:spPr>
          <a:xfrm>
            <a:off x="228600" y="228600"/>
            <a:ext cx="8686800" cy="523220"/>
          </a:xfrm>
          <a:prstGeom prst="rect">
            <a:avLst/>
          </a:prstGeom>
          <a:solidFill>
            <a:schemeClr val="tx2">
              <a:lumMod val="20000"/>
              <a:lumOff val="80000"/>
            </a:schemeClr>
          </a:solidFill>
        </p:spPr>
        <p:txBody>
          <a:bodyPr wrap="square" rtlCol="0">
            <a:spAutoFit/>
          </a:bodyPr>
          <a:lstStyle/>
          <a:p>
            <a:pPr algn="ctr"/>
            <a:r>
              <a:rPr lang="en-US" sz="2800" b="1" dirty="0">
                <a:solidFill>
                  <a:srgbClr val="FF0000"/>
                </a:solidFill>
                <a:latin typeface="Tahoma" pitchFamily="34" charset="0"/>
              </a:rPr>
              <a:t>Act Like Humans</a:t>
            </a:r>
            <a:endParaRPr lang="en-US" sz="28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50430696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6</a:t>
            </a:fld>
            <a:endParaRPr lang="en-US" dirty="0"/>
          </a:p>
        </p:txBody>
      </p:sp>
      <p:sp>
        <p:nvSpPr>
          <p:cNvPr id="6" name="Content Placeholder 2"/>
          <p:cNvSpPr txBox="1">
            <a:spLocks/>
          </p:cNvSpPr>
          <p:nvPr/>
        </p:nvSpPr>
        <p:spPr>
          <a:xfrm>
            <a:off x="457200" y="838200"/>
            <a:ext cx="8229600" cy="5212080"/>
          </a:xfrm>
          <a:prstGeom prst="rect">
            <a:avLst/>
          </a:prstGeom>
        </p:spPr>
        <p:txBody>
          <a:bodyPr>
            <a:noAutofit/>
          </a:bodyPr>
          <a:lstStyle/>
          <a:p>
            <a:pPr marL="342900" indent="-342900" algn="just" eaLnBrk="0" hangingPunct="0">
              <a:spcBef>
                <a:spcPct val="20000"/>
              </a:spcBef>
              <a:buClr>
                <a:srgbClr val="FF0000"/>
              </a:buClr>
              <a:buFont typeface="Wingdings" pitchFamily="2" charset="2"/>
              <a:buChar char="q"/>
            </a:pPr>
            <a:r>
              <a:rPr lang="en-US" sz="2000" b="1" dirty="0" smtClean="0">
                <a:latin typeface="Tahoma" panose="020B0604030504040204" pitchFamily="34" charset="0"/>
              </a:rPr>
              <a:t>Alan Turing's 1950 article </a:t>
            </a:r>
            <a:r>
              <a:rPr lang="en-US" sz="2000" b="1" i="1" dirty="0" smtClean="0">
                <a:latin typeface="Tahoma" panose="020B0604030504040204" pitchFamily="34" charset="0"/>
              </a:rPr>
              <a:t>Computing Machinery and Intelligence</a:t>
            </a:r>
            <a:r>
              <a:rPr lang="en-US" sz="2000" b="1" dirty="0" smtClean="0">
                <a:latin typeface="Tahoma" panose="020B0604030504040204" pitchFamily="34" charset="0"/>
              </a:rPr>
              <a:t> discussed conditions for considering a machine to be intelligent</a:t>
            </a:r>
          </a:p>
          <a:p>
            <a:pPr algn="just" eaLnBrk="0" hangingPunct="0">
              <a:spcBef>
                <a:spcPct val="20000"/>
              </a:spcBef>
              <a:buClr>
                <a:srgbClr val="FF0000"/>
              </a:buClr>
            </a:pPr>
            <a:r>
              <a:rPr lang="en-US" sz="2000" b="1" dirty="0" smtClean="0">
                <a:latin typeface="Tahoma" panose="020B0604030504040204" pitchFamily="34" charset="0"/>
              </a:rPr>
              <a:t>-“Can machines think?” </a:t>
            </a:r>
            <a:r>
              <a:rPr lang="en-US" sz="2000" b="1" dirty="0" smtClean="0">
                <a:latin typeface="Tahoma" panose="020B0604030504040204" pitchFamily="34" charset="0"/>
                <a:sym typeface="Symbol" panose="05050102010706020507" pitchFamily="18" charset="2"/>
              </a:rPr>
              <a:t> “Can machines behave intelligently?”</a:t>
            </a:r>
          </a:p>
          <a:p>
            <a:pPr algn="just" eaLnBrk="0" hangingPunct="0">
              <a:spcBef>
                <a:spcPct val="20000"/>
              </a:spcBef>
              <a:buClr>
                <a:srgbClr val="FF0000"/>
              </a:buClr>
            </a:pPr>
            <a:r>
              <a:rPr lang="en-US" sz="2000" b="1" dirty="0" smtClean="0">
                <a:latin typeface="Tahoma" panose="020B0604030504040204" pitchFamily="34" charset="0"/>
                <a:sym typeface="Symbol" panose="05050102010706020507" pitchFamily="18" charset="2"/>
              </a:rPr>
              <a:t>-The Turing test (The Imitation Game): Operational definition of intelligence. </a:t>
            </a:r>
            <a:r>
              <a:rPr lang="en-US" sz="2000" b="1" dirty="0" smtClean="0">
                <a:latin typeface="Tahoma" panose="020B0604030504040204" pitchFamily="34" charset="0"/>
              </a:rPr>
              <a:t>Can a computer convince a human interrogator that it is a human?</a:t>
            </a:r>
          </a:p>
          <a:p>
            <a:pPr marL="342900" indent="-342900" algn="just" eaLnBrk="0" hangingPunct="0">
              <a:spcBef>
                <a:spcPct val="20000"/>
              </a:spcBef>
              <a:buClr>
                <a:srgbClr val="FF0000"/>
              </a:buClr>
              <a:buFont typeface="Wingdings" pitchFamily="2" charset="2"/>
              <a:buChar char="q"/>
            </a:pPr>
            <a:r>
              <a:rPr kumimoji="1" lang="en-US" sz="2000" b="1" dirty="0" smtClean="0">
                <a:latin typeface="Tahoma" panose="020B0604030504040204" pitchFamily="34" charset="0"/>
              </a:rPr>
              <a:t>Computer needs to posses: Natural language processing, Knowledge representation, Automated reasoning, and Machine learning</a:t>
            </a:r>
          </a:p>
          <a:p>
            <a:pPr>
              <a:buClr>
                <a:schemeClr val="tx1"/>
              </a:buClr>
            </a:pPr>
            <a:r>
              <a:rPr kumimoji="1" lang="en-US" sz="2000" b="1" dirty="0" smtClean="0">
                <a:latin typeface="Tahoma" panose="020B0604030504040204" pitchFamily="34" charset="0"/>
              </a:rPr>
              <a:t>Are there any problems/limitations to the Turing Test?</a:t>
            </a:r>
          </a:p>
          <a:p>
            <a:pPr>
              <a:buClr>
                <a:schemeClr val="tx1"/>
              </a:buClr>
            </a:pPr>
            <a:endParaRPr kumimoji="1" lang="en-US" sz="2000" dirty="0" smtClean="0">
              <a:latin typeface="Tahoma" panose="020B0604030504040204" pitchFamily="34" charset="0"/>
            </a:endParaRPr>
          </a:p>
          <a:p>
            <a:pPr marL="342900" indent="-342900" algn="just" eaLnBrk="0" hangingPunct="0">
              <a:spcBef>
                <a:spcPct val="20000"/>
              </a:spcBef>
              <a:buClr>
                <a:srgbClr val="FF0000"/>
              </a:buClr>
              <a:buFont typeface="Wingdings" pitchFamily="2" charset="2"/>
              <a:buChar char="q"/>
            </a:pPr>
            <a:endParaRPr lang="en-US" sz="2000" dirty="0">
              <a:latin typeface="Tahoma" panose="020B0604030504040204" pitchFamily="34" charset="0"/>
              <a:ea typeface="Tahoma" panose="020B0604030504040204" pitchFamily="34" charset="0"/>
              <a:cs typeface="Tahoma" panose="020B0604030504040204" pitchFamily="34" charset="0"/>
            </a:endParaRPr>
          </a:p>
        </p:txBody>
      </p:sp>
      <p:sp>
        <p:nvSpPr>
          <p:cNvPr id="5" name="TextBox 4"/>
          <p:cNvSpPr txBox="1"/>
          <p:nvPr/>
        </p:nvSpPr>
        <p:spPr>
          <a:xfrm>
            <a:off x="228600" y="228600"/>
            <a:ext cx="8686800" cy="584775"/>
          </a:xfrm>
          <a:prstGeom prst="rect">
            <a:avLst/>
          </a:prstGeom>
          <a:solidFill>
            <a:schemeClr val="tx2">
              <a:lumMod val="20000"/>
              <a:lumOff val="80000"/>
            </a:schemeClr>
          </a:solidFill>
        </p:spPr>
        <p:txBody>
          <a:bodyPr wrap="square" rtlCol="0">
            <a:spAutoFit/>
          </a:bodyPr>
          <a:lstStyle/>
          <a:p>
            <a:pPr algn="ctr"/>
            <a:r>
              <a:rPr lang="en-US" sz="2800" b="1" dirty="0">
                <a:solidFill>
                  <a:srgbClr val="FF0000"/>
                </a:solidFill>
                <a:latin typeface="Tahoma" pitchFamily="34" charset="0"/>
              </a:rPr>
              <a:t>Act Like </a:t>
            </a:r>
            <a:r>
              <a:rPr lang="en-US" sz="2800" b="1" dirty="0" smtClean="0">
                <a:solidFill>
                  <a:srgbClr val="FF0000"/>
                </a:solidFill>
                <a:latin typeface="Tahoma" pitchFamily="34" charset="0"/>
              </a:rPr>
              <a:t>Humans-</a:t>
            </a:r>
            <a:r>
              <a:rPr lang="en-US" altLang="ja-JP" sz="3200" dirty="0">
                <a:solidFill>
                  <a:srgbClr val="FF0000"/>
                </a:solidFill>
                <a:latin typeface="Century" panose="02040604050505020304" pitchFamily="18" charset="0"/>
                <a:ea typeface="MS PGothic" panose="020B0600070205080204" pitchFamily="34" charset="-128"/>
              </a:rPr>
              <a:t> </a:t>
            </a:r>
            <a:r>
              <a:rPr lang="en-US" altLang="ja-JP" sz="2800" b="1" dirty="0">
                <a:solidFill>
                  <a:srgbClr val="FF0000"/>
                </a:solidFill>
                <a:latin typeface="Tahoma" panose="020B0604030504040204" pitchFamily="34" charset="0"/>
                <a:ea typeface="MS PGothic" panose="020B0600070205080204" pitchFamily="34" charset="-128"/>
              </a:rPr>
              <a:t>Intelligent </a:t>
            </a:r>
            <a:r>
              <a:rPr lang="en-US" altLang="ja-JP" sz="2800" b="1" dirty="0" smtClean="0">
                <a:solidFill>
                  <a:srgbClr val="FF0000"/>
                </a:solidFill>
                <a:latin typeface="Tahoma" panose="020B0604030504040204" pitchFamily="34" charset="0"/>
                <a:ea typeface="MS PGothic" panose="020B0600070205080204" pitchFamily="34" charset="-128"/>
              </a:rPr>
              <a:t>Machine(</a:t>
            </a:r>
            <a:r>
              <a:rPr lang="en-US" sz="2800" dirty="0">
                <a:solidFill>
                  <a:srgbClr val="FF0000"/>
                </a:solidFill>
              </a:rPr>
              <a:t>Turing </a:t>
            </a:r>
            <a:r>
              <a:rPr lang="en-US" sz="2800" dirty="0" smtClean="0">
                <a:solidFill>
                  <a:srgbClr val="FF0000"/>
                </a:solidFill>
              </a:rPr>
              <a:t>Test)</a:t>
            </a:r>
            <a:endParaRPr lang="en-US" sz="28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8" name="Picture 6" descr="D:\downloads\turing.gif"/>
          <p:cNvPicPr>
            <a:picLocks noChangeAspect="1" noChangeArrowheads="1"/>
          </p:cNvPicPr>
          <p:nvPr/>
        </p:nvPicPr>
        <p:blipFill>
          <a:blip r:embed="rId3">
            <a:lum contrast="42000"/>
            <a:extLst>
              <a:ext uri="{28A0092B-C50C-407E-A947-70E740481C1C}">
                <a14:useLocalDpi xmlns:a14="http://schemas.microsoft.com/office/drawing/2010/main" val="0"/>
              </a:ext>
            </a:extLst>
          </a:blip>
          <a:srcRect l="30827" t="38470" r="8018" b="23099"/>
          <a:stretch>
            <a:fillRect/>
          </a:stretch>
        </p:blipFill>
        <p:spPr bwMode="auto">
          <a:xfrm>
            <a:off x="762000" y="4800600"/>
            <a:ext cx="5105400" cy="200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05603" y="4686300"/>
            <a:ext cx="1330038" cy="1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 Box 5"/>
          <p:cNvSpPr txBox="1">
            <a:spLocks noChangeArrowheads="1"/>
          </p:cNvSpPr>
          <p:nvPr/>
        </p:nvSpPr>
        <p:spPr bwMode="auto">
          <a:xfrm>
            <a:off x="6434138" y="6156325"/>
            <a:ext cx="14593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0"/>
              </a:spcBef>
              <a:defRPr>
                <a:solidFill>
                  <a:schemeClr val="tx1"/>
                </a:solidFill>
                <a:latin typeface="Arial" panose="020B0604020202020204" pitchFamily="34" charset="0"/>
              </a:defRPr>
            </a:lvl1pPr>
            <a:lvl2pPr>
              <a:spcBef>
                <a:spcPct val="0"/>
              </a:spcBef>
              <a:defRPr>
                <a:solidFill>
                  <a:schemeClr val="tx1"/>
                </a:solidFill>
                <a:latin typeface="Arial" panose="020B0604020202020204" pitchFamily="34" charset="0"/>
              </a:defRPr>
            </a:lvl2pPr>
            <a:lvl3pPr>
              <a:spcBef>
                <a:spcPct val="0"/>
              </a:spcBef>
              <a:defRPr>
                <a:solidFill>
                  <a:schemeClr val="tx1"/>
                </a:solidFill>
                <a:latin typeface="Arial" panose="020B0604020202020204" pitchFamily="34" charset="0"/>
              </a:defRPr>
            </a:lvl3pPr>
            <a:lvl4pPr>
              <a:spcBef>
                <a:spcPct val="0"/>
              </a:spcBef>
              <a:defRPr>
                <a:solidFill>
                  <a:schemeClr val="tx1"/>
                </a:solidFill>
                <a:latin typeface="Arial" panose="020B0604020202020204" pitchFamily="34" charset="0"/>
              </a:defRPr>
            </a:lvl4pPr>
            <a:lvl5pPr>
              <a:spcBef>
                <a:spcPct val="0"/>
              </a:spcBef>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Font typeface="Wingdings" panose="05000000000000000000" pitchFamily="2" charset="2"/>
              <a:buNone/>
            </a:pPr>
            <a:r>
              <a:rPr lang="en-US" sz="2000" dirty="0">
                <a:latin typeface="Tahoma" panose="020B0604030504040204" pitchFamily="34" charset="0"/>
                <a:ea typeface="Tahoma" panose="020B0604030504040204" pitchFamily="34" charset="0"/>
                <a:cs typeface="Tahoma" panose="020B0604030504040204" pitchFamily="34" charset="0"/>
              </a:rPr>
              <a:t>Alan Turing</a:t>
            </a:r>
          </a:p>
        </p:txBody>
      </p:sp>
    </p:spTree>
    <p:extLst>
      <p:ext uri="{BB962C8B-B14F-4D97-AF65-F5344CB8AC3E}">
        <p14:creationId xmlns:p14="http://schemas.microsoft.com/office/powerpoint/2010/main" val="349525952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7</a:t>
            </a:fld>
            <a:endParaRPr lang="en-US" dirty="0"/>
          </a:p>
        </p:txBody>
      </p:sp>
      <p:sp>
        <p:nvSpPr>
          <p:cNvPr id="6" name="Content Placeholder 2"/>
          <p:cNvSpPr txBox="1">
            <a:spLocks/>
          </p:cNvSpPr>
          <p:nvPr/>
        </p:nvSpPr>
        <p:spPr>
          <a:xfrm>
            <a:off x="457200" y="838200"/>
            <a:ext cx="8229600" cy="5212080"/>
          </a:xfrm>
          <a:prstGeom prst="rect">
            <a:avLst/>
          </a:prstGeom>
        </p:spPr>
        <p:txBody>
          <a:bodyPr>
            <a:noAutofit/>
          </a:bodyPr>
          <a:lstStyle/>
          <a:p>
            <a:pPr marL="342900" indent="-342900" algn="just" eaLnBrk="0" hangingPunct="0">
              <a:spcBef>
                <a:spcPct val="20000"/>
              </a:spcBef>
              <a:buClr>
                <a:srgbClr val="FF0000"/>
              </a:buClr>
              <a:buFont typeface="Wingdings" pitchFamily="2" charset="2"/>
              <a:buChar char="q"/>
            </a:pPr>
            <a:r>
              <a:rPr lang="en-US" sz="2800" dirty="0" smtClean="0">
                <a:latin typeface="Tahoma" panose="020B0604030504040204" pitchFamily="34" charset="0"/>
                <a:ea typeface="Tahoma" panose="020B0604030504040204" pitchFamily="34" charset="0"/>
                <a:cs typeface="Tahoma" panose="020B0604030504040204" pitchFamily="34" charset="0"/>
              </a:rPr>
              <a:t>How </a:t>
            </a:r>
            <a:r>
              <a:rPr lang="en-US" sz="2800" dirty="0">
                <a:latin typeface="Tahoma" panose="020B0604030504040204" pitchFamily="34" charset="0"/>
                <a:ea typeface="Tahoma" panose="020B0604030504040204" pitchFamily="34" charset="0"/>
                <a:cs typeface="Tahoma" panose="020B0604030504040204" pitchFamily="34" charset="0"/>
              </a:rPr>
              <a:t>the computer performs functions does </a:t>
            </a:r>
            <a:r>
              <a:rPr lang="en-US" sz="2800" dirty="0" smtClean="0">
                <a:latin typeface="Tahoma" panose="020B0604030504040204" pitchFamily="34" charset="0"/>
                <a:ea typeface="Tahoma" panose="020B0604030504040204" pitchFamily="34" charset="0"/>
                <a:cs typeface="Tahoma" panose="020B0604030504040204" pitchFamily="34" charset="0"/>
              </a:rPr>
              <a:t>matter</a:t>
            </a:r>
          </a:p>
          <a:p>
            <a:pPr marL="342900" indent="-342900" algn="just" eaLnBrk="0" hangingPunct="0">
              <a:spcBef>
                <a:spcPct val="20000"/>
              </a:spcBef>
              <a:buClr>
                <a:srgbClr val="FF0000"/>
              </a:buClr>
              <a:buFont typeface="Wingdings" pitchFamily="2" charset="2"/>
              <a:buChar char="q"/>
            </a:pPr>
            <a:r>
              <a:rPr lang="en-US" sz="2800" dirty="0" smtClean="0">
                <a:latin typeface="Tahoma" panose="020B0604030504040204" pitchFamily="34" charset="0"/>
                <a:ea typeface="Tahoma" panose="020B0604030504040204" pitchFamily="34" charset="0"/>
                <a:cs typeface="Tahoma" panose="020B0604030504040204" pitchFamily="34" charset="0"/>
              </a:rPr>
              <a:t>Comparison </a:t>
            </a:r>
            <a:r>
              <a:rPr lang="en-US" sz="2800" dirty="0">
                <a:latin typeface="Tahoma" panose="020B0604030504040204" pitchFamily="34" charset="0"/>
                <a:ea typeface="Tahoma" panose="020B0604030504040204" pitchFamily="34" charset="0"/>
                <a:cs typeface="Tahoma" panose="020B0604030504040204" pitchFamily="34" charset="0"/>
              </a:rPr>
              <a:t>of the traces of the reasoning steps (cognitive </a:t>
            </a:r>
            <a:r>
              <a:rPr lang="en-US" sz="2800" dirty="0" smtClean="0">
                <a:latin typeface="Tahoma" panose="020B0604030504040204" pitchFamily="34" charset="0"/>
                <a:ea typeface="Tahoma" panose="020B0604030504040204" pitchFamily="34" charset="0"/>
                <a:cs typeface="Tahoma" panose="020B0604030504040204" pitchFamily="34" charset="0"/>
              </a:rPr>
              <a:t>science)</a:t>
            </a:r>
          </a:p>
          <a:p>
            <a:pPr marL="342900" indent="-342900" algn="just" eaLnBrk="0" hangingPunct="0">
              <a:spcBef>
                <a:spcPct val="20000"/>
              </a:spcBef>
              <a:buClr>
                <a:srgbClr val="FF0000"/>
              </a:buClr>
              <a:buFont typeface="Wingdings" pitchFamily="2" charset="2"/>
              <a:buChar char="q"/>
            </a:pPr>
            <a:r>
              <a:rPr lang="en-US" sz="2800" dirty="0" smtClean="0">
                <a:latin typeface="Tahoma" panose="020B0604030504040204" pitchFamily="34" charset="0"/>
                <a:ea typeface="Tahoma" panose="020B0604030504040204" pitchFamily="34" charset="0"/>
                <a:cs typeface="Tahoma" panose="020B0604030504040204" pitchFamily="34" charset="0"/>
              </a:rPr>
              <a:t>But</a:t>
            </a:r>
            <a:r>
              <a:rPr lang="en-US" sz="2800" dirty="0">
                <a:latin typeface="Tahoma" panose="020B0604030504040204" pitchFamily="34" charset="0"/>
                <a:ea typeface="Tahoma" panose="020B0604030504040204" pitchFamily="34" charset="0"/>
                <a:cs typeface="Tahoma" panose="020B0604030504040204" pitchFamily="34" charset="0"/>
              </a:rPr>
              <a:t>, do we want to duplicate human </a:t>
            </a:r>
            <a:r>
              <a:rPr lang="en-US" sz="2800" dirty="0" smtClean="0">
                <a:latin typeface="Tahoma" panose="020B0604030504040204" pitchFamily="34" charset="0"/>
                <a:ea typeface="Tahoma" panose="020B0604030504040204" pitchFamily="34" charset="0"/>
                <a:cs typeface="Tahoma" panose="020B0604030504040204" pitchFamily="34" charset="0"/>
              </a:rPr>
              <a:t>imperfections?</a:t>
            </a:r>
          </a:p>
          <a:p>
            <a:pPr marL="342900" indent="-342900" algn="just" eaLnBrk="0" hangingPunct="0">
              <a:spcBef>
                <a:spcPct val="20000"/>
              </a:spcBef>
              <a:buClr>
                <a:srgbClr val="FF0000"/>
              </a:buClr>
              <a:buFont typeface="Wingdings" pitchFamily="2" charset="2"/>
              <a:buChar char="q"/>
            </a:pPr>
            <a:r>
              <a:rPr lang="en-US" sz="2800" dirty="0" smtClean="0">
                <a:solidFill>
                  <a:srgbClr val="5F5F5F"/>
                </a:solidFill>
                <a:latin typeface="Tahoma" panose="020B0604030504040204" pitchFamily="34" charset="0"/>
                <a:ea typeface="Tahoma" panose="020B0604030504040204" pitchFamily="34" charset="0"/>
                <a:cs typeface="Tahoma" panose="020B0604030504040204" pitchFamily="34" charset="0"/>
              </a:rPr>
              <a:t>Role </a:t>
            </a:r>
            <a:r>
              <a:rPr lang="en-US" sz="2800" dirty="0">
                <a:solidFill>
                  <a:srgbClr val="5F5F5F"/>
                </a:solidFill>
                <a:latin typeface="Tahoma" panose="020B0604030504040204" pitchFamily="34" charset="0"/>
                <a:ea typeface="Tahoma" panose="020B0604030504040204" pitchFamily="34" charset="0"/>
                <a:cs typeface="Tahoma" panose="020B0604030504040204" pitchFamily="34" charset="0"/>
              </a:rPr>
              <a:t>of explicit symbolic knowledge</a:t>
            </a:r>
            <a:br>
              <a:rPr lang="en-US" sz="2800" dirty="0">
                <a:solidFill>
                  <a:srgbClr val="5F5F5F"/>
                </a:solidFill>
                <a:latin typeface="Tahoma" panose="020B0604030504040204" pitchFamily="34" charset="0"/>
                <a:ea typeface="Tahoma" panose="020B0604030504040204" pitchFamily="34" charset="0"/>
                <a:cs typeface="Tahoma" panose="020B0604030504040204" pitchFamily="34" charset="0"/>
              </a:rPr>
            </a:br>
            <a:r>
              <a:rPr lang="en-US" sz="2800" dirty="0">
                <a:solidFill>
                  <a:srgbClr val="5F5F5F"/>
                </a:solidFill>
                <a:latin typeface="Tahoma" panose="020B0604030504040204" pitchFamily="34" charset="0"/>
                <a:ea typeface="Tahoma" panose="020B0604030504040204" pitchFamily="34" charset="0"/>
                <a:cs typeface="Tahoma" panose="020B0604030504040204" pitchFamily="34" charset="0"/>
              </a:rPr>
              <a:t>(lemmas, concepts, </a:t>
            </a:r>
            <a:r>
              <a:rPr lang="en-US" sz="2800" dirty="0" smtClean="0">
                <a:solidFill>
                  <a:srgbClr val="5F5F5F"/>
                </a:solidFill>
                <a:latin typeface="Tahoma" panose="020B0604030504040204" pitchFamily="34" charset="0"/>
                <a:ea typeface="Tahoma" panose="020B0604030504040204" pitchFamily="34" charset="0"/>
                <a:cs typeface="Tahoma" panose="020B0604030504040204" pitchFamily="34" charset="0"/>
              </a:rPr>
              <a:t>…)</a:t>
            </a:r>
          </a:p>
          <a:p>
            <a:pPr marL="342900" indent="-342900" algn="just" eaLnBrk="0" hangingPunct="0">
              <a:spcBef>
                <a:spcPct val="20000"/>
              </a:spcBef>
              <a:buClr>
                <a:srgbClr val="FF0000"/>
              </a:buClr>
              <a:buFont typeface="Wingdings" pitchFamily="2" charset="2"/>
              <a:buChar char="q"/>
            </a:pPr>
            <a:r>
              <a:rPr lang="en-US" sz="2800" dirty="0" smtClean="0">
                <a:solidFill>
                  <a:srgbClr val="5F5F5F"/>
                </a:solidFill>
                <a:latin typeface="Tahoma" panose="020B0604030504040204" pitchFamily="34" charset="0"/>
                <a:ea typeface="Tahoma" panose="020B0604030504040204" pitchFamily="34" charset="0"/>
                <a:cs typeface="Tahoma" panose="020B0604030504040204" pitchFamily="34" charset="0"/>
              </a:rPr>
              <a:t>Pattern </a:t>
            </a:r>
            <a:r>
              <a:rPr lang="en-US" sz="2800" dirty="0">
                <a:solidFill>
                  <a:srgbClr val="5F5F5F"/>
                </a:solidFill>
                <a:latin typeface="Tahoma" panose="020B0604030504040204" pitchFamily="34" charset="0"/>
                <a:ea typeface="Tahoma" panose="020B0604030504040204" pitchFamily="34" charset="0"/>
                <a:cs typeface="Tahoma" panose="020B0604030504040204" pitchFamily="34" charset="0"/>
              </a:rPr>
              <a:t>recognition </a:t>
            </a:r>
            <a:r>
              <a:rPr lang="en-US" sz="2800" dirty="0">
                <a:solidFill>
                  <a:srgbClr val="5F5F5F"/>
                </a:solidFill>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 Neural </a:t>
            </a:r>
            <a:r>
              <a:rPr lang="en-US" sz="2800" dirty="0" smtClean="0">
                <a:solidFill>
                  <a:srgbClr val="5F5F5F"/>
                </a:solidFill>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nets</a:t>
            </a:r>
          </a:p>
          <a:p>
            <a:pPr marL="342900" indent="-342900" algn="just" eaLnBrk="0" hangingPunct="0">
              <a:spcBef>
                <a:spcPct val="20000"/>
              </a:spcBef>
              <a:buClr>
                <a:srgbClr val="FF0000"/>
              </a:buClr>
              <a:buFont typeface="Wingdings" pitchFamily="2" charset="2"/>
              <a:buChar char="q"/>
            </a:pPr>
            <a:r>
              <a:rPr lang="en-US" sz="2800" dirty="0" smtClean="0">
                <a:solidFill>
                  <a:srgbClr val="5F5F5F"/>
                </a:solidFill>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Still </a:t>
            </a:r>
            <a:r>
              <a:rPr lang="en-US" sz="2800" dirty="0">
                <a:solidFill>
                  <a:srgbClr val="5F5F5F"/>
                </a:solidFill>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a research topic: from signals to symbols</a:t>
            </a:r>
          </a:p>
          <a:p>
            <a:pPr>
              <a:lnSpc>
                <a:spcPct val="80000"/>
              </a:lnSpc>
            </a:pPr>
            <a:endParaRPr lang="en-US" sz="2800" dirty="0">
              <a:solidFill>
                <a:srgbClr val="5F5F5F"/>
              </a:solidFill>
              <a:latin typeface="Tahoma" panose="020B0604030504040204" pitchFamily="34" charset="0"/>
              <a:ea typeface="Tahoma" panose="020B0604030504040204" pitchFamily="34" charset="0"/>
              <a:cs typeface="Tahoma" panose="020B0604030504040204" pitchFamily="34" charset="0"/>
            </a:endParaRPr>
          </a:p>
          <a:p>
            <a:pPr marL="342900" indent="-342900" algn="just" eaLnBrk="0" hangingPunct="0">
              <a:spcBef>
                <a:spcPct val="20000"/>
              </a:spcBef>
              <a:buClr>
                <a:srgbClr val="FF0000"/>
              </a:buClr>
              <a:buFont typeface="Wingdings" pitchFamily="2" charset="2"/>
              <a:buChar char="q"/>
            </a:pPr>
            <a:endParaRPr lang="en-US" sz="2800" dirty="0" smtClean="0">
              <a:latin typeface="Tahoma" panose="020B0604030504040204" pitchFamily="34" charset="0"/>
              <a:ea typeface="Tahoma" panose="020B0604030504040204" pitchFamily="34" charset="0"/>
              <a:cs typeface="Tahoma" panose="020B0604030504040204" pitchFamily="34" charset="0"/>
            </a:endParaRPr>
          </a:p>
        </p:txBody>
      </p:sp>
      <p:sp>
        <p:nvSpPr>
          <p:cNvPr id="5" name="TextBox 4"/>
          <p:cNvSpPr txBox="1"/>
          <p:nvPr/>
        </p:nvSpPr>
        <p:spPr>
          <a:xfrm>
            <a:off x="228600" y="228600"/>
            <a:ext cx="8686800" cy="523220"/>
          </a:xfrm>
          <a:prstGeom prst="rect">
            <a:avLst/>
          </a:prstGeom>
          <a:solidFill>
            <a:schemeClr val="tx2">
              <a:lumMod val="20000"/>
              <a:lumOff val="80000"/>
            </a:schemeClr>
          </a:solidFill>
        </p:spPr>
        <p:txBody>
          <a:bodyPr wrap="square" rtlCol="0">
            <a:spAutoFit/>
          </a:bodyPr>
          <a:lstStyle/>
          <a:p>
            <a:pPr algn="ctr"/>
            <a:r>
              <a:rPr lang="en-US" sz="2800" b="1" dirty="0">
                <a:solidFill>
                  <a:srgbClr val="FD1B03"/>
                </a:solidFill>
                <a:latin typeface="Tahoma" pitchFamily="34" charset="0"/>
              </a:rPr>
              <a:t>Think Like Humans</a:t>
            </a:r>
            <a:endParaRPr lang="en-US" sz="28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419525971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8</a:t>
            </a:fld>
            <a:endParaRPr lang="en-US" dirty="0"/>
          </a:p>
        </p:txBody>
      </p:sp>
      <p:sp>
        <p:nvSpPr>
          <p:cNvPr id="6" name="Content Placeholder 2"/>
          <p:cNvSpPr txBox="1">
            <a:spLocks/>
          </p:cNvSpPr>
          <p:nvPr/>
        </p:nvSpPr>
        <p:spPr>
          <a:xfrm>
            <a:off x="457200" y="838200"/>
            <a:ext cx="8229600" cy="5212080"/>
          </a:xfrm>
          <a:prstGeom prst="rect">
            <a:avLst/>
          </a:prstGeom>
        </p:spPr>
        <p:txBody>
          <a:bodyPr>
            <a:noAutofit/>
          </a:bodyPr>
          <a:lstStyle/>
          <a:p>
            <a:pPr marL="342900" indent="-342900" algn="just" eaLnBrk="0" hangingPunct="0">
              <a:spcBef>
                <a:spcPct val="20000"/>
              </a:spcBef>
              <a:buClr>
                <a:srgbClr val="FF0000"/>
              </a:buClr>
              <a:buFont typeface="Wingdings" pitchFamily="2" charset="2"/>
              <a:buChar char="q"/>
            </a:pPr>
            <a:r>
              <a:rPr lang="en-US" sz="2800" dirty="0" smtClean="0">
                <a:latin typeface="Tahoma" panose="020B0604030504040204" pitchFamily="34" charset="0"/>
                <a:ea typeface="Tahoma" panose="020B0604030504040204" pitchFamily="34" charset="0"/>
                <a:cs typeface="Tahoma" panose="020B0604030504040204" pitchFamily="34" charset="0"/>
              </a:rPr>
              <a:t>Always </a:t>
            </a:r>
            <a:r>
              <a:rPr lang="en-US" sz="2800" dirty="0">
                <a:latin typeface="Tahoma" panose="020B0604030504040204" pitchFamily="34" charset="0"/>
                <a:ea typeface="Tahoma" panose="020B0604030504040204" pitchFamily="34" charset="0"/>
                <a:cs typeface="Tahoma" panose="020B0604030504040204" pitchFamily="34" charset="0"/>
              </a:rPr>
              <a:t>make the “best” decision given what is available (knowledge, time, resources</a:t>
            </a:r>
            <a:r>
              <a:rPr lang="en-US" sz="2800" dirty="0" smtClean="0">
                <a:latin typeface="Tahoma" panose="020B0604030504040204" pitchFamily="34" charset="0"/>
                <a:ea typeface="Tahoma" panose="020B0604030504040204" pitchFamily="34" charset="0"/>
                <a:cs typeface="Tahoma" panose="020B0604030504040204" pitchFamily="34" charset="0"/>
              </a:rPr>
              <a:t>)</a:t>
            </a:r>
          </a:p>
          <a:p>
            <a:pPr marL="342900" indent="-342900" algn="just" eaLnBrk="0" hangingPunct="0">
              <a:spcBef>
                <a:spcPct val="20000"/>
              </a:spcBef>
              <a:buClr>
                <a:srgbClr val="FF0000"/>
              </a:buClr>
              <a:buFont typeface="Wingdings" pitchFamily="2" charset="2"/>
              <a:buChar char="q"/>
            </a:pPr>
            <a:r>
              <a:rPr lang="en-US" sz="2800" dirty="0" smtClean="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a:t>
            </a:r>
            <a:r>
              <a:rPr lang="en-US" sz="2800"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best”  maximizes the </a:t>
            </a:r>
            <a:r>
              <a:rPr lang="en-US" sz="2800" b="1"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expected</a:t>
            </a:r>
            <a:r>
              <a:rPr lang="en-US" sz="2800"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 value of a </a:t>
            </a:r>
            <a:r>
              <a:rPr lang="en-US" sz="2800" b="1"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utility function</a:t>
            </a:r>
            <a:r>
              <a:rPr lang="en-US" sz="2800"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 (</a:t>
            </a:r>
            <a:r>
              <a:rPr lang="en-US" sz="2800" b="1" dirty="0">
                <a:latin typeface="Tahoma" panose="020B0604030504040204" pitchFamily="34" charset="0"/>
                <a:ea typeface="Tahoma" panose="020B0604030504040204" pitchFamily="34" charset="0"/>
                <a:cs typeface="Tahoma" panose="020B0604030504040204" pitchFamily="34" charset="0"/>
                <a:sym typeface="Symbol" panose="05050102010706020507" pitchFamily="18" charset="2"/>
              </a:rPr>
              <a:t></a:t>
            </a:r>
            <a:r>
              <a:rPr lang="en-US" sz="2800" dirty="0">
                <a:latin typeface="Tahoma" panose="020B0604030504040204" pitchFamily="34" charset="0"/>
                <a:ea typeface="Tahoma" panose="020B0604030504040204" pitchFamily="34" charset="0"/>
                <a:cs typeface="Tahoma" panose="020B0604030504040204" pitchFamily="34" charset="0"/>
                <a:sym typeface="Symbol" panose="05050102010706020507" pitchFamily="18" charset="2"/>
              </a:rPr>
              <a:t> </a:t>
            </a:r>
            <a:r>
              <a:rPr lang="en-US" sz="2800" dirty="0" smtClean="0">
                <a:latin typeface="Tahoma" panose="020B0604030504040204" pitchFamily="34" charset="0"/>
                <a:ea typeface="Tahoma" panose="020B0604030504040204" pitchFamily="34" charset="0"/>
                <a:cs typeface="Tahoma" panose="020B0604030504040204" pitchFamily="34" charset="0"/>
                <a:sym typeface="Symbol" panose="05050102010706020507" pitchFamily="18" charset="2"/>
              </a:rPr>
              <a:t>perfection)</a:t>
            </a:r>
          </a:p>
          <a:p>
            <a:pPr marL="342900" indent="-342900" algn="just" eaLnBrk="0" hangingPunct="0">
              <a:spcBef>
                <a:spcPct val="20000"/>
              </a:spcBef>
              <a:buClr>
                <a:srgbClr val="FF0000"/>
              </a:buClr>
              <a:buFont typeface="Wingdings" pitchFamily="2" charset="2"/>
              <a:buChar char="q"/>
            </a:pPr>
            <a:r>
              <a:rPr lang="en-US" sz="2800" dirty="0" smtClean="0">
                <a:solidFill>
                  <a:srgbClr val="000099"/>
                </a:solidFill>
                <a:latin typeface="Tahoma" panose="020B0604030504040204" pitchFamily="34" charset="0"/>
                <a:ea typeface="Tahoma" panose="020B0604030504040204" pitchFamily="34" charset="0"/>
                <a:cs typeface="Tahoma" panose="020B0604030504040204" pitchFamily="34" charset="0"/>
              </a:rPr>
              <a:t>Strong </a:t>
            </a:r>
            <a:r>
              <a:rPr lang="en-US" sz="2800" dirty="0">
                <a:solidFill>
                  <a:srgbClr val="000099"/>
                </a:solidFill>
                <a:latin typeface="Tahoma" panose="020B0604030504040204" pitchFamily="34" charset="0"/>
                <a:ea typeface="Tahoma" panose="020B0604030504040204" pitchFamily="34" charset="0"/>
                <a:cs typeface="Tahoma" panose="020B0604030504040204" pitchFamily="34" charset="0"/>
              </a:rPr>
              <a:t>ties to economics (e.g., game theory), probabilistic modeling, and control </a:t>
            </a:r>
            <a:r>
              <a:rPr lang="en-US" sz="2800" dirty="0" smtClean="0">
                <a:solidFill>
                  <a:srgbClr val="000099"/>
                </a:solidFill>
                <a:latin typeface="Tahoma" panose="020B0604030504040204" pitchFamily="34" charset="0"/>
                <a:ea typeface="Tahoma" panose="020B0604030504040204" pitchFamily="34" charset="0"/>
                <a:cs typeface="Tahoma" panose="020B0604030504040204" pitchFamily="34" charset="0"/>
              </a:rPr>
              <a:t>theory</a:t>
            </a:r>
          </a:p>
          <a:p>
            <a:pPr marL="342900" indent="-342900" algn="just" eaLnBrk="0" hangingPunct="0">
              <a:spcBef>
                <a:spcPct val="20000"/>
              </a:spcBef>
              <a:buClr>
                <a:srgbClr val="FF0000"/>
              </a:buClr>
              <a:buFont typeface="Wingdings" pitchFamily="2" charset="2"/>
              <a:buChar char="q"/>
            </a:pPr>
            <a:r>
              <a:rPr lang="en-US" sz="2800" dirty="0" smtClean="0">
                <a:solidFill>
                  <a:srgbClr val="000099"/>
                </a:solidFill>
                <a:latin typeface="Tahoma" panose="020B0604030504040204" pitchFamily="34" charset="0"/>
                <a:ea typeface="Tahoma" panose="020B0604030504040204" pitchFamily="34" charset="0"/>
                <a:cs typeface="Tahoma" panose="020B0604030504040204" pitchFamily="34" charset="0"/>
              </a:rPr>
              <a:t>But</a:t>
            </a:r>
            <a:r>
              <a:rPr lang="en-US" sz="2800" dirty="0">
                <a:solidFill>
                  <a:srgbClr val="000099"/>
                </a:solidFill>
                <a:latin typeface="Tahoma" panose="020B0604030504040204" pitchFamily="34" charset="0"/>
                <a:ea typeface="Tahoma" panose="020B0604030504040204" pitchFamily="34" charset="0"/>
                <a:cs typeface="Tahoma" panose="020B0604030504040204" pitchFamily="34" charset="0"/>
              </a:rPr>
              <a:t>, to some extent, the role of consciousness, emotions, or fear of dying on intelligence is ignored</a:t>
            </a:r>
          </a:p>
        </p:txBody>
      </p:sp>
      <p:sp>
        <p:nvSpPr>
          <p:cNvPr id="5" name="TextBox 4"/>
          <p:cNvSpPr txBox="1"/>
          <p:nvPr/>
        </p:nvSpPr>
        <p:spPr>
          <a:xfrm>
            <a:off x="228600" y="228600"/>
            <a:ext cx="8686800" cy="523220"/>
          </a:xfrm>
          <a:prstGeom prst="rect">
            <a:avLst/>
          </a:prstGeom>
          <a:solidFill>
            <a:schemeClr val="tx2">
              <a:lumMod val="20000"/>
              <a:lumOff val="80000"/>
            </a:schemeClr>
          </a:solidFill>
        </p:spPr>
        <p:txBody>
          <a:bodyPr wrap="square" rtlCol="0">
            <a:spAutoFit/>
          </a:bodyPr>
          <a:lstStyle/>
          <a:p>
            <a:pPr algn="ctr"/>
            <a:r>
              <a:rPr lang="en-US" sz="2800" b="1" dirty="0">
                <a:solidFill>
                  <a:srgbClr val="FD1B03"/>
                </a:solidFill>
                <a:latin typeface="Tahoma" pitchFamily="34" charset="0"/>
              </a:rPr>
              <a:t>Think/Act Rationally</a:t>
            </a:r>
            <a:endParaRPr lang="en-US" sz="28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21266464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9</a:t>
            </a:fld>
            <a:endParaRPr lang="en-US" dirty="0"/>
          </a:p>
        </p:txBody>
      </p:sp>
      <p:sp>
        <p:nvSpPr>
          <p:cNvPr id="6" name="Content Placeholder 2"/>
          <p:cNvSpPr txBox="1">
            <a:spLocks/>
          </p:cNvSpPr>
          <p:nvPr/>
        </p:nvSpPr>
        <p:spPr>
          <a:xfrm>
            <a:off x="533400" y="609600"/>
            <a:ext cx="8229600" cy="5212080"/>
          </a:xfrm>
          <a:prstGeom prst="rect">
            <a:avLst/>
          </a:prstGeom>
        </p:spPr>
        <p:txBody>
          <a:bodyPr>
            <a:noAutofit/>
          </a:bodyPr>
          <a:lstStyle/>
          <a:p>
            <a:pPr marL="342900" indent="-342900" algn="just" eaLnBrk="0" hangingPunct="0">
              <a:spcBef>
                <a:spcPct val="20000"/>
              </a:spcBef>
              <a:buClr>
                <a:srgbClr val="FF0000"/>
              </a:buClr>
              <a:buFont typeface="Wingdings" pitchFamily="2" charset="2"/>
              <a:buChar char="q"/>
            </a:pPr>
            <a:r>
              <a:rPr lang="en-US" sz="2150" dirty="0" smtClean="0">
                <a:latin typeface="Tahoma" panose="020B0604030504040204" pitchFamily="34" charset="0"/>
              </a:rPr>
              <a:t>Philosophy: Logic</a:t>
            </a:r>
            <a:r>
              <a:rPr lang="en-US" sz="2150" dirty="0">
                <a:latin typeface="Tahoma" panose="020B0604030504040204" pitchFamily="34" charset="0"/>
              </a:rPr>
              <a:t>, methods of reasoning, mind </a:t>
            </a:r>
            <a:r>
              <a:rPr lang="en-US" sz="2150" dirty="0" smtClean="0">
                <a:latin typeface="Tahoma" panose="020B0604030504040204" pitchFamily="34" charset="0"/>
              </a:rPr>
              <a:t>as physical </a:t>
            </a:r>
            <a:r>
              <a:rPr lang="en-US" sz="2150" dirty="0">
                <a:latin typeface="Tahoma" panose="020B0604030504040204" pitchFamily="34" charset="0"/>
              </a:rPr>
              <a:t/>
            </a:r>
            <a:br>
              <a:rPr lang="en-US" sz="2150" dirty="0">
                <a:latin typeface="Tahoma" panose="020B0604030504040204" pitchFamily="34" charset="0"/>
              </a:rPr>
            </a:br>
            <a:r>
              <a:rPr lang="en-US" sz="2150" dirty="0">
                <a:latin typeface="Tahoma" panose="020B0604030504040204" pitchFamily="34" charset="0"/>
              </a:rPr>
              <a:t>		 	system foundations of learning, language,</a:t>
            </a:r>
            <a:br>
              <a:rPr lang="en-US" sz="2150" dirty="0">
                <a:latin typeface="Tahoma" panose="020B0604030504040204" pitchFamily="34" charset="0"/>
              </a:rPr>
            </a:br>
            <a:r>
              <a:rPr lang="en-US" sz="2150" dirty="0">
                <a:latin typeface="Tahoma" panose="020B0604030504040204" pitchFamily="34" charset="0"/>
              </a:rPr>
              <a:t>			</a:t>
            </a:r>
            <a:r>
              <a:rPr lang="en-US" sz="2150" dirty="0" smtClean="0">
                <a:latin typeface="Tahoma" panose="020B0604030504040204" pitchFamily="34" charset="0"/>
              </a:rPr>
              <a:t>rationality</a:t>
            </a:r>
          </a:p>
          <a:p>
            <a:pPr marL="342900" indent="-342900" algn="just" eaLnBrk="0" hangingPunct="0">
              <a:spcBef>
                <a:spcPct val="20000"/>
              </a:spcBef>
              <a:buClr>
                <a:srgbClr val="FF0000"/>
              </a:buClr>
              <a:buFont typeface="Wingdings" pitchFamily="2" charset="2"/>
              <a:buChar char="q"/>
            </a:pPr>
            <a:r>
              <a:rPr lang="en-US" sz="2150" dirty="0" smtClean="0">
                <a:latin typeface="Tahoma" panose="020B0604030504040204" pitchFamily="34" charset="0"/>
              </a:rPr>
              <a:t>Mathematics:</a:t>
            </a:r>
            <a:r>
              <a:rPr lang="en-US" sz="2150" dirty="0">
                <a:latin typeface="Tahoma" panose="020B0604030504040204" pitchFamily="34" charset="0"/>
              </a:rPr>
              <a:t>	Formal representation and proof algorithms,</a:t>
            </a:r>
            <a:br>
              <a:rPr lang="en-US" sz="2150" dirty="0">
                <a:latin typeface="Tahoma" panose="020B0604030504040204" pitchFamily="34" charset="0"/>
              </a:rPr>
            </a:br>
            <a:r>
              <a:rPr lang="en-US" sz="2150" dirty="0">
                <a:latin typeface="Tahoma" panose="020B0604030504040204" pitchFamily="34" charset="0"/>
              </a:rPr>
              <a:t>			computation, (un)decidability, (in)tractability,</a:t>
            </a:r>
            <a:br>
              <a:rPr lang="en-US" sz="2150" dirty="0">
                <a:latin typeface="Tahoma" panose="020B0604030504040204" pitchFamily="34" charset="0"/>
              </a:rPr>
            </a:br>
            <a:r>
              <a:rPr lang="en-US" sz="2150" dirty="0">
                <a:latin typeface="Tahoma" panose="020B0604030504040204" pitchFamily="34" charset="0"/>
              </a:rPr>
              <a:t>			</a:t>
            </a:r>
            <a:r>
              <a:rPr lang="en-US" sz="2150" dirty="0" smtClean="0">
                <a:latin typeface="Tahoma" panose="020B0604030504040204" pitchFamily="34" charset="0"/>
              </a:rPr>
              <a:t>probability</a:t>
            </a:r>
          </a:p>
          <a:p>
            <a:pPr marL="342900" indent="-342900" algn="just" eaLnBrk="0" hangingPunct="0">
              <a:spcBef>
                <a:spcPct val="20000"/>
              </a:spcBef>
              <a:buClr>
                <a:srgbClr val="FF0000"/>
              </a:buClr>
              <a:buFont typeface="Wingdings" pitchFamily="2" charset="2"/>
              <a:buChar char="q"/>
            </a:pPr>
            <a:r>
              <a:rPr lang="en-US" sz="2150" dirty="0" smtClean="0">
                <a:latin typeface="Tahoma" panose="020B0604030504040204" pitchFamily="34" charset="0"/>
              </a:rPr>
              <a:t>Economics:</a:t>
            </a:r>
            <a:r>
              <a:rPr lang="en-US" sz="2150" dirty="0">
                <a:latin typeface="Tahoma" panose="020B0604030504040204" pitchFamily="34" charset="0"/>
              </a:rPr>
              <a:t>	Utility, decision </a:t>
            </a:r>
            <a:r>
              <a:rPr lang="en-US" sz="2150" dirty="0" smtClean="0">
                <a:latin typeface="Tahoma" panose="020B0604030504040204" pitchFamily="34" charset="0"/>
              </a:rPr>
              <a:t>theory</a:t>
            </a:r>
          </a:p>
          <a:p>
            <a:pPr marL="342900" indent="-342900" algn="just" eaLnBrk="0" hangingPunct="0">
              <a:spcBef>
                <a:spcPct val="20000"/>
              </a:spcBef>
              <a:buClr>
                <a:srgbClr val="FF0000"/>
              </a:buClr>
              <a:buFont typeface="Wingdings" pitchFamily="2" charset="2"/>
              <a:buChar char="q"/>
            </a:pPr>
            <a:r>
              <a:rPr lang="en-US" sz="2150" dirty="0" smtClean="0">
                <a:latin typeface="Tahoma" panose="020B0604030504040204" pitchFamily="34" charset="0"/>
              </a:rPr>
              <a:t>Neuroscience: Physical </a:t>
            </a:r>
            <a:r>
              <a:rPr lang="en-US" sz="2150" dirty="0">
                <a:latin typeface="Tahoma" panose="020B0604030504040204" pitchFamily="34" charset="0"/>
              </a:rPr>
              <a:t>substrate for mental </a:t>
            </a:r>
            <a:r>
              <a:rPr lang="en-US" sz="2150" dirty="0" smtClean="0">
                <a:latin typeface="Tahoma" panose="020B0604030504040204" pitchFamily="34" charset="0"/>
              </a:rPr>
              <a:t>activity</a:t>
            </a:r>
          </a:p>
          <a:p>
            <a:pPr marL="342900" indent="-342900" algn="just" eaLnBrk="0" hangingPunct="0">
              <a:spcBef>
                <a:spcPct val="20000"/>
              </a:spcBef>
              <a:buClr>
                <a:srgbClr val="FF0000"/>
              </a:buClr>
              <a:buFont typeface="Wingdings" pitchFamily="2" charset="2"/>
              <a:buChar char="q"/>
            </a:pPr>
            <a:r>
              <a:rPr lang="en-US" sz="2150" dirty="0" smtClean="0">
                <a:latin typeface="Tahoma" panose="020B0604030504040204" pitchFamily="34" charset="0"/>
              </a:rPr>
              <a:t>Psychology: Phenomena </a:t>
            </a:r>
            <a:r>
              <a:rPr lang="en-US" sz="2150" dirty="0">
                <a:latin typeface="Tahoma" panose="020B0604030504040204" pitchFamily="34" charset="0"/>
              </a:rPr>
              <a:t>of perception and motor control,</a:t>
            </a:r>
            <a:br>
              <a:rPr lang="en-US" sz="2150" dirty="0">
                <a:latin typeface="Tahoma" panose="020B0604030504040204" pitchFamily="34" charset="0"/>
              </a:rPr>
            </a:br>
            <a:r>
              <a:rPr lang="en-US" sz="2150" dirty="0">
                <a:latin typeface="Tahoma" panose="020B0604030504040204" pitchFamily="34" charset="0"/>
              </a:rPr>
              <a:t>			experimental </a:t>
            </a:r>
            <a:r>
              <a:rPr lang="en-US" sz="2150" dirty="0" smtClean="0">
                <a:latin typeface="Tahoma" panose="020B0604030504040204" pitchFamily="34" charset="0"/>
              </a:rPr>
              <a:t>techniques</a:t>
            </a:r>
          </a:p>
          <a:p>
            <a:pPr marL="342900" indent="-342900" algn="just" eaLnBrk="0" hangingPunct="0">
              <a:spcBef>
                <a:spcPct val="20000"/>
              </a:spcBef>
              <a:buClr>
                <a:srgbClr val="FF0000"/>
              </a:buClr>
              <a:buFont typeface="Wingdings" pitchFamily="2" charset="2"/>
              <a:buChar char="q"/>
            </a:pPr>
            <a:r>
              <a:rPr lang="en-US" sz="2150" dirty="0" smtClean="0">
                <a:latin typeface="Tahoma" panose="020B0604030504040204" pitchFamily="34" charset="0"/>
              </a:rPr>
              <a:t>Computer:	Building </a:t>
            </a:r>
            <a:r>
              <a:rPr lang="en-US" sz="2150" dirty="0">
                <a:latin typeface="Tahoma" panose="020B0604030504040204" pitchFamily="34" charset="0"/>
              </a:rPr>
              <a:t>fast computers </a:t>
            </a:r>
            <a:br>
              <a:rPr lang="en-US" sz="2150" dirty="0">
                <a:latin typeface="Tahoma" panose="020B0604030504040204" pitchFamily="34" charset="0"/>
              </a:rPr>
            </a:br>
            <a:r>
              <a:rPr lang="en-US" sz="2150" dirty="0" smtClean="0">
                <a:latin typeface="Tahoma" panose="020B0604030504040204" pitchFamily="34" charset="0"/>
              </a:rPr>
              <a:t>engineering</a:t>
            </a:r>
          </a:p>
          <a:p>
            <a:pPr marL="342900" indent="-342900" algn="just" eaLnBrk="0" hangingPunct="0">
              <a:spcBef>
                <a:spcPct val="20000"/>
              </a:spcBef>
              <a:buClr>
                <a:srgbClr val="FF0000"/>
              </a:buClr>
              <a:buFont typeface="Wingdings" pitchFamily="2" charset="2"/>
              <a:buChar char="q"/>
            </a:pPr>
            <a:r>
              <a:rPr lang="en-US" sz="2150" dirty="0" smtClean="0">
                <a:latin typeface="Tahoma" panose="020B0604030504040204" pitchFamily="34" charset="0"/>
              </a:rPr>
              <a:t>Control theory: Design </a:t>
            </a:r>
            <a:r>
              <a:rPr lang="en-US" sz="2150" dirty="0">
                <a:latin typeface="Tahoma" panose="020B0604030504040204" pitchFamily="34" charset="0"/>
              </a:rPr>
              <a:t>systems that maximize an objective</a:t>
            </a:r>
            <a:br>
              <a:rPr lang="en-US" sz="2150" dirty="0">
                <a:latin typeface="Tahoma" panose="020B0604030504040204" pitchFamily="34" charset="0"/>
              </a:rPr>
            </a:br>
            <a:r>
              <a:rPr lang="en-US" sz="2150" dirty="0">
                <a:latin typeface="Tahoma" panose="020B0604030504040204" pitchFamily="34" charset="0"/>
              </a:rPr>
              <a:t>			function over time </a:t>
            </a:r>
            <a:endParaRPr lang="en-US" sz="2150" dirty="0" smtClean="0">
              <a:latin typeface="Tahoma" panose="020B0604030504040204" pitchFamily="34" charset="0"/>
            </a:endParaRPr>
          </a:p>
          <a:p>
            <a:pPr marL="342900" indent="-342900" algn="just" eaLnBrk="0" hangingPunct="0">
              <a:spcBef>
                <a:spcPct val="20000"/>
              </a:spcBef>
              <a:buClr>
                <a:srgbClr val="FF0000"/>
              </a:buClr>
              <a:buFont typeface="Wingdings" pitchFamily="2" charset="2"/>
              <a:buChar char="q"/>
            </a:pPr>
            <a:r>
              <a:rPr lang="en-US" sz="2150" dirty="0" smtClean="0">
                <a:latin typeface="Tahoma" panose="020B0604030504040204" pitchFamily="34" charset="0"/>
              </a:rPr>
              <a:t>Linguistics:	Knowledge </a:t>
            </a:r>
            <a:r>
              <a:rPr lang="en-US" sz="2150" dirty="0">
                <a:latin typeface="Tahoma" panose="020B0604030504040204" pitchFamily="34" charset="0"/>
              </a:rPr>
              <a:t>representation, grammar</a:t>
            </a:r>
          </a:p>
        </p:txBody>
      </p:sp>
      <p:sp>
        <p:nvSpPr>
          <p:cNvPr id="5" name="TextBox 4"/>
          <p:cNvSpPr txBox="1"/>
          <p:nvPr/>
        </p:nvSpPr>
        <p:spPr>
          <a:xfrm>
            <a:off x="228600" y="152400"/>
            <a:ext cx="8686800" cy="523220"/>
          </a:xfrm>
          <a:prstGeom prst="rect">
            <a:avLst/>
          </a:prstGeom>
          <a:solidFill>
            <a:schemeClr val="tx2">
              <a:lumMod val="20000"/>
              <a:lumOff val="80000"/>
            </a:schemeClr>
          </a:solidFill>
        </p:spPr>
        <p:txBody>
          <a:bodyPr wrap="square" rtlCol="0">
            <a:spAutoFit/>
          </a:bodyPr>
          <a:lstStyle/>
          <a:p>
            <a:pPr algn="ctr">
              <a:spcBef>
                <a:spcPct val="0"/>
              </a:spcBef>
            </a:pPr>
            <a:r>
              <a:rPr lang="en-US" sz="2800" b="1" dirty="0">
                <a:solidFill>
                  <a:srgbClr val="FD1B03"/>
                </a:solidFill>
                <a:latin typeface="Tahoma" panose="020B0604030504040204" pitchFamily="34" charset="0"/>
              </a:rPr>
              <a:t>AI </a:t>
            </a:r>
            <a:r>
              <a:rPr lang="en-US" sz="2800" b="1" dirty="0" smtClean="0">
                <a:solidFill>
                  <a:srgbClr val="FD1B03"/>
                </a:solidFill>
                <a:latin typeface="Tahoma" panose="020B0604030504040204" pitchFamily="34" charset="0"/>
              </a:rPr>
              <a:t>Prehistory(</a:t>
            </a:r>
            <a:r>
              <a:rPr lang="en-US" sz="2800" dirty="0">
                <a:solidFill>
                  <a:srgbClr val="FF0000"/>
                </a:solidFill>
              </a:rPr>
              <a:t>Academic Disciplines important to AI.</a:t>
            </a:r>
            <a:r>
              <a:rPr lang="en-US" sz="2800" b="1" dirty="0" smtClean="0">
                <a:solidFill>
                  <a:srgbClr val="FD1B03"/>
                </a:solidFill>
                <a:latin typeface="Tahoma" panose="020B0604030504040204" pitchFamily="34" charset="0"/>
              </a:rPr>
              <a:t>)</a:t>
            </a:r>
            <a:endParaRPr lang="en-US" altLang="ja-JP" sz="2800" b="1" dirty="0">
              <a:solidFill>
                <a:srgbClr val="FD1B03"/>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33568261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10</a:t>
            </a:fld>
            <a:endParaRPr lang="en-US" dirty="0"/>
          </a:p>
        </p:txBody>
      </p:sp>
      <p:sp>
        <p:nvSpPr>
          <p:cNvPr id="6" name="Content Placeholder 2"/>
          <p:cNvSpPr txBox="1">
            <a:spLocks/>
          </p:cNvSpPr>
          <p:nvPr/>
        </p:nvSpPr>
        <p:spPr>
          <a:xfrm>
            <a:off x="457200" y="838200"/>
            <a:ext cx="8229600" cy="5212080"/>
          </a:xfrm>
          <a:prstGeom prst="rect">
            <a:avLst/>
          </a:prstGeom>
        </p:spPr>
        <p:txBody>
          <a:bodyPr>
            <a:noAutofit/>
          </a:bodyPr>
          <a:lstStyle/>
          <a:p>
            <a:pPr marL="342900" indent="-342900">
              <a:lnSpc>
                <a:spcPct val="90000"/>
              </a:lnSpc>
              <a:buClr>
                <a:srgbClr val="FF0000"/>
              </a:buClr>
              <a:buFont typeface="Wingdings" panose="05000000000000000000" pitchFamily="2" charset="2"/>
              <a:buChar char="q"/>
            </a:pPr>
            <a:r>
              <a:rPr lang="en-US" sz="2800" b="1" dirty="0" smtClean="0">
                <a:latin typeface="Tahoma" panose="020B0604030504040204" pitchFamily="34" charset="0"/>
                <a:ea typeface="Tahoma" panose="020B0604030504040204" pitchFamily="34" charset="0"/>
                <a:cs typeface="Tahoma" panose="020B0604030504040204" pitchFamily="34" charset="0"/>
              </a:rPr>
              <a:t>The </a:t>
            </a:r>
            <a:r>
              <a:rPr lang="en-US" sz="2800" b="1" dirty="0">
                <a:latin typeface="Tahoma" panose="020B0604030504040204" pitchFamily="34" charset="0"/>
                <a:ea typeface="Tahoma" panose="020B0604030504040204" pitchFamily="34" charset="0"/>
                <a:cs typeface="Tahoma" panose="020B0604030504040204" pitchFamily="34" charset="0"/>
              </a:rPr>
              <a:t>Dark Ages</a:t>
            </a:r>
            <a:r>
              <a:rPr lang="en-US" sz="2800" dirty="0">
                <a:latin typeface="Tahoma" panose="020B0604030504040204" pitchFamily="34" charset="0"/>
                <a:ea typeface="Tahoma" panose="020B0604030504040204" pitchFamily="34" charset="0"/>
                <a:cs typeface="Tahoma" panose="020B0604030504040204" pitchFamily="34" charset="0"/>
              </a:rPr>
              <a:t> [ The birth of A.I.]: </a:t>
            </a:r>
            <a:r>
              <a:rPr lang="en-US" sz="2800" b="1" i="1" dirty="0">
                <a:latin typeface="Tahoma" panose="020B0604030504040204" pitchFamily="34" charset="0"/>
                <a:ea typeface="Tahoma" panose="020B0604030504040204" pitchFamily="34" charset="0"/>
                <a:cs typeface="Tahoma" panose="020B0604030504040204" pitchFamily="34" charset="0"/>
              </a:rPr>
              <a:t>Duration: </a:t>
            </a:r>
            <a:r>
              <a:rPr lang="en-US" sz="2800" dirty="0">
                <a:latin typeface="Tahoma" panose="020B0604030504040204" pitchFamily="34" charset="0"/>
                <a:ea typeface="Tahoma" panose="020B0604030504040204" pitchFamily="34" charset="0"/>
                <a:cs typeface="Tahoma" panose="020B0604030504040204" pitchFamily="34" charset="0"/>
              </a:rPr>
              <a:t>1943-56</a:t>
            </a:r>
          </a:p>
          <a:p>
            <a:pPr marL="800100" lvl="1" indent="-342900">
              <a:lnSpc>
                <a:spcPct val="90000"/>
              </a:lnSpc>
              <a:buClr>
                <a:srgbClr val="FF0000"/>
              </a:buClr>
              <a:buFont typeface="Wingdings" panose="05000000000000000000" pitchFamily="2" charset="2"/>
              <a:buChar char="q"/>
            </a:pPr>
            <a:r>
              <a:rPr lang="en-US" sz="2800" b="1" i="1" dirty="0">
                <a:latin typeface="Tahoma" panose="020B0604030504040204" pitchFamily="34" charset="0"/>
                <a:ea typeface="Tahoma" panose="020B0604030504040204" pitchFamily="34" charset="0"/>
                <a:cs typeface="Tahoma" panose="020B0604030504040204" pitchFamily="34" charset="0"/>
              </a:rPr>
              <a:t>Contributions: </a:t>
            </a:r>
            <a:r>
              <a:rPr lang="en-US" sz="2800" dirty="0">
                <a:latin typeface="Tahoma" panose="020B0604030504040204" pitchFamily="34" charset="0"/>
                <a:ea typeface="Tahoma" panose="020B0604030504040204" pitchFamily="34" charset="0"/>
                <a:cs typeface="Tahoma" panose="020B0604030504040204" pitchFamily="34" charset="0"/>
              </a:rPr>
              <a:t>First work by Warren McCulloch &amp; Walter Pitts [ 1943 ]. It was on the central nervous system-a model of neurons of the brain.</a:t>
            </a:r>
          </a:p>
          <a:p>
            <a:pPr marL="800100" lvl="1" indent="-342900">
              <a:lnSpc>
                <a:spcPct val="90000"/>
              </a:lnSpc>
              <a:buClr>
                <a:srgbClr val="FF0000"/>
              </a:buClr>
              <a:buFont typeface="Wingdings" panose="05000000000000000000" pitchFamily="2" charset="2"/>
              <a:buChar char="q"/>
            </a:pPr>
            <a:r>
              <a:rPr lang="en-US" sz="2800" dirty="0">
                <a:latin typeface="Tahoma" panose="020B0604030504040204" pitchFamily="34" charset="0"/>
                <a:ea typeface="Tahoma" panose="020B0604030504040204" pitchFamily="34" charset="0"/>
                <a:cs typeface="Tahoma" panose="020B0604030504040204" pitchFamily="34" charset="0"/>
              </a:rPr>
              <a:t>Turing, Computing Machinery &amp; intelligence, </a:t>
            </a:r>
            <a:r>
              <a:rPr lang="en-US" sz="2800" dirty="0">
                <a:solidFill>
                  <a:schemeClr val="hlink"/>
                </a:solidFill>
                <a:latin typeface="Tahoma" panose="020B0604030504040204" pitchFamily="34" charset="0"/>
                <a:ea typeface="Tahoma" panose="020B0604030504040204" pitchFamily="34" charset="0"/>
                <a:cs typeface="Tahoma" panose="020B0604030504040204" pitchFamily="34" charset="0"/>
              </a:rPr>
              <a:t>1950</a:t>
            </a:r>
          </a:p>
          <a:p>
            <a:pPr marL="800100" lvl="1" indent="-342900">
              <a:lnSpc>
                <a:spcPct val="90000"/>
              </a:lnSpc>
              <a:buClr>
                <a:srgbClr val="FF0000"/>
              </a:buClr>
              <a:buFont typeface="Wingdings" panose="05000000000000000000" pitchFamily="2" charset="2"/>
              <a:buChar char="q"/>
            </a:pPr>
            <a:r>
              <a:rPr lang="en-US" sz="2800" dirty="0">
                <a:latin typeface="Tahoma" panose="020B0604030504040204" pitchFamily="34" charset="0"/>
                <a:ea typeface="Tahoma" panose="020B0604030504040204" pitchFamily="34" charset="0"/>
                <a:cs typeface="Tahoma" panose="020B0604030504040204" pitchFamily="34" charset="0"/>
              </a:rPr>
              <a:t>ENIAC (Electronic Numerical Integrator And Calculator) by Von Neumann.</a:t>
            </a:r>
          </a:p>
          <a:p>
            <a:pPr marL="800100" lvl="1" indent="-342900">
              <a:lnSpc>
                <a:spcPct val="90000"/>
              </a:lnSpc>
              <a:buClr>
                <a:srgbClr val="FF0000"/>
              </a:buClr>
              <a:buFont typeface="Wingdings" panose="05000000000000000000" pitchFamily="2" charset="2"/>
              <a:buChar char="q"/>
            </a:pPr>
            <a:r>
              <a:rPr lang="en-US" sz="2800" dirty="0">
                <a:latin typeface="Tahoma" panose="020B0604030504040204" pitchFamily="34" charset="0"/>
                <a:ea typeface="Tahoma" panose="020B0604030504040204" pitchFamily="34" charset="0"/>
                <a:cs typeface="Tahoma" panose="020B0604030504040204" pitchFamily="34" charset="0"/>
              </a:rPr>
              <a:t>Shannon, Programming a computer for playing chess,     1950.</a:t>
            </a:r>
          </a:p>
          <a:p>
            <a:pPr marL="800100" lvl="1" indent="-342900">
              <a:lnSpc>
                <a:spcPct val="90000"/>
              </a:lnSpc>
              <a:buClr>
                <a:srgbClr val="FF0000"/>
              </a:buClr>
              <a:buFont typeface="Wingdings" panose="05000000000000000000" pitchFamily="2" charset="2"/>
              <a:buChar char="q"/>
            </a:pPr>
            <a:r>
              <a:rPr lang="en-US" sz="2800" dirty="0">
                <a:latin typeface="Tahoma" panose="020B0604030504040204" pitchFamily="34" charset="0"/>
                <a:ea typeface="Tahoma" panose="020B0604030504040204" pitchFamily="34" charset="0"/>
                <a:cs typeface="Tahoma" panose="020B0604030504040204" pitchFamily="34" charset="0"/>
              </a:rPr>
              <a:t>The Dartmouth College summer workshop on machine intelligence, Artificial neural networks and automata theory, 1956</a:t>
            </a:r>
          </a:p>
        </p:txBody>
      </p:sp>
      <p:sp>
        <p:nvSpPr>
          <p:cNvPr id="5" name="TextBox 4"/>
          <p:cNvSpPr txBox="1"/>
          <p:nvPr/>
        </p:nvSpPr>
        <p:spPr>
          <a:xfrm>
            <a:off x="228600" y="228600"/>
            <a:ext cx="8686800" cy="523220"/>
          </a:xfrm>
          <a:prstGeom prst="rect">
            <a:avLst/>
          </a:prstGeom>
          <a:solidFill>
            <a:schemeClr val="tx2">
              <a:lumMod val="20000"/>
              <a:lumOff val="80000"/>
            </a:schemeClr>
          </a:solidFill>
        </p:spPr>
        <p:txBody>
          <a:bodyPr wrap="square" rtlCol="0">
            <a:spAutoFit/>
          </a:bodyPr>
          <a:lstStyle/>
          <a:p>
            <a:pPr algn="ctr"/>
            <a:r>
              <a:rPr lang="en-US" sz="2800" b="1" dirty="0">
                <a:solidFill>
                  <a:srgbClr val="FD1B03"/>
                </a:solidFill>
                <a:latin typeface="Tahoma" panose="020B0604030504040204" pitchFamily="34" charset="0"/>
              </a:rPr>
              <a:t>AI History</a:t>
            </a:r>
            <a:endParaRPr lang="en-US" sz="28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08958137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z="2800" smtClean="0">
                <a:latin typeface="Tahoma" panose="020B0604030504040204" pitchFamily="34" charset="0"/>
                <a:ea typeface="Tahoma" panose="020B0604030504040204" pitchFamily="34" charset="0"/>
                <a:cs typeface="Tahoma" panose="020B0604030504040204" pitchFamily="34" charset="0"/>
              </a:rPr>
              <a:pPr/>
              <a:t>11</a:t>
            </a:fld>
            <a:endParaRPr lang="en-US" sz="2800" dirty="0">
              <a:latin typeface="Tahoma" panose="020B0604030504040204" pitchFamily="34" charset="0"/>
              <a:ea typeface="Tahoma" panose="020B0604030504040204" pitchFamily="34" charset="0"/>
              <a:cs typeface="Tahoma" panose="020B0604030504040204" pitchFamily="34" charset="0"/>
            </a:endParaRPr>
          </a:p>
        </p:txBody>
      </p:sp>
      <p:sp>
        <p:nvSpPr>
          <p:cNvPr id="6" name="Content Placeholder 2"/>
          <p:cNvSpPr txBox="1">
            <a:spLocks/>
          </p:cNvSpPr>
          <p:nvPr/>
        </p:nvSpPr>
        <p:spPr>
          <a:xfrm>
            <a:off x="457200" y="838200"/>
            <a:ext cx="8229600" cy="5212080"/>
          </a:xfrm>
          <a:prstGeom prst="rect">
            <a:avLst/>
          </a:prstGeom>
        </p:spPr>
        <p:txBody>
          <a:bodyPr>
            <a:noAutofit/>
          </a:bodyPr>
          <a:lstStyle/>
          <a:p>
            <a:pPr marL="342900" indent="-342900">
              <a:buClr>
                <a:srgbClr val="FF0000"/>
              </a:buClr>
              <a:buFont typeface="Wingdings" panose="05000000000000000000" pitchFamily="2" charset="2"/>
              <a:buChar char="q"/>
            </a:pPr>
            <a:r>
              <a:rPr lang="en-US" sz="2800" dirty="0">
                <a:latin typeface="Tahoma" panose="020B0604030504040204" pitchFamily="34" charset="0"/>
                <a:ea typeface="Tahoma" panose="020B0604030504040204" pitchFamily="34" charset="0"/>
                <a:cs typeface="Tahoma" panose="020B0604030504040204" pitchFamily="34" charset="0"/>
              </a:rPr>
              <a:t>Rises of A.I: </a:t>
            </a:r>
            <a:r>
              <a:rPr lang="en-US" sz="2800" b="1" i="1" dirty="0">
                <a:latin typeface="Tahoma" panose="020B0604030504040204" pitchFamily="34" charset="0"/>
                <a:ea typeface="Tahoma" panose="020B0604030504040204" pitchFamily="34" charset="0"/>
                <a:cs typeface="Tahoma" panose="020B0604030504040204" pitchFamily="34" charset="0"/>
              </a:rPr>
              <a:t>Duration: </a:t>
            </a:r>
            <a:r>
              <a:rPr lang="en-US" sz="2800" dirty="0">
                <a:latin typeface="Tahoma" panose="020B0604030504040204" pitchFamily="34" charset="0"/>
                <a:ea typeface="Tahoma" panose="020B0604030504040204" pitchFamily="34" charset="0"/>
                <a:cs typeface="Tahoma" panose="020B0604030504040204" pitchFamily="34" charset="0"/>
              </a:rPr>
              <a:t>1956-late 1960s</a:t>
            </a:r>
          </a:p>
          <a:p>
            <a:pPr marL="457200" indent="-457200">
              <a:buClr>
                <a:srgbClr val="FF0000"/>
              </a:buClr>
              <a:buFont typeface="Wingdings" panose="05000000000000000000" pitchFamily="2" charset="2"/>
              <a:buChar char="q"/>
            </a:pPr>
            <a:r>
              <a:rPr lang="en-US" sz="2800" b="1" i="1" dirty="0">
                <a:latin typeface="Tahoma" panose="020B0604030504040204" pitchFamily="34" charset="0"/>
                <a:ea typeface="Tahoma" panose="020B0604030504040204" pitchFamily="34" charset="0"/>
                <a:cs typeface="Tahoma" panose="020B0604030504040204" pitchFamily="34" charset="0"/>
              </a:rPr>
              <a:t>Contributions:</a:t>
            </a:r>
            <a:endParaRPr lang="en-US" sz="2800" dirty="0">
              <a:latin typeface="Tahoma" panose="020B0604030504040204" pitchFamily="34" charset="0"/>
              <a:ea typeface="Tahoma" panose="020B0604030504040204" pitchFamily="34" charset="0"/>
              <a:cs typeface="Tahoma" panose="020B0604030504040204" pitchFamily="34" charset="0"/>
            </a:endParaRPr>
          </a:p>
          <a:p>
            <a:pPr marL="800100" lvl="1" indent="-342900">
              <a:buClr>
                <a:srgbClr val="FF0000"/>
              </a:buClr>
              <a:buFont typeface="Wingdings" panose="05000000000000000000" pitchFamily="2" charset="2"/>
              <a:buChar char="q"/>
            </a:pPr>
            <a:r>
              <a:rPr lang="en-US" sz="2800" dirty="0">
                <a:latin typeface="Tahoma" panose="020B0604030504040204" pitchFamily="34" charset="0"/>
                <a:ea typeface="Tahoma" panose="020B0604030504040204" pitchFamily="34" charset="0"/>
                <a:cs typeface="Tahoma" panose="020B0604030504040204" pitchFamily="34" charset="0"/>
              </a:rPr>
              <a:t>John McCarthy (inventor of the term Artificial Intelligence) defined the high level language LISP – one of the oldest programming language, which is still in current use.</a:t>
            </a:r>
          </a:p>
          <a:p>
            <a:pPr marL="800100" lvl="1" indent="-342900">
              <a:buClr>
                <a:srgbClr val="FF0000"/>
              </a:buClr>
              <a:buFont typeface="Wingdings" panose="05000000000000000000" pitchFamily="2" charset="2"/>
              <a:buChar char="q"/>
            </a:pPr>
            <a:r>
              <a:rPr lang="en-US" sz="2800" dirty="0">
                <a:latin typeface="Tahoma" panose="020B0604030504040204" pitchFamily="34" charset="0"/>
                <a:ea typeface="Tahoma" panose="020B0604030504040204" pitchFamily="34" charset="0"/>
                <a:cs typeface="Tahoma" panose="020B0604030504040204" pitchFamily="34" charset="0"/>
              </a:rPr>
              <a:t>General Problem Solver (GPS) by Newell &amp; Simon, 1960</a:t>
            </a:r>
          </a:p>
          <a:p>
            <a:pPr marL="800100" lvl="1" indent="-342900">
              <a:buClr>
                <a:srgbClr val="FF0000"/>
              </a:buClr>
              <a:buFont typeface="Wingdings" panose="05000000000000000000" pitchFamily="2" charset="2"/>
              <a:buChar char="q"/>
            </a:pPr>
            <a:r>
              <a:rPr lang="en-US" sz="2800" dirty="0">
                <a:latin typeface="Tahoma" panose="020B0604030504040204" pitchFamily="34" charset="0"/>
                <a:ea typeface="Tahoma" panose="020B0604030504040204" pitchFamily="34" charset="0"/>
                <a:cs typeface="Tahoma" panose="020B0604030504040204" pitchFamily="34" charset="0"/>
              </a:rPr>
              <a:t>Human Problem Solving ideas by Newell &amp; Simon, 1972</a:t>
            </a:r>
          </a:p>
          <a:p>
            <a:pPr marL="800100" lvl="1" indent="-342900">
              <a:buClr>
                <a:srgbClr val="FF0000"/>
              </a:buClr>
              <a:buFont typeface="Wingdings" panose="05000000000000000000" pitchFamily="2" charset="2"/>
              <a:buChar char="q"/>
            </a:pPr>
            <a:r>
              <a:rPr lang="en-US" sz="2800" dirty="0">
                <a:latin typeface="Tahoma" panose="020B0604030504040204" pitchFamily="34" charset="0"/>
                <a:ea typeface="Tahoma" panose="020B0604030504040204" pitchFamily="34" charset="0"/>
                <a:cs typeface="Tahoma" panose="020B0604030504040204" pitchFamily="34" charset="0"/>
              </a:rPr>
              <a:t>A framework for representing knowledge by </a:t>
            </a:r>
            <a:r>
              <a:rPr lang="en-US" sz="2800" dirty="0" err="1">
                <a:latin typeface="Tahoma" panose="020B0604030504040204" pitchFamily="34" charset="0"/>
                <a:ea typeface="Tahoma" panose="020B0604030504040204" pitchFamily="34" charset="0"/>
                <a:cs typeface="Tahoma" panose="020B0604030504040204" pitchFamily="34" charset="0"/>
              </a:rPr>
              <a:t>Minsky</a:t>
            </a:r>
            <a:r>
              <a:rPr lang="en-US" sz="2800" dirty="0">
                <a:latin typeface="Tahoma" panose="020B0604030504040204" pitchFamily="34" charset="0"/>
                <a:ea typeface="Tahoma" panose="020B0604030504040204" pitchFamily="34" charset="0"/>
                <a:cs typeface="Tahoma" panose="020B0604030504040204" pitchFamily="34" charset="0"/>
              </a:rPr>
              <a:t>, 1975</a:t>
            </a:r>
          </a:p>
        </p:txBody>
      </p:sp>
      <p:sp>
        <p:nvSpPr>
          <p:cNvPr id="5" name="TextBox 4"/>
          <p:cNvSpPr txBox="1"/>
          <p:nvPr/>
        </p:nvSpPr>
        <p:spPr>
          <a:xfrm>
            <a:off x="228600" y="228600"/>
            <a:ext cx="8686800" cy="523220"/>
          </a:xfrm>
          <a:prstGeom prst="rect">
            <a:avLst/>
          </a:prstGeom>
          <a:solidFill>
            <a:schemeClr val="tx2">
              <a:lumMod val="20000"/>
              <a:lumOff val="80000"/>
            </a:schemeClr>
          </a:solidFill>
        </p:spPr>
        <p:txBody>
          <a:bodyPr wrap="square" rtlCol="0">
            <a:spAutoFit/>
          </a:bodyPr>
          <a:lstStyle/>
          <a:p>
            <a:pPr algn="ctr"/>
            <a:r>
              <a:rPr lang="en-US" sz="2800" b="1" dirty="0">
                <a:solidFill>
                  <a:srgbClr val="FD1B03"/>
                </a:solidFill>
                <a:latin typeface="Tahoma" panose="020B0604030504040204" pitchFamily="34" charset="0"/>
                <a:ea typeface="Tahoma" panose="020B0604030504040204" pitchFamily="34" charset="0"/>
                <a:cs typeface="Tahoma" panose="020B0604030504040204" pitchFamily="34" charset="0"/>
              </a:rPr>
              <a:t>AI History</a:t>
            </a:r>
            <a:endParaRPr lang="en-US" sz="28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2552736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12</a:t>
            </a:fld>
            <a:endParaRPr lang="en-US" dirty="0"/>
          </a:p>
        </p:txBody>
      </p:sp>
      <p:sp>
        <p:nvSpPr>
          <p:cNvPr id="6" name="Content Placeholder 2"/>
          <p:cNvSpPr txBox="1">
            <a:spLocks/>
          </p:cNvSpPr>
          <p:nvPr/>
        </p:nvSpPr>
        <p:spPr>
          <a:xfrm>
            <a:off x="457200" y="838200"/>
            <a:ext cx="8229600" cy="5212080"/>
          </a:xfrm>
          <a:prstGeom prst="rect">
            <a:avLst/>
          </a:prstGeom>
        </p:spPr>
        <p:txBody>
          <a:bodyPr>
            <a:noAutofit/>
          </a:bodyPr>
          <a:lstStyle/>
          <a:p>
            <a:pPr marL="457200" indent="-457200">
              <a:lnSpc>
                <a:spcPct val="90000"/>
              </a:lnSpc>
              <a:buClr>
                <a:srgbClr val="FF0000"/>
              </a:buClr>
              <a:buFont typeface="Wingdings" panose="05000000000000000000" pitchFamily="2" charset="2"/>
              <a:buChar char="q"/>
            </a:pPr>
            <a:r>
              <a:rPr lang="en-US" sz="2800" dirty="0">
                <a:latin typeface="Tahoma" panose="020B0604030504040204" pitchFamily="34" charset="0"/>
                <a:ea typeface="Tahoma" panose="020B0604030504040204" pitchFamily="34" charset="0"/>
                <a:cs typeface="Tahoma" panose="020B0604030504040204" pitchFamily="34" charset="0"/>
              </a:rPr>
              <a:t>The Rebirth of Artificial Neural Networks</a:t>
            </a:r>
            <a:r>
              <a:rPr lang="en-US" sz="2800" b="1" dirty="0">
                <a:latin typeface="Tahoma" panose="020B0604030504040204" pitchFamily="34" charset="0"/>
                <a:ea typeface="Tahoma" panose="020B0604030504040204" pitchFamily="34" charset="0"/>
                <a:cs typeface="Tahoma" panose="020B0604030504040204" pitchFamily="34" charset="0"/>
              </a:rPr>
              <a:t>:</a:t>
            </a:r>
            <a:r>
              <a:rPr lang="en-US" sz="2800" b="1" i="1" dirty="0">
                <a:latin typeface="Tahoma" panose="020B0604030504040204" pitchFamily="34" charset="0"/>
                <a:ea typeface="Tahoma" panose="020B0604030504040204" pitchFamily="34" charset="0"/>
                <a:cs typeface="Tahoma" panose="020B0604030504040204" pitchFamily="34" charset="0"/>
              </a:rPr>
              <a:t> </a:t>
            </a:r>
            <a:r>
              <a:rPr lang="en-US" sz="2800" dirty="0">
                <a:latin typeface="Tahoma" panose="020B0604030504040204" pitchFamily="34" charset="0"/>
                <a:ea typeface="Tahoma" panose="020B0604030504040204" pitchFamily="34" charset="0"/>
                <a:cs typeface="Tahoma" panose="020B0604030504040204" pitchFamily="34" charset="0"/>
              </a:rPr>
              <a:t>1965 – onward</a:t>
            </a:r>
          </a:p>
          <a:p>
            <a:pPr marL="457200" indent="-457200">
              <a:lnSpc>
                <a:spcPct val="90000"/>
              </a:lnSpc>
              <a:buClr>
                <a:srgbClr val="FF0000"/>
              </a:buClr>
              <a:buFont typeface="Wingdings" panose="05000000000000000000" pitchFamily="2" charset="2"/>
              <a:buChar char="q"/>
            </a:pPr>
            <a:r>
              <a:rPr lang="en-US" sz="2800" b="1" i="1" dirty="0">
                <a:latin typeface="Tahoma" panose="020B0604030504040204" pitchFamily="34" charset="0"/>
                <a:ea typeface="Tahoma" panose="020B0604030504040204" pitchFamily="34" charset="0"/>
                <a:cs typeface="Tahoma" panose="020B0604030504040204" pitchFamily="34" charset="0"/>
              </a:rPr>
              <a:t>Contributions:</a:t>
            </a:r>
          </a:p>
          <a:p>
            <a:pPr marL="914400" lvl="1" indent="-457200">
              <a:lnSpc>
                <a:spcPct val="90000"/>
              </a:lnSpc>
              <a:buClr>
                <a:srgbClr val="FF0000"/>
              </a:buClr>
              <a:buFont typeface="Wingdings" panose="05000000000000000000" pitchFamily="2" charset="2"/>
              <a:buChar char="q"/>
            </a:pPr>
            <a:r>
              <a:rPr lang="en-US" sz="2800" dirty="0">
                <a:latin typeface="Tahoma" panose="020B0604030504040204" pitchFamily="34" charset="0"/>
                <a:ea typeface="Tahoma" panose="020B0604030504040204" pitchFamily="34" charset="0"/>
                <a:cs typeface="Tahoma" panose="020B0604030504040204" pitchFamily="34" charset="0"/>
              </a:rPr>
              <a:t>Neural Networks &amp; Physical Systems with Emergent Collective Computational Abilities by Hopfield.</a:t>
            </a:r>
          </a:p>
          <a:p>
            <a:pPr marL="914400" lvl="1" indent="-457200">
              <a:lnSpc>
                <a:spcPct val="90000"/>
              </a:lnSpc>
              <a:buClr>
                <a:srgbClr val="FF0000"/>
              </a:buClr>
              <a:buFont typeface="Wingdings" panose="05000000000000000000" pitchFamily="2" charset="2"/>
              <a:buChar char="q"/>
            </a:pPr>
            <a:r>
              <a:rPr lang="en-US" sz="2800" dirty="0">
                <a:latin typeface="Tahoma" panose="020B0604030504040204" pitchFamily="34" charset="0"/>
                <a:ea typeface="Tahoma" panose="020B0604030504040204" pitchFamily="34" charset="0"/>
                <a:cs typeface="Tahoma" panose="020B0604030504040204" pitchFamily="34" charset="0"/>
              </a:rPr>
              <a:t>Self-Organized Formation of Topological Correct Feature maps by </a:t>
            </a:r>
            <a:r>
              <a:rPr lang="en-US" sz="2800" dirty="0" err="1">
                <a:latin typeface="Tahoma" panose="020B0604030504040204" pitchFamily="34" charset="0"/>
                <a:ea typeface="Tahoma" panose="020B0604030504040204" pitchFamily="34" charset="0"/>
                <a:cs typeface="Tahoma" panose="020B0604030504040204" pitchFamily="34" charset="0"/>
              </a:rPr>
              <a:t>Kohonen</a:t>
            </a:r>
            <a:endParaRPr lang="en-US" sz="2800" dirty="0">
              <a:latin typeface="Tahoma" panose="020B0604030504040204" pitchFamily="34" charset="0"/>
              <a:ea typeface="Tahoma" panose="020B0604030504040204" pitchFamily="34" charset="0"/>
              <a:cs typeface="Tahoma" panose="020B0604030504040204" pitchFamily="34" charset="0"/>
            </a:endParaRPr>
          </a:p>
          <a:p>
            <a:pPr marL="914400" lvl="1" indent="-457200">
              <a:lnSpc>
                <a:spcPct val="90000"/>
              </a:lnSpc>
              <a:buClr>
                <a:srgbClr val="FF0000"/>
              </a:buClr>
              <a:buFont typeface="Wingdings" panose="05000000000000000000" pitchFamily="2" charset="2"/>
              <a:buChar char="q"/>
            </a:pPr>
            <a:r>
              <a:rPr lang="en-US" sz="2800" dirty="0">
                <a:latin typeface="Tahoma" panose="020B0604030504040204" pitchFamily="34" charset="0"/>
                <a:ea typeface="Tahoma" panose="020B0604030504040204" pitchFamily="34" charset="0"/>
                <a:cs typeface="Tahoma" panose="020B0604030504040204" pitchFamily="34" charset="0"/>
              </a:rPr>
              <a:t>Parallel Distributed Processing, by </a:t>
            </a:r>
            <a:r>
              <a:rPr lang="en-US" sz="2800" dirty="0" err="1">
                <a:latin typeface="Tahoma" panose="020B0604030504040204" pitchFamily="34" charset="0"/>
                <a:ea typeface="Tahoma" panose="020B0604030504040204" pitchFamily="34" charset="0"/>
                <a:cs typeface="Tahoma" panose="020B0604030504040204" pitchFamily="34" charset="0"/>
              </a:rPr>
              <a:t>Rumelhart</a:t>
            </a:r>
            <a:r>
              <a:rPr lang="en-US" sz="2800" dirty="0">
                <a:latin typeface="Tahoma" panose="020B0604030504040204" pitchFamily="34" charset="0"/>
                <a:ea typeface="Tahoma" panose="020B0604030504040204" pitchFamily="34" charset="0"/>
                <a:cs typeface="Tahoma" panose="020B0604030504040204" pitchFamily="34" charset="0"/>
              </a:rPr>
              <a:t> &amp; McClelland</a:t>
            </a:r>
          </a:p>
          <a:p>
            <a:pPr marL="914400" lvl="1" indent="-457200">
              <a:lnSpc>
                <a:spcPct val="90000"/>
              </a:lnSpc>
              <a:buClr>
                <a:srgbClr val="FF0000"/>
              </a:buClr>
              <a:buFont typeface="Wingdings" panose="05000000000000000000" pitchFamily="2" charset="2"/>
              <a:buChar char="q"/>
            </a:pPr>
            <a:r>
              <a:rPr lang="en-US" sz="2800" dirty="0">
                <a:latin typeface="Tahoma" panose="020B0604030504040204" pitchFamily="34" charset="0"/>
                <a:ea typeface="Tahoma" panose="020B0604030504040204" pitchFamily="34" charset="0"/>
                <a:cs typeface="Tahoma" panose="020B0604030504040204" pitchFamily="34" charset="0"/>
              </a:rPr>
              <a:t>The First IEEE International Conference on Neural Networks.</a:t>
            </a:r>
          </a:p>
        </p:txBody>
      </p:sp>
      <p:sp>
        <p:nvSpPr>
          <p:cNvPr id="5" name="TextBox 4"/>
          <p:cNvSpPr txBox="1"/>
          <p:nvPr/>
        </p:nvSpPr>
        <p:spPr>
          <a:xfrm>
            <a:off x="228600" y="228600"/>
            <a:ext cx="8686800" cy="523220"/>
          </a:xfrm>
          <a:prstGeom prst="rect">
            <a:avLst/>
          </a:prstGeom>
          <a:solidFill>
            <a:schemeClr val="tx2">
              <a:lumMod val="20000"/>
              <a:lumOff val="80000"/>
            </a:schemeClr>
          </a:solidFill>
        </p:spPr>
        <p:txBody>
          <a:bodyPr wrap="square" rtlCol="0">
            <a:spAutoFit/>
          </a:bodyPr>
          <a:lstStyle/>
          <a:p>
            <a:pPr algn="ctr"/>
            <a:r>
              <a:rPr lang="en-US" sz="2800" b="1" dirty="0">
                <a:solidFill>
                  <a:srgbClr val="FD1B03"/>
                </a:solidFill>
                <a:latin typeface="Tahoma" panose="020B0604030504040204" pitchFamily="34" charset="0"/>
                <a:ea typeface="Tahoma" panose="020B0604030504040204" pitchFamily="34" charset="0"/>
                <a:cs typeface="Tahoma" panose="020B0604030504040204" pitchFamily="34" charset="0"/>
              </a:rPr>
              <a:t>AI History</a:t>
            </a:r>
            <a:endParaRPr lang="en-US" sz="28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91356980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latin typeface="Tahoma" panose="020B0604030504040204" pitchFamily="34" charset="0"/>
                <a:ea typeface="Tahoma" panose="020B0604030504040204" pitchFamily="34" charset="0"/>
                <a:cs typeface="Tahoma" panose="020B0604030504040204" pitchFamily="34" charset="0"/>
              </a:rPr>
              <a:pPr/>
              <a:t>13</a:t>
            </a:fld>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6" name="Content Placeholder 2"/>
          <p:cNvSpPr txBox="1">
            <a:spLocks/>
          </p:cNvSpPr>
          <p:nvPr/>
        </p:nvSpPr>
        <p:spPr>
          <a:xfrm>
            <a:off x="457200" y="838200"/>
            <a:ext cx="8229600" cy="5212080"/>
          </a:xfrm>
          <a:prstGeom prst="rect">
            <a:avLst/>
          </a:prstGeom>
        </p:spPr>
        <p:txBody>
          <a:bodyPr>
            <a:noAutofit/>
          </a:bodyPr>
          <a:lstStyle/>
          <a:p>
            <a:pPr marL="457200" indent="-457200">
              <a:lnSpc>
                <a:spcPct val="90000"/>
              </a:lnSpc>
              <a:buClr>
                <a:srgbClr val="FF0000"/>
              </a:buClr>
              <a:buFont typeface="Wingdings" panose="05000000000000000000" pitchFamily="2" charset="2"/>
              <a:buChar char="q"/>
            </a:pPr>
            <a:r>
              <a:rPr lang="en-US" sz="2800" dirty="0">
                <a:latin typeface="Tahoma" panose="020B0604030504040204" pitchFamily="34" charset="0"/>
                <a:ea typeface="Tahoma" panose="020B0604030504040204" pitchFamily="34" charset="0"/>
                <a:cs typeface="Tahoma" panose="020B0604030504040204" pitchFamily="34" charset="0"/>
              </a:rPr>
              <a:t>The Era of unfulfilled promises [ The impact of reality]</a:t>
            </a:r>
          </a:p>
          <a:p>
            <a:pPr marL="457200" indent="-457200">
              <a:lnSpc>
                <a:spcPct val="90000"/>
              </a:lnSpc>
              <a:buClr>
                <a:srgbClr val="FF0000"/>
              </a:buClr>
              <a:buFont typeface="Wingdings" panose="05000000000000000000" pitchFamily="2" charset="2"/>
              <a:buChar char="q"/>
            </a:pPr>
            <a:r>
              <a:rPr lang="en-US" sz="2800" b="1" i="1" dirty="0">
                <a:latin typeface="Tahoma" panose="020B0604030504040204" pitchFamily="34" charset="0"/>
                <a:ea typeface="Tahoma" panose="020B0604030504040204" pitchFamily="34" charset="0"/>
                <a:cs typeface="Tahoma" panose="020B0604030504040204" pitchFamily="34" charset="0"/>
              </a:rPr>
              <a:t>	Duration: </a:t>
            </a:r>
            <a:r>
              <a:rPr lang="en-US" sz="2800" dirty="0">
                <a:latin typeface="Tahoma" panose="020B0604030504040204" pitchFamily="34" charset="0"/>
                <a:ea typeface="Tahoma" panose="020B0604030504040204" pitchFamily="34" charset="0"/>
                <a:cs typeface="Tahoma" panose="020B0604030504040204" pitchFamily="34" charset="0"/>
              </a:rPr>
              <a:t>late1960s-early 1970s</a:t>
            </a:r>
          </a:p>
          <a:p>
            <a:pPr marL="457200" indent="-457200">
              <a:lnSpc>
                <a:spcPct val="90000"/>
              </a:lnSpc>
              <a:buClr>
                <a:srgbClr val="FF0000"/>
              </a:buClr>
              <a:buFont typeface="Wingdings" panose="05000000000000000000" pitchFamily="2" charset="2"/>
              <a:buChar char="q"/>
            </a:pPr>
            <a:r>
              <a:rPr lang="en-US" sz="2800" b="1" i="1" dirty="0">
                <a:latin typeface="Tahoma" panose="020B0604030504040204" pitchFamily="34" charset="0"/>
                <a:ea typeface="Tahoma" panose="020B0604030504040204" pitchFamily="34" charset="0"/>
                <a:cs typeface="Tahoma" panose="020B0604030504040204" pitchFamily="34" charset="0"/>
              </a:rPr>
              <a:t>Contributions:</a:t>
            </a:r>
          </a:p>
          <a:p>
            <a:pPr marL="914400" lvl="1" indent="-457200">
              <a:lnSpc>
                <a:spcPct val="90000"/>
              </a:lnSpc>
              <a:buClr>
                <a:srgbClr val="FF0000"/>
              </a:buClr>
              <a:buFont typeface="Wingdings" panose="05000000000000000000" pitchFamily="2" charset="2"/>
              <a:buChar char="q"/>
            </a:pPr>
            <a:r>
              <a:rPr lang="en-US" sz="2800" dirty="0">
                <a:latin typeface="Tahoma" panose="020B0604030504040204" pitchFamily="34" charset="0"/>
                <a:ea typeface="Tahoma" panose="020B0604030504040204" pitchFamily="34" charset="0"/>
                <a:cs typeface="Tahoma" panose="020B0604030504040204" pitchFamily="34" charset="0"/>
              </a:rPr>
              <a:t>The Complexity of theorem proving procedures by    Cook, 1971</a:t>
            </a:r>
          </a:p>
          <a:p>
            <a:pPr marL="914400" lvl="1" indent="-457200">
              <a:lnSpc>
                <a:spcPct val="90000"/>
              </a:lnSpc>
              <a:buClr>
                <a:srgbClr val="FF0000"/>
              </a:buClr>
              <a:buFont typeface="Wingdings" panose="05000000000000000000" pitchFamily="2" charset="2"/>
              <a:buChar char="q"/>
            </a:pPr>
            <a:r>
              <a:rPr lang="en-US" sz="2800" dirty="0">
                <a:latin typeface="Tahoma" panose="020B0604030504040204" pitchFamily="34" charset="0"/>
                <a:ea typeface="Tahoma" panose="020B0604030504040204" pitchFamily="34" charset="0"/>
                <a:cs typeface="Tahoma" panose="020B0604030504040204" pitchFamily="34" charset="0"/>
              </a:rPr>
              <a:t>Reducibility Among Combinatorial Problems by Karp  1972</a:t>
            </a:r>
          </a:p>
        </p:txBody>
      </p:sp>
      <p:sp>
        <p:nvSpPr>
          <p:cNvPr id="5" name="TextBox 4"/>
          <p:cNvSpPr txBox="1"/>
          <p:nvPr/>
        </p:nvSpPr>
        <p:spPr>
          <a:xfrm>
            <a:off x="228600" y="228600"/>
            <a:ext cx="8686800" cy="523220"/>
          </a:xfrm>
          <a:prstGeom prst="rect">
            <a:avLst/>
          </a:prstGeom>
          <a:solidFill>
            <a:schemeClr val="tx2">
              <a:lumMod val="20000"/>
              <a:lumOff val="80000"/>
            </a:schemeClr>
          </a:solidFill>
        </p:spPr>
        <p:txBody>
          <a:bodyPr wrap="square" rtlCol="0">
            <a:spAutoFit/>
          </a:bodyPr>
          <a:lstStyle/>
          <a:p>
            <a:pPr algn="ctr"/>
            <a:r>
              <a:rPr lang="en-US" sz="2800" b="1" dirty="0">
                <a:solidFill>
                  <a:srgbClr val="FD1B03"/>
                </a:solidFill>
                <a:latin typeface="Tahoma" panose="020B0604030504040204" pitchFamily="34" charset="0"/>
                <a:ea typeface="Tahoma" panose="020B0604030504040204" pitchFamily="34" charset="0"/>
                <a:cs typeface="Tahoma" panose="020B0604030504040204" pitchFamily="34" charset="0"/>
              </a:rPr>
              <a:t>AI History</a:t>
            </a:r>
            <a:endParaRPr lang="en-US" sz="28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95165154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14</a:t>
            </a:fld>
            <a:endParaRPr lang="en-US" dirty="0"/>
          </a:p>
        </p:txBody>
      </p:sp>
      <p:sp>
        <p:nvSpPr>
          <p:cNvPr id="6" name="Content Placeholder 2"/>
          <p:cNvSpPr txBox="1">
            <a:spLocks/>
          </p:cNvSpPr>
          <p:nvPr/>
        </p:nvSpPr>
        <p:spPr>
          <a:xfrm>
            <a:off x="457200" y="838200"/>
            <a:ext cx="8229600" cy="5212080"/>
          </a:xfrm>
          <a:prstGeom prst="rect">
            <a:avLst/>
          </a:prstGeom>
        </p:spPr>
        <p:txBody>
          <a:bodyPr>
            <a:noAutofit/>
          </a:bodyPr>
          <a:lstStyle/>
          <a:p>
            <a:pPr marL="457200" indent="-457200">
              <a:lnSpc>
                <a:spcPct val="90000"/>
              </a:lnSpc>
              <a:buClr>
                <a:srgbClr val="FF0000"/>
              </a:buClr>
              <a:buFont typeface="Wingdings" panose="05000000000000000000" pitchFamily="2" charset="2"/>
              <a:buChar char="q"/>
            </a:pPr>
            <a:r>
              <a:rPr lang="en-US" sz="2800" dirty="0">
                <a:latin typeface="Tahoma" panose="020B0604030504040204" pitchFamily="34" charset="0"/>
                <a:ea typeface="Tahoma" panose="020B0604030504040204" pitchFamily="34" charset="0"/>
                <a:cs typeface="Tahoma" panose="020B0604030504040204" pitchFamily="34" charset="0"/>
              </a:rPr>
              <a:t>Evolutionary computation [Learning by doing]</a:t>
            </a:r>
          </a:p>
          <a:p>
            <a:pPr marL="457200" indent="-457200">
              <a:lnSpc>
                <a:spcPct val="90000"/>
              </a:lnSpc>
              <a:buClr>
                <a:srgbClr val="FF0000"/>
              </a:buClr>
              <a:buFont typeface="Wingdings" panose="05000000000000000000" pitchFamily="2" charset="2"/>
              <a:buChar char="q"/>
            </a:pPr>
            <a:r>
              <a:rPr lang="en-US" sz="2800" b="1" i="1" dirty="0">
                <a:latin typeface="Tahoma" panose="020B0604030504040204" pitchFamily="34" charset="0"/>
                <a:ea typeface="Tahoma" panose="020B0604030504040204" pitchFamily="34" charset="0"/>
                <a:cs typeface="Tahoma" panose="020B0604030504040204" pitchFamily="34" charset="0"/>
              </a:rPr>
              <a:t>Duration: </a:t>
            </a:r>
            <a:r>
              <a:rPr lang="en-US" sz="2800" dirty="0">
                <a:latin typeface="Tahoma" panose="020B0604030504040204" pitchFamily="34" charset="0"/>
                <a:ea typeface="Tahoma" panose="020B0604030504040204" pitchFamily="34" charset="0"/>
                <a:cs typeface="Tahoma" panose="020B0604030504040204" pitchFamily="34" charset="0"/>
              </a:rPr>
              <a:t>early 1970s – onward </a:t>
            </a:r>
          </a:p>
          <a:p>
            <a:pPr marL="457200" indent="-457200">
              <a:lnSpc>
                <a:spcPct val="90000"/>
              </a:lnSpc>
              <a:buClr>
                <a:srgbClr val="FF0000"/>
              </a:buClr>
              <a:buFont typeface="Wingdings" panose="05000000000000000000" pitchFamily="2" charset="2"/>
              <a:buChar char="q"/>
            </a:pPr>
            <a:r>
              <a:rPr lang="en-US" sz="2800" b="1" i="1" dirty="0">
                <a:latin typeface="Tahoma" panose="020B0604030504040204" pitchFamily="34" charset="0"/>
                <a:ea typeface="Tahoma" panose="020B0604030504040204" pitchFamily="34" charset="0"/>
                <a:cs typeface="Tahoma" panose="020B0604030504040204" pitchFamily="34" charset="0"/>
              </a:rPr>
              <a:t>Contributions:</a:t>
            </a:r>
          </a:p>
          <a:p>
            <a:pPr marL="914400" lvl="1" indent="-457200">
              <a:lnSpc>
                <a:spcPct val="90000"/>
              </a:lnSpc>
              <a:buClr>
                <a:srgbClr val="FF0000"/>
              </a:buClr>
              <a:buFont typeface="Wingdings" panose="05000000000000000000" pitchFamily="2" charset="2"/>
              <a:buChar char="q"/>
            </a:pPr>
            <a:r>
              <a:rPr lang="en-US" sz="2800" dirty="0">
                <a:latin typeface="Tahoma" panose="020B0604030504040204" pitchFamily="34" charset="0"/>
                <a:ea typeface="Tahoma" panose="020B0604030504040204" pitchFamily="34" charset="0"/>
                <a:cs typeface="Tahoma" panose="020B0604030504040204" pitchFamily="34" charset="0"/>
              </a:rPr>
              <a:t>Adaptation in Natural and Artificial Systems, by Holland</a:t>
            </a:r>
          </a:p>
          <a:p>
            <a:pPr marL="914400" lvl="1" indent="-457200">
              <a:lnSpc>
                <a:spcPct val="90000"/>
              </a:lnSpc>
              <a:buClr>
                <a:srgbClr val="FF0000"/>
              </a:buClr>
              <a:buFont typeface="Wingdings" panose="05000000000000000000" pitchFamily="2" charset="2"/>
              <a:buChar char="q"/>
            </a:pPr>
            <a:r>
              <a:rPr lang="en-US" sz="2800" dirty="0">
                <a:latin typeface="Tahoma" panose="020B0604030504040204" pitchFamily="34" charset="0"/>
                <a:ea typeface="Tahoma" panose="020B0604030504040204" pitchFamily="34" charset="0"/>
                <a:cs typeface="Tahoma" panose="020B0604030504040204" pitchFamily="34" charset="0"/>
              </a:rPr>
              <a:t>Genetic Programming: On the Programming of the computers by means of Natural Selection by </a:t>
            </a:r>
            <a:r>
              <a:rPr lang="en-US" sz="2800" dirty="0" err="1">
                <a:latin typeface="Tahoma" panose="020B0604030504040204" pitchFamily="34" charset="0"/>
                <a:ea typeface="Tahoma" panose="020B0604030504040204" pitchFamily="34" charset="0"/>
                <a:cs typeface="Tahoma" panose="020B0604030504040204" pitchFamily="34" charset="0"/>
              </a:rPr>
              <a:t>Koza</a:t>
            </a:r>
            <a:endParaRPr lang="en-US" sz="2800" dirty="0">
              <a:latin typeface="Tahoma" panose="020B0604030504040204" pitchFamily="34" charset="0"/>
              <a:ea typeface="Tahoma" panose="020B0604030504040204" pitchFamily="34" charset="0"/>
              <a:cs typeface="Tahoma" panose="020B0604030504040204" pitchFamily="34" charset="0"/>
            </a:endParaRPr>
          </a:p>
          <a:p>
            <a:pPr marL="914400" lvl="1" indent="-457200">
              <a:lnSpc>
                <a:spcPct val="90000"/>
              </a:lnSpc>
              <a:buClr>
                <a:srgbClr val="FF0000"/>
              </a:buClr>
              <a:buFont typeface="Wingdings" panose="05000000000000000000" pitchFamily="2" charset="2"/>
              <a:buChar char="q"/>
            </a:pPr>
            <a:r>
              <a:rPr lang="en-US" sz="2800" dirty="0">
                <a:latin typeface="Tahoma" panose="020B0604030504040204" pitchFamily="34" charset="0"/>
                <a:ea typeface="Tahoma" panose="020B0604030504040204" pitchFamily="34" charset="0"/>
                <a:cs typeface="Tahoma" panose="020B0604030504040204" pitchFamily="34" charset="0"/>
              </a:rPr>
              <a:t>Evolutionary computation – Towards a new philosophy of machine intelligence by </a:t>
            </a:r>
            <a:r>
              <a:rPr lang="en-US" sz="2800" dirty="0" err="1">
                <a:latin typeface="Tahoma" panose="020B0604030504040204" pitchFamily="34" charset="0"/>
                <a:ea typeface="Tahoma" panose="020B0604030504040204" pitchFamily="34" charset="0"/>
                <a:cs typeface="Tahoma" panose="020B0604030504040204" pitchFamily="34" charset="0"/>
              </a:rPr>
              <a:t>Fogel</a:t>
            </a:r>
            <a:endParaRPr lang="en-US" sz="2800" dirty="0">
              <a:latin typeface="Tahoma" panose="020B0604030504040204" pitchFamily="34" charset="0"/>
              <a:ea typeface="Tahoma" panose="020B0604030504040204" pitchFamily="34" charset="0"/>
              <a:cs typeface="Tahoma" panose="020B0604030504040204" pitchFamily="34" charset="0"/>
            </a:endParaRPr>
          </a:p>
        </p:txBody>
      </p:sp>
      <p:sp>
        <p:nvSpPr>
          <p:cNvPr id="5" name="TextBox 4"/>
          <p:cNvSpPr txBox="1"/>
          <p:nvPr/>
        </p:nvSpPr>
        <p:spPr>
          <a:xfrm>
            <a:off x="228600" y="228600"/>
            <a:ext cx="8686800" cy="523220"/>
          </a:xfrm>
          <a:prstGeom prst="rect">
            <a:avLst/>
          </a:prstGeom>
          <a:solidFill>
            <a:schemeClr val="tx2">
              <a:lumMod val="20000"/>
              <a:lumOff val="80000"/>
            </a:schemeClr>
          </a:solidFill>
        </p:spPr>
        <p:txBody>
          <a:bodyPr wrap="square" rtlCol="0">
            <a:spAutoFit/>
          </a:bodyPr>
          <a:lstStyle/>
          <a:p>
            <a:pPr algn="ctr"/>
            <a:r>
              <a:rPr lang="en-US" sz="2800" b="1" dirty="0">
                <a:solidFill>
                  <a:srgbClr val="FD1B03"/>
                </a:solidFill>
                <a:latin typeface="Tahoma" panose="020B0604030504040204" pitchFamily="34" charset="0"/>
                <a:ea typeface="Tahoma" panose="020B0604030504040204" pitchFamily="34" charset="0"/>
                <a:cs typeface="Tahoma" panose="020B0604030504040204" pitchFamily="34" charset="0"/>
              </a:rPr>
              <a:t>AI History</a:t>
            </a:r>
            <a:endParaRPr lang="en-US" sz="28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09756853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15</a:t>
            </a:fld>
            <a:endParaRPr lang="en-US" dirty="0"/>
          </a:p>
        </p:txBody>
      </p:sp>
      <p:sp>
        <p:nvSpPr>
          <p:cNvPr id="6" name="Content Placeholder 2"/>
          <p:cNvSpPr txBox="1">
            <a:spLocks/>
          </p:cNvSpPr>
          <p:nvPr/>
        </p:nvSpPr>
        <p:spPr>
          <a:xfrm>
            <a:off x="457200" y="685800"/>
            <a:ext cx="8229600" cy="5212080"/>
          </a:xfrm>
          <a:prstGeom prst="rect">
            <a:avLst/>
          </a:prstGeom>
        </p:spPr>
        <p:txBody>
          <a:bodyPr>
            <a:noAutofit/>
          </a:bodyPr>
          <a:lstStyle/>
          <a:p>
            <a:pPr marL="457200" indent="-457200">
              <a:lnSpc>
                <a:spcPct val="90000"/>
              </a:lnSpc>
              <a:buClr>
                <a:srgbClr val="FF0000"/>
              </a:buClr>
              <a:buFont typeface="Wingdings" panose="05000000000000000000" pitchFamily="2" charset="2"/>
              <a:buChar char="q"/>
            </a:pPr>
            <a:r>
              <a:rPr lang="en-US" sz="2800" dirty="0">
                <a:latin typeface="Tahoma" panose="020B0604030504040204" pitchFamily="34" charset="0"/>
                <a:ea typeface="Tahoma" panose="020B0604030504040204" pitchFamily="34" charset="0"/>
                <a:cs typeface="Tahoma" panose="020B0604030504040204" pitchFamily="34" charset="0"/>
              </a:rPr>
              <a:t>The Discovery of expert systems</a:t>
            </a:r>
          </a:p>
          <a:p>
            <a:pPr marL="457200" indent="-457200">
              <a:lnSpc>
                <a:spcPct val="90000"/>
              </a:lnSpc>
              <a:buClr>
                <a:srgbClr val="FF0000"/>
              </a:buClr>
              <a:buFont typeface="Wingdings" panose="05000000000000000000" pitchFamily="2" charset="2"/>
              <a:buChar char="q"/>
            </a:pPr>
            <a:r>
              <a:rPr lang="en-US" sz="2800" b="1" i="1" dirty="0">
                <a:latin typeface="Tahoma" panose="020B0604030504040204" pitchFamily="34" charset="0"/>
                <a:ea typeface="Tahoma" panose="020B0604030504040204" pitchFamily="34" charset="0"/>
                <a:cs typeface="Tahoma" panose="020B0604030504040204" pitchFamily="34" charset="0"/>
              </a:rPr>
              <a:t>	Duration: </a:t>
            </a:r>
            <a:r>
              <a:rPr lang="en-US" sz="2800" dirty="0">
                <a:latin typeface="Tahoma" panose="020B0604030504040204" pitchFamily="34" charset="0"/>
                <a:ea typeface="Tahoma" panose="020B0604030504040204" pitchFamily="34" charset="0"/>
                <a:cs typeface="Tahoma" panose="020B0604030504040204" pitchFamily="34" charset="0"/>
              </a:rPr>
              <a:t>1970s – mid 1980s</a:t>
            </a:r>
          </a:p>
          <a:p>
            <a:pPr marL="457200" indent="-457200">
              <a:lnSpc>
                <a:spcPct val="90000"/>
              </a:lnSpc>
              <a:buClr>
                <a:srgbClr val="FF0000"/>
              </a:buClr>
              <a:buFont typeface="Wingdings" panose="05000000000000000000" pitchFamily="2" charset="2"/>
              <a:buChar char="q"/>
            </a:pPr>
            <a:r>
              <a:rPr lang="en-US" sz="2800" b="1" i="1" dirty="0">
                <a:latin typeface="Tahoma" panose="020B0604030504040204" pitchFamily="34" charset="0"/>
                <a:ea typeface="Tahoma" panose="020B0604030504040204" pitchFamily="34" charset="0"/>
                <a:cs typeface="Tahoma" panose="020B0604030504040204" pitchFamily="34" charset="0"/>
              </a:rPr>
              <a:t>Contributions:</a:t>
            </a:r>
          </a:p>
          <a:p>
            <a:pPr marL="914400" lvl="1" indent="-457200">
              <a:lnSpc>
                <a:spcPct val="90000"/>
              </a:lnSpc>
              <a:buClr>
                <a:srgbClr val="FF0000"/>
              </a:buClr>
              <a:buFont typeface="Wingdings" panose="05000000000000000000" pitchFamily="2" charset="2"/>
              <a:buChar char="q"/>
            </a:pPr>
            <a:r>
              <a:rPr lang="en-US" sz="2800" dirty="0">
                <a:latin typeface="Tahoma" panose="020B0604030504040204" pitchFamily="34" charset="0"/>
                <a:ea typeface="Tahoma" panose="020B0604030504040204" pitchFamily="34" charset="0"/>
                <a:cs typeface="Tahoma" panose="020B0604030504040204" pitchFamily="34" charset="0"/>
              </a:rPr>
              <a:t>DENDRAL – the first successful knowledge-based system by </a:t>
            </a:r>
            <a:r>
              <a:rPr lang="en-US" sz="2800" dirty="0" err="1">
                <a:latin typeface="Tahoma" panose="020B0604030504040204" pitchFamily="34" charset="0"/>
                <a:ea typeface="Tahoma" panose="020B0604030504040204" pitchFamily="34" charset="0"/>
                <a:cs typeface="Tahoma" panose="020B0604030504040204" pitchFamily="34" charset="0"/>
              </a:rPr>
              <a:t>Feigenbum</a:t>
            </a:r>
            <a:r>
              <a:rPr lang="en-US" sz="2800" dirty="0">
                <a:latin typeface="Tahoma" panose="020B0604030504040204" pitchFamily="34" charset="0"/>
                <a:ea typeface="Tahoma" panose="020B0604030504040204" pitchFamily="34" charset="0"/>
                <a:cs typeface="Tahoma" panose="020B0604030504040204" pitchFamily="34" charset="0"/>
              </a:rPr>
              <a:t>, </a:t>
            </a:r>
            <a:r>
              <a:rPr lang="en-US" sz="2800" dirty="0" err="1">
                <a:latin typeface="Tahoma" panose="020B0604030504040204" pitchFamily="34" charset="0"/>
                <a:ea typeface="Tahoma" panose="020B0604030504040204" pitchFamily="34" charset="0"/>
                <a:cs typeface="Tahoma" panose="020B0604030504040204" pitchFamily="34" charset="0"/>
              </a:rPr>
              <a:t>Bachanan</a:t>
            </a:r>
            <a:r>
              <a:rPr lang="en-US" sz="2800" dirty="0">
                <a:latin typeface="Tahoma" panose="020B0604030504040204" pitchFamily="34" charset="0"/>
                <a:ea typeface="Tahoma" panose="020B0604030504040204" pitchFamily="34" charset="0"/>
                <a:cs typeface="Tahoma" panose="020B0604030504040204" pitchFamily="34" charset="0"/>
              </a:rPr>
              <a:t> &amp; Lederberg.</a:t>
            </a:r>
          </a:p>
          <a:p>
            <a:pPr marL="914400" lvl="1" indent="-457200">
              <a:lnSpc>
                <a:spcPct val="90000"/>
              </a:lnSpc>
              <a:buClr>
                <a:srgbClr val="FF0000"/>
              </a:buClr>
              <a:buFont typeface="Wingdings" panose="05000000000000000000" pitchFamily="2" charset="2"/>
              <a:buChar char="q"/>
            </a:pPr>
            <a:r>
              <a:rPr lang="en-US" sz="2800" dirty="0">
                <a:latin typeface="Tahoma" panose="020B0604030504040204" pitchFamily="34" charset="0"/>
                <a:ea typeface="Tahoma" panose="020B0604030504040204" pitchFamily="34" charset="0"/>
                <a:cs typeface="Tahoma" panose="020B0604030504040204" pitchFamily="34" charset="0"/>
              </a:rPr>
              <a:t>MYCIN – another expert system by </a:t>
            </a:r>
            <a:r>
              <a:rPr lang="en-US" sz="2800" dirty="0" err="1">
                <a:latin typeface="Tahoma" panose="020B0604030504040204" pitchFamily="34" charset="0"/>
                <a:ea typeface="Tahoma" panose="020B0604030504040204" pitchFamily="34" charset="0"/>
                <a:cs typeface="Tahoma" panose="020B0604030504040204" pitchFamily="34" charset="0"/>
              </a:rPr>
              <a:t>Feigenbum</a:t>
            </a:r>
            <a:r>
              <a:rPr lang="en-US" sz="2800" dirty="0">
                <a:latin typeface="Tahoma" panose="020B0604030504040204" pitchFamily="34" charset="0"/>
                <a:ea typeface="Tahoma" panose="020B0604030504040204" pitchFamily="34" charset="0"/>
                <a:cs typeface="Tahoma" panose="020B0604030504040204" pitchFamily="34" charset="0"/>
              </a:rPr>
              <a:t> and </a:t>
            </a:r>
            <a:r>
              <a:rPr lang="en-US" sz="2800" dirty="0" err="1">
                <a:latin typeface="Tahoma" panose="020B0604030504040204" pitchFamily="34" charset="0"/>
                <a:ea typeface="Tahoma" panose="020B0604030504040204" pitchFamily="34" charset="0"/>
                <a:cs typeface="Tahoma" panose="020B0604030504040204" pitchFamily="34" charset="0"/>
              </a:rPr>
              <a:t>Shortllife</a:t>
            </a:r>
            <a:endParaRPr lang="en-US" sz="2800" dirty="0">
              <a:latin typeface="Tahoma" panose="020B0604030504040204" pitchFamily="34" charset="0"/>
              <a:ea typeface="Tahoma" panose="020B0604030504040204" pitchFamily="34" charset="0"/>
              <a:cs typeface="Tahoma" panose="020B0604030504040204" pitchFamily="34" charset="0"/>
            </a:endParaRPr>
          </a:p>
          <a:p>
            <a:pPr marL="914400" lvl="1" indent="-457200">
              <a:lnSpc>
                <a:spcPct val="90000"/>
              </a:lnSpc>
              <a:buClr>
                <a:srgbClr val="FF0000"/>
              </a:buClr>
              <a:buFont typeface="Wingdings" panose="05000000000000000000" pitchFamily="2" charset="2"/>
              <a:buChar char="q"/>
            </a:pPr>
            <a:r>
              <a:rPr lang="en-US" sz="2800" dirty="0">
                <a:latin typeface="Tahoma" panose="020B0604030504040204" pitchFamily="34" charset="0"/>
                <a:ea typeface="Tahoma" panose="020B0604030504040204" pitchFamily="34" charset="0"/>
                <a:cs typeface="Tahoma" panose="020B0604030504040204" pitchFamily="34" charset="0"/>
              </a:rPr>
              <a:t>PROSPECTOR – an expert system for mineral exploration developed by Stanford Research Institute</a:t>
            </a:r>
          </a:p>
          <a:p>
            <a:pPr marL="914400" lvl="1" indent="-457200">
              <a:lnSpc>
                <a:spcPct val="90000"/>
              </a:lnSpc>
              <a:buClr>
                <a:srgbClr val="FF0000"/>
              </a:buClr>
              <a:buFont typeface="Wingdings" panose="05000000000000000000" pitchFamily="2" charset="2"/>
              <a:buChar char="q"/>
            </a:pPr>
            <a:r>
              <a:rPr lang="en-US" sz="2800" dirty="0">
                <a:latin typeface="Tahoma" panose="020B0604030504040204" pitchFamily="34" charset="0"/>
                <a:ea typeface="Tahoma" panose="020B0604030504040204" pitchFamily="34" charset="0"/>
                <a:cs typeface="Tahoma" panose="020B0604030504040204" pitchFamily="34" charset="0"/>
              </a:rPr>
              <a:t>PROLOG – A logic programming language by </a:t>
            </a:r>
            <a:r>
              <a:rPr lang="en-US" sz="2800" dirty="0" err="1">
                <a:latin typeface="Tahoma" panose="020B0604030504040204" pitchFamily="34" charset="0"/>
                <a:ea typeface="Tahoma" panose="020B0604030504040204" pitchFamily="34" charset="0"/>
                <a:cs typeface="Tahoma" panose="020B0604030504040204" pitchFamily="34" charset="0"/>
              </a:rPr>
              <a:t>Colmerauer</a:t>
            </a:r>
            <a:r>
              <a:rPr lang="en-US" sz="2800" dirty="0">
                <a:latin typeface="Tahoma" panose="020B0604030504040204" pitchFamily="34" charset="0"/>
                <a:ea typeface="Tahoma" panose="020B0604030504040204" pitchFamily="34" charset="0"/>
                <a:cs typeface="Tahoma" panose="020B0604030504040204" pitchFamily="34" charset="0"/>
              </a:rPr>
              <a:t>, </a:t>
            </a:r>
            <a:r>
              <a:rPr lang="en-US" sz="2800" dirty="0" err="1">
                <a:latin typeface="Tahoma" panose="020B0604030504040204" pitchFamily="34" charset="0"/>
                <a:ea typeface="Tahoma" panose="020B0604030504040204" pitchFamily="34" charset="0"/>
                <a:cs typeface="Tahoma" panose="020B0604030504040204" pitchFamily="34" charset="0"/>
              </a:rPr>
              <a:t>Roussel</a:t>
            </a:r>
            <a:r>
              <a:rPr lang="en-US" sz="2800" dirty="0">
                <a:latin typeface="Tahoma" panose="020B0604030504040204" pitchFamily="34" charset="0"/>
                <a:ea typeface="Tahoma" panose="020B0604030504040204" pitchFamily="34" charset="0"/>
                <a:cs typeface="Tahoma" panose="020B0604030504040204" pitchFamily="34" charset="0"/>
              </a:rPr>
              <a:t> &amp; Kowalski</a:t>
            </a:r>
          </a:p>
          <a:p>
            <a:pPr marL="914400" lvl="1" indent="-457200">
              <a:lnSpc>
                <a:spcPct val="90000"/>
              </a:lnSpc>
              <a:buClr>
                <a:srgbClr val="FF0000"/>
              </a:buClr>
              <a:buFont typeface="Wingdings" panose="05000000000000000000" pitchFamily="2" charset="2"/>
              <a:buChar char="q"/>
            </a:pPr>
            <a:r>
              <a:rPr lang="en-US" sz="2800" dirty="0">
                <a:latin typeface="Tahoma" panose="020B0604030504040204" pitchFamily="34" charset="0"/>
                <a:ea typeface="Tahoma" panose="020B0604030504040204" pitchFamily="34" charset="0"/>
                <a:cs typeface="Tahoma" panose="020B0604030504040204" pitchFamily="34" charset="0"/>
              </a:rPr>
              <a:t>EMYCIN – Empty MYCIN, a domain-independent version of MYCIN, developed by Stanford University.</a:t>
            </a:r>
          </a:p>
        </p:txBody>
      </p:sp>
      <p:sp>
        <p:nvSpPr>
          <p:cNvPr id="5" name="TextBox 4"/>
          <p:cNvSpPr txBox="1"/>
          <p:nvPr/>
        </p:nvSpPr>
        <p:spPr>
          <a:xfrm>
            <a:off x="228600" y="152400"/>
            <a:ext cx="8686800" cy="523220"/>
          </a:xfrm>
          <a:prstGeom prst="rect">
            <a:avLst/>
          </a:prstGeom>
          <a:solidFill>
            <a:schemeClr val="tx2">
              <a:lumMod val="20000"/>
              <a:lumOff val="80000"/>
            </a:schemeClr>
          </a:solidFill>
        </p:spPr>
        <p:txBody>
          <a:bodyPr wrap="square" rtlCol="0">
            <a:spAutoFit/>
          </a:bodyPr>
          <a:lstStyle/>
          <a:p>
            <a:pPr algn="ctr"/>
            <a:r>
              <a:rPr lang="en-US" sz="2800" b="1" dirty="0">
                <a:solidFill>
                  <a:srgbClr val="FD1B03"/>
                </a:solidFill>
                <a:latin typeface="Tahoma" panose="020B0604030504040204" pitchFamily="34" charset="0"/>
                <a:ea typeface="Tahoma" panose="020B0604030504040204" pitchFamily="34" charset="0"/>
                <a:cs typeface="Tahoma" panose="020B0604030504040204" pitchFamily="34" charset="0"/>
              </a:rPr>
              <a:t>AI History</a:t>
            </a:r>
            <a:endParaRPr lang="en-US" sz="28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39149097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16</a:t>
            </a:fld>
            <a:endParaRPr lang="en-US" dirty="0"/>
          </a:p>
        </p:txBody>
      </p:sp>
      <p:sp>
        <p:nvSpPr>
          <p:cNvPr id="6" name="Content Placeholder 2"/>
          <p:cNvSpPr txBox="1">
            <a:spLocks/>
          </p:cNvSpPr>
          <p:nvPr/>
        </p:nvSpPr>
        <p:spPr>
          <a:xfrm>
            <a:off x="457200" y="838200"/>
            <a:ext cx="8229600" cy="5212080"/>
          </a:xfrm>
          <a:prstGeom prst="rect">
            <a:avLst/>
          </a:prstGeom>
        </p:spPr>
        <p:txBody>
          <a:bodyPr>
            <a:noAutofit/>
          </a:bodyPr>
          <a:lstStyle/>
          <a:p>
            <a:pPr marL="457200" indent="-457200">
              <a:lnSpc>
                <a:spcPct val="90000"/>
              </a:lnSpc>
              <a:buClr>
                <a:srgbClr val="FF0000"/>
              </a:buClr>
              <a:buFont typeface="Wingdings" panose="05000000000000000000" pitchFamily="2" charset="2"/>
              <a:buChar char="q"/>
            </a:pPr>
            <a:r>
              <a:rPr lang="en-US" sz="2800" dirty="0">
                <a:latin typeface="Tahoma" panose="020B0604030504040204" pitchFamily="34" charset="0"/>
                <a:ea typeface="Tahoma" panose="020B0604030504040204" pitchFamily="34" charset="0"/>
                <a:cs typeface="Tahoma" panose="020B0604030504040204" pitchFamily="34" charset="0"/>
              </a:rPr>
              <a:t>Computing with Words</a:t>
            </a:r>
            <a:r>
              <a:rPr lang="en-US" sz="2800" b="1" i="1" dirty="0">
                <a:latin typeface="Tahoma" panose="020B0604030504040204" pitchFamily="34" charset="0"/>
                <a:ea typeface="Tahoma" panose="020B0604030504040204" pitchFamily="34" charset="0"/>
                <a:cs typeface="Tahoma" panose="020B0604030504040204" pitchFamily="34" charset="0"/>
              </a:rPr>
              <a:t>: </a:t>
            </a:r>
            <a:r>
              <a:rPr lang="en-US" sz="2800" dirty="0">
                <a:latin typeface="Tahoma" panose="020B0604030504040204" pitchFamily="34" charset="0"/>
                <a:ea typeface="Tahoma" panose="020B0604030504040204" pitchFamily="34" charset="0"/>
                <a:cs typeface="Tahoma" panose="020B0604030504040204" pitchFamily="34" charset="0"/>
              </a:rPr>
              <a:t>late 1980s – onwards </a:t>
            </a:r>
          </a:p>
          <a:p>
            <a:pPr marL="457200" indent="-457200">
              <a:lnSpc>
                <a:spcPct val="90000"/>
              </a:lnSpc>
              <a:buClr>
                <a:srgbClr val="FF0000"/>
              </a:buClr>
              <a:buFont typeface="Wingdings" panose="05000000000000000000" pitchFamily="2" charset="2"/>
              <a:buChar char="q"/>
            </a:pPr>
            <a:r>
              <a:rPr lang="en-US" sz="2800" b="1" i="1" dirty="0">
                <a:latin typeface="Tahoma" panose="020B0604030504040204" pitchFamily="34" charset="0"/>
                <a:ea typeface="Tahoma" panose="020B0604030504040204" pitchFamily="34" charset="0"/>
                <a:cs typeface="Tahoma" panose="020B0604030504040204" pitchFamily="34" charset="0"/>
              </a:rPr>
              <a:t>Contributions:</a:t>
            </a:r>
          </a:p>
          <a:p>
            <a:pPr marL="914400" lvl="1" indent="-457200">
              <a:lnSpc>
                <a:spcPct val="90000"/>
              </a:lnSpc>
              <a:buClr>
                <a:srgbClr val="FF0000"/>
              </a:buClr>
              <a:buFont typeface="Wingdings" panose="05000000000000000000" pitchFamily="2" charset="2"/>
              <a:buChar char="q"/>
            </a:pPr>
            <a:r>
              <a:rPr lang="en-US" sz="2800" dirty="0">
                <a:latin typeface="Tahoma" panose="020B0604030504040204" pitchFamily="34" charset="0"/>
                <a:ea typeface="Tahoma" panose="020B0604030504040204" pitchFamily="34" charset="0"/>
                <a:cs typeface="Tahoma" panose="020B0604030504040204" pitchFamily="34" charset="0"/>
              </a:rPr>
              <a:t>Fuzzy sets &amp; Algorithms by </a:t>
            </a:r>
            <a:r>
              <a:rPr lang="en-US" sz="2800" dirty="0" err="1">
                <a:latin typeface="Tahoma" panose="020B0604030504040204" pitchFamily="34" charset="0"/>
                <a:ea typeface="Tahoma" panose="020B0604030504040204" pitchFamily="34" charset="0"/>
                <a:cs typeface="Tahoma" panose="020B0604030504040204" pitchFamily="34" charset="0"/>
              </a:rPr>
              <a:t>Zadeh</a:t>
            </a:r>
            <a:endParaRPr lang="en-US" sz="2800" dirty="0">
              <a:latin typeface="Tahoma" panose="020B0604030504040204" pitchFamily="34" charset="0"/>
              <a:ea typeface="Tahoma" panose="020B0604030504040204" pitchFamily="34" charset="0"/>
              <a:cs typeface="Tahoma" panose="020B0604030504040204" pitchFamily="34" charset="0"/>
            </a:endParaRPr>
          </a:p>
          <a:p>
            <a:pPr marL="914400" lvl="1" indent="-457200">
              <a:lnSpc>
                <a:spcPct val="90000"/>
              </a:lnSpc>
              <a:buClr>
                <a:srgbClr val="FF0000"/>
              </a:buClr>
              <a:buFont typeface="Wingdings" panose="05000000000000000000" pitchFamily="2" charset="2"/>
              <a:buChar char="q"/>
            </a:pPr>
            <a:r>
              <a:rPr lang="en-US" sz="2800" dirty="0">
                <a:latin typeface="Tahoma" panose="020B0604030504040204" pitchFamily="34" charset="0"/>
                <a:ea typeface="Tahoma" panose="020B0604030504040204" pitchFamily="34" charset="0"/>
                <a:cs typeface="Tahoma" panose="020B0604030504040204" pitchFamily="34" charset="0"/>
              </a:rPr>
              <a:t>Application of Fuzzy logic to Approximate Reasoning using Linguistic Synthesis by </a:t>
            </a:r>
            <a:r>
              <a:rPr lang="en-US" sz="2800" dirty="0" err="1">
                <a:latin typeface="Tahoma" panose="020B0604030504040204" pitchFamily="34" charset="0"/>
                <a:ea typeface="Tahoma" panose="020B0604030504040204" pitchFamily="34" charset="0"/>
                <a:cs typeface="Tahoma" panose="020B0604030504040204" pitchFamily="34" charset="0"/>
              </a:rPr>
              <a:t>Mamdani</a:t>
            </a:r>
            <a:endParaRPr lang="en-US" sz="2800" dirty="0">
              <a:latin typeface="Tahoma" panose="020B0604030504040204" pitchFamily="34" charset="0"/>
              <a:ea typeface="Tahoma" panose="020B0604030504040204" pitchFamily="34" charset="0"/>
              <a:cs typeface="Tahoma" panose="020B0604030504040204" pitchFamily="34" charset="0"/>
            </a:endParaRPr>
          </a:p>
          <a:p>
            <a:pPr marL="914400" lvl="1" indent="-457200">
              <a:lnSpc>
                <a:spcPct val="90000"/>
              </a:lnSpc>
              <a:buClr>
                <a:srgbClr val="FF0000"/>
              </a:buClr>
              <a:buFont typeface="Wingdings" panose="05000000000000000000" pitchFamily="2" charset="2"/>
              <a:buChar char="q"/>
            </a:pPr>
            <a:r>
              <a:rPr lang="en-US" sz="2800" dirty="0">
                <a:latin typeface="Tahoma" panose="020B0604030504040204" pitchFamily="34" charset="0"/>
                <a:ea typeface="Tahoma" panose="020B0604030504040204" pitchFamily="34" charset="0"/>
                <a:cs typeface="Tahoma" panose="020B0604030504040204" pitchFamily="34" charset="0"/>
              </a:rPr>
              <a:t>Expert Systems and Fuzzy Systems, by </a:t>
            </a:r>
            <a:r>
              <a:rPr lang="en-US" sz="2800" dirty="0" err="1">
                <a:latin typeface="Tahoma" panose="020B0604030504040204" pitchFamily="34" charset="0"/>
                <a:ea typeface="Tahoma" panose="020B0604030504040204" pitchFamily="34" charset="0"/>
                <a:cs typeface="Tahoma" panose="020B0604030504040204" pitchFamily="34" charset="0"/>
              </a:rPr>
              <a:t>Negoita</a:t>
            </a:r>
            <a:r>
              <a:rPr lang="en-US" sz="2800" dirty="0">
                <a:latin typeface="Tahoma" panose="020B0604030504040204" pitchFamily="34" charset="0"/>
                <a:ea typeface="Tahoma" panose="020B0604030504040204" pitchFamily="34" charset="0"/>
                <a:cs typeface="Tahoma" panose="020B0604030504040204" pitchFamily="34" charset="0"/>
              </a:rPr>
              <a:t>.</a:t>
            </a:r>
          </a:p>
          <a:p>
            <a:pPr marL="914400" lvl="1" indent="-457200">
              <a:lnSpc>
                <a:spcPct val="90000"/>
              </a:lnSpc>
              <a:buClr>
                <a:srgbClr val="FF0000"/>
              </a:buClr>
              <a:buFont typeface="Wingdings" panose="05000000000000000000" pitchFamily="2" charset="2"/>
              <a:buChar char="q"/>
            </a:pPr>
            <a:r>
              <a:rPr lang="en-US" sz="2800" dirty="0">
                <a:latin typeface="Tahoma" panose="020B0604030504040204" pitchFamily="34" charset="0"/>
                <a:ea typeface="Tahoma" panose="020B0604030504040204" pitchFamily="34" charset="0"/>
                <a:cs typeface="Tahoma" panose="020B0604030504040204" pitchFamily="34" charset="0"/>
              </a:rPr>
              <a:t>The First IEEE International Conference on Fuzzy Systems</a:t>
            </a:r>
          </a:p>
          <a:p>
            <a:pPr marL="914400" lvl="1" indent="-457200">
              <a:lnSpc>
                <a:spcPct val="90000"/>
              </a:lnSpc>
              <a:buClr>
                <a:srgbClr val="FF0000"/>
              </a:buClr>
              <a:buFont typeface="Wingdings" panose="05000000000000000000" pitchFamily="2" charset="2"/>
              <a:buChar char="q"/>
            </a:pPr>
            <a:r>
              <a:rPr lang="en-US" sz="2800" dirty="0">
                <a:latin typeface="Tahoma" panose="020B0604030504040204" pitchFamily="34" charset="0"/>
                <a:ea typeface="Tahoma" panose="020B0604030504040204" pitchFamily="34" charset="0"/>
                <a:cs typeface="Tahoma" panose="020B0604030504040204" pitchFamily="34" charset="0"/>
              </a:rPr>
              <a:t>Neural Networks and Fuzzy Systems by </a:t>
            </a:r>
            <a:r>
              <a:rPr lang="en-US" sz="2800" dirty="0" err="1">
                <a:latin typeface="Tahoma" panose="020B0604030504040204" pitchFamily="34" charset="0"/>
                <a:ea typeface="Tahoma" panose="020B0604030504040204" pitchFamily="34" charset="0"/>
                <a:cs typeface="Tahoma" panose="020B0604030504040204" pitchFamily="34" charset="0"/>
              </a:rPr>
              <a:t>Kosko</a:t>
            </a:r>
            <a:endParaRPr lang="en-US" sz="2800" dirty="0">
              <a:latin typeface="Tahoma" panose="020B0604030504040204" pitchFamily="34" charset="0"/>
              <a:ea typeface="Tahoma" panose="020B0604030504040204" pitchFamily="34" charset="0"/>
              <a:cs typeface="Tahoma" panose="020B0604030504040204" pitchFamily="34" charset="0"/>
            </a:endParaRPr>
          </a:p>
          <a:p>
            <a:pPr marL="914400" lvl="1" indent="-457200">
              <a:lnSpc>
                <a:spcPct val="90000"/>
              </a:lnSpc>
              <a:buClr>
                <a:srgbClr val="FF0000"/>
              </a:buClr>
              <a:buFont typeface="Wingdings" panose="05000000000000000000" pitchFamily="2" charset="2"/>
              <a:buChar char="q"/>
            </a:pPr>
            <a:r>
              <a:rPr lang="en-US" sz="2800" dirty="0">
                <a:latin typeface="Tahoma" panose="020B0604030504040204" pitchFamily="34" charset="0"/>
                <a:ea typeface="Tahoma" panose="020B0604030504040204" pitchFamily="34" charset="0"/>
                <a:cs typeface="Tahoma" panose="020B0604030504040204" pitchFamily="34" charset="0"/>
              </a:rPr>
              <a:t>Fuzzy Logic, MATLAB Application Toolbox by the </a:t>
            </a:r>
            <a:r>
              <a:rPr lang="en-US" sz="2800" dirty="0" err="1">
                <a:latin typeface="Tahoma" panose="020B0604030504040204" pitchFamily="34" charset="0"/>
                <a:ea typeface="Tahoma" panose="020B0604030504040204" pitchFamily="34" charset="0"/>
                <a:cs typeface="Tahoma" panose="020B0604030504040204" pitchFamily="34" charset="0"/>
              </a:rPr>
              <a:t>MathWork</a:t>
            </a:r>
            <a:r>
              <a:rPr lang="en-US" sz="2800" dirty="0">
                <a:latin typeface="Tahoma" panose="020B0604030504040204" pitchFamily="34" charset="0"/>
                <a:ea typeface="Tahoma" panose="020B0604030504040204" pitchFamily="34" charset="0"/>
                <a:cs typeface="Tahoma" panose="020B0604030504040204" pitchFamily="34" charset="0"/>
              </a:rPr>
              <a:t>, Inc.)</a:t>
            </a:r>
          </a:p>
        </p:txBody>
      </p:sp>
      <p:sp>
        <p:nvSpPr>
          <p:cNvPr id="5" name="TextBox 4"/>
          <p:cNvSpPr txBox="1"/>
          <p:nvPr/>
        </p:nvSpPr>
        <p:spPr>
          <a:xfrm>
            <a:off x="228600" y="228600"/>
            <a:ext cx="8686800" cy="523220"/>
          </a:xfrm>
          <a:prstGeom prst="rect">
            <a:avLst/>
          </a:prstGeom>
          <a:solidFill>
            <a:schemeClr val="tx2">
              <a:lumMod val="20000"/>
              <a:lumOff val="80000"/>
            </a:schemeClr>
          </a:solidFill>
        </p:spPr>
        <p:txBody>
          <a:bodyPr wrap="square" rtlCol="0">
            <a:spAutoFit/>
          </a:bodyPr>
          <a:lstStyle/>
          <a:p>
            <a:pPr algn="ctr"/>
            <a:r>
              <a:rPr lang="en-US" sz="2800" b="1" dirty="0">
                <a:solidFill>
                  <a:srgbClr val="FD1B03"/>
                </a:solidFill>
                <a:latin typeface="Tahoma" panose="020B0604030504040204" pitchFamily="34" charset="0"/>
                <a:ea typeface="Tahoma" panose="020B0604030504040204" pitchFamily="34" charset="0"/>
                <a:cs typeface="Tahoma" panose="020B0604030504040204" pitchFamily="34" charset="0"/>
              </a:rPr>
              <a:t>AI History</a:t>
            </a:r>
            <a:endParaRPr lang="en-US" sz="28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7224553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17</a:t>
            </a:fld>
            <a:endParaRPr lang="en-US" dirty="0"/>
          </a:p>
        </p:txBody>
      </p:sp>
      <p:sp>
        <p:nvSpPr>
          <p:cNvPr id="6" name="Content Placeholder 2"/>
          <p:cNvSpPr txBox="1">
            <a:spLocks/>
          </p:cNvSpPr>
          <p:nvPr/>
        </p:nvSpPr>
        <p:spPr>
          <a:xfrm>
            <a:off x="457200" y="838200"/>
            <a:ext cx="8229600" cy="5212080"/>
          </a:xfrm>
          <a:prstGeom prst="rect">
            <a:avLst/>
          </a:prstGeom>
        </p:spPr>
        <p:txBody>
          <a:bodyPr>
            <a:noAutofit/>
          </a:bodyPr>
          <a:lstStyle/>
          <a:p>
            <a:pPr marL="457200" indent="-457200">
              <a:buClr>
                <a:srgbClr val="FF0000"/>
              </a:buClr>
              <a:buFont typeface="Wingdings" panose="05000000000000000000" pitchFamily="2" charset="2"/>
              <a:buChar char="q"/>
            </a:pPr>
            <a:r>
              <a:rPr lang="en-US" sz="2800" dirty="0" smtClean="0">
                <a:latin typeface="Tahoma" panose="020B0604030504040204" pitchFamily="34" charset="0"/>
                <a:ea typeface="Tahoma" panose="020B0604030504040204" pitchFamily="34" charset="0"/>
                <a:cs typeface="Tahoma" panose="020B0604030504040204" pitchFamily="34" charset="0"/>
              </a:rPr>
              <a:t>Autonomous </a:t>
            </a:r>
            <a:r>
              <a:rPr lang="en-US" sz="2800" dirty="0">
                <a:latin typeface="Tahoma" panose="020B0604030504040204" pitchFamily="34" charset="0"/>
                <a:ea typeface="Tahoma" panose="020B0604030504040204" pitchFamily="34" charset="0"/>
                <a:cs typeface="Tahoma" panose="020B0604030504040204" pitchFamily="34" charset="0"/>
              </a:rPr>
              <a:t>planning and scheduling of tasks aboard a </a:t>
            </a:r>
            <a:r>
              <a:rPr lang="en-US" sz="2800" dirty="0" smtClean="0">
                <a:latin typeface="Tahoma" panose="020B0604030504040204" pitchFamily="34" charset="0"/>
                <a:ea typeface="Tahoma" panose="020B0604030504040204" pitchFamily="34" charset="0"/>
                <a:cs typeface="Tahoma" panose="020B0604030504040204" pitchFamily="34" charset="0"/>
              </a:rPr>
              <a:t>spacecraft, in a</a:t>
            </a:r>
            <a:r>
              <a:rPr lang="en-US" altLang="ar-JO" sz="2800" dirty="0" smtClean="0">
                <a:latin typeface="TimesNewRomanPSMT" charset="0"/>
                <a:sym typeface="Wingdings" panose="05000000000000000000" pitchFamily="2" charset="2"/>
              </a:rPr>
              <a:t>utonomous rovers, </a:t>
            </a:r>
            <a:r>
              <a:rPr lang="en-US" altLang="ar-JO" sz="2800" dirty="0">
                <a:latin typeface="TimesNewRomanPSMT" charset="0"/>
                <a:sym typeface="Wingdings" panose="05000000000000000000" pitchFamily="2" charset="2"/>
              </a:rPr>
              <a:t>Telescope </a:t>
            </a:r>
            <a:r>
              <a:rPr lang="en-US" altLang="ar-JO" sz="2800" dirty="0" smtClean="0">
                <a:latin typeface="TimesNewRomanPSMT" charset="0"/>
                <a:sym typeface="Wingdings" panose="05000000000000000000" pitchFamily="2" charset="2"/>
              </a:rPr>
              <a:t>scheduling, </a:t>
            </a:r>
            <a:r>
              <a:rPr lang="en-US" altLang="ar-JO" sz="2800" dirty="0">
                <a:latin typeface="TimesNewRomanPSMT" charset="0"/>
                <a:sym typeface="Wingdings" panose="05000000000000000000" pitchFamily="2" charset="2"/>
              </a:rPr>
              <a:t>Analysis of data</a:t>
            </a:r>
            <a:endParaRPr lang="en-US" sz="2800" dirty="0">
              <a:latin typeface="Tahoma" panose="020B0604030504040204" pitchFamily="34" charset="0"/>
              <a:ea typeface="Tahoma" panose="020B0604030504040204" pitchFamily="34" charset="0"/>
              <a:cs typeface="Tahoma" panose="020B0604030504040204" pitchFamily="34" charset="0"/>
            </a:endParaRPr>
          </a:p>
          <a:p>
            <a:pPr marL="457200" indent="-457200">
              <a:buClr>
                <a:srgbClr val="FF0000"/>
              </a:buClr>
              <a:buFont typeface="Wingdings" panose="05000000000000000000" pitchFamily="2" charset="2"/>
              <a:buChar char="q"/>
            </a:pPr>
            <a:r>
              <a:rPr lang="en-US" sz="2800" dirty="0">
                <a:latin typeface="Tahoma" panose="020B0604030504040204" pitchFamily="34" charset="0"/>
                <a:ea typeface="Tahoma" panose="020B0604030504040204" pitchFamily="34" charset="0"/>
                <a:cs typeface="Tahoma" panose="020B0604030504040204" pitchFamily="34" charset="0"/>
              </a:rPr>
              <a:t>Beating Gary Kasparov in a chess match</a:t>
            </a:r>
          </a:p>
          <a:p>
            <a:pPr marL="457200" indent="-457200">
              <a:buClr>
                <a:srgbClr val="FF0000"/>
              </a:buClr>
              <a:buFont typeface="Wingdings" panose="05000000000000000000" pitchFamily="2" charset="2"/>
              <a:buChar char="q"/>
            </a:pPr>
            <a:r>
              <a:rPr lang="en-US" sz="2800" dirty="0">
                <a:latin typeface="Tahoma" panose="020B0604030504040204" pitchFamily="34" charset="0"/>
                <a:ea typeface="Tahoma" panose="020B0604030504040204" pitchFamily="34" charset="0"/>
                <a:cs typeface="Tahoma" panose="020B0604030504040204" pitchFamily="34" charset="0"/>
              </a:rPr>
              <a:t>Steering a driver-less car</a:t>
            </a:r>
          </a:p>
          <a:p>
            <a:pPr marL="457200" indent="-457200">
              <a:buClr>
                <a:srgbClr val="FF0000"/>
              </a:buClr>
              <a:buFont typeface="Wingdings" panose="05000000000000000000" pitchFamily="2" charset="2"/>
              <a:buChar char="q"/>
            </a:pPr>
            <a:r>
              <a:rPr lang="en-US" sz="2800" dirty="0">
                <a:latin typeface="Tahoma" panose="020B0604030504040204" pitchFamily="34" charset="0"/>
                <a:ea typeface="Tahoma" panose="020B0604030504040204" pitchFamily="34" charset="0"/>
                <a:cs typeface="Tahoma" panose="020B0604030504040204" pitchFamily="34" charset="0"/>
              </a:rPr>
              <a:t>Understanding language</a:t>
            </a:r>
          </a:p>
          <a:p>
            <a:pPr marL="457200" indent="-457200">
              <a:buClr>
                <a:srgbClr val="FF0000"/>
              </a:buClr>
              <a:buFont typeface="Wingdings" panose="05000000000000000000" pitchFamily="2" charset="2"/>
              <a:buChar char="q"/>
            </a:pPr>
            <a:r>
              <a:rPr lang="en-US" sz="2800" dirty="0" smtClean="0">
                <a:latin typeface="Tahoma" panose="020B0604030504040204" pitchFamily="34" charset="0"/>
                <a:ea typeface="Tahoma" panose="020B0604030504040204" pitchFamily="34" charset="0"/>
                <a:cs typeface="Tahoma" panose="020B0604030504040204" pitchFamily="34" charset="0"/>
              </a:rPr>
              <a:t>Monitoring </a:t>
            </a:r>
            <a:r>
              <a:rPr lang="en-US" sz="2800" dirty="0">
                <a:latin typeface="Tahoma" panose="020B0604030504040204" pitchFamily="34" charset="0"/>
                <a:ea typeface="Tahoma" panose="020B0604030504040204" pitchFamily="34" charset="0"/>
                <a:cs typeface="Tahoma" panose="020B0604030504040204" pitchFamily="34" charset="0"/>
              </a:rPr>
              <a:t>trade in the stock market to see if insider trading is going </a:t>
            </a:r>
            <a:r>
              <a:rPr lang="en-US" sz="2800" dirty="0" smtClean="0">
                <a:latin typeface="Tahoma" panose="020B0604030504040204" pitchFamily="34" charset="0"/>
                <a:ea typeface="Tahoma" panose="020B0604030504040204" pitchFamily="34" charset="0"/>
                <a:cs typeface="Tahoma" panose="020B0604030504040204" pitchFamily="34" charset="0"/>
              </a:rPr>
              <a:t>on</a:t>
            </a:r>
          </a:p>
          <a:p>
            <a:pPr marL="457200" indent="-457200">
              <a:buClr>
                <a:srgbClr val="FF0000"/>
              </a:buClr>
              <a:buFont typeface="Wingdings" panose="05000000000000000000" pitchFamily="2" charset="2"/>
              <a:buChar char="q"/>
            </a:pPr>
            <a:r>
              <a:rPr lang="en-US" sz="2800" b="1" dirty="0" smtClean="0">
                <a:latin typeface="Tahoma" panose="020B0604030504040204" pitchFamily="34" charset="0"/>
                <a:ea typeface="Tahoma" panose="020B0604030504040204" pitchFamily="34" charset="0"/>
                <a:cs typeface="Tahoma" panose="020B0604030504040204" pitchFamily="34" charset="0"/>
              </a:rPr>
              <a:t>Medicine:</a:t>
            </a:r>
            <a:r>
              <a:rPr lang="en-US" altLang="ar-JO" sz="2800" dirty="0">
                <a:latin typeface="TimesNewRomanPSMT" charset="0"/>
                <a:sym typeface="Wingdings" panose="05000000000000000000" pitchFamily="2" charset="2"/>
              </a:rPr>
              <a:t> Image guided </a:t>
            </a:r>
            <a:r>
              <a:rPr lang="en-US" altLang="ar-JO" sz="2800" dirty="0" smtClean="0">
                <a:latin typeface="TimesNewRomanPSMT" charset="0"/>
                <a:sym typeface="Wingdings" panose="05000000000000000000" pitchFamily="2" charset="2"/>
              </a:rPr>
              <a:t>surgery, </a:t>
            </a:r>
            <a:r>
              <a:rPr lang="en-US" sz="2800" dirty="0">
                <a:latin typeface="Tahoma" panose="020B0604030504040204" pitchFamily="34" charset="0"/>
                <a:ea typeface="Tahoma" panose="020B0604030504040204" pitchFamily="34" charset="0"/>
                <a:cs typeface="Tahoma" panose="020B0604030504040204" pitchFamily="34" charset="0"/>
              </a:rPr>
              <a:t>Robotic assistants in surgery</a:t>
            </a:r>
            <a:r>
              <a:rPr lang="en-US" altLang="ar-JO" sz="2800" dirty="0" smtClean="0">
                <a:latin typeface="TimesNewRomanPSMT" charset="0"/>
                <a:sym typeface="Wingdings" panose="05000000000000000000" pitchFamily="2" charset="2"/>
              </a:rPr>
              <a:t> </a:t>
            </a:r>
            <a:r>
              <a:rPr lang="en-US" altLang="ar-JO" sz="2800" dirty="0">
                <a:latin typeface="TimesNewRomanPSMT" charset="0"/>
                <a:sym typeface="Wingdings" panose="05000000000000000000" pitchFamily="2" charset="2"/>
              </a:rPr>
              <a:t>Image analysis and </a:t>
            </a:r>
            <a:r>
              <a:rPr lang="en-US" altLang="ar-JO" sz="2800" dirty="0" smtClean="0">
                <a:latin typeface="TimesNewRomanPSMT" charset="0"/>
                <a:sym typeface="Wingdings" panose="05000000000000000000" pitchFamily="2" charset="2"/>
              </a:rPr>
              <a:t>enhancement</a:t>
            </a:r>
          </a:p>
          <a:p>
            <a:pPr marL="457200" indent="-457200">
              <a:buClr>
                <a:srgbClr val="FF0000"/>
              </a:buClr>
              <a:buFont typeface="Wingdings" panose="05000000000000000000" pitchFamily="2" charset="2"/>
              <a:buChar char="q"/>
            </a:pPr>
            <a:r>
              <a:rPr lang="en-US" altLang="ar-JO" sz="2800" b="1" dirty="0">
                <a:latin typeface="TimesNewRomanPS-BoldMT" charset="0"/>
                <a:sym typeface="Wingdings" panose="05000000000000000000" pitchFamily="2" charset="2"/>
              </a:rPr>
              <a:t>Transportation</a:t>
            </a:r>
            <a:r>
              <a:rPr lang="en-US" altLang="ar-JO" sz="2800" dirty="0" smtClean="0">
                <a:sym typeface="Wingdings" panose="05000000000000000000" pitchFamily="2" charset="2"/>
              </a:rPr>
              <a:t>:</a:t>
            </a:r>
            <a:r>
              <a:rPr lang="en-US" altLang="ar-JO" sz="2800" b="1" dirty="0">
                <a:latin typeface="TimesNewRomanPS-BoldMT" charset="0"/>
                <a:sym typeface="Wingdings" panose="05000000000000000000" pitchFamily="2" charset="2"/>
              </a:rPr>
              <a:t> </a:t>
            </a:r>
            <a:r>
              <a:rPr lang="en-US" altLang="ar-JO" sz="2800" dirty="0">
                <a:latin typeface="TimesNewRomanPS-BoldMT" charset="0"/>
                <a:sym typeface="Wingdings" panose="05000000000000000000" pitchFamily="2" charset="2"/>
              </a:rPr>
              <a:t>Autonomous vehicle </a:t>
            </a:r>
            <a:r>
              <a:rPr lang="en-US" altLang="ar-JO" sz="2800" dirty="0" smtClean="0">
                <a:latin typeface="TimesNewRomanPS-BoldMT" charset="0"/>
                <a:sym typeface="Wingdings" panose="05000000000000000000" pitchFamily="2" charset="2"/>
              </a:rPr>
              <a:t>control,</a:t>
            </a:r>
            <a:r>
              <a:rPr lang="en-US" altLang="ar-JO" sz="2800" dirty="0">
                <a:latin typeface="TimesNewRomanPSMT" charset="0"/>
                <a:sym typeface="Wingdings" panose="05000000000000000000" pitchFamily="2" charset="2"/>
              </a:rPr>
              <a:t> Pedestrian </a:t>
            </a:r>
            <a:r>
              <a:rPr lang="en-US" altLang="ar-JO" sz="2800" dirty="0" smtClean="0">
                <a:latin typeface="TimesNewRomanPSMT" charset="0"/>
                <a:sym typeface="Wingdings" panose="05000000000000000000" pitchFamily="2" charset="2"/>
              </a:rPr>
              <a:t>detection</a:t>
            </a:r>
          </a:p>
        </p:txBody>
      </p:sp>
      <p:sp>
        <p:nvSpPr>
          <p:cNvPr id="5" name="TextBox 4"/>
          <p:cNvSpPr txBox="1"/>
          <p:nvPr/>
        </p:nvSpPr>
        <p:spPr>
          <a:xfrm>
            <a:off x="228600" y="228600"/>
            <a:ext cx="8686800" cy="523220"/>
          </a:xfrm>
          <a:prstGeom prst="rect">
            <a:avLst/>
          </a:prstGeom>
          <a:solidFill>
            <a:schemeClr val="tx2">
              <a:lumMod val="20000"/>
              <a:lumOff val="80000"/>
            </a:schemeClr>
          </a:solidFill>
        </p:spPr>
        <p:txBody>
          <a:bodyPr wrap="square" rtlCol="0">
            <a:spAutoFit/>
          </a:bodyPr>
          <a:lstStyle/>
          <a:p>
            <a:pPr algn="ctr"/>
            <a:r>
              <a:rPr lang="en-US" sz="2800" b="1" dirty="0" smtClean="0">
                <a:solidFill>
                  <a:srgbClr val="FF0000"/>
                </a:solidFill>
                <a:latin typeface="Tahoma" panose="020B0604030504040204" pitchFamily="34" charset="0"/>
                <a:ea typeface="Tahoma" panose="020B0604030504040204" pitchFamily="34" charset="0"/>
                <a:cs typeface="Tahoma" panose="020B0604030504040204" pitchFamily="34" charset="0"/>
              </a:rPr>
              <a:t>AI applications</a:t>
            </a:r>
            <a:endParaRPr lang="en-US" sz="28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79993227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18</a:t>
            </a:fld>
            <a:endParaRPr lang="en-US" dirty="0"/>
          </a:p>
        </p:txBody>
      </p:sp>
      <p:sp>
        <p:nvSpPr>
          <p:cNvPr id="6" name="Content Placeholder 2"/>
          <p:cNvSpPr txBox="1">
            <a:spLocks/>
          </p:cNvSpPr>
          <p:nvPr/>
        </p:nvSpPr>
        <p:spPr>
          <a:xfrm>
            <a:off x="457200" y="838200"/>
            <a:ext cx="8229600" cy="5212080"/>
          </a:xfrm>
          <a:prstGeom prst="rect">
            <a:avLst/>
          </a:prstGeom>
        </p:spPr>
        <p:txBody>
          <a:bodyPr>
            <a:noAutofit/>
          </a:bodyPr>
          <a:lstStyle/>
          <a:p>
            <a:pPr marL="457200" indent="-457200">
              <a:buClr>
                <a:srgbClr val="FF0000"/>
              </a:buClr>
              <a:buFont typeface="Wingdings" panose="05000000000000000000" pitchFamily="2" charset="2"/>
              <a:buChar char="q"/>
            </a:pPr>
            <a:r>
              <a:rPr kumimoji="1" lang="en-US" altLang="ar-JO" sz="2800" b="1" dirty="0" smtClean="0">
                <a:sym typeface="Wingdings" panose="05000000000000000000" pitchFamily="2" charset="2"/>
              </a:rPr>
              <a:t>Games</a:t>
            </a:r>
            <a:r>
              <a:rPr kumimoji="1" lang="en-US" altLang="ar-JO" sz="2800" dirty="0" smtClean="0">
                <a:sym typeface="Wingdings" panose="05000000000000000000" pitchFamily="2" charset="2"/>
              </a:rPr>
              <a:t>:</a:t>
            </a:r>
          </a:p>
          <a:p>
            <a:pPr marL="457200" indent="-457200">
              <a:buClr>
                <a:srgbClr val="FF0000"/>
              </a:buClr>
              <a:buFont typeface="Wingdings" panose="05000000000000000000" pitchFamily="2" charset="2"/>
              <a:buChar char="q"/>
            </a:pPr>
            <a:endParaRPr kumimoji="1" lang="en-US" altLang="ar-JO" sz="2800" dirty="0">
              <a:sym typeface="Wingdings" panose="05000000000000000000" pitchFamily="2" charset="2"/>
            </a:endParaRPr>
          </a:p>
          <a:p>
            <a:pPr marL="457200" indent="-457200">
              <a:buClr>
                <a:srgbClr val="FF0000"/>
              </a:buClr>
              <a:buFont typeface="Wingdings" panose="05000000000000000000" pitchFamily="2" charset="2"/>
              <a:buChar char="q"/>
            </a:pPr>
            <a:endParaRPr kumimoji="1" lang="en-US" altLang="ar-JO" sz="2800" dirty="0" smtClean="0">
              <a:sym typeface="Wingdings" panose="05000000000000000000" pitchFamily="2" charset="2"/>
            </a:endParaRPr>
          </a:p>
          <a:p>
            <a:pPr marL="457200" indent="-457200">
              <a:buClr>
                <a:srgbClr val="FF0000"/>
              </a:buClr>
              <a:buFont typeface="Wingdings" panose="05000000000000000000" pitchFamily="2" charset="2"/>
              <a:buChar char="q"/>
            </a:pPr>
            <a:endParaRPr kumimoji="1" lang="en-US" altLang="ar-JO" sz="2800" dirty="0">
              <a:sym typeface="Wingdings" panose="05000000000000000000" pitchFamily="2" charset="2"/>
            </a:endParaRPr>
          </a:p>
          <a:p>
            <a:pPr marL="457200" indent="-457200">
              <a:buClr>
                <a:srgbClr val="FF0000"/>
              </a:buClr>
              <a:buFont typeface="Wingdings" panose="05000000000000000000" pitchFamily="2" charset="2"/>
              <a:buChar char="q"/>
            </a:pPr>
            <a:endParaRPr kumimoji="1" lang="en-US" altLang="ar-JO" sz="2800" dirty="0" smtClean="0">
              <a:sym typeface="Wingdings" panose="05000000000000000000" pitchFamily="2" charset="2"/>
            </a:endParaRPr>
          </a:p>
          <a:p>
            <a:pPr marL="457200" indent="-457200">
              <a:buClr>
                <a:srgbClr val="FF0000"/>
              </a:buClr>
              <a:buFont typeface="Wingdings" panose="05000000000000000000" pitchFamily="2" charset="2"/>
              <a:buChar char="q"/>
            </a:pPr>
            <a:endParaRPr kumimoji="1" lang="en-US" altLang="ar-JO" sz="2800" dirty="0" smtClean="0">
              <a:sym typeface="Wingdings" panose="05000000000000000000" pitchFamily="2" charset="2"/>
            </a:endParaRPr>
          </a:p>
          <a:p>
            <a:pPr marL="457200" indent="-457200">
              <a:buClr>
                <a:srgbClr val="FF0000"/>
              </a:buClr>
              <a:buFont typeface="Wingdings" panose="05000000000000000000" pitchFamily="2" charset="2"/>
              <a:buChar char="q"/>
            </a:pPr>
            <a:r>
              <a:rPr kumimoji="1" lang="en-US" sz="2800" dirty="0" smtClean="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Robotic toys:</a:t>
            </a:r>
            <a:endParaRPr lang="en-US" sz="2800" dirty="0">
              <a:latin typeface="Tahoma" panose="020B0604030504040204" pitchFamily="34" charset="0"/>
              <a:ea typeface="Tahoma" panose="020B0604030504040204" pitchFamily="34" charset="0"/>
              <a:cs typeface="Tahoma" panose="020B0604030504040204" pitchFamily="34" charset="0"/>
            </a:endParaRPr>
          </a:p>
        </p:txBody>
      </p:sp>
      <p:sp>
        <p:nvSpPr>
          <p:cNvPr id="5" name="TextBox 4"/>
          <p:cNvSpPr txBox="1"/>
          <p:nvPr/>
        </p:nvSpPr>
        <p:spPr>
          <a:xfrm>
            <a:off x="228600" y="228600"/>
            <a:ext cx="8686800" cy="523220"/>
          </a:xfrm>
          <a:prstGeom prst="rect">
            <a:avLst/>
          </a:prstGeom>
          <a:solidFill>
            <a:schemeClr val="tx2">
              <a:lumMod val="20000"/>
              <a:lumOff val="80000"/>
            </a:schemeClr>
          </a:solidFill>
        </p:spPr>
        <p:txBody>
          <a:bodyPr wrap="square" rtlCol="0">
            <a:spAutoFit/>
          </a:bodyPr>
          <a:lstStyle/>
          <a:p>
            <a:pPr algn="ctr"/>
            <a:r>
              <a:rPr lang="en-US" sz="2800" b="1" dirty="0" smtClean="0">
                <a:solidFill>
                  <a:srgbClr val="FF0000"/>
                </a:solidFill>
                <a:latin typeface="Tahoma" panose="020B0604030504040204" pitchFamily="34" charset="0"/>
                <a:ea typeface="Tahoma" panose="020B0604030504040204" pitchFamily="34" charset="0"/>
                <a:cs typeface="Tahoma" panose="020B0604030504040204" pitchFamily="34" charset="0"/>
              </a:rPr>
              <a:t>AI applications</a:t>
            </a:r>
            <a:endParaRPr lang="en-US" sz="28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8"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95400" y="1599201"/>
            <a:ext cx="2477729"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4" descr="chess"/>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486400" y="1295400"/>
            <a:ext cx="1861372"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 name="Object 4"/>
          <p:cNvGraphicFramePr>
            <a:graphicFrameLocks noChangeAspect="1"/>
          </p:cNvGraphicFramePr>
          <p:nvPr/>
        </p:nvGraphicFramePr>
        <p:xfrm>
          <a:off x="838200" y="3914687"/>
          <a:ext cx="1357312" cy="1428750"/>
        </p:xfrm>
        <a:graphic>
          <a:graphicData uri="http://schemas.openxmlformats.org/presentationml/2006/ole">
            <mc:AlternateContent xmlns:mc="http://schemas.openxmlformats.org/markup-compatibility/2006">
              <mc:Choice xmlns:v="urn:schemas-microsoft-com:vml" Requires="v">
                <p:oleObj spid="_x0000_s1072" name="Bitmap Image" r:id="rId6" imgW="828720" imgH="885960" progId="Paint.Picture">
                  <p:embed/>
                </p:oleObj>
              </mc:Choice>
              <mc:Fallback>
                <p:oleObj name="Bitmap Image" r:id="rId6" imgW="828720" imgH="885960" progId="Paint.Picture">
                  <p:embed/>
                  <p:pic>
                    <p:nvPicPr>
                      <p:cNvPr id="0" name=""/>
                      <p:cNvPicPr>
                        <a:picLocks noChangeAspect="1" noChangeArrowheads="1"/>
                      </p:cNvPicPr>
                      <p:nvPr/>
                    </p:nvPicPr>
                    <p:blipFill>
                      <a:blip r:embed="rId7"/>
                      <a:srcRect/>
                      <a:stretch>
                        <a:fillRect/>
                      </a:stretch>
                    </p:blipFill>
                    <p:spPr bwMode="auto">
                      <a:xfrm>
                        <a:off x="838200" y="3914687"/>
                        <a:ext cx="1357312" cy="1428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 name="Object 5"/>
          <p:cNvGraphicFramePr>
            <a:graphicFrameLocks noChangeAspect="1"/>
          </p:cNvGraphicFramePr>
          <p:nvPr/>
        </p:nvGraphicFramePr>
        <p:xfrm>
          <a:off x="3188689" y="3493473"/>
          <a:ext cx="1487487" cy="2643187"/>
        </p:xfrm>
        <a:graphic>
          <a:graphicData uri="http://schemas.openxmlformats.org/presentationml/2006/ole">
            <mc:AlternateContent xmlns:mc="http://schemas.openxmlformats.org/markup-compatibility/2006">
              <mc:Choice xmlns:v="urn:schemas-microsoft-com:vml" Requires="v">
                <p:oleObj spid="_x0000_s1073" name="Bitmap Image" r:id="rId8" imgW="1028880" imgH="1857240" progId="Paint.Picture">
                  <p:embed/>
                </p:oleObj>
              </mc:Choice>
              <mc:Fallback>
                <p:oleObj name="Bitmap Image" r:id="rId8" imgW="1028880" imgH="1857240" progId="Paint.Picture">
                  <p:embed/>
                  <p:pic>
                    <p:nvPicPr>
                      <p:cNvPr id="0" name=""/>
                      <p:cNvPicPr>
                        <a:picLocks noChangeAspect="1" noChangeArrowheads="1"/>
                      </p:cNvPicPr>
                      <p:nvPr/>
                    </p:nvPicPr>
                    <p:blipFill>
                      <a:blip r:embed="rId9"/>
                      <a:srcRect/>
                      <a:stretch>
                        <a:fillRect/>
                      </a:stretch>
                    </p:blipFill>
                    <p:spPr bwMode="auto">
                      <a:xfrm>
                        <a:off x="3188689" y="3493473"/>
                        <a:ext cx="1487487" cy="264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54444861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19</a:t>
            </a:fld>
            <a:endParaRPr lang="en-US" dirty="0"/>
          </a:p>
        </p:txBody>
      </p:sp>
      <p:sp>
        <p:nvSpPr>
          <p:cNvPr id="6" name="Content Placeholder 2"/>
          <p:cNvSpPr txBox="1">
            <a:spLocks/>
          </p:cNvSpPr>
          <p:nvPr/>
        </p:nvSpPr>
        <p:spPr>
          <a:xfrm>
            <a:off x="603504" y="762000"/>
            <a:ext cx="8229600" cy="5212080"/>
          </a:xfrm>
          <a:prstGeom prst="rect">
            <a:avLst/>
          </a:prstGeom>
        </p:spPr>
        <p:txBody>
          <a:bodyPr>
            <a:noAutofit/>
          </a:bodyPr>
          <a:lstStyle/>
          <a:p>
            <a:pPr>
              <a:buClr>
                <a:srgbClr val="FF0000"/>
              </a:buClr>
            </a:pPr>
            <a:r>
              <a:rPr lang="en-US" altLang="ar-JO" sz="2800" b="1" dirty="0" smtClean="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Other </a:t>
            </a:r>
            <a:r>
              <a:rPr lang="en-US" altLang="ar-JO" sz="2800" b="1"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application </a:t>
            </a:r>
            <a:r>
              <a:rPr lang="en-US" altLang="ar-JO" sz="2800" b="1" dirty="0" smtClean="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areas</a:t>
            </a:r>
            <a:r>
              <a:rPr lang="en-US" altLang="ar-JO" sz="2800" dirty="0" smtClean="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a:t>
            </a:r>
          </a:p>
          <a:p>
            <a:pPr marL="457200" indent="-457200">
              <a:buClr>
                <a:srgbClr val="FF0000"/>
              </a:buClr>
              <a:buFont typeface="Wingdings" panose="05000000000000000000" pitchFamily="2" charset="2"/>
              <a:buChar char="q"/>
            </a:pPr>
            <a:r>
              <a:rPr lang="en-US" altLang="ar-JO" sz="2800" b="1" dirty="0" smtClean="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Bioinformatics:</a:t>
            </a:r>
          </a:p>
          <a:p>
            <a:pPr>
              <a:buClr>
                <a:srgbClr val="FF0000"/>
              </a:buClr>
            </a:pPr>
            <a:r>
              <a:rPr lang="en-US" altLang="ar-JO" sz="2800" dirty="0" smtClean="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Gene </a:t>
            </a:r>
            <a:r>
              <a:rPr lang="en-US" altLang="ar-JO" sz="2800"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expression data </a:t>
            </a:r>
            <a:r>
              <a:rPr lang="en-US" altLang="ar-JO" sz="2800" dirty="0" smtClean="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analysis</a:t>
            </a:r>
          </a:p>
          <a:p>
            <a:pPr>
              <a:buClr>
                <a:srgbClr val="FF0000"/>
              </a:buClr>
            </a:pPr>
            <a:r>
              <a:rPr lang="en-US" altLang="ar-JO" sz="2800" dirty="0" smtClean="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Prediction </a:t>
            </a:r>
            <a:r>
              <a:rPr lang="en-US" altLang="ar-JO" sz="2800"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of protein </a:t>
            </a:r>
            <a:r>
              <a:rPr lang="en-US" altLang="ar-JO" sz="2800" dirty="0" smtClean="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structure</a:t>
            </a:r>
          </a:p>
          <a:p>
            <a:pPr marL="457200" indent="-457200">
              <a:buClr>
                <a:srgbClr val="FF0000"/>
              </a:buClr>
              <a:buFont typeface="Wingdings" panose="05000000000000000000" pitchFamily="2" charset="2"/>
              <a:buChar char="q"/>
            </a:pPr>
            <a:r>
              <a:rPr lang="en-US" sz="2800" b="1" dirty="0">
                <a:latin typeface="Tahoma" panose="020B0604030504040204" pitchFamily="34" charset="0"/>
                <a:ea typeface="Tahoma" panose="020B0604030504040204" pitchFamily="34" charset="0"/>
                <a:cs typeface="Tahoma" panose="020B0604030504040204" pitchFamily="34" charset="0"/>
              </a:rPr>
              <a:t>Biometric Identification</a:t>
            </a:r>
          </a:p>
          <a:p>
            <a:pPr lvl="1"/>
            <a:r>
              <a:rPr lang="en-US" sz="2800" dirty="0">
                <a:latin typeface="Tahoma" panose="020B0604030504040204" pitchFamily="34" charset="0"/>
                <a:ea typeface="Tahoma" panose="020B0604030504040204" pitchFamily="34" charset="0"/>
                <a:cs typeface="Tahoma" panose="020B0604030504040204" pitchFamily="34" charset="0"/>
              </a:rPr>
              <a:t>walk up to a locked </a:t>
            </a:r>
            <a:r>
              <a:rPr lang="en-US" sz="2800" dirty="0" smtClean="0">
                <a:latin typeface="Tahoma" panose="020B0604030504040204" pitchFamily="34" charset="0"/>
                <a:ea typeface="Tahoma" panose="020B0604030504040204" pitchFamily="34" charset="0"/>
                <a:cs typeface="Tahoma" panose="020B0604030504040204" pitchFamily="34" charset="0"/>
              </a:rPr>
              <a:t>door</a:t>
            </a:r>
            <a:endParaRPr lang="en-US" sz="2800" dirty="0">
              <a:latin typeface="Tahoma" panose="020B0604030504040204" pitchFamily="34" charset="0"/>
              <a:ea typeface="Tahoma" panose="020B0604030504040204" pitchFamily="34" charset="0"/>
              <a:cs typeface="Tahoma" panose="020B0604030504040204" pitchFamily="34" charset="0"/>
            </a:endParaRPr>
          </a:p>
          <a:p>
            <a:pPr lvl="2"/>
            <a:r>
              <a:rPr lang="en-US" sz="2800" dirty="0">
                <a:latin typeface="Tahoma" panose="020B0604030504040204" pitchFamily="34" charset="0"/>
                <a:ea typeface="Tahoma" panose="020B0604030504040204" pitchFamily="34" charset="0"/>
                <a:cs typeface="Tahoma" panose="020B0604030504040204" pitchFamily="34" charset="0"/>
              </a:rPr>
              <a:t>fingerprint device</a:t>
            </a:r>
          </a:p>
          <a:p>
            <a:pPr marL="457200" indent="-457200">
              <a:buClr>
                <a:srgbClr val="FF0000"/>
              </a:buClr>
              <a:buFont typeface="Wingdings" panose="05000000000000000000" pitchFamily="2" charset="2"/>
              <a:buChar char="q"/>
            </a:pPr>
            <a:r>
              <a:rPr lang="en-US" altLang="ar-JO" sz="2800" b="1" dirty="0" smtClean="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Text </a:t>
            </a:r>
            <a:r>
              <a:rPr lang="en-US" altLang="ar-JO" sz="2800" b="1"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classification, document </a:t>
            </a:r>
            <a:r>
              <a:rPr lang="en-US" altLang="ar-JO" sz="2800" b="1" dirty="0" smtClean="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sortin</a:t>
            </a:r>
            <a:r>
              <a:rPr lang="en-US" altLang="ar-JO" sz="2800" dirty="0" smtClean="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g:</a:t>
            </a:r>
          </a:p>
          <a:p>
            <a:pPr>
              <a:buClr>
                <a:srgbClr val="FF0000"/>
              </a:buClr>
            </a:pPr>
            <a:r>
              <a:rPr lang="en-US" altLang="ar-JO" sz="2800" dirty="0" smtClean="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Web </a:t>
            </a:r>
            <a:r>
              <a:rPr lang="en-US" altLang="ar-JO" sz="2800"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pages, </a:t>
            </a:r>
            <a:r>
              <a:rPr lang="en-US" altLang="ar-JO" sz="2800" dirty="0" smtClean="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e-mails</a:t>
            </a:r>
          </a:p>
          <a:p>
            <a:pPr>
              <a:buClr>
                <a:srgbClr val="FF0000"/>
              </a:buClr>
            </a:pPr>
            <a:r>
              <a:rPr lang="en-US" altLang="ar-JO" sz="2800" dirty="0" smtClean="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Articles </a:t>
            </a:r>
            <a:r>
              <a:rPr lang="en-US" altLang="ar-JO" sz="2800"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in the </a:t>
            </a:r>
            <a:r>
              <a:rPr lang="en-US" altLang="ar-JO" sz="2800" dirty="0" smtClean="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news</a:t>
            </a:r>
          </a:p>
          <a:p>
            <a:pPr marL="457200" indent="-457200">
              <a:buClr>
                <a:srgbClr val="FF0000"/>
              </a:buClr>
              <a:buFont typeface="Wingdings" panose="05000000000000000000" pitchFamily="2" charset="2"/>
              <a:buChar char="q"/>
            </a:pPr>
            <a:r>
              <a:rPr lang="en-US" altLang="ar-JO" sz="2800" b="1" dirty="0" smtClean="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Video</a:t>
            </a:r>
            <a:r>
              <a:rPr lang="en-US" altLang="ar-JO" sz="2800" b="1"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 image </a:t>
            </a:r>
            <a:r>
              <a:rPr lang="en-US" altLang="ar-JO" sz="2800" b="1" dirty="0" smtClean="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classification</a:t>
            </a:r>
          </a:p>
          <a:p>
            <a:pPr marL="457200" indent="-457200">
              <a:buClr>
                <a:srgbClr val="FF0000"/>
              </a:buClr>
              <a:buFont typeface="Wingdings" panose="05000000000000000000" pitchFamily="2" charset="2"/>
              <a:buChar char="q"/>
            </a:pPr>
            <a:r>
              <a:rPr lang="en-US" altLang="ar-JO" sz="2800" b="1" dirty="0" smtClean="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Music </a:t>
            </a:r>
            <a:r>
              <a:rPr lang="en-US" altLang="ar-JO" sz="2800" b="1"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composition, picture </a:t>
            </a:r>
            <a:r>
              <a:rPr lang="en-US" altLang="ar-JO" sz="2800" b="1" dirty="0" smtClean="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drawing</a:t>
            </a:r>
          </a:p>
          <a:p>
            <a:pPr marL="457200" indent="-457200">
              <a:buClr>
                <a:srgbClr val="FF0000"/>
              </a:buClr>
              <a:buFont typeface="Wingdings" panose="05000000000000000000" pitchFamily="2" charset="2"/>
              <a:buChar char="q"/>
            </a:pPr>
            <a:r>
              <a:rPr lang="en-US" altLang="ar-JO" sz="2800" b="1" dirty="0" smtClean="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Natural </a:t>
            </a:r>
            <a:r>
              <a:rPr lang="en-US" altLang="ar-JO" sz="2800" b="1"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Language </a:t>
            </a:r>
            <a:r>
              <a:rPr lang="en-US" altLang="ar-JO" sz="2800" b="1" dirty="0" smtClean="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Processing</a:t>
            </a:r>
            <a:r>
              <a:rPr lang="en-US" altLang="ar-JO" sz="2800" dirty="0" smtClean="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a:t>
            </a:r>
          </a:p>
          <a:p>
            <a:pPr marL="457200" indent="-457200">
              <a:buClr>
                <a:srgbClr val="FF0000"/>
              </a:buClr>
              <a:buFont typeface="Wingdings" panose="05000000000000000000" pitchFamily="2" charset="2"/>
              <a:buChar char="q"/>
            </a:pPr>
            <a:r>
              <a:rPr lang="en-US" altLang="ar-JO" sz="2800" b="1" dirty="0" smtClean="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Perception</a:t>
            </a:r>
            <a:r>
              <a:rPr lang="en-US" altLang="ar-JO" sz="2800" b="1"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a:t>
            </a:r>
          </a:p>
        </p:txBody>
      </p:sp>
      <p:sp>
        <p:nvSpPr>
          <p:cNvPr id="5" name="TextBox 4"/>
          <p:cNvSpPr txBox="1"/>
          <p:nvPr/>
        </p:nvSpPr>
        <p:spPr>
          <a:xfrm>
            <a:off x="228600" y="228600"/>
            <a:ext cx="8686800" cy="523220"/>
          </a:xfrm>
          <a:prstGeom prst="rect">
            <a:avLst/>
          </a:prstGeom>
          <a:solidFill>
            <a:schemeClr val="tx2">
              <a:lumMod val="20000"/>
              <a:lumOff val="80000"/>
            </a:schemeClr>
          </a:solidFill>
        </p:spPr>
        <p:txBody>
          <a:bodyPr wrap="square" rtlCol="0">
            <a:spAutoFit/>
          </a:bodyPr>
          <a:lstStyle/>
          <a:p>
            <a:pPr algn="ctr"/>
            <a:r>
              <a:rPr lang="en-US" sz="2800" b="1" dirty="0" smtClean="0">
                <a:solidFill>
                  <a:srgbClr val="FF0000"/>
                </a:solidFill>
                <a:latin typeface="Tahoma" panose="020B0604030504040204" pitchFamily="34" charset="0"/>
                <a:ea typeface="Tahoma" panose="020B0604030504040204" pitchFamily="34" charset="0"/>
                <a:cs typeface="Tahoma" panose="020B0604030504040204" pitchFamily="34" charset="0"/>
              </a:rPr>
              <a:t>AI applications</a:t>
            </a:r>
            <a:endParaRPr lang="en-US" sz="28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88902197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20</a:t>
            </a:fld>
            <a:endParaRPr lang="en-US" dirty="0"/>
          </a:p>
        </p:txBody>
      </p:sp>
      <p:sp>
        <p:nvSpPr>
          <p:cNvPr id="6" name="Content Placeholder 2"/>
          <p:cNvSpPr txBox="1">
            <a:spLocks/>
          </p:cNvSpPr>
          <p:nvPr/>
        </p:nvSpPr>
        <p:spPr>
          <a:xfrm>
            <a:off x="457200" y="838200"/>
            <a:ext cx="8229600" cy="5212080"/>
          </a:xfrm>
          <a:prstGeom prst="rect">
            <a:avLst/>
          </a:prstGeom>
        </p:spPr>
        <p:txBody>
          <a:bodyPr>
            <a:noAutofit/>
          </a:bodyPr>
          <a:lstStyle/>
          <a:p>
            <a:pPr algn="just">
              <a:buClr>
                <a:srgbClr val="FF0000"/>
              </a:buClr>
            </a:pPr>
            <a:r>
              <a:rPr lang="en-US" altLang="ar-JO" sz="2800" b="1" dirty="0" smtClean="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Other </a:t>
            </a:r>
            <a:r>
              <a:rPr lang="en-US" altLang="ar-JO" sz="2800" b="1"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application </a:t>
            </a:r>
            <a:r>
              <a:rPr lang="en-US" altLang="ar-JO" sz="2800" b="1" dirty="0" smtClean="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areas</a:t>
            </a:r>
            <a:r>
              <a:rPr lang="en-US" altLang="ar-JO" sz="2800" dirty="0" smtClean="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a:t>
            </a:r>
          </a:p>
          <a:p>
            <a:pPr marL="285750" indent="-285750" algn="just">
              <a:buClr>
                <a:srgbClr val="FF0000"/>
              </a:buClr>
              <a:buFont typeface="Wingdings" panose="05000000000000000000" pitchFamily="2" charset="2"/>
              <a:buChar char="q"/>
            </a:pPr>
            <a:r>
              <a:rPr lang="en-US" sz="2800" b="1" dirty="0" smtClean="0">
                <a:latin typeface="Tahoma" panose="020B0604030504040204" pitchFamily="34" charset="0"/>
                <a:ea typeface="Tahoma" panose="020B0604030504040204" pitchFamily="34" charset="0"/>
                <a:cs typeface="Tahoma" panose="020B0604030504040204" pitchFamily="34" charset="0"/>
              </a:rPr>
              <a:t>Speech </a:t>
            </a:r>
            <a:r>
              <a:rPr lang="en-US" sz="2800" b="1" dirty="0">
                <a:latin typeface="Tahoma" panose="020B0604030504040204" pitchFamily="34" charset="0"/>
                <a:ea typeface="Tahoma" panose="020B0604030504040204" pitchFamily="34" charset="0"/>
                <a:cs typeface="Tahoma" panose="020B0604030504040204" pitchFamily="34" charset="0"/>
              </a:rPr>
              <a:t>synthesis, recognition and understanding</a:t>
            </a:r>
          </a:p>
          <a:p>
            <a:pPr marL="914400" lvl="1" indent="-457200" algn="just">
              <a:buClr>
                <a:srgbClr val="FF0000"/>
              </a:buClr>
              <a:buFont typeface="Arial" panose="020B0604020202020204" pitchFamily="34" charset="0"/>
              <a:buChar char="•"/>
            </a:pPr>
            <a:r>
              <a:rPr lang="en-US" sz="2800" dirty="0">
                <a:latin typeface="Tahoma" panose="020B0604030504040204" pitchFamily="34" charset="0"/>
                <a:ea typeface="Tahoma" panose="020B0604030504040204" pitchFamily="34" charset="0"/>
                <a:cs typeface="Tahoma" panose="020B0604030504040204" pitchFamily="34" charset="0"/>
              </a:rPr>
              <a:t>very useful for limited vocabulary applications</a:t>
            </a:r>
          </a:p>
          <a:p>
            <a:pPr marL="914400" lvl="1" indent="-457200" algn="just">
              <a:buClr>
                <a:srgbClr val="FF0000"/>
              </a:buClr>
              <a:buFont typeface="Arial" panose="020B0604020202020204" pitchFamily="34" charset="0"/>
              <a:buChar char="•"/>
            </a:pPr>
            <a:r>
              <a:rPr lang="en-US" sz="2800" dirty="0">
                <a:latin typeface="Tahoma" panose="020B0604030504040204" pitchFamily="34" charset="0"/>
                <a:ea typeface="Tahoma" panose="020B0604030504040204" pitchFamily="34" charset="0"/>
                <a:cs typeface="Tahoma" panose="020B0604030504040204" pitchFamily="34" charset="0"/>
              </a:rPr>
              <a:t>unconstrained speech understanding is still too hard</a:t>
            </a:r>
          </a:p>
          <a:p>
            <a:pPr marL="285750" indent="-285750" algn="just">
              <a:buClr>
                <a:srgbClr val="FF0000"/>
              </a:buClr>
              <a:buFont typeface="Wingdings" panose="05000000000000000000" pitchFamily="2" charset="2"/>
              <a:buChar char="q"/>
            </a:pPr>
            <a:r>
              <a:rPr lang="en-US" sz="2800" b="1" dirty="0">
                <a:latin typeface="Tahoma" panose="020B0604030504040204" pitchFamily="34" charset="0"/>
                <a:ea typeface="Tahoma" panose="020B0604030504040204" pitchFamily="34" charset="0"/>
                <a:cs typeface="Tahoma" panose="020B0604030504040204" pitchFamily="34" charset="0"/>
              </a:rPr>
              <a:t>Computer vision</a:t>
            </a:r>
          </a:p>
          <a:p>
            <a:pPr marL="914400" lvl="1" indent="-457200" algn="just">
              <a:buClr>
                <a:srgbClr val="FF0000"/>
              </a:buClr>
              <a:buFont typeface="Arial" panose="020B0604020202020204" pitchFamily="34" charset="0"/>
              <a:buChar char="•"/>
            </a:pPr>
            <a:r>
              <a:rPr lang="en-US" sz="2800" dirty="0">
                <a:latin typeface="Tahoma" panose="020B0604030504040204" pitchFamily="34" charset="0"/>
                <a:ea typeface="Tahoma" panose="020B0604030504040204" pitchFamily="34" charset="0"/>
                <a:cs typeface="Tahoma" panose="020B0604030504040204" pitchFamily="34" charset="0"/>
              </a:rPr>
              <a:t>works for constrained problems (hand-written zip-codes)</a:t>
            </a:r>
          </a:p>
          <a:p>
            <a:pPr marL="914400" lvl="1" indent="-457200" algn="just">
              <a:buClr>
                <a:srgbClr val="FF0000"/>
              </a:buClr>
              <a:buFont typeface="Arial" panose="020B0604020202020204" pitchFamily="34" charset="0"/>
              <a:buChar char="•"/>
            </a:pPr>
            <a:r>
              <a:rPr lang="en-US" sz="2800" dirty="0">
                <a:latin typeface="Tahoma" panose="020B0604030504040204" pitchFamily="34" charset="0"/>
                <a:ea typeface="Tahoma" panose="020B0604030504040204" pitchFamily="34" charset="0"/>
                <a:cs typeface="Tahoma" panose="020B0604030504040204" pitchFamily="34" charset="0"/>
              </a:rPr>
              <a:t>understanding real-world, natural scenes is still too </a:t>
            </a:r>
            <a:r>
              <a:rPr lang="en-US" sz="2800" dirty="0" smtClean="0">
                <a:latin typeface="Tahoma" panose="020B0604030504040204" pitchFamily="34" charset="0"/>
                <a:ea typeface="Tahoma" panose="020B0604030504040204" pitchFamily="34" charset="0"/>
                <a:cs typeface="Tahoma" panose="020B0604030504040204" pitchFamily="34" charset="0"/>
              </a:rPr>
              <a:t>hard</a:t>
            </a:r>
            <a:endParaRPr lang="en-US" sz="2800" dirty="0">
              <a:latin typeface="Tahoma" panose="020B0604030504040204" pitchFamily="34" charset="0"/>
              <a:ea typeface="Tahoma" panose="020B0604030504040204" pitchFamily="34" charset="0"/>
              <a:cs typeface="Tahoma" panose="020B0604030504040204" pitchFamily="34" charset="0"/>
            </a:endParaRPr>
          </a:p>
        </p:txBody>
      </p:sp>
      <p:sp>
        <p:nvSpPr>
          <p:cNvPr id="5" name="TextBox 4"/>
          <p:cNvSpPr txBox="1"/>
          <p:nvPr/>
        </p:nvSpPr>
        <p:spPr>
          <a:xfrm>
            <a:off x="228600" y="228600"/>
            <a:ext cx="8686800" cy="523220"/>
          </a:xfrm>
          <a:prstGeom prst="rect">
            <a:avLst/>
          </a:prstGeom>
          <a:solidFill>
            <a:schemeClr val="tx2">
              <a:lumMod val="20000"/>
              <a:lumOff val="80000"/>
            </a:schemeClr>
          </a:solidFill>
        </p:spPr>
        <p:txBody>
          <a:bodyPr wrap="square" rtlCol="0">
            <a:spAutoFit/>
          </a:bodyPr>
          <a:lstStyle/>
          <a:p>
            <a:pPr algn="ctr"/>
            <a:r>
              <a:rPr lang="en-US" sz="2800" b="1" dirty="0" smtClean="0">
                <a:solidFill>
                  <a:srgbClr val="FF0000"/>
                </a:solidFill>
                <a:latin typeface="Tahoma" panose="020B0604030504040204" pitchFamily="34" charset="0"/>
                <a:ea typeface="Tahoma" panose="020B0604030504040204" pitchFamily="34" charset="0"/>
                <a:cs typeface="Tahoma" panose="020B0604030504040204" pitchFamily="34" charset="0"/>
              </a:rPr>
              <a:t>AI applications</a:t>
            </a:r>
            <a:endParaRPr lang="en-US" sz="28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2690364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21</a:t>
            </a:fld>
            <a:endParaRPr lang="en-US" dirty="0"/>
          </a:p>
        </p:txBody>
      </p:sp>
      <p:sp>
        <p:nvSpPr>
          <p:cNvPr id="6" name="Content Placeholder 2"/>
          <p:cNvSpPr txBox="1">
            <a:spLocks/>
          </p:cNvSpPr>
          <p:nvPr/>
        </p:nvSpPr>
        <p:spPr>
          <a:xfrm>
            <a:off x="457200" y="838200"/>
            <a:ext cx="8229600" cy="5212080"/>
          </a:xfrm>
          <a:prstGeom prst="rect">
            <a:avLst/>
          </a:prstGeom>
        </p:spPr>
        <p:txBody>
          <a:bodyPr>
            <a:noAutofit/>
          </a:bodyPr>
          <a:lstStyle/>
          <a:p>
            <a:pPr algn="just">
              <a:buClr>
                <a:srgbClr val="FF0000"/>
              </a:buClr>
            </a:pPr>
            <a:r>
              <a:rPr lang="en-US" altLang="ar-JO" sz="1400" b="1" dirty="0" smtClean="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Other </a:t>
            </a:r>
            <a:r>
              <a:rPr lang="en-US" altLang="ar-JO" sz="1400" b="1"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application </a:t>
            </a:r>
            <a:r>
              <a:rPr lang="en-US" altLang="ar-JO" sz="1400" b="1" dirty="0" smtClean="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areas</a:t>
            </a:r>
            <a:r>
              <a:rPr lang="en-US" altLang="ar-JO" sz="1400" dirty="0" smtClean="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a:t>
            </a:r>
          </a:p>
          <a:p>
            <a:pPr marL="285750" indent="-285750" algn="just">
              <a:buClr>
                <a:srgbClr val="FF0000"/>
              </a:buClr>
              <a:buFont typeface="Wingdings" panose="05000000000000000000" pitchFamily="2" charset="2"/>
              <a:buChar char="q"/>
            </a:pPr>
            <a:r>
              <a:rPr lang="en-US" sz="1400" b="1" dirty="0" smtClean="0">
                <a:latin typeface="Tahoma" panose="020B0604030504040204" pitchFamily="34" charset="0"/>
                <a:ea typeface="Tahoma" panose="020B0604030504040204" pitchFamily="34" charset="0"/>
                <a:cs typeface="Tahoma" panose="020B0604030504040204" pitchFamily="34" charset="0"/>
              </a:rPr>
              <a:t>Speech synthesis, recognition and understanding</a:t>
            </a:r>
          </a:p>
          <a:p>
            <a:pPr marL="914400" lvl="1" indent="-457200" algn="just">
              <a:buClr>
                <a:srgbClr val="FF0000"/>
              </a:buClr>
              <a:buFont typeface="Arial" panose="020B0604020202020204" pitchFamily="34" charset="0"/>
              <a:buChar char="•"/>
            </a:pPr>
            <a:r>
              <a:rPr lang="en-US" sz="1400" dirty="0" smtClean="0">
                <a:latin typeface="Tahoma" panose="020B0604030504040204" pitchFamily="34" charset="0"/>
                <a:ea typeface="Tahoma" panose="020B0604030504040204" pitchFamily="34" charset="0"/>
                <a:cs typeface="Tahoma" panose="020B0604030504040204" pitchFamily="34" charset="0"/>
              </a:rPr>
              <a:t>very useful for limited vocabulary applications</a:t>
            </a:r>
          </a:p>
          <a:p>
            <a:pPr marL="914400" lvl="1" indent="-457200" algn="just">
              <a:buClr>
                <a:srgbClr val="FF0000"/>
              </a:buClr>
              <a:buFont typeface="Arial" panose="020B0604020202020204" pitchFamily="34" charset="0"/>
              <a:buChar char="•"/>
            </a:pPr>
            <a:r>
              <a:rPr lang="en-US" sz="1400" dirty="0" smtClean="0">
                <a:latin typeface="Tahoma" panose="020B0604030504040204" pitchFamily="34" charset="0"/>
                <a:ea typeface="Tahoma" panose="020B0604030504040204" pitchFamily="34" charset="0"/>
                <a:cs typeface="Tahoma" panose="020B0604030504040204" pitchFamily="34" charset="0"/>
              </a:rPr>
              <a:t>unconstrained speech understanding is still too hard</a:t>
            </a:r>
          </a:p>
          <a:p>
            <a:pPr marL="285750" indent="-285750" algn="just">
              <a:buClr>
                <a:srgbClr val="FF0000"/>
              </a:buClr>
              <a:buFont typeface="Wingdings" panose="05000000000000000000" pitchFamily="2" charset="2"/>
              <a:buChar char="q"/>
            </a:pPr>
            <a:r>
              <a:rPr lang="en-US" sz="1400" b="1" dirty="0" smtClean="0">
                <a:latin typeface="Tahoma" panose="020B0604030504040204" pitchFamily="34" charset="0"/>
                <a:ea typeface="Tahoma" panose="020B0604030504040204" pitchFamily="34" charset="0"/>
                <a:cs typeface="Tahoma" panose="020B0604030504040204" pitchFamily="34" charset="0"/>
              </a:rPr>
              <a:t>Computer vision</a:t>
            </a:r>
          </a:p>
          <a:p>
            <a:pPr marL="914400" lvl="1" indent="-457200" algn="just">
              <a:buClr>
                <a:srgbClr val="FF0000"/>
              </a:buClr>
              <a:buFont typeface="Arial" panose="020B0604020202020204" pitchFamily="34" charset="0"/>
              <a:buChar char="•"/>
            </a:pPr>
            <a:r>
              <a:rPr lang="en-US" sz="1400" dirty="0" smtClean="0">
                <a:latin typeface="Tahoma" panose="020B0604030504040204" pitchFamily="34" charset="0"/>
                <a:ea typeface="Tahoma" panose="020B0604030504040204" pitchFamily="34" charset="0"/>
                <a:cs typeface="Tahoma" panose="020B0604030504040204" pitchFamily="34" charset="0"/>
              </a:rPr>
              <a:t>works for constrained problems (hand-written zip-codes)</a:t>
            </a:r>
          </a:p>
          <a:p>
            <a:pPr marL="914400" lvl="1" indent="-457200" algn="just">
              <a:buClr>
                <a:srgbClr val="FF0000"/>
              </a:buClr>
              <a:buFont typeface="Arial" panose="020B0604020202020204" pitchFamily="34" charset="0"/>
              <a:buChar char="•"/>
            </a:pPr>
            <a:r>
              <a:rPr lang="en-US" sz="1400" dirty="0" smtClean="0">
                <a:latin typeface="Tahoma" panose="020B0604030504040204" pitchFamily="34" charset="0"/>
                <a:ea typeface="Tahoma" panose="020B0604030504040204" pitchFamily="34" charset="0"/>
                <a:cs typeface="Tahoma" panose="020B0604030504040204" pitchFamily="34" charset="0"/>
              </a:rPr>
              <a:t>understanding real-world, natural scenes is still too hard</a:t>
            </a:r>
          </a:p>
          <a:p>
            <a:pPr marL="285750" indent="-285750" algn="just">
              <a:buClr>
                <a:srgbClr val="FF0000"/>
              </a:buClr>
              <a:buFont typeface="Wingdings" panose="05000000000000000000" pitchFamily="2" charset="2"/>
              <a:buChar char="q"/>
            </a:pPr>
            <a:r>
              <a:rPr lang="en-US" sz="1400" b="1" dirty="0" smtClean="0">
                <a:latin typeface="Tahoma" panose="020B0604030504040204" pitchFamily="34" charset="0"/>
                <a:ea typeface="Tahoma" panose="020B0604030504040204" pitchFamily="34" charset="0"/>
                <a:cs typeface="Tahoma" panose="020B0604030504040204" pitchFamily="34" charset="0"/>
              </a:rPr>
              <a:t>Learning</a:t>
            </a:r>
            <a:endParaRPr lang="en-US" sz="1400" b="1" dirty="0">
              <a:latin typeface="Tahoma" panose="020B0604030504040204" pitchFamily="34" charset="0"/>
              <a:ea typeface="Tahoma" panose="020B0604030504040204" pitchFamily="34" charset="0"/>
              <a:cs typeface="Tahoma" panose="020B0604030504040204" pitchFamily="34" charset="0"/>
            </a:endParaRPr>
          </a:p>
          <a:p>
            <a:pPr marL="914400" lvl="1" indent="-457200" algn="just">
              <a:buClr>
                <a:srgbClr val="FF0000"/>
              </a:buClr>
              <a:buFont typeface="Arial" panose="020B0604020202020204" pitchFamily="34" charset="0"/>
              <a:buChar char="•"/>
            </a:pPr>
            <a:r>
              <a:rPr lang="en-US" sz="1400" dirty="0">
                <a:latin typeface="Tahoma" panose="020B0604030504040204" pitchFamily="34" charset="0"/>
                <a:ea typeface="Tahoma" panose="020B0604030504040204" pitchFamily="34" charset="0"/>
                <a:cs typeface="Tahoma" panose="020B0604030504040204" pitchFamily="34" charset="0"/>
              </a:rPr>
              <a:t>adaptive systems are used in many applications: have their </a:t>
            </a:r>
            <a:r>
              <a:rPr lang="en-US" sz="1400" dirty="0" smtClean="0">
                <a:latin typeface="Tahoma" panose="020B0604030504040204" pitchFamily="34" charset="0"/>
                <a:ea typeface="Tahoma" panose="020B0604030504040204" pitchFamily="34" charset="0"/>
                <a:cs typeface="Tahoma" panose="020B0604030504040204" pitchFamily="34" charset="0"/>
              </a:rPr>
              <a:t>limits</a:t>
            </a:r>
          </a:p>
          <a:p>
            <a:pPr marL="285750" indent="-285750" algn="just">
              <a:buClr>
                <a:srgbClr val="FF0000"/>
              </a:buClr>
              <a:buFont typeface="Wingdings" panose="05000000000000000000" pitchFamily="2" charset="2"/>
              <a:buChar char="q"/>
            </a:pPr>
            <a:r>
              <a:rPr lang="en-US" sz="1400" b="1" dirty="0">
                <a:latin typeface="Tahoma" panose="020B0604030504040204" pitchFamily="34" charset="0"/>
                <a:ea typeface="Tahoma" panose="020B0604030504040204" pitchFamily="34" charset="0"/>
                <a:cs typeface="Tahoma" panose="020B0604030504040204" pitchFamily="34" charset="0"/>
              </a:rPr>
              <a:t>Post Office</a:t>
            </a:r>
          </a:p>
          <a:p>
            <a:pPr marL="914400" lvl="1" indent="-457200" algn="just">
              <a:buClr>
                <a:srgbClr val="FF0000"/>
              </a:buClr>
              <a:buFont typeface="Arial" panose="020B0604020202020204" pitchFamily="34" charset="0"/>
              <a:buChar char="•"/>
            </a:pPr>
            <a:r>
              <a:rPr lang="en-US" sz="1400" dirty="0">
                <a:latin typeface="Tahoma" panose="020B0604030504040204" pitchFamily="34" charset="0"/>
                <a:ea typeface="Tahoma" panose="020B0604030504040204" pitchFamily="34" charset="0"/>
                <a:cs typeface="Tahoma" panose="020B0604030504040204" pitchFamily="34" charset="0"/>
              </a:rPr>
              <a:t>automatic address recognition and sorting of mail</a:t>
            </a:r>
            <a:br>
              <a:rPr lang="en-US" sz="1400" dirty="0">
                <a:latin typeface="Tahoma" panose="020B0604030504040204" pitchFamily="34" charset="0"/>
                <a:ea typeface="Tahoma" panose="020B0604030504040204" pitchFamily="34" charset="0"/>
                <a:cs typeface="Tahoma" panose="020B0604030504040204" pitchFamily="34" charset="0"/>
              </a:rPr>
            </a:br>
            <a:endParaRPr lang="en-US" sz="1400" dirty="0" smtClean="0">
              <a:latin typeface="Tahoma" panose="020B0604030504040204" pitchFamily="34" charset="0"/>
              <a:ea typeface="Tahoma" panose="020B0604030504040204" pitchFamily="34" charset="0"/>
              <a:cs typeface="Tahoma" panose="020B0604030504040204" pitchFamily="34" charset="0"/>
            </a:endParaRPr>
          </a:p>
          <a:p>
            <a:pPr marL="285750" indent="-285750" algn="just">
              <a:buClr>
                <a:srgbClr val="FF0000"/>
              </a:buClr>
              <a:buFont typeface="Wingdings" panose="05000000000000000000" pitchFamily="2" charset="2"/>
              <a:buChar char="q"/>
            </a:pPr>
            <a:r>
              <a:rPr lang="en-US" sz="1400" b="1" dirty="0" smtClean="0">
                <a:latin typeface="Tahoma" panose="020B0604030504040204" pitchFamily="34" charset="0"/>
                <a:ea typeface="Tahoma" panose="020B0604030504040204" pitchFamily="34" charset="0"/>
                <a:cs typeface="Tahoma" panose="020B0604030504040204" pitchFamily="34" charset="0"/>
              </a:rPr>
              <a:t>Banks</a:t>
            </a:r>
          </a:p>
          <a:p>
            <a:pPr marL="914400" lvl="1" indent="-457200" algn="just">
              <a:buClr>
                <a:srgbClr val="FF0000"/>
              </a:buClr>
              <a:buFont typeface="Arial" panose="020B0604020202020204" pitchFamily="34" charset="0"/>
              <a:buChar char="•"/>
            </a:pPr>
            <a:r>
              <a:rPr lang="en-US" sz="1400" dirty="0" smtClean="0">
                <a:latin typeface="Tahoma" panose="020B0604030504040204" pitchFamily="34" charset="0"/>
                <a:ea typeface="Tahoma" panose="020B0604030504040204" pitchFamily="34" charset="0"/>
                <a:cs typeface="Tahoma" panose="020B0604030504040204" pitchFamily="34" charset="0"/>
              </a:rPr>
              <a:t>automatic </a:t>
            </a:r>
            <a:r>
              <a:rPr lang="en-US" sz="1400" dirty="0">
                <a:latin typeface="Tahoma" panose="020B0604030504040204" pitchFamily="34" charset="0"/>
                <a:ea typeface="Tahoma" panose="020B0604030504040204" pitchFamily="34" charset="0"/>
                <a:cs typeface="Tahoma" panose="020B0604030504040204" pitchFamily="34" charset="0"/>
              </a:rPr>
              <a:t>check readers, signature verification systems</a:t>
            </a:r>
          </a:p>
          <a:p>
            <a:pPr marL="914400" lvl="1" indent="-457200" algn="just">
              <a:buClr>
                <a:srgbClr val="FF0000"/>
              </a:buClr>
              <a:buFont typeface="Arial" panose="020B0604020202020204" pitchFamily="34" charset="0"/>
              <a:buChar char="•"/>
            </a:pPr>
            <a:r>
              <a:rPr lang="en-US" sz="1400" dirty="0">
                <a:latin typeface="Tahoma" panose="020B0604030504040204" pitchFamily="34" charset="0"/>
                <a:ea typeface="Tahoma" panose="020B0604030504040204" pitchFamily="34" charset="0"/>
                <a:cs typeface="Tahoma" panose="020B0604030504040204" pitchFamily="34" charset="0"/>
              </a:rPr>
              <a:t>automated loan application classification</a:t>
            </a:r>
            <a:br>
              <a:rPr lang="en-US" sz="1400" dirty="0">
                <a:latin typeface="Tahoma" panose="020B0604030504040204" pitchFamily="34" charset="0"/>
                <a:ea typeface="Tahoma" panose="020B0604030504040204" pitchFamily="34" charset="0"/>
                <a:cs typeface="Tahoma" panose="020B0604030504040204" pitchFamily="34" charset="0"/>
              </a:rPr>
            </a:br>
            <a:endParaRPr lang="en-US" sz="1400" dirty="0">
              <a:latin typeface="Tahoma" panose="020B0604030504040204" pitchFamily="34" charset="0"/>
              <a:ea typeface="Tahoma" panose="020B0604030504040204" pitchFamily="34" charset="0"/>
              <a:cs typeface="Tahoma" panose="020B0604030504040204" pitchFamily="34" charset="0"/>
            </a:endParaRPr>
          </a:p>
          <a:p>
            <a:pPr marL="285750" indent="-285750" algn="just">
              <a:buClr>
                <a:srgbClr val="FF0000"/>
              </a:buClr>
              <a:buFont typeface="Wingdings" panose="05000000000000000000" pitchFamily="2" charset="2"/>
              <a:buChar char="q"/>
            </a:pPr>
            <a:r>
              <a:rPr lang="en-US" sz="1400" b="1" dirty="0">
                <a:latin typeface="Tahoma" panose="020B0604030504040204" pitchFamily="34" charset="0"/>
                <a:ea typeface="Tahoma" panose="020B0604030504040204" pitchFamily="34" charset="0"/>
                <a:cs typeface="Tahoma" panose="020B0604030504040204" pitchFamily="34" charset="0"/>
              </a:rPr>
              <a:t>Telephone Companies</a:t>
            </a:r>
          </a:p>
          <a:p>
            <a:pPr marL="914400" lvl="1" indent="-457200" algn="just">
              <a:buClr>
                <a:srgbClr val="FF0000"/>
              </a:buClr>
              <a:buFont typeface="Arial" panose="020B0604020202020204" pitchFamily="34" charset="0"/>
              <a:buChar char="•"/>
            </a:pPr>
            <a:r>
              <a:rPr lang="en-US" sz="1400" dirty="0">
                <a:latin typeface="Tahoma" panose="020B0604030504040204" pitchFamily="34" charset="0"/>
                <a:ea typeface="Tahoma" panose="020B0604030504040204" pitchFamily="34" charset="0"/>
                <a:cs typeface="Tahoma" panose="020B0604030504040204" pitchFamily="34" charset="0"/>
              </a:rPr>
              <a:t>automatic voice recognition for directory inquiries</a:t>
            </a:r>
          </a:p>
          <a:p>
            <a:pPr marL="914400" lvl="1" indent="-457200" algn="just">
              <a:buClr>
                <a:srgbClr val="FF0000"/>
              </a:buClr>
              <a:buFont typeface="Arial" panose="020B0604020202020204" pitchFamily="34" charset="0"/>
              <a:buChar char="•"/>
            </a:pPr>
            <a:r>
              <a:rPr lang="en-US" sz="1400" dirty="0">
                <a:latin typeface="Tahoma" panose="020B0604030504040204" pitchFamily="34" charset="0"/>
                <a:ea typeface="Tahoma" panose="020B0604030504040204" pitchFamily="34" charset="0"/>
                <a:cs typeface="Tahoma" panose="020B0604030504040204" pitchFamily="34" charset="0"/>
              </a:rPr>
              <a:t>automatic fraud detection, </a:t>
            </a:r>
          </a:p>
          <a:p>
            <a:pPr marL="914400" lvl="1" indent="-457200" algn="just">
              <a:buClr>
                <a:srgbClr val="FF0000"/>
              </a:buClr>
              <a:buFont typeface="Arial" panose="020B0604020202020204" pitchFamily="34" charset="0"/>
              <a:buChar char="•"/>
            </a:pPr>
            <a:r>
              <a:rPr lang="en-US" sz="1400" dirty="0">
                <a:latin typeface="Tahoma" panose="020B0604030504040204" pitchFamily="34" charset="0"/>
                <a:ea typeface="Tahoma" panose="020B0604030504040204" pitchFamily="34" charset="0"/>
                <a:cs typeface="Tahoma" panose="020B0604030504040204" pitchFamily="34" charset="0"/>
              </a:rPr>
              <a:t>classification of phone numbers into groups</a:t>
            </a:r>
            <a:br>
              <a:rPr lang="en-US" sz="1400" dirty="0">
                <a:latin typeface="Tahoma" panose="020B0604030504040204" pitchFamily="34" charset="0"/>
                <a:ea typeface="Tahoma" panose="020B0604030504040204" pitchFamily="34" charset="0"/>
                <a:cs typeface="Tahoma" panose="020B0604030504040204" pitchFamily="34" charset="0"/>
              </a:rPr>
            </a:br>
            <a:endParaRPr lang="en-US" sz="1400" dirty="0">
              <a:latin typeface="Tahoma" panose="020B0604030504040204" pitchFamily="34" charset="0"/>
              <a:ea typeface="Tahoma" panose="020B0604030504040204" pitchFamily="34" charset="0"/>
              <a:cs typeface="Tahoma" panose="020B0604030504040204" pitchFamily="34" charset="0"/>
            </a:endParaRPr>
          </a:p>
          <a:p>
            <a:pPr marL="285750" indent="-285750" algn="just">
              <a:buClr>
                <a:srgbClr val="FF0000"/>
              </a:buClr>
              <a:buFont typeface="Wingdings" panose="05000000000000000000" pitchFamily="2" charset="2"/>
              <a:buChar char="q"/>
            </a:pPr>
            <a:r>
              <a:rPr lang="en-US" sz="1400" b="1" dirty="0">
                <a:latin typeface="Tahoma" panose="020B0604030504040204" pitchFamily="34" charset="0"/>
                <a:ea typeface="Tahoma" panose="020B0604030504040204" pitchFamily="34" charset="0"/>
                <a:cs typeface="Tahoma" panose="020B0604030504040204" pitchFamily="34" charset="0"/>
              </a:rPr>
              <a:t>Credit Card Companies</a:t>
            </a:r>
          </a:p>
          <a:p>
            <a:pPr marL="914400" lvl="1" indent="-457200" algn="just">
              <a:buClr>
                <a:srgbClr val="FF0000"/>
              </a:buClr>
              <a:buFont typeface="Arial" panose="020B0604020202020204" pitchFamily="34" charset="0"/>
              <a:buChar char="•"/>
            </a:pPr>
            <a:r>
              <a:rPr lang="en-US" sz="1400" dirty="0">
                <a:latin typeface="Tahoma" panose="020B0604030504040204" pitchFamily="34" charset="0"/>
                <a:ea typeface="Tahoma" panose="020B0604030504040204" pitchFamily="34" charset="0"/>
                <a:cs typeface="Tahoma" panose="020B0604030504040204" pitchFamily="34" charset="0"/>
              </a:rPr>
              <a:t>automated fraud detection, automated screening of </a:t>
            </a:r>
            <a:r>
              <a:rPr lang="en-US" sz="1400" dirty="0" smtClean="0">
                <a:latin typeface="Tahoma" panose="020B0604030504040204" pitchFamily="34" charset="0"/>
                <a:ea typeface="Tahoma" panose="020B0604030504040204" pitchFamily="34" charset="0"/>
                <a:cs typeface="Tahoma" panose="020B0604030504040204" pitchFamily="34" charset="0"/>
              </a:rPr>
              <a:t>applications</a:t>
            </a:r>
          </a:p>
          <a:p>
            <a:pPr marL="285750" indent="-285750" algn="just">
              <a:buClr>
                <a:srgbClr val="FF0000"/>
              </a:buClr>
              <a:buFont typeface="Wingdings" panose="05000000000000000000" pitchFamily="2" charset="2"/>
              <a:buChar char="q"/>
            </a:pPr>
            <a:r>
              <a:rPr lang="en-US" sz="1400" b="1" dirty="0">
                <a:latin typeface="Tahoma" panose="020B0604030504040204" pitchFamily="34" charset="0"/>
                <a:ea typeface="Tahoma" panose="020B0604030504040204" pitchFamily="34" charset="0"/>
                <a:cs typeface="Tahoma" panose="020B0604030504040204" pitchFamily="34" charset="0"/>
              </a:rPr>
              <a:t>ID cards </a:t>
            </a:r>
          </a:p>
          <a:p>
            <a:pPr marL="914400" lvl="1" indent="-457200" algn="just">
              <a:buClr>
                <a:srgbClr val="FF0000"/>
              </a:buClr>
              <a:buFont typeface="Arial" panose="020B0604020202020204" pitchFamily="34" charset="0"/>
              <a:buChar char="•"/>
            </a:pPr>
            <a:r>
              <a:rPr lang="en-US" sz="1400" dirty="0">
                <a:latin typeface="Tahoma" panose="020B0604030504040204" pitchFamily="34" charset="0"/>
                <a:ea typeface="Tahoma" panose="020B0604030504040204" pitchFamily="34" charset="0"/>
                <a:cs typeface="Tahoma" panose="020B0604030504040204" pitchFamily="34" charset="0"/>
              </a:rPr>
              <a:t>e.g., ATM cards</a:t>
            </a:r>
          </a:p>
          <a:p>
            <a:pPr marL="914400" lvl="1" indent="-457200" algn="just">
              <a:buClr>
                <a:srgbClr val="FF0000"/>
              </a:buClr>
              <a:buFont typeface="Arial" panose="020B0604020202020204" pitchFamily="34" charset="0"/>
              <a:buChar char="•"/>
            </a:pPr>
            <a:r>
              <a:rPr lang="en-US" sz="1400" dirty="0">
                <a:latin typeface="Tahoma" panose="020B0604030504040204" pitchFamily="34" charset="0"/>
                <a:ea typeface="Tahoma" panose="020B0604030504040204" pitchFamily="34" charset="0"/>
                <a:cs typeface="Tahoma" panose="020B0604030504040204" pitchFamily="34" charset="0"/>
              </a:rPr>
              <a:t>can be a nuisance and security risk:</a:t>
            </a:r>
          </a:p>
          <a:p>
            <a:pPr marL="1371600" lvl="2" indent="-457200" algn="just">
              <a:buClr>
                <a:srgbClr val="FF0000"/>
              </a:buClr>
              <a:buFont typeface="Arial" panose="020B0604020202020204" pitchFamily="34" charset="0"/>
              <a:buChar char="•"/>
            </a:pPr>
            <a:r>
              <a:rPr lang="en-US" sz="1400" dirty="0">
                <a:latin typeface="Tahoma" panose="020B0604030504040204" pitchFamily="34" charset="0"/>
                <a:ea typeface="Tahoma" panose="020B0604030504040204" pitchFamily="34" charset="0"/>
                <a:cs typeface="Tahoma" panose="020B0604030504040204" pitchFamily="34" charset="0"/>
              </a:rPr>
              <a:t>cards can be lost, stolen, passwords forgotten, </a:t>
            </a:r>
            <a:r>
              <a:rPr lang="en-US" sz="1400" dirty="0" smtClean="0">
                <a:latin typeface="Tahoma" panose="020B0604030504040204" pitchFamily="34" charset="0"/>
                <a:ea typeface="Tahoma" panose="020B0604030504040204" pitchFamily="34" charset="0"/>
                <a:cs typeface="Tahoma" panose="020B0604030504040204" pitchFamily="34" charset="0"/>
              </a:rPr>
              <a:t>etc</a:t>
            </a:r>
            <a:r>
              <a:rPr lang="en-US" sz="1400" dirty="0">
                <a:latin typeface="Tahoma" panose="020B0604030504040204" pitchFamily="34" charset="0"/>
                <a:ea typeface="Tahoma" panose="020B0604030504040204" pitchFamily="34" charset="0"/>
                <a:cs typeface="Tahoma" panose="020B0604030504040204" pitchFamily="34" charset="0"/>
              </a:rPr>
              <a:t>.</a:t>
            </a:r>
            <a:br>
              <a:rPr lang="en-US" sz="1400" dirty="0">
                <a:latin typeface="Tahoma" panose="020B0604030504040204" pitchFamily="34" charset="0"/>
                <a:ea typeface="Tahoma" panose="020B0604030504040204" pitchFamily="34" charset="0"/>
                <a:cs typeface="Tahoma" panose="020B0604030504040204" pitchFamily="34" charset="0"/>
              </a:rPr>
            </a:br>
            <a:endParaRPr lang="en-US" sz="1400" dirty="0">
              <a:latin typeface="Tahoma" panose="020B0604030504040204" pitchFamily="34" charset="0"/>
              <a:ea typeface="Tahoma" panose="020B0604030504040204" pitchFamily="34" charset="0"/>
              <a:cs typeface="Tahoma" panose="020B0604030504040204" pitchFamily="34" charset="0"/>
            </a:endParaRPr>
          </a:p>
          <a:p>
            <a:pPr marL="742950" lvl="1" indent="-285750" algn="just">
              <a:buClr>
                <a:srgbClr val="FF0000"/>
              </a:buClr>
              <a:buFont typeface="Wingdings" panose="05000000000000000000" pitchFamily="2" charset="2"/>
              <a:buChar char="q"/>
            </a:pP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5" name="TextBox 4"/>
          <p:cNvSpPr txBox="1"/>
          <p:nvPr/>
        </p:nvSpPr>
        <p:spPr>
          <a:xfrm>
            <a:off x="228600" y="228600"/>
            <a:ext cx="8686800" cy="523220"/>
          </a:xfrm>
          <a:prstGeom prst="rect">
            <a:avLst/>
          </a:prstGeom>
          <a:solidFill>
            <a:schemeClr val="tx2">
              <a:lumMod val="20000"/>
              <a:lumOff val="80000"/>
            </a:schemeClr>
          </a:solidFill>
        </p:spPr>
        <p:txBody>
          <a:bodyPr wrap="square" rtlCol="0">
            <a:spAutoFit/>
          </a:bodyPr>
          <a:lstStyle/>
          <a:p>
            <a:pPr algn="ctr"/>
            <a:r>
              <a:rPr lang="en-US" sz="2800" b="1" dirty="0" smtClean="0">
                <a:solidFill>
                  <a:srgbClr val="FF0000"/>
                </a:solidFill>
                <a:latin typeface="Tahoma" panose="020B0604030504040204" pitchFamily="34" charset="0"/>
                <a:ea typeface="Tahoma" panose="020B0604030504040204" pitchFamily="34" charset="0"/>
                <a:cs typeface="Tahoma" panose="020B0604030504040204" pitchFamily="34" charset="0"/>
              </a:rPr>
              <a:t>AI applications</a:t>
            </a:r>
            <a:endParaRPr lang="en-US" sz="28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99458373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22</a:t>
            </a:fld>
            <a:endParaRPr lang="en-US" dirty="0"/>
          </a:p>
        </p:txBody>
      </p:sp>
      <p:sp>
        <p:nvSpPr>
          <p:cNvPr id="6" name="Content Placeholder 2"/>
          <p:cNvSpPr txBox="1">
            <a:spLocks/>
          </p:cNvSpPr>
          <p:nvPr/>
        </p:nvSpPr>
        <p:spPr>
          <a:xfrm>
            <a:off x="457200" y="838200"/>
            <a:ext cx="8229600" cy="5212080"/>
          </a:xfrm>
          <a:prstGeom prst="rect">
            <a:avLst/>
          </a:prstGeom>
        </p:spPr>
        <p:txBody>
          <a:bodyPr>
            <a:noAutofit/>
          </a:bodyPr>
          <a:lstStyle/>
          <a:p>
            <a:pPr algn="just">
              <a:buClr>
                <a:srgbClr val="FF0000"/>
              </a:buClr>
            </a:pPr>
            <a:r>
              <a:rPr lang="en-US" altLang="ar-JO" sz="2800" b="1" dirty="0" smtClean="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Other </a:t>
            </a:r>
            <a:r>
              <a:rPr lang="en-US" altLang="ar-JO" sz="2800" b="1"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application </a:t>
            </a:r>
            <a:r>
              <a:rPr lang="en-US" altLang="ar-JO" sz="2800" b="1" dirty="0" smtClean="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areas</a:t>
            </a:r>
            <a:r>
              <a:rPr lang="en-US" altLang="ar-JO" sz="2800" dirty="0" smtClean="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a:t>
            </a:r>
          </a:p>
          <a:p>
            <a:pPr marL="285750" indent="-285750" algn="just">
              <a:buClr>
                <a:srgbClr val="FF0000"/>
              </a:buClr>
              <a:buFont typeface="Wingdings" panose="05000000000000000000" pitchFamily="2" charset="2"/>
              <a:buChar char="q"/>
            </a:pPr>
            <a:r>
              <a:rPr lang="en-US" sz="2800" b="1" dirty="0" smtClean="0">
                <a:latin typeface="Tahoma" panose="020B0604030504040204" pitchFamily="34" charset="0"/>
                <a:ea typeface="Tahoma" panose="020B0604030504040204" pitchFamily="34" charset="0"/>
                <a:cs typeface="Tahoma" panose="020B0604030504040204" pitchFamily="34" charset="0"/>
              </a:rPr>
              <a:t>Speech synthesis, recognition and understanding</a:t>
            </a:r>
          </a:p>
          <a:p>
            <a:pPr marL="914400" lvl="1" indent="-457200" algn="just">
              <a:buClr>
                <a:srgbClr val="FF0000"/>
              </a:buClr>
              <a:buFont typeface="Arial" panose="020B0604020202020204" pitchFamily="34" charset="0"/>
              <a:buChar char="•"/>
            </a:pPr>
            <a:r>
              <a:rPr lang="en-US" sz="2800" dirty="0" smtClean="0">
                <a:latin typeface="Tahoma" panose="020B0604030504040204" pitchFamily="34" charset="0"/>
                <a:ea typeface="Tahoma" panose="020B0604030504040204" pitchFamily="34" charset="0"/>
                <a:cs typeface="Tahoma" panose="020B0604030504040204" pitchFamily="34" charset="0"/>
              </a:rPr>
              <a:t>very useful for limited vocabulary applications</a:t>
            </a:r>
          </a:p>
          <a:p>
            <a:pPr marL="914400" lvl="1" indent="-457200" algn="just">
              <a:buClr>
                <a:srgbClr val="FF0000"/>
              </a:buClr>
              <a:buFont typeface="Arial" panose="020B0604020202020204" pitchFamily="34" charset="0"/>
              <a:buChar char="•"/>
            </a:pPr>
            <a:r>
              <a:rPr lang="en-US" sz="2800" dirty="0" smtClean="0">
                <a:latin typeface="Tahoma" panose="020B0604030504040204" pitchFamily="34" charset="0"/>
                <a:ea typeface="Tahoma" panose="020B0604030504040204" pitchFamily="34" charset="0"/>
                <a:cs typeface="Tahoma" panose="020B0604030504040204" pitchFamily="34" charset="0"/>
              </a:rPr>
              <a:t>unconstrained speech understanding is still too hard</a:t>
            </a:r>
          </a:p>
          <a:p>
            <a:pPr marL="285750" indent="-285750" algn="just">
              <a:buClr>
                <a:srgbClr val="FF0000"/>
              </a:buClr>
              <a:buFont typeface="Wingdings" panose="05000000000000000000" pitchFamily="2" charset="2"/>
              <a:buChar char="q"/>
            </a:pPr>
            <a:r>
              <a:rPr lang="en-US" sz="2800" b="1" dirty="0" smtClean="0">
                <a:latin typeface="Tahoma" panose="020B0604030504040204" pitchFamily="34" charset="0"/>
                <a:ea typeface="Tahoma" panose="020B0604030504040204" pitchFamily="34" charset="0"/>
                <a:cs typeface="Tahoma" panose="020B0604030504040204" pitchFamily="34" charset="0"/>
              </a:rPr>
              <a:t>Computer vision</a:t>
            </a:r>
          </a:p>
          <a:p>
            <a:pPr marL="914400" lvl="1" indent="-457200" algn="just">
              <a:buClr>
                <a:srgbClr val="FF0000"/>
              </a:buClr>
              <a:buFont typeface="Arial" panose="020B0604020202020204" pitchFamily="34" charset="0"/>
              <a:buChar char="•"/>
            </a:pPr>
            <a:r>
              <a:rPr lang="en-US" sz="2800" dirty="0" smtClean="0">
                <a:latin typeface="Tahoma" panose="020B0604030504040204" pitchFamily="34" charset="0"/>
                <a:ea typeface="Tahoma" panose="020B0604030504040204" pitchFamily="34" charset="0"/>
                <a:cs typeface="Tahoma" panose="020B0604030504040204" pitchFamily="34" charset="0"/>
              </a:rPr>
              <a:t>works for constrained problems (hand-written zip-codes)</a:t>
            </a:r>
          </a:p>
          <a:p>
            <a:pPr marL="914400" lvl="1" indent="-457200" algn="just">
              <a:buClr>
                <a:srgbClr val="FF0000"/>
              </a:buClr>
              <a:buFont typeface="Arial" panose="020B0604020202020204" pitchFamily="34" charset="0"/>
              <a:buChar char="•"/>
            </a:pPr>
            <a:r>
              <a:rPr lang="en-US" sz="2800" dirty="0" smtClean="0">
                <a:latin typeface="Tahoma" panose="020B0604030504040204" pitchFamily="34" charset="0"/>
                <a:ea typeface="Tahoma" panose="020B0604030504040204" pitchFamily="34" charset="0"/>
                <a:cs typeface="Tahoma" panose="020B0604030504040204" pitchFamily="34" charset="0"/>
              </a:rPr>
              <a:t>understanding real-world, natural scenes is still too hard</a:t>
            </a:r>
            <a:endParaRPr lang="en-US" sz="2800" dirty="0">
              <a:latin typeface="Tahoma" panose="020B0604030504040204" pitchFamily="34" charset="0"/>
              <a:ea typeface="Tahoma" panose="020B0604030504040204" pitchFamily="34" charset="0"/>
              <a:cs typeface="Tahoma" panose="020B0604030504040204" pitchFamily="34" charset="0"/>
            </a:endParaRPr>
          </a:p>
        </p:txBody>
      </p:sp>
      <p:sp>
        <p:nvSpPr>
          <p:cNvPr id="5" name="TextBox 4"/>
          <p:cNvSpPr txBox="1"/>
          <p:nvPr/>
        </p:nvSpPr>
        <p:spPr>
          <a:xfrm>
            <a:off x="228600" y="228600"/>
            <a:ext cx="8686800" cy="523220"/>
          </a:xfrm>
          <a:prstGeom prst="rect">
            <a:avLst/>
          </a:prstGeom>
          <a:solidFill>
            <a:schemeClr val="tx2">
              <a:lumMod val="20000"/>
              <a:lumOff val="80000"/>
            </a:schemeClr>
          </a:solidFill>
        </p:spPr>
        <p:txBody>
          <a:bodyPr wrap="square" rtlCol="0">
            <a:spAutoFit/>
          </a:bodyPr>
          <a:lstStyle/>
          <a:p>
            <a:pPr algn="ctr"/>
            <a:r>
              <a:rPr lang="en-US" sz="2800" b="1" dirty="0" smtClean="0">
                <a:solidFill>
                  <a:srgbClr val="FF0000"/>
                </a:solidFill>
                <a:latin typeface="Tahoma" panose="020B0604030504040204" pitchFamily="34" charset="0"/>
                <a:ea typeface="Tahoma" panose="020B0604030504040204" pitchFamily="34" charset="0"/>
                <a:cs typeface="Tahoma" panose="020B0604030504040204" pitchFamily="34" charset="0"/>
              </a:rPr>
              <a:t>AI applications</a:t>
            </a:r>
            <a:endParaRPr lang="en-US" sz="28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99608373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23</a:t>
            </a:fld>
            <a:endParaRPr lang="en-US" dirty="0"/>
          </a:p>
        </p:txBody>
      </p:sp>
      <p:sp>
        <p:nvSpPr>
          <p:cNvPr id="6" name="Content Placeholder 2"/>
          <p:cNvSpPr txBox="1">
            <a:spLocks/>
          </p:cNvSpPr>
          <p:nvPr/>
        </p:nvSpPr>
        <p:spPr>
          <a:xfrm>
            <a:off x="457200" y="838200"/>
            <a:ext cx="8229600" cy="5212080"/>
          </a:xfrm>
          <a:prstGeom prst="rect">
            <a:avLst/>
          </a:prstGeom>
        </p:spPr>
        <p:txBody>
          <a:bodyPr>
            <a:noAutofit/>
          </a:bodyPr>
          <a:lstStyle/>
          <a:p>
            <a:pPr algn="just">
              <a:buClr>
                <a:srgbClr val="FF0000"/>
              </a:buClr>
            </a:pPr>
            <a:r>
              <a:rPr lang="en-US" altLang="ar-JO" sz="2800" b="1" dirty="0" smtClean="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Other </a:t>
            </a:r>
            <a:r>
              <a:rPr lang="en-US" altLang="ar-JO" sz="2800" b="1"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application </a:t>
            </a:r>
            <a:r>
              <a:rPr lang="en-US" altLang="ar-JO" sz="2800" b="1" dirty="0" smtClean="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areas</a:t>
            </a:r>
            <a:r>
              <a:rPr lang="en-US" altLang="ar-JO" sz="2800" dirty="0" smtClean="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a:t>
            </a:r>
          </a:p>
          <a:p>
            <a:pPr marL="285750" indent="-285750" algn="just">
              <a:buClr>
                <a:srgbClr val="FF0000"/>
              </a:buClr>
              <a:buFont typeface="Wingdings" panose="05000000000000000000" pitchFamily="2" charset="2"/>
              <a:buChar char="q"/>
            </a:pPr>
            <a:r>
              <a:rPr lang="en-US" sz="2800" b="1" dirty="0" smtClean="0">
                <a:latin typeface="Tahoma" panose="020B0604030504040204" pitchFamily="34" charset="0"/>
                <a:ea typeface="Tahoma" panose="020B0604030504040204" pitchFamily="34" charset="0"/>
                <a:cs typeface="Tahoma" panose="020B0604030504040204" pitchFamily="34" charset="0"/>
              </a:rPr>
              <a:t>Learning</a:t>
            </a:r>
            <a:endParaRPr lang="en-US" sz="2800" b="1" dirty="0">
              <a:latin typeface="Tahoma" panose="020B0604030504040204" pitchFamily="34" charset="0"/>
              <a:ea typeface="Tahoma" panose="020B0604030504040204" pitchFamily="34" charset="0"/>
              <a:cs typeface="Tahoma" panose="020B0604030504040204" pitchFamily="34" charset="0"/>
            </a:endParaRPr>
          </a:p>
          <a:p>
            <a:pPr marL="914400" lvl="1" indent="-457200" algn="just">
              <a:buClr>
                <a:srgbClr val="FF0000"/>
              </a:buClr>
              <a:buFont typeface="Arial" panose="020B0604020202020204" pitchFamily="34" charset="0"/>
              <a:buChar char="•"/>
            </a:pPr>
            <a:r>
              <a:rPr lang="en-US" sz="2800" dirty="0">
                <a:latin typeface="Tahoma" panose="020B0604030504040204" pitchFamily="34" charset="0"/>
                <a:ea typeface="Tahoma" panose="020B0604030504040204" pitchFamily="34" charset="0"/>
                <a:cs typeface="Tahoma" panose="020B0604030504040204" pitchFamily="34" charset="0"/>
              </a:rPr>
              <a:t>adaptive systems are used in many applications: have their </a:t>
            </a:r>
            <a:r>
              <a:rPr lang="en-US" sz="2800" dirty="0" smtClean="0">
                <a:latin typeface="Tahoma" panose="020B0604030504040204" pitchFamily="34" charset="0"/>
                <a:ea typeface="Tahoma" panose="020B0604030504040204" pitchFamily="34" charset="0"/>
                <a:cs typeface="Tahoma" panose="020B0604030504040204" pitchFamily="34" charset="0"/>
              </a:rPr>
              <a:t>limits</a:t>
            </a:r>
          </a:p>
          <a:p>
            <a:pPr marL="285750" indent="-285750" algn="just">
              <a:buClr>
                <a:srgbClr val="FF0000"/>
              </a:buClr>
              <a:buFont typeface="Wingdings" panose="05000000000000000000" pitchFamily="2" charset="2"/>
              <a:buChar char="q"/>
            </a:pPr>
            <a:r>
              <a:rPr lang="en-US" sz="2800" b="1" dirty="0">
                <a:latin typeface="Tahoma" panose="020B0604030504040204" pitchFamily="34" charset="0"/>
                <a:ea typeface="Tahoma" panose="020B0604030504040204" pitchFamily="34" charset="0"/>
                <a:cs typeface="Tahoma" panose="020B0604030504040204" pitchFamily="34" charset="0"/>
              </a:rPr>
              <a:t>Post Office</a:t>
            </a:r>
          </a:p>
          <a:p>
            <a:pPr marL="914400" lvl="1" indent="-457200" algn="just">
              <a:buClr>
                <a:srgbClr val="FF0000"/>
              </a:buClr>
              <a:buFont typeface="Arial" panose="020B0604020202020204" pitchFamily="34" charset="0"/>
              <a:buChar char="•"/>
            </a:pPr>
            <a:r>
              <a:rPr lang="en-US" sz="2800" dirty="0">
                <a:latin typeface="Tahoma" panose="020B0604030504040204" pitchFamily="34" charset="0"/>
                <a:ea typeface="Tahoma" panose="020B0604030504040204" pitchFamily="34" charset="0"/>
                <a:cs typeface="Tahoma" panose="020B0604030504040204" pitchFamily="34" charset="0"/>
              </a:rPr>
              <a:t>automatic address recognition and sorting of mail</a:t>
            </a:r>
            <a:br>
              <a:rPr lang="en-US" sz="2800" dirty="0">
                <a:latin typeface="Tahoma" panose="020B0604030504040204" pitchFamily="34" charset="0"/>
                <a:ea typeface="Tahoma" panose="020B0604030504040204" pitchFamily="34" charset="0"/>
                <a:cs typeface="Tahoma" panose="020B0604030504040204" pitchFamily="34" charset="0"/>
              </a:rPr>
            </a:br>
            <a:endParaRPr lang="en-US" sz="2800" dirty="0" smtClean="0">
              <a:latin typeface="Tahoma" panose="020B0604030504040204" pitchFamily="34" charset="0"/>
              <a:ea typeface="Tahoma" panose="020B0604030504040204" pitchFamily="34" charset="0"/>
              <a:cs typeface="Tahoma" panose="020B0604030504040204" pitchFamily="34" charset="0"/>
            </a:endParaRPr>
          </a:p>
          <a:p>
            <a:pPr marL="285750" indent="-285750" algn="just">
              <a:buClr>
                <a:srgbClr val="FF0000"/>
              </a:buClr>
              <a:buFont typeface="Wingdings" panose="05000000000000000000" pitchFamily="2" charset="2"/>
              <a:buChar char="q"/>
            </a:pPr>
            <a:r>
              <a:rPr lang="en-US" sz="2800" b="1" dirty="0" smtClean="0">
                <a:latin typeface="Tahoma" panose="020B0604030504040204" pitchFamily="34" charset="0"/>
                <a:ea typeface="Tahoma" panose="020B0604030504040204" pitchFamily="34" charset="0"/>
                <a:cs typeface="Tahoma" panose="020B0604030504040204" pitchFamily="34" charset="0"/>
              </a:rPr>
              <a:t>Banks</a:t>
            </a:r>
          </a:p>
          <a:p>
            <a:pPr marL="914400" lvl="1" indent="-457200" algn="just">
              <a:buClr>
                <a:srgbClr val="FF0000"/>
              </a:buClr>
              <a:buFont typeface="Arial" panose="020B0604020202020204" pitchFamily="34" charset="0"/>
              <a:buChar char="•"/>
            </a:pPr>
            <a:r>
              <a:rPr lang="en-US" sz="2800" dirty="0" smtClean="0">
                <a:latin typeface="Tahoma" panose="020B0604030504040204" pitchFamily="34" charset="0"/>
                <a:ea typeface="Tahoma" panose="020B0604030504040204" pitchFamily="34" charset="0"/>
                <a:cs typeface="Tahoma" panose="020B0604030504040204" pitchFamily="34" charset="0"/>
              </a:rPr>
              <a:t>automatic </a:t>
            </a:r>
            <a:r>
              <a:rPr lang="en-US" sz="2800" dirty="0">
                <a:latin typeface="Tahoma" panose="020B0604030504040204" pitchFamily="34" charset="0"/>
                <a:ea typeface="Tahoma" panose="020B0604030504040204" pitchFamily="34" charset="0"/>
                <a:cs typeface="Tahoma" panose="020B0604030504040204" pitchFamily="34" charset="0"/>
              </a:rPr>
              <a:t>check readers, signature verification systems</a:t>
            </a:r>
          </a:p>
          <a:p>
            <a:pPr marL="914400" lvl="1" indent="-457200" algn="just">
              <a:buClr>
                <a:srgbClr val="FF0000"/>
              </a:buClr>
              <a:buFont typeface="Arial" panose="020B0604020202020204" pitchFamily="34" charset="0"/>
              <a:buChar char="•"/>
            </a:pPr>
            <a:r>
              <a:rPr lang="en-US" sz="2800" dirty="0">
                <a:latin typeface="Tahoma" panose="020B0604030504040204" pitchFamily="34" charset="0"/>
                <a:ea typeface="Tahoma" panose="020B0604030504040204" pitchFamily="34" charset="0"/>
                <a:cs typeface="Tahoma" panose="020B0604030504040204" pitchFamily="34" charset="0"/>
              </a:rPr>
              <a:t>automated loan application </a:t>
            </a:r>
            <a:r>
              <a:rPr lang="en-US" sz="2800" dirty="0" smtClean="0">
                <a:latin typeface="Tahoma" panose="020B0604030504040204" pitchFamily="34" charset="0"/>
                <a:ea typeface="Tahoma" panose="020B0604030504040204" pitchFamily="34" charset="0"/>
                <a:cs typeface="Tahoma" panose="020B0604030504040204" pitchFamily="34" charset="0"/>
              </a:rPr>
              <a:t>classification</a:t>
            </a:r>
            <a:endParaRPr lang="en-US" sz="2800" dirty="0">
              <a:latin typeface="Tahoma" panose="020B0604030504040204" pitchFamily="34" charset="0"/>
              <a:ea typeface="Tahoma" panose="020B0604030504040204" pitchFamily="34" charset="0"/>
              <a:cs typeface="Tahoma" panose="020B0604030504040204" pitchFamily="34" charset="0"/>
            </a:endParaRPr>
          </a:p>
        </p:txBody>
      </p:sp>
      <p:sp>
        <p:nvSpPr>
          <p:cNvPr id="5" name="TextBox 4"/>
          <p:cNvSpPr txBox="1"/>
          <p:nvPr/>
        </p:nvSpPr>
        <p:spPr>
          <a:xfrm>
            <a:off x="228600" y="228600"/>
            <a:ext cx="8686800" cy="523220"/>
          </a:xfrm>
          <a:prstGeom prst="rect">
            <a:avLst/>
          </a:prstGeom>
          <a:solidFill>
            <a:schemeClr val="tx2">
              <a:lumMod val="20000"/>
              <a:lumOff val="80000"/>
            </a:schemeClr>
          </a:solidFill>
        </p:spPr>
        <p:txBody>
          <a:bodyPr wrap="square" rtlCol="0">
            <a:spAutoFit/>
          </a:bodyPr>
          <a:lstStyle/>
          <a:p>
            <a:pPr algn="ctr"/>
            <a:r>
              <a:rPr lang="en-US" sz="2800" b="1" dirty="0" smtClean="0">
                <a:solidFill>
                  <a:srgbClr val="FF0000"/>
                </a:solidFill>
                <a:latin typeface="Tahoma" panose="020B0604030504040204" pitchFamily="34" charset="0"/>
                <a:ea typeface="Tahoma" panose="020B0604030504040204" pitchFamily="34" charset="0"/>
                <a:cs typeface="Tahoma" panose="020B0604030504040204" pitchFamily="34" charset="0"/>
              </a:rPr>
              <a:t>AI applications</a:t>
            </a:r>
            <a:endParaRPr lang="en-US" sz="28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86663907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24</a:t>
            </a:fld>
            <a:endParaRPr lang="en-US" dirty="0"/>
          </a:p>
        </p:txBody>
      </p:sp>
      <p:sp>
        <p:nvSpPr>
          <p:cNvPr id="6" name="Content Placeholder 2"/>
          <p:cNvSpPr txBox="1">
            <a:spLocks/>
          </p:cNvSpPr>
          <p:nvPr/>
        </p:nvSpPr>
        <p:spPr>
          <a:xfrm>
            <a:off x="457200" y="838200"/>
            <a:ext cx="8229600" cy="5212080"/>
          </a:xfrm>
          <a:prstGeom prst="rect">
            <a:avLst/>
          </a:prstGeom>
        </p:spPr>
        <p:txBody>
          <a:bodyPr>
            <a:noAutofit/>
          </a:bodyPr>
          <a:lstStyle/>
          <a:p>
            <a:pPr algn="just">
              <a:buClr>
                <a:srgbClr val="FF0000"/>
              </a:buClr>
            </a:pPr>
            <a:r>
              <a:rPr lang="en-US" altLang="ar-JO" sz="2800" b="1" dirty="0" smtClean="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Other </a:t>
            </a:r>
            <a:r>
              <a:rPr lang="en-US" altLang="ar-JO" sz="2800" b="1"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application </a:t>
            </a:r>
            <a:r>
              <a:rPr lang="en-US" altLang="ar-JO" sz="2800" b="1" dirty="0" smtClean="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areas</a:t>
            </a:r>
            <a:r>
              <a:rPr lang="en-US" altLang="ar-JO" sz="2800" dirty="0" smtClean="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a:t>
            </a:r>
          </a:p>
          <a:p>
            <a:pPr marL="285750" indent="-285750" algn="just">
              <a:buClr>
                <a:srgbClr val="FF0000"/>
              </a:buClr>
              <a:buFont typeface="Wingdings" panose="05000000000000000000" pitchFamily="2" charset="2"/>
              <a:buChar char="q"/>
            </a:pPr>
            <a:r>
              <a:rPr lang="en-US" sz="2800" b="1" dirty="0" smtClean="0">
                <a:latin typeface="Tahoma" panose="020B0604030504040204" pitchFamily="34" charset="0"/>
                <a:ea typeface="Tahoma" panose="020B0604030504040204" pitchFamily="34" charset="0"/>
                <a:cs typeface="Tahoma" panose="020B0604030504040204" pitchFamily="34" charset="0"/>
              </a:rPr>
              <a:t>Telephone </a:t>
            </a:r>
            <a:r>
              <a:rPr lang="en-US" sz="2800" b="1" dirty="0">
                <a:latin typeface="Tahoma" panose="020B0604030504040204" pitchFamily="34" charset="0"/>
                <a:ea typeface="Tahoma" panose="020B0604030504040204" pitchFamily="34" charset="0"/>
                <a:cs typeface="Tahoma" panose="020B0604030504040204" pitchFamily="34" charset="0"/>
              </a:rPr>
              <a:t>Companies</a:t>
            </a:r>
          </a:p>
          <a:p>
            <a:pPr marL="914400" lvl="1" indent="-457200" algn="just">
              <a:buClr>
                <a:srgbClr val="FF0000"/>
              </a:buClr>
              <a:buFont typeface="Arial" panose="020B0604020202020204" pitchFamily="34" charset="0"/>
              <a:buChar char="•"/>
            </a:pPr>
            <a:r>
              <a:rPr lang="en-US" sz="2800" dirty="0">
                <a:latin typeface="Tahoma" panose="020B0604030504040204" pitchFamily="34" charset="0"/>
                <a:ea typeface="Tahoma" panose="020B0604030504040204" pitchFamily="34" charset="0"/>
                <a:cs typeface="Tahoma" panose="020B0604030504040204" pitchFamily="34" charset="0"/>
              </a:rPr>
              <a:t>automatic voice recognition for directory inquiries</a:t>
            </a:r>
          </a:p>
          <a:p>
            <a:pPr marL="914400" lvl="1" indent="-457200" algn="just">
              <a:buClr>
                <a:srgbClr val="FF0000"/>
              </a:buClr>
              <a:buFont typeface="Arial" panose="020B0604020202020204" pitchFamily="34" charset="0"/>
              <a:buChar char="•"/>
            </a:pPr>
            <a:r>
              <a:rPr lang="en-US" sz="2800" dirty="0">
                <a:latin typeface="Tahoma" panose="020B0604030504040204" pitchFamily="34" charset="0"/>
                <a:ea typeface="Tahoma" panose="020B0604030504040204" pitchFamily="34" charset="0"/>
                <a:cs typeface="Tahoma" panose="020B0604030504040204" pitchFamily="34" charset="0"/>
              </a:rPr>
              <a:t>automatic fraud detection, </a:t>
            </a:r>
          </a:p>
          <a:p>
            <a:pPr marL="914400" lvl="1" indent="-457200" algn="just">
              <a:buClr>
                <a:srgbClr val="FF0000"/>
              </a:buClr>
              <a:buFont typeface="Arial" panose="020B0604020202020204" pitchFamily="34" charset="0"/>
              <a:buChar char="•"/>
            </a:pPr>
            <a:r>
              <a:rPr lang="en-US" sz="2800" dirty="0">
                <a:latin typeface="Tahoma" panose="020B0604030504040204" pitchFamily="34" charset="0"/>
                <a:ea typeface="Tahoma" panose="020B0604030504040204" pitchFamily="34" charset="0"/>
                <a:cs typeface="Tahoma" panose="020B0604030504040204" pitchFamily="34" charset="0"/>
              </a:rPr>
              <a:t>classification of phone numbers into groups</a:t>
            </a:r>
            <a:br>
              <a:rPr lang="en-US" sz="2800" dirty="0">
                <a:latin typeface="Tahoma" panose="020B0604030504040204" pitchFamily="34" charset="0"/>
                <a:ea typeface="Tahoma" panose="020B0604030504040204" pitchFamily="34" charset="0"/>
                <a:cs typeface="Tahoma" panose="020B0604030504040204" pitchFamily="34" charset="0"/>
              </a:rPr>
            </a:br>
            <a:endParaRPr lang="en-US" sz="2800" dirty="0" smtClean="0">
              <a:latin typeface="Tahoma" panose="020B0604030504040204" pitchFamily="34" charset="0"/>
              <a:ea typeface="Tahoma" panose="020B0604030504040204" pitchFamily="34" charset="0"/>
              <a:cs typeface="Tahoma" panose="020B0604030504040204" pitchFamily="34" charset="0"/>
            </a:endParaRPr>
          </a:p>
          <a:p>
            <a:pPr marL="285750" indent="-285750" algn="just">
              <a:buClr>
                <a:srgbClr val="FF0000"/>
              </a:buClr>
              <a:buFont typeface="Wingdings" panose="05000000000000000000" pitchFamily="2" charset="2"/>
              <a:buChar char="q"/>
            </a:pPr>
            <a:r>
              <a:rPr lang="en-US" sz="2800" b="1" dirty="0" smtClean="0">
                <a:latin typeface="Tahoma" panose="020B0604030504040204" pitchFamily="34" charset="0"/>
                <a:ea typeface="Tahoma" panose="020B0604030504040204" pitchFamily="34" charset="0"/>
                <a:cs typeface="Tahoma" panose="020B0604030504040204" pitchFamily="34" charset="0"/>
              </a:rPr>
              <a:t>Credit Card Companies</a:t>
            </a:r>
          </a:p>
          <a:p>
            <a:pPr marL="914400" lvl="1" indent="-457200" algn="just">
              <a:buClr>
                <a:srgbClr val="FF0000"/>
              </a:buClr>
              <a:buFont typeface="Arial" panose="020B0604020202020204" pitchFamily="34" charset="0"/>
              <a:buChar char="•"/>
            </a:pPr>
            <a:r>
              <a:rPr lang="en-US" sz="2800" dirty="0" smtClean="0">
                <a:latin typeface="Tahoma" panose="020B0604030504040204" pitchFamily="34" charset="0"/>
                <a:ea typeface="Tahoma" panose="020B0604030504040204" pitchFamily="34" charset="0"/>
                <a:cs typeface="Tahoma" panose="020B0604030504040204" pitchFamily="34" charset="0"/>
              </a:rPr>
              <a:t>automated </a:t>
            </a:r>
            <a:r>
              <a:rPr lang="en-US" sz="2800" dirty="0">
                <a:latin typeface="Tahoma" panose="020B0604030504040204" pitchFamily="34" charset="0"/>
                <a:ea typeface="Tahoma" panose="020B0604030504040204" pitchFamily="34" charset="0"/>
                <a:cs typeface="Tahoma" panose="020B0604030504040204" pitchFamily="34" charset="0"/>
              </a:rPr>
              <a:t>fraud detection, automated screening of </a:t>
            </a:r>
            <a:r>
              <a:rPr lang="en-US" sz="2800" dirty="0" smtClean="0">
                <a:latin typeface="Tahoma" panose="020B0604030504040204" pitchFamily="34" charset="0"/>
                <a:ea typeface="Tahoma" panose="020B0604030504040204" pitchFamily="34" charset="0"/>
                <a:cs typeface="Tahoma" panose="020B0604030504040204" pitchFamily="34" charset="0"/>
              </a:rPr>
              <a:t>applications</a:t>
            </a:r>
          </a:p>
          <a:p>
            <a:pPr marL="285750" indent="-285750" algn="just">
              <a:buClr>
                <a:srgbClr val="FF0000"/>
              </a:buClr>
              <a:buFont typeface="Wingdings" panose="05000000000000000000" pitchFamily="2" charset="2"/>
              <a:buChar char="q"/>
            </a:pPr>
            <a:r>
              <a:rPr lang="en-US" sz="2800" b="1" dirty="0">
                <a:latin typeface="Tahoma" panose="020B0604030504040204" pitchFamily="34" charset="0"/>
                <a:ea typeface="Tahoma" panose="020B0604030504040204" pitchFamily="34" charset="0"/>
                <a:cs typeface="Tahoma" panose="020B0604030504040204" pitchFamily="34" charset="0"/>
              </a:rPr>
              <a:t>ID cards </a:t>
            </a:r>
          </a:p>
          <a:p>
            <a:pPr marL="914400" lvl="1" indent="-457200" algn="just">
              <a:buClr>
                <a:srgbClr val="FF0000"/>
              </a:buClr>
              <a:buFont typeface="Arial" panose="020B0604020202020204" pitchFamily="34" charset="0"/>
              <a:buChar char="•"/>
            </a:pPr>
            <a:r>
              <a:rPr lang="en-US" sz="2800" dirty="0">
                <a:latin typeface="Tahoma" panose="020B0604030504040204" pitchFamily="34" charset="0"/>
                <a:ea typeface="Tahoma" panose="020B0604030504040204" pitchFamily="34" charset="0"/>
                <a:cs typeface="Tahoma" panose="020B0604030504040204" pitchFamily="34" charset="0"/>
              </a:rPr>
              <a:t>e.g., ATM cards</a:t>
            </a:r>
          </a:p>
          <a:p>
            <a:pPr marL="914400" lvl="1" indent="-457200" algn="just">
              <a:buClr>
                <a:srgbClr val="FF0000"/>
              </a:buClr>
              <a:buFont typeface="Arial" panose="020B0604020202020204" pitchFamily="34" charset="0"/>
              <a:buChar char="•"/>
            </a:pPr>
            <a:r>
              <a:rPr lang="en-US" sz="2800" dirty="0">
                <a:latin typeface="Tahoma" panose="020B0604030504040204" pitchFamily="34" charset="0"/>
                <a:ea typeface="Tahoma" panose="020B0604030504040204" pitchFamily="34" charset="0"/>
                <a:cs typeface="Tahoma" panose="020B0604030504040204" pitchFamily="34" charset="0"/>
              </a:rPr>
              <a:t>can be a nuisance and security risk:</a:t>
            </a:r>
          </a:p>
          <a:p>
            <a:pPr marL="1371600" lvl="2" indent="-457200" algn="just">
              <a:buClr>
                <a:srgbClr val="FF0000"/>
              </a:buClr>
              <a:buFont typeface="Arial" panose="020B0604020202020204" pitchFamily="34" charset="0"/>
              <a:buChar char="•"/>
            </a:pPr>
            <a:r>
              <a:rPr lang="en-US" sz="2800" dirty="0">
                <a:latin typeface="Tahoma" panose="020B0604030504040204" pitchFamily="34" charset="0"/>
                <a:ea typeface="Tahoma" panose="020B0604030504040204" pitchFamily="34" charset="0"/>
                <a:cs typeface="Tahoma" panose="020B0604030504040204" pitchFamily="34" charset="0"/>
              </a:rPr>
              <a:t>cards can be lost, stolen, passwords forgotten, </a:t>
            </a:r>
            <a:r>
              <a:rPr lang="en-US" sz="2800" dirty="0" smtClean="0">
                <a:latin typeface="Tahoma" panose="020B0604030504040204" pitchFamily="34" charset="0"/>
                <a:ea typeface="Tahoma" panose="020B0604030504040204" pitchFamily="34" charset="0"/>
                <a:cs typeface="Tahoma" panose="020B0604030504040204" pitchFamily="34" charset="0"/>
              </a:rPr>
              <a:t>etc</a:t>
            </a:r>
            <a:r>
              <a:rPr lang="en-US" sz="2800" dirty="0">
                <a:latin typeface="Tahoma" panose="020B0604030504040204" pitchFamily="34" charset="0"/>
                <a:ea typeface="Tahoma" panose="020B0604030504040204" pitchFamily="34" charset="0"/>
                <a:cs typeface="Tahoma" panose="020B0604030504040204" pitchFamily="34" charset="0"/>
              </a:rPr>
              <a:t>.</a:t>
            </a:r>
            <a:br>
              <a:rPr lang="en-US" sz="2800" dirty="0">
                <a:latin typeface="Tahoma" panose="020B0604030504040204" pitchFamily="34" charset="0"/>
                <a:ea typeface="Tahoma" panose="020B0604030504040204" pitchFamily="34" charset="0"/>
                <a:cs typeface="Tahoma" panose="020B0604030504040204" pitchFamily="34" charset="0"/>
              </a:rPr>
            </a:br>
            <a:endParaRPr lang="en-US" sz="2800" dirty="0">
              <a:latin typeface="Tahoma" panose="020B0604030504040204" pitchFamily="34" charset="0"/>
              <a:ea typeface="Tahoma" panose="020B0604030504040204" pitchFamily="34" charset="0"/>
              <a:cs typeface="Tahoma" panose="020B0604030504040204" pitchFamily="34" charset="0"/>
            </a:endParaRPr>
          </a:p>
          <a:p>
            <a:pPr marL="742950" lvl="1" indent="-285750" algn="just">
              <a:buClr>
                <a:srgbClr val="FF0000"/>
              </a:buClr>
              <a:buFont typeface="Wingdings" panose="05000000000000000000" pitchFamily="2" charset="2"/>
              <a:buChar char="q"/>
            </a:pPr>
            <a:endParaRPr lang="en-US" sz="2800" dirty="0">
              <a:latin typeface="Tahoma" panose="020B0604030504040204" pitchFamily="34" charset="0"/>
              <a:ea typeface="Tahoma" panose="020B0604030504040204" pitchFamily="34" charset="0"/>
              <a:cs typeface="Tahoma" panose="020B0604030504040204" pitchFamily="34" charset="0"/>
            </a:endParaRPr>
          </a:p>
        </p:txBody>
      </p:sp>
      <p:sp>
        <p:nvSpPr>
          <p:cNvPr id="5" name="TextBox 4"/>
          <p:cNvSpPr txBox="1"/>
          <p:nvPr/>
        </p:nvSpPr>
        <p:spPr>
          <a:xfrm>
            <a:off x="228600" y="228600"/>
            <a:ext cx="8686800" cy="523220"/>
          </a:xfrm>
          <a:prstGeom prst="rect">
            <a:avLst/>
          </a:prstGeom>
          <a:solidFill>
            <a:schemeClr val="tx2">
              <a:lumMod val="20000"/>
              <a:lumOff val="80000"/>
            </a:schemeClr>
          </a:solidFill>
        </p:spPr>
        <p:txBody>
          <a:bodyPr wrap="square" rtlCol="0">
            <a:spAutoFit/>
          </a:bodyPr>
          <a:lstStyle/>
          <a:p>
            <a:pPr algn="ctr"/>
            <a:r>
              <a:rPr lang="en-US" sz="2800" b="1" dirty="0" smtClean="0">
                <a:solidFill>
                  <a:srgbClr val="FF0000"/>
                </a:solidFill>
                <a:latin typeface="Tahoma" panose="020B0604030504040204" pitchFamily="34" charset="0"/>
                <a:ea typeface="Tahoma" panose="020B0604030504040204" pitchFamily="34" charset="0"/>
                <a:cs typeface="Tahoma" panose="020B0604030504040204" pitchFamily="34" charset="0"/>
              </a:rPr>
              <a:t>AI applications</a:t>
            </a:r>
            <a:endParaRPr lang="en-US" sz="28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99749398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25</a:t>
            </a:fld>
            <a:endParaRPr lang="en-US" dirty="0"/>
          </a:p>
        </p:txBody>
      </p:sp>
      <p:sp>
        <p:nvSpPr>
          <p:cNvPr id="6" name="Content Placeholder 2"/>
          <p:cNvSpPr txBox="1">
            <a:spLocks/>
          </p:cNvSpPr>
          <p:nvPr/>
        </p:nvSpPr>
        <p:spPr>
          <a:xfrm>
            <a:off x="457200" y="838200"/>
            <a:ext cx="8229600" cy="5212080"/>
          </a:xfrm>
          <a:prstGeom prst="rect">
            <a:avLst/>
          </a:prstGeom>
        </p:spPr>
        <p:txBody>
          <a:bodyPr>
            <a:noAutofit/>
          </a:bodyPr>
          <a:lstStyle/>
          <a:p>
            <a:pPr marL="342900" indent="-342900" algn="just" eaLnBrk="0" hangingPunct="0">
              <a:spcBef>
                <a:spcPct val="20000"/>
              </a:spcBef>
              <a:buClr>
                <a:srgbClr val="FF0000"/>
              </a:buClr>
              <a:buFont typeface="Wingdings" pitchFamily="2" charset="2"/>
              <a:buChar char="q"/>
            </a:pPr>
            <a:r>
              <a:rPr lang="en-AU" altLang="ar-JO" sz="2800" dirty="0" smtClean="0">
                <a:latin typeface="Tahoma" panose="020B0604030504040204" pitchFamily="34" charset="0"/>
                <a:ea typeface="Tahoma" panose="020B0604030504040204" pitchFamily="34" charset="0"/>
                <a:cs typeface="Tahoma" panose="020B0604030504040204" pitchFamily="34" charset="0"/>
              </a:rPr>
              <a:t>More </a:t>
            </a:r>
            <a:r>
              <a:rPr lang="en-AU" altLang="ar-JO" sz="2800" dirty="0">
                <a:latin typeface="Tahoma" panose="020B0604030504040204" pitchFamily="34" charset="0"/>
                <a:ea typeface="Tahoma" panose="020B0604030504040204" pitchFamily="34" charset="0"/>
                <a:cs typeface="Tahoma" panose="020B0604030504040204" pitchFamily="34" charset="0"/>
              </a:rPr>
              <a:t>powerful and more useful </a:t>
            </a:r>
            <a:r>
              <a:rPr lang="en-AU" altLang="ar-JO" sz="2800" dirty="0" smtClean="0">
                <a:latin typeface="Tahoma" panose="020B0604030504040204" pitchFamily="34" charset="0"/>
                <a:ea typeface="Tahoma" panose="020B0604030504040204" pitchFamily="34" charset="0"/>
                <a:cs typeface="Tahoma" panose="020B0604030504040204" pitchFamily="34" charset="0"/>
              </a:rPr>
              <a:t>computers</a:t>
            </a:r>
          </a:p>
          <a:p>
            <a:pPr marL="342900" indent="-342900" algn="just" eaLnBrk="0" hangingPunct="0">
              <a:spcBef>
                <a:spcPct val="20000"/>
              </a:spcBef>
              <a:buClr>
                <a:srgbClr val="FF0000"/>
              </a:buClr>
              <a:buFont typeface="Wingdings" pitchFamily="2" charset="2"/>
              <a:buChar char="q"/>
            </a:pPr>
            <a:r>
              <a:rPr lang="en-AU" altLang="ar-JO" sz="2800" dirty="0" smtClean="0">
                <a:latin typeface="Tahoma" panose="020B0604030504040204" pitchFamily="34" charset="0"/>
                <a:ea typeface="Tahoma" panose="020B0604030504040204" pitchFamily="34" charset="0"/>
                <a:cs typeface="Tahoma" panose="020B0604030504040204" pitchFamily="34" charset="0"/>
              </a:rPr>
              <a:t>new </a:t>
            </a:r>
            <a:r>
              <a:rPr lang="en-AU" altLang="ar-JO" sz="2800" dirty="0">
                <a:latin typeface="Tahoma" panose="020B0604030504040204" pitchFamily="34" charset="0"/>
                <a:ea typeface="Tahoma" panose="020B0604030504040204" pitchFamily="34" charset="0"/>
                <a:cs typeface="Tahoma" panose="020B0604030504040204" pitchFamily="34" charset="0"/>
              </a:rPr>
              <a:t>and improved </a:t>
            </a:r>
            <a:r>
              <a:rPr lang="en-AU" altLang="ar-JO" sz="2800" dirty="0" smtClean="0">
                <a:latin typeface="Tahoma" panose="020B0604030504040204" pitchFamily="34" charset="0"/>
                <a:ea typeface="Tahoma" panose="020B0604030504040204" pitchFamily="34" charset="0"/>
                <a:cs typeface="Tahoma" panose="020B0604030504040204" pitchFamily="34" charset="0"/>
              </a:rPr>
              <a:t>interfaces</a:t>
            </a:r>
          </a:p>
          <a:p>
            <a:pPr marL="342900" indent="-342900" algn="just" eaLnBrk="0" hangingPunct="0">
              <a:spcBef>
                <a:spcPct val="20000"/>
              </a:spcBef>
              <a:buClr>
                <a:srgbClr val="FF0000"/>
              </a:buClr>
              <a:buFont typeface="Wingdings" pitchFamily="2" charset="2"/>
              <a:buChar char="q"/>
            </a:pPr>
            <a:r>
              <a:rPr lang="en-AU" altLang="ar-JO" sz="2800" dirty="0" smtClean="0">
                <a:latin typeface="Tahoma" panose="020B0604030504040204" pitchFamily="34" charset="0"/>
                <a:ea typeface="Tahoma" panose="020B0604030504040204" pitchFamily="34" charset="0"/>
                <a:cs typeface="Tahoma" panose="020B0604030504040204" pitchFamily="34" charset="0"/>
              </a:rPr>
              <a:t>solving </a:t>
            </a:r>
            <a:r>
              <a:rPr lang="en-AU" altLang="ar-JO" sz="2800" dirty="0">
                <a:latin typeface="Tahoma" panose="020B0604030504040204" pitchFamily="34" charset="0"/>
                <a:ea typeface="Tahoma" panose="020B0604030504040204" pitchFamily="34" charset="0"/>
                <a:cs typeface="Tahoma" panose="020B0604030504040204" pitchFamily="34" charset="0"/>
              </a:rPr>
              <a:t>new </a:t>
            </a:r>
            <a:r>
              <a:rPr lang="en-AU" altLang="ar-JO" sz="2800" dirty="0" smtClean="0">
                <a:latin typeface="Tahoma" panose="020B0604030504040204" pitchFamily="34" charset="0"/>
                <a:ea typeface="Tahoma" panose="020B0604030504040204" pitchFamily="34" charset="0"/>
                <a:cs typeface="Tahoma" panose="020B0604030504040204" pitchFamily="34" charset="0"/>
              </a:rPr>
              <a:t>problems</a:t>
            </a:r>
          </a:p>
          <a:p>
            <a:pPr marL="342900" indent="-342900" algn="just" eaLnBrk="0" hangingPunct="0">
              <a:spcBef>
                <a:spcPct val="20000"/>
              </a:spcBef>
              <a:buClr>
                <a:srgbClr val="FF0000"/>
              </a:buClr>
              <a:buFont typeface="Wingdings" pitchFamily="2" charset="2"/>
              <a:buChar char="q"/>
            </a:pPr>
            <a:r>
              <a:rPr lang="en-AU" altLang="ar-JO" sz="2800" dirty="0" smtClean="0">
                <a:latin typeface="Tahoma" panose="020B0604030504040204" pitchFamily="34" charset="0"/>
                <a:ea typeface="Tahoma" panose="020B0604030504040204" pitchFamily="34" charset="0"/>
                <a:cs typeface="Tahoma" panose="020B0604030504040204" pitchFamily="34" charset="0"/>
              </a:rPr>
              <a:t>better </a:t>
            </a:r>
            <a:r>
              <a:rPr lang="en-AU" altLang="ar-JO" sz="2800" dirty="0">
                <a:latin typeface="Tahoma" panose="020B0604030504040204" pitchFamily="34" charset="0"/>
                <a:ea typeface="Tahoma" panose="020B0604030504040204" pitchFamily="34" charset="0"/>
                <a:cs typeface="Tahoma" panose="020B0604030504040204" pitchFamily="34" charset="0"/>
              </a:rPr>
              <a:t>handling of </a:t>
            </a:r>
            <a:r>
              <a:rPr lang="en-AU" altLang="ar-JO" sz="2800" dirty="0" smtClean="0">
                <a:latin typeface="Tahoma" panose="020B0604030504040204" pitchFamily="34" charset="0"/>
                <a:ea typeface="Tahoma" panose="020B0604030504040204" pitchFamily="34" charset="0"/>
                <a:cs typeface="Tahoma" panose="020B0604030504040204" pitchFamily="34" charset="0"/>
              </a:rPr>
              <a:t>information</a:t>
            </a:r>
          </a:p>
          <a:p>
            <a:pPr marL="342900" indent="-342900" algn="just" eaLnBrk="0" hangingPunct="0">
              <a:spcBef>
                <a:spcPct val="20000"/>
              </a:spcBef>
              <a:buClr>
                <a:srgbClr val="FF0000"/>
              </a:buClr>
              <a:buFont typeface="Wingdings" pitchFamily="2" charset="2"/>
              <a:buChar char="q"/>
            </a:pPr>
            <a:r>
              <a:rPr lang="en-AU" altLang="ar-JO" sz="2800" dirty="0" smtClean="0">
                <a:latin typeface="Tahoma" panose="020B0604030504040204" pitchFamily="34" charset="0"/>
                <a:ea typeface="Tahoma" panose="020B0604030504040204" pitchFamily="34" charset="0"/>
                <a:cs typeface="Tahoma" panose="020B0604030504040204" pitchFamily="34" charset="0"/>
              </a:rPr>
              <a:t>relieves </a:t>
            </a:r>
            <a:r>
              <a:rPr lang="en-AU" altLang="ar-JO" sz="2800" dirty="0">
                <a:latin typeface="Tahoma" panose="020B0604030504040204" pitchFamily="34" charset="0"/>
                <a:ea typeface="Tahoma" panose="020B0604030504040204" pitchFamily="34" charset="0"/>
                <a:cs typeface="Tahoma" panose="020B0604030504040204" pitchFamily="34" charset="0"/>
              </a:rPr>
              <a:t>information </a:t>
            </a:r>
            <a:r>
              <a:rPr lang="en-AU" altLang="ar-JO" sz="2800" dirty="0" smtClean="0">
                <a:latin typeface="Tahoma" panose="020B0604030504040204" pitchFamily="34" charset="0"/>
                <a:ea typeface="Tahoma" panose="020B0604030504040204" pitchFamily="34" charset="0"/>
                <a:cs typeface="Tahoma" panose="020B0604030504040204" pitchFamily="34" charset="0"/>
              </a:rPr>
              <a:t>overload</a:t>
            </a:r>
          </a:p>
          <a:p>
            <a:pPr marL="342900" indent="-342900" algn="just" eaLnBrk="0" hangingPunct="0">
              <a:spcBef>
                <a:spcPct val="20000"/>
              </a:spcBef>
              <a:buClr>
                <a:srgbClr val="FF0000"/>
              </a:buClr>
              <a:buFont typeface="Wingdings" pitchFamily="2" charset="2"/>
              <a:buChar char="q"/>
            </a:pPr>
            <a:r>
              <a:rPr lang="en-AU" altLang="ar-JO" sz="2800" dirty="0" smtClean="0">
                <a:latin typeface="Tahoma" panose="020B0604030504040204" pitchFamily="34" charset="0"/>
                <a:ea typeface="Tahoma" panose="020B0604030504040204" pitchFamily="34" charset="0"/>
                <a:cs typeface="Tahoma" panose="020B0604030504040204" pitchFamily="34" charset="0"/>
              </a:rPr>
              <a:t>conversion </a:t>
            </a:r>
            <a:r>
              <a:rPr lang="en-AU" altLang="ar-JO" sz="2800" dirty="0">
                <a:latin typeface="Tahoma" panose="020B0604030504040204" pitchFamily="34" charset="0"/>
                <a:ea typeface="Tahoma" panose="020B0604030504040204" pitchFamily="34" charset="0"/>
                <a:cs typeface="Tahoma" panose="020B0604030504040204" pitchFamily="34" charset="0"/>
              </a:rPr>
              <a:t>of information into knowledge</a:t>
            </a:r>
            <a:endParaRPr kumimoji="0" lang="en-US" sz="2800" i="0" strike="noStrike" kern="1200" cap="none" spc="0" normalizeH="0" baseline="0" noProof="0" dirty="0">
              <a:ln>
                <a:noFill/>
              </a:ln>
              <a:solidFill>
                <a:srgbClr val="000099"/>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5" name="TextBox 4"/>
          <p:cNvSpPr txBox="1"/>
          <p:nvPr/>
        </p:nvSpPr>
        <p:spPr>
          <a:xfrm>
            <a:off x="228600" y="228600"/>
            <a:ext cx="8686800" cy="523220"/>
          </a:xfrm>
          <a:prstGeom prst="rect">
            <a:avLst/>
          </a:prstGeom>
          <a:solidFill>
            <a:schemeClr val="tx2">
              <a:lumMod val="20000"/>
              <a:lumOff val="80000"/>
            </a:schemeClr>
          </a:solidFill>
        </p:spPr>
        <p:txBody>
          <a:bodyPr wrap="square" rtlCol="0">
            <a:spAutoFit/>
          </a:bodyPr>
          <a:lstStyle/>
          <a:p>
            <a:pPr algn="ctr"/>
            <a:r>
              <a:rPr lang="en-US" sz="2800" b="1" dirty="0" smtClean="0">
                <a:solidFill>
                  <a:srgbClr val="FF0000"/>
                </a:solidFill>
                <a:latin typeface="Tahoma" panose="020B0604030504040204" pitchFamily="34" charset="0"/>
                <a:ea typeface="Tahoma" panose="020B0604030504040204" pitchFamily="34" charset="0"/>
                <a:cs typeface="Tahoma" panose="020B0604030504040204" pitchFamily="34" charset="0"/>
              </a:rPr>
              <a:t>Some advantages of AI</a:t>
            </a:r>
            <a:endParaRPr lang="en-US" sz="28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39465902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26</a:t>
            </a:fld>
            <a:endParaRPr lang="en-US" dirty="0"/>
          </a:p>
        </p:txBody>
      </p:sp>
      <p:sp>
        <p:nvSpPr>
          <p:cNvPr id="6" name="Content Placeholder 2"/>
          <p:cNvSpPr txBox="1">
            <a:spLocks/>
          </p:cNvSpPr>
          <p:nvPr/>
        </p:nvSpPr>
        <p:spPr>
          <a:xfrm>
            <a:off x="457200" y="838200"/>
            <a:ext cx="8229600" cy="5212080"/>
          </a:xfrm>
          <a:prstGeom prst="rect">
            <a:avLst/>
          </a:prstGeom>
        </p:spPr>
        <p:txBody>
          <a:bodyPr>
            <a:noAutofit/>
          </a:bodyPr>
          <a:lstStyle/>
          <a:p>
            <a:pPr marL="342900" indent="-342900" algn="just" eaLnBrk="0" hangingPunct="0">
              <a:spcBef>
                <a:spcPct val="20000"/>
              </a:spcBef>
              <a:buClr>
                <a:srgbClr val="FF0000"/>
              </a:buClr>
              <a:buFont typeface="Wingdings" pitchFamily="2" charset="2"/>
              <a:buChar char="q"/>
            </a:pPr>
            <a:r>
              <a:rPr lang="en-AU" altLang="ar-JO" sz="2800" dirty="0" smtClean="0">
                <a:latin typeface="Tahoma" panose="020B0604030504040204" pitchFamily="34" charset="0"/>
                <a:ea typeface="Tahoma" panose="020B0604030504040204" pitchFamily="34" charset="0"/>
                <a:cs typeface="Tahoma" panose="020B0604030504040204" pitchFamily="34" charset="0"/>
              </a:rPr>
              <a:t>increased costs</a:t>
            </a:r>
          </a:p>
          <a:p>
            <a:pPr marL="342900" indent="-342900" algn="just" eaLnBrk="0" hangingPunct="0">
              <a:spcBef>
                <a:spcPct val="20000"/>
              </a:spcBef>
              <a:buClr>
                <a:srgbClr val="FF0000"/>
              </a:buClr>
              <a:buFont typeface="Wingdings" pitchFamily="2" charset="2"/>
              <a:buChar char="q"/>
            </a:pPr>
            <a:r>
              <a:rPr lang="en-AU" altLang="ar-JO" sz="2800" dirty="0" smtClean="0">
                <a:latin typeface="Tahoma" panose="020B0604030504040204" pitchFamily="34" charset="0"/>
                <a:ea typeface="Tahoma" panose="020B0604030504040204" pitchFamily="34" charset="0"/>
                <a:cs typeface="Tahoma" panose="020B0604030504040204" pitchFamily="34" charset="0"/>
              </a:rPr>
              <a:t>difficulty </a:t>
            </a:r>
            <a:r>
              <a:rPr lang="en-AU" altLang="ar-JO" sz="2800" dirty="0">
                <a:latin typeface="Tahoma" panose="020B0604030504040204" pitchFamily="34" charset="0"/>
                <a:ea typeface="Tahoma" panose="020B0604030504040204" pitchFamily="34" charset="0"/>
                <a:cs typeface="Tahoma" panose="020B0604030504040204" pitchFamily="34" charset="0"/>
              </a:rPr>
              <a:t>with software development - slow and </a:t>
            </a:r>
            <a:r>
              <a:rPr lang="en-AU" altLang="ar-JO" sz="2800" dirty="0" smtClean="0">
                <a:latin typeface="Tahoma" panose="020B0604030504040204" pitchFamily="34" charset="0"/>
                <a:ea typeface="Tahoma" panose="020B0604030504040204" pitchFamily="34" charset="0"/>
                <a:cs typeface="Tahoma" panose="020B0604030504040204" pitchFamily="34" charset="0"/>
              </a:rPr>
              <a:t>expensive</a:t>
            </a:r>
          </a:p>
          <a:p>
            <a:pPr marL="342900" indent="-342900" algn="just" eaLnBrk="0" hangingPunct="0">
              <a:spcBef>
                <a:spcPct val="20000"/>
              </a:spcBef>
              <a:buClr>
                <a:srgbClr val="FF0000"/>
              </a:buClr>
              <a:buFont typeface="Wingdings" pitchFamily="2" charset="2"/>
              <a:buChar char="q"/>
            </a:pPr>
            <a:r>
              <a:rPr lang="en-AU" altLang="ar-JO" sz="2800" dirty="0" smtClean="0">
                <a:latin typeface="Tahoma" panose="020B0604030504040204" pitchFamily="34" charset="0"/>
                <a:ea typeface="Tahoma" panose="020B0604030504040204" pitchFamily="34" charset="0"/>
                <a:cs typeface="Tahoma" panose="020B0604030504040204" pitchFamily="34" charset="0"/>
              </a:rPr>
              <a:t>few </a:t>
            </a:r>
            <a:r>
              <a:rPr lang="en-AU" altLang="ar-JO" sz="2800" dirty="0">
                <a:latin typeface="Tahoma" panose="020B0604030504040204" pitchFamily="34" charset="0"/>
                <a:ea typeface="Tahoma" panose="020B0604030504040204" pitchFamily="34" charset="0"/>
                <a:cs typeface="Tahoma" panose="020B0604030504040204" pitchFamily="34" charset="0"/>
              </a:rPr>
              <a:t>experienced </a:t>
            </a:r>
            <a:r>
              <a:rPr lang="en-AU" altLang="ar-JO" sz="2800" dirty="0" smtClean="0">
                <a:latin typeface="Tahoma" panose="020B0604030504040204" pitchFamily="34" charset="0"/>
                <a:ea typeface="Tahoma" panose="020B0604030504040204" pitchFamily="34" charset="0"/>
                <a:cs typeface="Tahoma" panose="020B0604030504040204" pitchFamily="34" charset="0"/>
              </a:rPr>
              <a:t>programmers</a:t>
            </a:r>
          </a:p>
          <a:p>
            <a:pPr marL="342900" indent="-342900" algn="just" eaLnBrk="0" hangingPunct="0">
              <a:spcBef>
                <a:spcPct val="20000"/>
              </a:spcBef>
              <a:buClr>
                <a:srgbClr val="FF0000"/>
              </a:buClr>
              <a:buFont typeface="Wingdings" pitchFamily="2" charset="2"/>
              <a:buChar char="q"/>
            </a:pPr>
            <a:r>
              <a:rPr lang="en-AU" altLang="ar-JO" sz="2800" dirty="0" smtClean="0">
                <a:latin typeface="Tahoma" panose="020B0604030504040204" pitchFamily="34" charset="0"/>
                <a:ea typeface="Tahoma" panose="020B0604030504040204" pitchFamily="34" charset="0"/>
                <a:cs typeface="Tahoma" panose="020B0604030504040204" pitchFamily="34" charset="0"/>
              </a:rPr>
              <a:t>few </a:t>
            </a:r>
            <a:r>
              <a:rPr lang="en-AU" altLang="ar-JO" sz="2800" dirty="0">
                <a:latin typeface="Tahoma" panose="020B0604030504040204" pitchFamily="34" charset="0"/>
                <a:ea typeface="Tahoma" panose="020B0604030504040204" pitchFamily="34" charset="0"/>
                <a:cs typeface="Tahoma" panose="020B0604030504040204" pitchFamily="34" charset="0"/>
              </a:rPr>
              <a:t>practical products have reached the market as yet.</a:t>
            </a:r>
            <a:endParaRPr lang="en-AU" altLang="ar-JO" sz="2800" dirty="0" smtClean="0">
              <a:latin typeface="Tahoma" panose="020B0604030504040204" pitchFamily="34" charset="0"/>
              <a:ea typeface="Tahoma" panose="020B0604030504040204" pitchFamily="34" charset="0"/>
              <a:cs typeface="Tahoma" panose="020B0604030504040204" pitchFamily="34" charset="0"/>
            </a:endParaRPr>
          </a:p>
        </p:txBody>
      </p:sp>
      <p:sp>
        <p:nvSpPr>
          <p:cNvPr id="5" name="TextBox 4"/>
          <p:cNvSpPr txBox="1"/>
          <p:nvPr/>
        </p:nvSpPr>
        <p:spPr>
          <a:xfrm>
            <a:off x="228600" y="228600"/>
            <a:ext cx="8686800" cy="523220"/>
          </a:xfrm>
          <a:prstGeom prst="rect">
            <a:avLst/>
          </a:prstGeom>
          <a:solidFill>
            <a:schemeClr val="tx2">
              <a:lumMod val="20000"/>
              <a:lumOff val="80000"/>
            </a:schemeClr>
          </a:solidFill>
        </p:spPr>
        <p:txBody>
          <a:bodyPr wrap="square" rtlCol="0">
            <a:spAutoFit/>
          </a:bodyPr>
          <a:lstStyle/>
          <a:p>
            <a:pPr algn="ctr"/>
            <a:r>
              <a:rPr lang="en-US" sz="2800" b="1" dirty="0" smtClean="0">
                <a:solidFill>
                  <a:srgbClr val="FF0000"/>
                </a:solidFill>
                <a:latin typeface="Tahoma" panose="020B0604030504040204" pitchFamily="34" charset="0"/>
                <a:ea typeface="Tahoma" panose="020B0604030504040204" pitchFamily="34" charset="0"/>
                <a:cs typeface="Tahoma" panose="020B0604030504040204" pitchFamily="34" charset="0"/>
              </a:rPr>
              <a:t>The </a:t>
            </a:r>
            <a:r>
              <a:rPr lang="en-US" sz="2800" b="1" dirty="0" err="1" smtClean="0">
                <a:solidFill>
                  <a:srgbClr val="FF0000"/>
                </a:solidFill>
                <a:latin typeface="Tahoma" panose="020B0604030504040204" pitchFamily="34" charset="0"/>
                <a:ea typeface="Tahoma" panose="020B0604030504040204" pitchFamily="34" charset="0"/>
                <a:cs typeface="Tahoma" panose="020B0604030504040204" pitchFamily="34" charset="0"/>
              </a:rPr>
              <a:t>disdvantages</a:t>
            </a:r>
            <a:endParaRPr lang="en-US" sz="28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0036485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27</a:t>
            </a:fld>
            <a:endParaRPr lang="en-US" dirty="0"/>
          </a:p>
        </p:txBody>
      </p:sp>
      <p:sp>
        <p:nvSpPr>
          <p:cNvPr id="6" name="Content Placeholder 2"/>
          <p:cNvSpPr txBox="1">
            <a:spLocks/>
          </p:cNvSpPr>
          <p:nvPr/>
        </p:nvSpPr>
        <p:spPr>
          <a:xfrm>
            <a:off x="457200" y="838200"/>
            <a:ext cx="8229600" cy="5212080"/>
          </a:xfrm>
          <a:prstGeom prst="rect">
            <a:avLst/>
          </a:prstGeom>
        </p:spPr>
        <p:txBody>
          <a:bodyPr>
            <a:noAutofit/>
          </a:bodyPr>
          <a:lstStyle/>
          <a:p>
            <a:pPr marL="457200" indent="-457200">
              <a:buClr>
                <a:srgbClr val="FF0000"/>
              </a:buClr>
              <a:buFont typeface="Wingdings" panose="05000000000000000000" pitchFamily="2" charset="2"/>
              <a:buChar char="q"/>
            </a:pPr>
            <a:r>
              <a:rPr lang="en-US" sz="2800" dirty="0">
                <a:latin typeface="Tahoma" panose="020B0604030504040204" pitchFamily="34" charset="0"/>
              </a:rPr>
              <a:t>In the 60’s, a famous AI professor from MIT said: “At the end of the summer, we will have developed an electronic eye”</a:t>
            </a:r>
          </a:p>
          <a:p>
            <a:pPr marL="457200" indent="-457200">
              <a:buClr>
                <a:srgbClr val="FF0000"/>
              </a:buClr>
              <a:buFont typeface="Wingdings" panose="05000000000000000000" pitchFamily="2" charset="2"/>
              <a:buChar char="q"/>
            </a:pPr>
            <a:r>
              <a:rPr lang="en-US" sz="2800" dirty="0">
                <a:latin typeface="Tahoma" panose="020B0604030504040204" pitchFamily="34" charset="0"/>
              </a:rPr>
              <a:t>As of 2004, there is still no general computer vision system capable of understanding complex dynamic scenes</a:t>
            </a:r>
          </a:p>
          <a:p>
            <a:pPr marL="457200" indent="-457200">
              <a:buClr>
                <a:srgbClr val="FF0000"/>
              </a:buClr>
              <a:buFont typeface="Wingdings" panose="05000000000000000000" pitchFamily="2" charset="2"/>
              <a:buChar char="q"/>
            </a:pPr>
            <a:r>
              <a:rPr lang="en-US" sz="2800" dirty="0">
                <a:latin typeface="Tahoma" panose="020B0604030504040204" pitchFamily="34" charset="0"/>
              </a:rPr>
              <a:t>But computer systems routinely perform road traffic monitoring, facial recognition, medical image analysis, part inspection, motion capture, …</a:t>
            </a:r>
          </a:p>
        </p:txBody>
      </p:sp>
      <p:sp>
        <p:nvSpPr>
          <p:cNvPr id="5" name="TextBox 4"/>
          <p:cNvSpPr txBox="1"/>
          <p:nvPr/>
        </p:nvSpPr>
        <p:spPr>
          <a:xfrm>
            <a:off x="228600" y="228600"/>
            <a:ext cx="8686800" cy="523220"/>
          </a:xfrm>
          <a:prstGeom prst="rect">
            <a:avLst/>
          </a:prstGeom>
          <a:solidFill>
            <a:schemeClr val="tx2">
              <a:lumMod val="20000"/>
              <a:lumOff val="80000"/>
            </a:schemeClr>
          </a:solidFill>
        </p:spPr>
        <p:txBody>
          <a:bodyPr wrap="square" rtlCol="0">
            <a:spAutoFit/>
          </a:bodyPr>
          <a:lstStyle/>
          <a:p>
            <a:pPr algn="ctr"/>
            <a:r>
              <a:rPr lang="en-US" sz="2800" b="1" dirty="0">
                <a:solidFill>
                  <a:srgbClr val="FD1B03"/>
                </a:solidFill>
                <a:latin typeface="Tahoma" pitchFamily="34" charset="0"/>
              </a:rPr>
              <a:t>Predictions</a:t>
            </a:r>
            <a:r>
              <a:rPr lang="en-US" sz="2800" b="1" dirty="0">
                <a:latin typeface="Tahoma" pitchFamily="34" charset="0"/>
              </a:rPr>
              <a:t> </a:t>
            </a:r>
            <a:r>
              <a:rPr lang="en-US" sz="2800" b="1" dirty="0">
                <a:solidFill>
                  <a:srgbClr val="FD1B03"/>
                </a:solidFill>
                <a:latin typeface="Tahoma" pitchFamily="34" charset="0"/>
              </a:rPr>
              <a:t>and Reality … (1/3)</a:t>
            </a:r>
            <a:endParaRPr lang="en-US" sz="28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11" name="Picture 3076" descr="bronchu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5029200"/>
            <a:ext cx="12954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3077" descr="aort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9000" y="5029200"/>
            <a:ext cx="12954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3078" descr="evolvingProcesse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62600" y="4876800"/>
            <a:ext cx="1800225" cy="148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70886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11"/>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12"/>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nodeType="afterEffect">
                                  <p:stCondLst>
                                    <p:cond delay="0"/>
                                  </p:stCondLst>
                                  <p:childTnLst>
                                    <p:set>
                                      <p:cBhvr>
                                        <p:cTn id="12" dur="1" fill="hold">
                                          <p:stCondLst>
                                            <p:cond delay="499"/>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28</a:t>
            </a:fld>
            <a:endParaRPr lang="en-US" dirty="0"/>
          </a:p>
        </p:txBody>
      </p:sp>
      <p:sp>
        <p:nvSpPr>
          <p:cNvPr id="6" name="Content Placeholder 2"/>
          <p:cNvSpPr txBox="1">
            <a:spLocks/>
          </p:cNvSpPr>
          <p:nvPr/>
        </p:nvSpPr>
        <p:spPr>
          <a:xfrm>
            <a:off x="457200" y="838200"/>
            <a:ext cx="8229600" cy="5212080"/>
          </a:xfrm>
          <a:prstGeom prst="rect">
            <a:avLst/>
          </a:prstGeom>
        </p:spPr>
        <p:txBody>
          <a:bodyPr>
            <a:noAutofit/>
          </a:bodyPr>
          <a:lstStyle/>
          <a:p>
            <a:pPr marL="457200" indent="-457200">
              <a:lnSpc>
                <a:spcPct val="80000"/>
              </a:lnSpc>
              <a:buClr>
                <a:srgbClr val="FF0000"/>
              </a:buClr>
              <a:buFont typeface="Wingdings" panose="05000000000000000000" pitchFamily="2" charset="2"/>
              <a:buChar char="q"/>
            </a:pPr>
            <a:r>
              <a:rPr lang="en-US" sz="2800" dirty="0">
                <a:latin typeface="Tahoma" panose="020B0604030504040204" pitchFamily="34" charset="0"/>
              </a:rPr>
              <a:t>In 1958, Herbert Simon (CMU) predicted that within 10 years a computer would be Chess champion</a:t>
            </a:r>
          </a:p>
          <a:p>
            <a:pPr marL="457200" indent="-457200">
              <a:lnSpc>
                <a:spcPct val="80000"/>
              </a:lnSpc>
              <a:buClr>
                <a:srgbClr val="FF0000"/>
              </a:buClr>
              <a:buFont typeface="Wingdings" panose="05000000000000000000" pitchFamily="2" charset="2"/>
              <a:buChar char="q"/>
            </a:pPr>
            <a:r>
              <a:rPr lang="en-US" sz="2800" dirty="0">
                <a:latin typeface="Tahoma" panose="020B0604030504040204" pitchFamily="34" charset="0"/>
              </a:rPr>
              <a:t>This prediction became true in 1997.</a:t>
            </a:r>
          </a:p>
          <a:p>
            <a:pPr marL="457200" indent="-457200">
              <a:lnSpc>
                <a:spcPct val="80000"/>
              </a:lnSpc>
              <a:buClr>
                <a:srgbClr val="FF0000"/>
              </a:buClr>
              <a:buFont typeface="Wingdings" panose="05000000000000000000" pitchFamily="2" charset="2"/>
              <a:buChar char="q"/>
            </a:pPr>
            <a:r>
              <a:rPr lang="en-US" sz="2800" dirty="0">
                <a:latin typeface="Tahoma" panose="020B0604030504040204" pitchFamily="34" charset="0"/>
              </a:rPr>
              <a:t>Today, computers have won over world champions in several games, including Checkers, Othello, and Chess, but still do not do well in Go</a:t>
            </a:r>
          </a:p>
          <a:p>
            <a:pPr marL="457200" indent="-457200">
              <a:lnSpc>
                <a:spcPct val="80000"/>
              </a:lnSpc>
              <a:buClr>
                <a:srgbClr val="FF0000"/>
              </a:buClr>
              <a:buFont typeface="Wingdings" panose="05000000000000000000" pitchFamily="2" charset="2"/>
              <a:buChar char="q"/>
            </a:pPr>
            <a:r>
              <a:rPr lang="en-US" sz="2800" dirty="0">
                <a:latin typeface="Tahoma" panose="020B0604030504040204" pitchFamily="34" charset="0"/>
              </a:rPr>
              <a:t>AI techniques (search, planning, probabilistic reasoning) are used in many video games</a:t>
            </a:r>
          </a:p>
        </p:txBody>
      </p:sp>
      <p:sp>
        <p:nvSpPr>
          <p:cNvPr id="5" name="TextBox 4"/>
          <p:cNvSpPr txBox="1"/>
          <p:nvPr/>
        </p:nvSpPr>
        <p:spPr>
          <a:xfrm>
            <a:off x="228600" y="228600"/>
            <a:ext cx="8686800" cy="523220"/>
          </a:xfrm>
          <a:prstGeom prst="rect">
            <a:avLst/>
          </a:prstGeom>
          <a:solidFill>
            <a:schemeClr val="tx2">
              <a:lumMod val="20000"/>
              <a:lumOff val="80000"/>
            </a:schemeClr>
          </a:solidFill>
        </p:spPr>
        <p:txBody>
          <a:bodyPr wrap="square" rtlCol="0">
            <a:spAutoFit/>
          </a:bodyPr>
          <a:lstStyle/>
          <a:p>
            <a:pPr algn="ctr"/>
            <a:r>
              <a:rPr lang="en-US" sz="2800" b="1" dirty="0">
                <a:solidFill>
                  <a:srgbClr val="FD1B03"/>
                </a:solidFill>
                <a:latin typeface="Tahoma" pitchFamily="34" charset="0"/>
              </a:rPr>
              <a:t>Predictions</a:t>
            </a:r>
            <a:r>
              <a:rPr lang="en-US" sz="2800" b="1" dirty="0">
                <a:latin typeface="Tahoma" pitchFamily="34" charset="0"/>
              </a:rPr>
              <a:t> </a:t>
            </a:r>
            <a:r>
              <a:rPr lang="en-US" sz="2800" b="1" dirty="0">
                <a:solidFill>
                  <a:srgbClr val="FD1B03"/>
                </a:solidFill>
                <a:latin typeface="Tahoma" pitchFamily="34" charset="0"/>
              </a:rPr>
              <a:t>and Reality … (2/3)</a:t>
            </a:r>
            <a:endParaRPr lang="en-US" sz="28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94189762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29</a:t>
            </a:fld>
            <a:endParaRPr lang="en-US" dirty="0"/>
          </a:p>
        </p:txBody>
      </p:sp>
      <p:sp>
        <p:nvSpPr>
          <p:cNvPr id="6" name="Content Placeholder 2"/>
          <p:cNvSpPr txBox="1">
            <a:spLocks/>
          </p:cNvSpPr>
          <p:nvPr/>
        </p:nvSpPr>
        <p:spPr>
          <a:xfrm>
            <a:off x="457200" y="838200"/>
            <a:ext cx="8229600" cy="5212080"/>
          </a:xfrm>
          <a:prstGeom prst="rect">
            <a:avLst/>
          </a:prstGeom>
        </p:spPr>
        <p:txBody>
          <a:bodyPr>
            <a:noAutofit/>
          </a:bodyPr>
          <a:lstStyle/>
          <a:p>
            <a:pPr marL="457200" indent="-457200" algn="just">
              <a:lnSpc>
                <a:spcPct val="80000"/>
              </a:lnSpc>
              <a:buClr>
                <a:srgbClr val="FF0000"/>
              </a:buClr>
              <a:buFont typeface="Wingdings" panose="05000000000000000000" pitchFamily="2" charset="2"/>
              <a:buChar char="q"/>
            </a:pPr>
            <a:r>
              <a:rPr lang="en-US" sz="2800" dirty="0">
                <a:latin typeface="Tahoma" panose="020B0604030504040204" pitchFamily="34" charset="0"/>
              </a:rPr>
              <a:t>In the 70’s, many believed that computer-controlled robots would soon be everywhere from manufacturing plants to home</a:t>
            </a:r>
          </a:p>
          <a:p>
            <a:pPr marL="457200" indent="-457200" algn="just">
              <a:lnSpc>
                <a:spcPct val="80000"/>
              </a:lnSpc>
              <a:buClr>
                <a:srgbClr val="FF0000"/>
              </a:buClr>
              <a:buFont typeface="Wingdings" panose="05000000000000000000" pitchFamily="2" charset="2"/>
              <a:buChar char="q"/>
            </a:pPr>
            <a:r>
              <a:rPr lang="en-US" sz="2800" dirty="0">
                <a:latin typeface="Tahoma" panose="020B0604030504040204" pitchFamily="34" charset="0"/>
              </a:rPr>
              <a:t>Today, some industries (automobile, electronics) are highly robotized, but home robots are still a thing of the future</a:t>
            </a:r>
          </a:p>
          <a:p>
            <a:pPr marL="457200" indent="-457200" algn="just">
              <a:lnSpc>
                <a:spcPct val="80000"/>
              </a:lnSpc>
              <a:buClr>
                <a:srgbClr val="FF0000"/>
              </a:buClr>
              <a:buFont typeface="Wingdings" panose="05000000000000000000" pitchFamily="2" charset="2"/>
              <a:buChar char="q"/>
            </a:pPr>
            <a:r>
              <a:rPr lang="en-US" sz="2800" dirty="0">
                <a:latin typeface="Tahoma" panose="020B0604030504040204" pitchFamily="34" charset="0"/>
              </a:rPr>
              <a:t>But robots have rolled (are rolling) on Mars, fly autonomously</a:t>
            </a:r>
          </a:p>
        </p:txBody>
      </p:sp>
      <p:sp>
        <p:nvSpPr>
          <p:cNvPr id="5" name="TextBox 4"/>
          <p:cNvSpPr txBox="1"/>
          <p:nvPr/>
        </p:nvSpPr>
        <p:spPr>
          <a:xfrm>
            <a:off x="228600" y="228600"/>
            <a:ext cx="8686800" cy="523220"/>
          </a:xfrm>
          <a:prstGeom prst="rect">
            <a:avLst/>
          </a:prstGeom>
          <a:solidFill>
            <a:schemeClr val="tx2">
              <a:lumMod val="20000"/>
              <a:lumOff val="80000"/>
            </a:schemeClr>
          </a:solidFill>
        </p:spPr>
        <p:txBody>
          <a:bodyPr wrap="square" rtlCol="0">
            <a:spAutoFit/>
          </a:bodyPr>
          <a:lstStyle/>
          <a:p>
            <a:pPr algn="ctr"/>
            <a:r>
              <a:rPr lang="en-US" sz="2800" b="1" dirty="0">
                <a:solidFill>
                  <a:srgbClr val="FD1B03"/>
                </a:solidFill>
                <a:latin typeface="Tahoma" pitchFamily="34" charset="0"/>
              </a:rPr>
              <a:t>Predictions</a:t>
            </a:r>
            <a:r>
              <a:rPr lang="en-US" sz="2800" b="1" dirty="0">
                <a:latin typeface="Tahoma" pitchFamily="34" charset="0"/>
              </a:rPr>
              <a:t> </a:t>
            </a:r>
            <a:r>
              <a:rPr lang="en-US" sz="2800" b="1" dirty="0">
                <a:solidFill>
                  <a:srgbClr val="FD1B03"/>
                </a:solidFill>
                <a:latin typeface="Tahoma" pitchFamily="34" charset="0"/>
              </a:rPr>
              <a:t>and Reality … </a:t>
            </a:r>
            <a:r>
              <a:rPr lang="en-US" sz="2800" b="1" dirty="0">
                <a:solidFill>
                  <a:srgbClr val="FD1B03"/>
                </a:solidFill>
                <a:effectLst>
                  <a:outerShdw blurRad="38100" dist="38100" dir="2700000" algn="tl">
                    <a:srgbClr val="000000"/>
                  </a:outerShdw>
                </a:effectLst>
                <a:latin typeface="Tahoma" pitchFamily="34" charset="0"/>
              </a:rPr>
              <a:t>(3/3)</a:t>
            </a:r>
            <a:endParaRPr lang="en-US" sz="28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2" name="Picture 1"/>
          <p:cNvPicPr>
            <a:picLocks noChangeAspect="1"/>
          </p:cNvPicPr>
          <p:nvPr/>
        </p:nvPicPr>
        <p:blipFill>
          <a:blip r:embed="rId3"/>
          <a:stretch>
            <a:fillRect/>
          </a:stretch>
        </p:blipFill>
        <p:spPr>
          <a:xfrm>
            <a:off x="1066800" y="3901440"/>
            <a:ext cx="2819400" cy="2228850"/>
          </a:xfrm>
          <a:prstGeom prst="rect">
            <a:avLst/>
          </a:prstGeom>
        </p:spPr>
      </p:pic>
      <p:pic>
        <p:nvPicPr>
          <p:cNvPr id="3" name="Picture 2"/>
          <p:cNvPicPr>
            <a:picLocks noChangeAspect="1"/>
          </p:cNvPicPr>
          <p:nvPr/>
        </p:nvPicPr>
        <p:blipFill>
          <a:blip r:embed="rId4"/>
          <a:stretch>
            <a:fillRect/>
          </a:stretch>
        </p:blipFill>
        <p:spPr>
          <a:xfrm>
            <a:off x="4114800" y="3733800"/>
            <a:ext cx="2819400" cy="2200275"/>
          </a:xfrm>
          <a:prstGeom prst="rect">
            <a:avLst/>
          </a:prstGeom>
        </p:spPr>
      </p:pic>
    </p:spTree>
    <p:extLst>
      <p:ext uri="{BB962C8B-B14F-4D97-AF65-F5344CB8AC3E}">
        <p14:creationId xmlns:p14="http://schemas.microsoft.com/office/powerpoint/2010/main" val="323362487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30</a:t>
            </a:fld>
            <a:endParaRPr lang="en-US" dirty="0"/>
          </a:p>
        </p:txBody>
      </p:sp>
      <p:sp>
        <p:nvSpPr>
          <p:cNvPr id="6" name="Content Placeholder 2"/>
          <p:cNvSpPr txBox="1">
            <a:spLocks/>
          </p:cNvSpPr>
          <p:nvPr/>
        </p:nvSpPr>
        <p:spPr>
          <a:xfrm>
            <a:off x="457200" y="838200"/>
            <a:ext cx="8229600" cy="5212080"/>
          </a:xfrm>
          <a:prstGeom prst="rect">
            <a:avLst/>
          </a:prstGeom>
        </p:spPr>
        <p:txBody>
          <a:bodyPr>
            <a:noAutofit/>
          </a:bodyPr>
          <a:lstStyle/>
          <a:p>
            <a:pPr marL="457200" indent="-457200" algn="just">
              <a:lnSpc>
                <a:spcPct val="90000"/>
              </a:lnSpc>
              <a:buClr>
                <a:srgbClr val="FF0000"/>
              </a:buClr>
              <a:buFont typeface="Wingdings" panose="05000000000000000000" pitchFamily="2" charset="2"/>
              <a:buChar char="q"/>
            </a:pPr>
            <a:r>
              <a:rPr lang="en-US" sz="2800" dirty="0">
                <a:latin typeface="Tahoma" panose="020B0604030504040204" pitchFamily="34" charset="0"/>
              </a:rPr>
              <a:t>Robots make cars in all advanced countries.</a:t>
            </a:r>
          </a:p>
          <a:p>
            <a:pPr marL="457200" indent="-457200" algn="just">
              <a:lnSpc>
                <a:spcPct val="90000"/>
              </a:lnSpc>
              <a:buClr>
                <a:srgbClr val="FF0000"/>
              </a:buClr>
              <a:buFont typeface="Wingdings" panose="05000000000000000000" pitchFamily="2" charset="2"/>
              <a:buChar char="q"/>
            </a:pPr>
            <a:r>
              <a:rPr lang="en-US" sz="2800" dirty="0">
                <a:latin typeface="Tahoma" panose="020B0604030504040204" pitchFamily="34" charset="0"/>
              </a:rPr>
              <a:t>Reasonable machine translation is available for a large range of foreign web pages.</a:t>
            </a:r>
          </a:p>
          <a:p>
            <a:pPr marL="457200" indent="-457200" algn="just">
              <a:lnSpc>
                <a:spcPct val="90000"/>
              </a:lnSpc>
              <a:buClr>
                <a:srgbClr val="FF0000"/>
              </a:buClr>
              <a:buFont typeface="Wingdings" panose="05000000000000000000" pitchFamily="2" charset="2"/>
              <a:buChar char="q"/>
            </a:pPr>
            <a:r>
              <a:rPr lang="en-US" sz="2800" dirty="0">
                <a:latin typeface="Tahoma" panose="020B0604030504040204" pitchFamily="34" charset="0"/>
              </a:rPr>
              <a:t>Computers land 200 ton jumbo jets unaided every few minutes.</a:t>
            </a:r>
          </a:p>
          <a:p>
            <a:pPr marL="457200" indent="-457200" algn="just">
              <a:lnSpc>
                <a:spcPct val="90000"/>
              </a:lnSpc>
              <a:buClr>
                <a:srgbClr val="FF0000"/>
              </a:buClr>
              <a:buFont typeface="Wingdings" panose="05000000000000000000" pitchFamily="2" charset="2"/>
              <a:buChar char="q"/>
            </a:pPr>
            <a:r>
              <a:rPr lang="en-US" sz="2800" dirty="0">
                <a:latin typeface="Tahoma" panose="020B0604030504040204" pitchFamily="34" charset="0"/>
              </a:rPr>
              <a:t>Search systems like Google are not perfect but provide very effective information retrieval</a:t>
            </a:r>
          </a:p>
          <a:p>
            <a:pPr marL="457200" indent="-457200" algn="just">
              <a:lnSpc>
                <a:spcPct val="90000"/>
              </a:lnSpc>
              <a:buClr>
                <a:srgbClr val="FF0000"/>
              </a:buClr>
              <a:buFont typeface="Wingdings" panose="05000000000000000000" pitchFamily="2" charset="2"/>
              <a:buChar char="q"/>
            </a:pPr>
            <a:r>
              <a:rPr lang="en-US" sz="2800" dirty="0">
                <a:latin typeface="Tahoma" panose="020B0604030504040204" pitchFamily="34" charset="0"/>
              </a:rPr>
              <a:t>Robots cut slots for hip joints better than surgeons.</a:t>
            </a:r>
          </a:p>
          <a:p>
            <a:pPr marL="457200" indent="-457200" algn="just">
              <a:lnSpc>
                <a:spcPct val="90000"/>
              </a:lnSpc>
              <a:buClr>
                <a:srgbClr val="FF0000"/>
              </a:buClr>
              <a:buFont typeface="Wingdings" panose="05000000000000000000" pitchFamily="2" charset="2"/>
              <a:buChar char="q"/>
            </a:pPr>
            <a:r>
              <a:rPr lang="en-US" sz="2800" dirty="0">
                <a:latin typeface="Tahoma" panose="020B0604030504040204" pitchFamily="34" charset="0"/>
              </a:rPr>
              <a:t>Medical expert systems can outperform doctors in many areas of diagnosis.</a:t>
            </a:r>
          </a:p>
        </p:txBody>
      </p:sp>
      <p:sp>
        <p:nvSpPr>
          <p:cNvPr id="5" name="TextBox 4"/>
          <p:cNvSpPr txBox="1"/>
          <p:nvPr/>
        </p:nvSpPr>
        <p:spPr>
          <a:xfrm>
            <a:off x="228600" y="228600"/>
            <a:ext cx="8686800" cy="523220"/>
          </a:xfrm>
          <a:prstGeom prst="rect">
            <a:avLst/>
          </a:prstGeom>
          <a:solidFill>
            <a:schemeClr val="tx2">
              <a:lumMod val="20000"/>
              <a:lumOff val="80000"/>
            </a:schemeClr>
          </a:solidFill>
        </p:spPr>
        <p:txBody>
          <a:bodyPr wrap="square" rtlCol="0">
            <a:spAutoFit/>
          </a:bodyPr>
          <a:lstStyle/>
          <a:p>
            <a:pPr algn="ctr">
              <a:spcBef>
                <a:spcPct val="0"/>
              </a:spcBef>
            </a:pPr>
            <a:r>
              <a:rPr lang="en-US" sz="2800" b="1" dirty="0">
                <a:solidFill>
                  <a:srgbClr val="FD1B03"/>
                </a:solidFill>
                <a:latin typeface="Tahoma" panose="020B0604030504040204" pitchFamily="34" charset="0"/>
              </a:rPr>
              <a:t>AI – The Achievements</a:t>
            </a:r>
            <a:endParaRPr lang="en-US" altLang="ja-JP" sz="2800" b="1" dirty="0">
              <a:solidFill>
                <a:srgbClr val="FD1B03"/>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350933510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31</a:t>
            </a:fld>
            <a:endParaRPr lang="en-US" dirty="0"/>
          </a:p>
        </p:txBody>
      </p:sp>
      <p:sp>
        <p:nvSpPr>
          <p:cNvPr id="6" name="Content Placeholder 2"/>
          <p:cNvSpPr txBox="1">
            <a:spLocks/>
          </p:cNvSpPr>
          <p:nvPr/>
        </p:nvSpPr>
        <p:spPr>
          <a:xfrm>
            <a:off x="457200" y="838200"/>
            <a:ext cx="8229600" cy="5212080"/>
          </a:xfrm>
          <a:prstGeom prst="rect">
            <a:avLst/>
          </a:prstGeom>
        </p:spPr>
        <p:txBody>
          <a:bodyPr>
            <a:noAutofit/>
          </a:bodyPr>
          <a:lstStyle/>
          <a:p>
            <a:pPr marL="457200" indent="-457200" algn="just">
              <a:lnSpc>
                <a:spcPct val="80000"/>
              </a:lnSpc>
              <a:spcBef>
                <a:spcPct val="50000"/>
              </a:spcBef>
              <a:buClr>
                <a:srgbClr val="FF0000"/>
              </a:buClr>
              <a:buFont typeface="Wingdings" panose="05000000000000000000" pitchFamily="2" charset="2"/>
              <a:buChar char="q"/>
            </a:pPr>
            <a:r>
              <a:rPr lang="en-US" sz="2800" dirty="0">
                <a:latin typeface="Tahoma" panose="020B0604030504040204" pitchFamily="34" charset="0"/>
              </a:rPr>
              <a:t>Deep Blue defeated the reigning world chess champion Garry Kasparov in 1997. </a:t>
            </a:r>
          </a:p>
          <a:p>
            <a:pPr marL="457200" indent="-457200" algn="just">
              <a:lnSpc>
                <a:spcPct val="80000"/>
              </a:lnSpc>
              <a:spcBef>
                <a:spcPct val="50000"/>
              </a:spcBef>
              <a:buClr>
                <a:srgbClr val="FF0000"/>
              </a:buClr>
              <a:buFont typeface="Wingdings" panose="05000000000000000000" pitchFamily="2" charset="2"/>
              <a:buChar char="q"/>
            </a:pPr>
            <a:r>
              <a:rPr lang="en-US" sz="2800" dirty="0">
                <a:latin typeface="Tahoma" panose="020B0604030504040204" pitchFamily="34" charset="0"/>
              </a:rPr>
              <a:t>No hands across America (driving autonomously 98% of the time from Pittsburgh to San Diego). </a:t>
            </a:r>
          </a:p>
          <a:p>
            <a:pPr marL="457200" indent="-457200" algn="just">
              <a:lnSpc>
                <a:spcPct val="80000"/>
              </a:lnSpc>
              <a:spcBef>
                <a:spcPct val="50000"/>
              </a:spcBef>
              <a:buClr>
                <a:srgbClr val="FF0000"/>
              </a:buClr>
              <a:buFont typeface="Wingdings" panose="05000000000000000000" pitchFamily="2" charset="2"/>
              <a:buChar char="q"/>
            </a:pPr>
            <a:r>
              <a:rPr lang="en-US" sz="2800" dirty="0">
                <a:latin typeface="Tahoma" panose="020B0604030504040204" pitchFamily="34" charset="0"/>
              </a:rPr>
              <a:t>During the 1991 Gulf War, US forces deployed an AI logistics planning and scheduling program that involved up to 50,000 vehicles, cargo, and people. </a:t>
            </a:r>
          </a:p>
          <a:p>
            <a:pPr marL="457200" indent="-457200" algn="just">
              <a:lnSpc>
                <a:spcPct val="80000"/>
              </a:lnSpc>
              <a:spcBef>
                <a:spcPct val="50000"/>
              </a:spcBef>
              <a:buClr>
                <a:srgbClr val="FF0000"/>
              </a:buClr>
              <a:buFont typeface="Wingdings" panose="05000000000000000000" pitchFamily="2" charset="2"/>
              <a:buChar char="q"/>
            </a:pPr>
            <a:r>
              <a:rPr lang="en-US" sz="2800" dirty="0">
                <a:latin typeface="Tahoma" panose="020B0604030504040204" pitchFamily="34" charset="0"/>
              </a:rPr>
              <a:t>NASA's on-board autonomous planning program controlled the scheduling of operations for a spacecraft. </a:t>
            </a:r>
          </a:p>
          <a:p>
            <a:pPr marL="457200" indent="-457200" algn="just">
              <a:lnSpc>
                <a:spcPct val="80000"/>
              </a:lnSpc>
              <a:spcBef>
                <a:spcPct val="50000"/>
              </a:spcBef>
              <a:buClr>
                <a:srgbClr val="FF0000"/>
              </a:buClr>
              <a:buFont typeface="Wingdings" panose="05000000000000000000" pitchFamily="2" charset="2"/>
              <a:buChar char="q"/>
            </a:pPr>
            <a:r>
              <a:rPr lang="en-US" sz="2800" dirty="0">
                <a:latin typeface="Tahoma" panose="020B0604030504040204" pitchFamily="34" charset="0"/>
              </a:rPr>
              <a:t>Solves crossword puzzles better than most humans.</a:t>
            </a:r>
          </a:p>
          <a:p>
            <a:pPr algn="just">
              <a:lnSpc>
                <a:spcPct val="90000"/>
              </a:lnSpc>
              <a:buClr>
                <a:srgbClr val="FF0000"/>
              </a:buClr>
            </a:pPr>
            <a:endParaRPr lang="en-US" sz="2800" dirty="0">
              <a:latin typeface="Tahoma" panose="020B0604030504040204" pitchFamily="34" charset="0"/>
            </a:endParaRPr>
          </a:p>
        </p:txBody>
      </p:sp>
      <p:sp>
        <p:nvSpPr>
          <p:cNvPr id="5" name="TextBox 4"/>
          <p:cNvSpPr txBox="1"/>
          <p:nvPr/>
        </p:nvSpPr>
        <p:spPr>
          <a:xfrm>
            <a:off x="228600" y="228600"/>
            <a:ext cx="8686800" cy="523220"/>
          </a:xfrm>
          <a:prstGeom prst="rect">
            <a:avLst/>
          </a:prstGeom>
          <a:solidFill>
            <a:schemeClr val="tx2">
              <a:lumMod val="20000"/>
              <a:lumOff val="80000"/>
            </a:schemeClr>
          </a:solidFill>
        </p:spPr>
        <p:txBody>
          <a:bodyPr wrap="square" rtlCol="0">
            <a:spAutoFit/>
          </a:bodyPr>
          <a:lstStyle/>
          <a:p>
            <a:pPr algn="ctr">
              <a:spcBef>
                <a:spcPct val="0"/>
              </a:spcBef>
            </a:pPr>
            <a:r>
              <a:rPr lang="en-US" sz="2800" b="1" dirty="0">
                <a:solidFill>
                  <a:srgbClr val="FD1B03"/>
                </a:solidFill>
                <a:latin typeface="Tahoma" panose="020B0604030504040204" pitchFamily="34" charset="0"/>
              </a:rPr>
              <a:t>AI – The Achievements</a:t>
            </a:r>
            <a:endParaRPr lang="en-US" altLang="ja-JP" sz="2800" b="1" dirty="0">
              <a:solidFill>
                <a:srgbClr val="FD1B03"/>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212395465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32</a:t>
            </a:fld>
            <a:endParaRPr lang="en-US" dirty="0"/>
          </a:p>
        </p:txBody>
      </p:sp>
      <p:sp>
        <p:nvSpPr>
          <p:cNvPr id="6" name="Content Placeholder 2"/>
          <p:cNvSpPr txBox="1">
            <a:spLocks/>
          </p:cNvSpPr>
          <p:nvPr/>
        </p:nvSpPr>
        <p:spPr>
          <a:xfrm>
            <a:off x="457200" y="838200"/>
            <a:ext cx="8229600" cy="5212080"/>
          </a:xfrm>
          <a:prstGeom prst="rect">
            <a:avLst/>
          </a:prstGeom>
        </p:spPr>
        <p:txBody>
          <a:bodyPr>
            <a:noAutofit/>
          </a:bodyPr>
          <a:lstStyle/>
          <a:p>
            <a:pPr>
              <a:spcBef>
                <a:spcPct val="50000"/>
              </a:spcBef>
            </a:pPr>
            <a:r>
              <a:rPr lang="en-US" sz="2800" dirty="0">
                <a:latin typeface="Tahoma" panose="020B0604030504040204" pitchFamily="34" charset="0"/>
              </a:rPr>
              <a:t>Despite all these achievements, one of the major philosophers of Cognitive Science wrote recently:</a:t>
            </a:r>
          </a:p>
          <a:p>
            <a:pPr>
              <a:spcBef>
                <a:spcPct val="50000"/>
              </a:spcBef>
            </a:pPr>
            <a:r>
              <a:rPr lang="en-US" sz="2800" dirty="0">
                <a:latin typeface="Tahoma" panose="020B0604030504040204" pitchFamily="34" charset="0"/>
              </a:rPr>
              <a:t>“… the failure of artificial intelligence to produce successful simulation of routine commonsense cognitive competences is notorious, not to say scandalous. We still don't have the fabled machine that can make breakfast without burning down the house; or the one that can translate everyday English into everyday Italian, or the one that can summarize texts..” </a:t>
            </a:r>
            <a:r>
              <a:rPr lang="en-US" sz="2800" b="1" dirty="0">
                <a:latin typeface="Tahoma" panose="020B0604030504040204" pitchFamily="34" charset="0"/>
              </a:rPr>
              <a:t>(Jerry Fodor, The Mind doesn’t Work that Way, 2000, p.37).</a:t>
            </a:r>
          </a:p>
        </p:txBody>
      </p:sp>
      <p:sp>
        <p:nvSpPr>
          <p:cNvPr id="5" name="TextBox 4"/>
          <p:cNvSpPr txBox="1"/>
          <p:nvPr/>
        </p:nvSpPr>
        <p:spPr>
          <a:xfrm>
            <a:off x="228600" y="228600"/>
            <a:ext cx="8686800" cy="523220"/>
          </a:xfrm>
          <a:prstGeom prst="rect">
            <a:avLst/>
          </a:prstGeom>
          <a:solidFill>
            <a:schemeClr val="tx2">
              <a:lumMod val="20000"/>
              <a:lumOff val="80000"/>
            </a:schemeClr>
          </a:solidFill>
        </p:spPr>
        <p:txBody>
          <a:bodyPr wrap="square" rtlCol="0">
            <a:spAutoFit/>
          </a:bodyPr>
          <a:lstStyle/>
          <a:p>
            <a:pPr algn="ctr">
              <a:spcBef>
                <a:spcPct val="0"/>
              </a:spcBef>
            </a:pPr>
            <a:r>
              <a:rPr lang="en-US" sz="2800" b="1" dirty="0">
                <a:solidFill>
                  <a:srgbClr val="FD1B03"/>
                </a:solidFill>
                <a:latin typeface="Tahoma" panose="020B0604030504040204" pitchFamily="34" charset="0"/>
              </a:rPr>
              <a:t>AI – A Comment</a:t>
            </a:r>
            <a:endParaRPr lang="en-US" altLang="ja-JP" sz="2800" b="1" dirty="0">
              <a:solidFill>
                <a:srgbClr val="FD1B03"/>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108414328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33</a:t>
            </a:fld>
            <a:endParaRPr lang="en-US" dirty="0"/>
          </a:p>
        </p:txBody>
      </p:sp>
      <p:sp>
        <p:nvSpPr>
          <p:cNvPr id="6" name="Content Placeholder 2"/>
          <p:cNvSpPr txBox="1">
            <a:spLocks/>
          </p:cNvSpPr>
          <p:nvPr/>
        </p:nvSpPr>
        <p:spPr>
          <a:xfrm>
            <a:off x="457200" y="838200"/>
            <a:ext cx="8229600" cy="5212080"/>
          </a:xfrm>
          <a:prstGeom prst="rect">
            <a:avLst/>
          </a:prstGeom>
        </p:spPr>
        <p:txBody>
          <a:bodyPr>
            <a:noAutofit/>
          </a:bodyPr>
          <a:lstStyle/>
          <a:p>
            <a:pPr marL="457200" indent="-457200" algn="just">
              <a:spcBef>
                <a:spcPct val="50000"/>
              </a:spcBef>
              <a:buClr>
                <a:srgbClr val="FD1B03"/>
              </a:buClr>
              <a:buFont typeface="Wingdings" panose="05000000000000000000" pitchFamily="2" charset="2"/>
              <a:buChar char="q"/>
            </a:pPr>
            <a:r>
              <a:rPr lang="en-US" sz="2800" b="1" dirty="0">
                <a:latin typeface="Tahoma" panose="020B0604030504040204" pitchFamily="34" charset="0"/>
              </a:rPr>
              <a:t>Early AI concentrated on building intelligent machines that mimicked human behavior.</a:t>
            </a:r>
          </a:p>
          <a:p>
            <a:pPr marL="457200" indent="-457200" algn="just">
              <a:spcBef>
                <a:spcPct val="50000"/>
              </a:spcBef>
              <a:buClr>
                <a:srgbClr val="FD1B03"/>
              </a:buClr>
              <a:buFont typeface="Wingdings" panose="05000000000000000000" pitchFamily="2" charset="2"/>
              <a:buChar char="q"/>
            </a:pPr>
            <a:r>
              <a:rPr lang="en-US" sz="2800" b="1" dirty="0">
                <a:latin typeface="Tahoma" panose="020B0604030504040204" pitchFamily="34" charset="0"/>
              </a:rPr>
              <a:t>Present AI devoted to embedding AI algorithms and techniques (neural networks, genetic algorithms, fuzzy logic, and intelligent agents) into software to provide them with the ability to learn, optimize, and reason.</a:t>
            </a:r>
          </a:p>
          <a:p>
            <a:pPr>
              <a:spcBef>
                <a:spcPct val="50000"/>
              </a:spcBef>
            </a:pPr>
            <a:endParaRPr lang="en-US" sz="2800" b="1" dirty="0">
              <a:latin typeface="Tahoma" panose="020B0604030504040204" pitchFamily="34" charset="0"/>
            </a:endParaRPr>
          </a:p>
        </p:txBody>
      </p:sp>
      <p:sp>
        <p:nvSpPr>
          <p:cNvPr id="5" name="TextBox 4"/>
          <p:cNvSpPr txBox="1"/>
          <p:nvPr/>
        </p:nvSpPr>
        <p:spPr>
          <a:xfrm>
            <a:off x="228600" y="228600"/>
            <a:ext cx="8686800" cy="523220"/>
          </a:xfrm>
          <a:prstGeom prst="rect">
            <a:avLst/>
          </a:prstGeom>
          <a:solidFill>
            <a:schemeClr val="tx2">
              <a:lumMod val="20000"/>
              <a:lumOff val="80000"/>
            </a:schemeClr>
          </a:solidFill>
        </p:spPr>
        <p:txBody>
          <a:bodyPr wrap="square" rtlCol="0">
            <a:spAutoFit/>
          </a:bodyPr>
          <a:lstStyle/>
          <a:p>
            <a:pPr algn="ctr">
              <a:spcBef>
                <a:spcPct val="0"/>
              </a:spcBef>
            </a:pPr>
            <a:r>
              <a:rPr lang="en-US" sz="2800" b="1" dirty="0">
                <a:solidFill>
                  <a:srgbClr val="FD1B03"/>
                </a:solidFill>
                <a:latin typeface="Tahoma" panose="020B0604030504040204" pitchFamily="34" charset="0"/>
              </a:rPr>
              <a:t>AI Trend</a:t>
            </a:r>
            <a:endParaRPr lang="en-US" altLang="ja-JP" sz="2800" b="1" dirty="0">
              <a:solidFill>
                <a:srgbClr val="FD1B03"/>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220322040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34</a:t>
            </a:fld>
            <a:endParaRPr lang="en-US" dirty="0"/>
          </a:p>
        </p:txBody>
      </p:sp>
      <p:sp>
        <p:nvSpPr>
          <p:cNvPr id="6" name="Content Placeholder 2"/>
          <p:cNvSpPr txBox="1">
            <a:spLocks/>
          </p:cNvSpPr>
          <p:nvPr/>
        </p:nvSpPr>
        <p:spPr>
          <a:xfrm>
            <a:off x="457200" y="685800"/>
            <a:ext cx="8458200" cy="5715000"/>
          </a:xfrm>
          <a:prstGeom prst="rect">
            <a:avLst/>
          </a:prstGeom>
        </p:spPr>
        <p:txBody>
          <a:bodyPr>
            <a:noAutofit/>
          </a:bodyPr>
          <a:lstStyle/>
          <a:p>
            <a:pPr marL="342900" indent="-342900" algn="just" eaLnBrk="0" hangingPunct="0">
              <a:spcBef>
                <a:spcPct val="20000"/>
              </a:spcBef>
              <a:buClr>
                <a:srgbClr val="FF0000"/>
              </a:buClr>
              <a:buFont typeface="Wingdings" pitchFamily="2" charset="2"/>
              <a:buChar char="q"/>
            </a:pPr>
            <a:r>
              <a:rPr lang="en-US" altLang="ja-JP" sz="2500" dirty="0" smtClean="0">
                <a:latin typeface="Tahoma" panose="020B0604030504040204" pitchFamily="34" charset="0"/>
                <a:ea typeface="Tahoma" panose="020B0604030504040204" pitchFamily="34" charset="0"/>
                <a:cs typeface="Tahoma" panose="020B0604030504040204" pitchFamily="34" charset="0"/>
              </a:rPr>
              <a:t>[</a:t>
            </a:r>
            <a:r>
              <a:rPr lang="en-US" altLang="ja-JP" sz="2500" dirty="0" err="1" smtClean="0">
                <a:latin typeface="Tahoma" panose="020B0604030504040204" pitchFamily="34" charset="0"/>
                <a:ea typeface="Tahoma" panose="020B0604030504040204" pitchFamily="34" charset="0"/>
                <a:cs typeface="Tahoma" panose="020B0604030504040204" pitchFamily="34" charset="0"/>
              </a:rPr>
              <a:t>Negnevitsky</a:t>
            </a:r>
            <a:r>
              <a:rPr lang="en-US" altLang="ja-JP" sz="2500" dirty="0">
                <a:latin typeface="Tahoma" panose="020B0604030504040204" pitchFamily="34" charset="0"/>
                <a:ea typeface="Tahoma" panose="020B0604030504040204" pitchFamily="34" charset="0"/>
                <a:cs typeface="Tahoma" panose="020B0604030504040204" pitchFamily="34" charset="0"/>
              </a:rPr>
              <a:t>, 2001] M. </a:t>
            </a:r>
            <a:r>
              <a:rPr lang="en-US" altLang="ja-JP" sz="2500" dirty="0" err="1">
                <a:latin typeface="Tahoma" panose="020B0604030504040204" pitchFamily="34" charset="0"/>
                <a:ea typeface="Tahoma" panose="020B0604030504040204" pitchFamily="34" charset="0"/>
                <a:cs typeface="Tahoma" panose="020B0604030504040204" pitchFamily="34" charset="0"/>
              </a:rPr>
              <a:t>Negnevitsky</a:t>
            </a:r>
            <a:r>
              <a:rPr lang="en-US" altLang="ja-JP" sz="2500" dirty="0">
                <a:latin typeface="Tahoma" panose="020B0604030504040204" pitchFamily="34" charset="0"/>
                <a:ea typeface="Tahoma" panose="020B0604030504040204" pitchFamily="34" charset="0"/>
                <a:cs typeface="Tahoma" panose="020B0604030504040204" pitchFamily="34" charset="0"/>
              </a:rPr>
              <a:t> “ Artificial Intelligence: A guide to Intelligent Systems”, Pearson Education Limited, England, 2002</a:t>
            </a:r>
            <a:r>
              <a:rPr lang="en-US" altLang="ja-JP" sz="2500" dirty="0" smtClean="0">
                <a:latin typeface="Tahoma" panose="020B0604030504040204" pitchFamily="34" charset="0"/>
                <a:ea typeface="Tahoma" panose="020B0604030504040204" pitchFamily="34" charset="0"/>
                <a:cs typeface="Tahoma" panose="020B0604030504040204" pitchFamily="34" charset="0"/>
              </a:rPr>
              <a:t>.</a:t>
            </a:r>
          </a:p>
          <a:p>
            <a:pPr marL="342900" indent="-342900" algn="just" eaLnBrk="0" hangingPunct="0">
              <a:spcBef>
                <a:spcPct val="20000"/>
              </a:spcBef>
              <a:buClr>
                <a:srgbClr val="FF0000"/>
              </a:buClr>
              <a:buFont typeface="Wingdings" pitchFamily="2" charset="2"/>
              <a:buChar char="q"/>
            </a:pPr>
            <a:r>
              <a:rPr lang="en-US" sz="2500" dirty="0" smtClean="0">
                <a:latin typeface="Tahoma" panose="020B0604030504040204" pitchFamily="34" charset="0"/>
                <a:ea typeface="Tahoma" panose="020B0604030504040204" pitchFamily="34" charset="0"/>
                <a:cs typeface="Tahoma" panose="020B0604030504040204" pitchFamily="34" charset="0"/>
              </a:rPr>
              <a:t>[</a:t>
            </a:r>
            <a:r>
              <a:rPr lang="en-US" sz="2500" dirty="0" err="1">
                <a:latin typeface="Tahoma" panose="020B0604030504040204" pitchFamily="34" charset="0"/>
                <a:ea typeface="Tahoma" panose="020B0604030504040204" pitchFamily="34" charset="0"/>
                <a:cs typeface="Tahoma" panose="020B0604030504040204" pitchFamily="34" charset="0"/>
              </a:rPr>
              <a:t>Russel</a:t>
            </a:r>
            <a:r>
              <a:rPr lang="en-US" sz="2500" dirty="0">
                <a:latin typeface="Tahoma" panose="020B0604030504040204" pitchFamily="34" charset="0"/>
                <a:ea typeface="Tahoma" panose="020B0604030504040204" pitchFamily="34" charset="0"/>
                <a:cs typeface="Tahoma" panose="020B0604030504040204" pitchFamily="34" charset="0"/>
              </a:rPr>
              <a:t>, 2003] S. Russell and P. </a:t>
            </a:r>
            <a:r>
              <a:rPr lang="en-US" sz="2500" dirty="0" err="1">
                <a:latin typeface="Tahoma" panose="020B0604030504040204" pitchFamily="34" charset="0"/>
                <a:ea typeface="Tahoma" panose="020B0604030504040204" pitchFamily="34" charset="0"/>
                <a:cs typeface="Tahoma" panose="020B0604030504040204" pitchFamily="34" charset="0"/>
              </a:rPr>
              <a:t>Norvig</a:t>
            </a:r>
            <a:r>
              <a:rPr lang="en-US" sz="2500" dirty="0">
                <a:latin typeface="Tahoma" panose="020B0604030504040204" pitchFamily="34" charset="0"/>
                <a:ea typeface="Tahoma" panose="020B0604030504040204" pitchFamily="34" charset="0"/>
                <a:cs typeface="Tahoma" panose="020B0604030504040204" pitchFamily="34" charset="0"/>
              </a:rPr>
              <a:t> Artificial Intelligence: A Modern Approach Prentice Hall, 2003, Second </a:t>
            </a:r>
            <a:r>
              <a:rPr lang="en-US" sz="2500" dirty="0" smtClean="0">
                <a:latin typeface="Tahoma" panose="020B0604030504040204" pitchFamily="34" charset="0"/>
                <a:ea typeface="Tahoma" panose="020B0604030504040204" pitchFamily="34" charset="0"/>
                <a:cs typeface="Tahoma" panose="020B0604030504040204" pitchFamily="34" charset="0"/>
              </a:rPr>
              <a:t>Edition</a:t>
            </a:r>
          </a:p>
          <a:p>
            <a:pPr marL="342900" indent="-342900" algn="just" eaLnBrk="0" hangingPunct="0">
              <a:spcBef>
                <a:spcPct val="20000"/>
              </a:spcBef>
              <a:buClr>
                <a:srgbClr val="FF0000"/>
              </a:buClr>
              <a:buFont typeface="Wingdings" pitchFamily="2" charset="2"/>
              <a:buChar char="q"/>
            </a:pPr>
            <a:r>
              <a:rPr lang="en-US" altLang="ja-JP" sz="2500" dirty="0" smtClean="0">
                <a:latin typeface="Tahoma" panose="020B0604030504040204" pitchFamily="34" charset="0"/>
                <a:ea typeface="Tahoma" panose="020B0604030504040204" pitchFamily="34" charset="0"/>
                <a:cs typeface="Tahoma" panose="020B0604030504040204" pitchFamily="34" charset="0"/>
              </a:rPr>
              <a:t>[Patterson</a:t>
            </a:r>
            <a:r>
              <a:rPr lang="en-US" altLang="ja-JP" sz="2500" dirty="0">
                <a:latin typeface="Tahoma" panose="020B0604030504040204" pitchFamily="34" charset="0"/>
                <a:ea typeface="Tahoma" panose="020B0604030504040204" pitchFamily="34" charset="0"/>
                <a:cs typeface="Tahoma" panose="020B0604030504040204" pitchFamily="34" charset="0"/>
              </a:rPr>
              <a:t>, 1990] D. W. Patterson, “Introduction to Artificial Intelligence and Expert Systems”, Prentice-Hall Inc., Englewood Cliffs, N.J, USA, 1990</a:t>
            </a:r>
            <a:r>
              <a:rPr lang="en-US" altLang="ja-JP" sz="2500" dirty="0" smtClean="0">
                <a:latin typeface="Tahoma" panose="020B0604030504040204" pitchFamily="34" charset="0"/>
                <a:ea typeface="Tahoma" panose="020B0604030504040204" pitchFamily="34" charset="0"/>
                <a:cs typeface="Tahoma" panose="020B0604030504040204" pitchFamily="34" charset="0"/>
              </a:rPr>
              <a:t>.</a:t>
            </a:r>
          </a:p>
          <a:p>
            <a:pPr marL="342900" indent="-342900" algn="just" eaLnBrk="0" hangingPunct="0">
              <a:spcBef>
                <a:spcPct val="20000"/>
              </a:spcBef>
              <a:buClr>
                <a:srgbClr val="FF0000"/>
              </a:buClr>
              <a:buFont typeface="Wingdings" pitchFamily="2" charset="2"/>
              <a:buChar char="q"/>
            </a:pPr>
            <a:r>
              <a:rPr lang="en-US" altLang="ja-JP" sz="2500" dirty="0" smtClean="0">
                <a:latin typeface="Tahoma" panose="020B0604030504040204" pitchFamily="34" charset="0"/>
                <a:ea typeface="Tahoma" panose="020B0604030504040204" pitchFamily="34" charset="0"/>
                <a:cs typeface="Tahoma" panose="020B0604030504040204" pitchFamily="34" charset="0"/>
              </a:rPr>
              <a:t>[</a:t>
            </a:r>
            <a:r>
              <a:rPr lang="en-US" altLang="ja-JP" sz="2500" dirty="0" err="1">
                <a:latin typeface="Tahoma" panose="020B0604030504040204" pitchFamily="34" charset="0"/>
                <a:ea typeface="Tahoma" panose="020B0604030504040204" pitchFamily="34" charset="0"/>
                <a:cs typeface="Tahoma" panose="020B0604030504040204" pitchFamily="34" charset="0"/>
              </a:rPr>
              <a:t>Minsky</a:t>
            </a:r>
            <a:r>
              <a:rPr lang="en-US" altLang="ja-JP" sz="2500" dirty="0">
                <a:latin typeface="Tahoma" panose="020B0604030504040204" pitchFamily="34" charset="0"/>
                <a:ea typeface="Tahoma" panose="020B0604030504040204" pitchFamily="34" charset="0"/>
                <a:cs typeface="Tahoma" panose="020B0604030504040204" pitchFamily="34" charset="0"/>
              </a:rPr>
              <a:t>, 1974] M. </a:t>
            </a:r>
            <a:r>
              <a:rPr lang="en-US" altLang="ja-JP" sz="2500" dirty="0" err="1">
                <a:latin typeface="Tahoma" panose="020B0604030504040204" pitchFamily="34" charset="0"/>
                <a:ea typeface="Tahoma" panose="020B0604030504040204" pitchFamily="34" charset="0"/>
                <a:cs typeface="Tahoma" panose="020B0604030504040204" pitchFamily="34" charset="0"/>
              </a:rPr>
              <a:t>Minsky</a:t>
            </a:r>
            <a:r>
              <a:rPr lang="en-US" altLang="ja-JP" sz="2500" dirty="0">
                <a:latin typeface="Tahoma" panose="020B0604030504040204" pitchFamily="34" charset="0"/>
                <a:ea typeface="Tahoma" panose="020B0604030504040204" pitchFamily="34" charset="0"/>
                <a:cs typeface="Tahoma" panose="020B0604030504040204" pitchFamily="34" charset="0"/>
              </a:rPr>
              <a:t> “A Framework for Representing Knowledge”, MIT-AI Laboratory Memo 306, 1974</a:t>
            </a:r>
            <a:r>
              <a:rPr lang="en-US" altLang="ja-JP" sz="2500" dirty="0" smtClean="0">
                <a:latin typeface="Tahoma" panose="020B0604030504040204" pitchFamily="34" charset="0"/>
                <a:ea typeface="Tahoma" panose="020B0604030504040204" pitchFamily="34" charset="0"/>
                <a:cs typeface="Tahoma" panose="020B0604030504040204" pitchFamily="34" charset="0"/>
              </a:rPr>
              <a:t>.</a:t>
            </a:r>
          </a:p>
          <a:p>
            <a:pPr marL="342900" indent="-342900" algn="just" eaLnBrk="0" hangingPunct="0">
              <a:spcBef>
                <a:spcPct val="20000"/>
              </a:spcBef>
              <a:buClr>
                <a:srgbClr val="FF0000"/>
              </a:buClr>
              <a:buFont typeface="Wingdings" pitchFamily="2" charset="2"/>
              <a:buChar char="q"/>
            </a:pPr>
            <a:r>
              <a:rPr lang="en-US" altLang="ja-JP" sz="2500" dirty="0" smtClean="0">
                <a:latin typeface="Tahoma" panose="020B0604030504040204" pitchFamily="34" charset="0"/>
                <a:ea typeface="Tahoma" panose="020B0604030504040204" pitchFamily="34" charset="0"/>
                <a:cs typeface="Tahoma" panose="020B0604030504040204" pitchFamily="34" charset="0"/>
              </a:rPr>
              <a:t>[</a:t>
            </a:r>
            <a:r>
              <a:rPr lang="en-US" altLang="ja-JP" sz="2500" dirty="0">
                <a:latin typeface="Tahoma" panose="020B0604030504040204" pitchFamily="34" charset="0"/>
                <a:ea typeface="Tahoma" panose="020B0604030504040204" pitchFamily="34" charset="0"/>
                <a:cs typeface="Tahoma" panose="020B0604030504040204" pitchFamily="34" charset="0"/>
              </a:rPr>
              <a:t>Hubel, 1995] David H. Hubel, “Eye, Brain, and Vision</a:t>
            </a:r>
            <a:r>
              <a:rPr lang="en-US" altLang="ja-JP" sz="2500" dirty="0" smtClean="0">
                <a:latin typeface="Tahoma" panose="020B0604030504040204" pitchFamily="34" charset="0"/>
                <a:ea typeface="Tahoma" panose="020B0604030504040204" pitchFamily="34" charset="0"/>
                <a:cs typeface="Tahoma" panose="020B0604030504040204" pitchFamily="34" charset="0"/>
              </a:rPr>
              <a:t>”</a:t>
            </a:r>
          </a:p>
          <a:p>
            <a:pPr marL="342900" indent="-342900" algn="just" eaLnBrk="0" hangingPunct="0">
              <a:spcBef>
                <a:spcPct val="20000"/>
              </a:spcBef>
              <a:buClr>
                <a:srgbClr val="FF0000"/>
              </a:buClr>
              <a:buFont typeface="Wingdings" pitchFamily="2" charset="2"/>
              <a:buChar char="q"/>
            </a:pPr>
            <a:r>
              <a:rPr lang="en-US" altLang="ja-JP" sz="2500" dirty="0" smtClean="0">
                <a:latin typeface="Tahoma" panose="020B0604030504040204" pitchFamily="34" charset="0"/>
                <a:ea typeface="Tahoma" panose="020B0604030504040204" pitchFamily="34" charset="0"/>
                <a:cs typeface="Tahoma" panose="020B0604030504040204" pitchFamily="34" charset="0"/>
              </a:rPr>
              <a:t>[</a:t>
            </a:r>
            <a:r>
              <a:rPr lang="en-US" altLang="ja-JP" sz="2500" dirty="0">
                <a:latin typeface="Tahoma" panose="020B0604030504040204" pitchFamily="34" charset="0"/>
                <a:ea typeface="Tahoma" panose="020B0604030504040204" pitchFamily="34" charset="0"/>
                <a:cs typeface="Tahoma" panose="020B0604030504040204" pitchFamily="34" charset="0"/>
              </a:rPr>
              <a:t>Ballard, 1982] D. H. Ballard and C. M. Brown, “Computer Vision”,        Prentice Hall, </a:t>
            </a:r>
            <a:r>
              <a:rPr lang="en-US" altLang="ja-JP" sz="2500" dirty="0" smtClean="0">
                <a:latin typeface="Tahoma" panose="020B0604030504040204" pitchFamily="34" charset="0"/>
                <a:ea typeface="Tahoma" panose="020B0604030504040204" pitchFamily="34" charset="0"/>
                <a:cs typeface="Tahoma" panose="020B0604030504040204" pitchFamily="34" charset="0"/>
              </a:rPr>
              <a:t>1982</a:t>
            </a:r>
            <a:endParaRPr kumimoji="0" lang="en-US" sz="2500" i="0" strike="noStrike" kern="1200" cap="none" spc="0" normalizeH="0" baseline="0" noProof="0" dirty="0">
              <a:ln>
                <a:noFill/>
              </a:ln>
              <a:solidFill>
                <a:srgbClr val="000099"/>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5" name="TextBox 4"/>
          <p:cNvSpPr txBox="1"/>
          <p:nvPr/>
        </p:nvSpPr>
        <p:spPr>
          <a:xfrm>
            <a:off x="228600" y="152400"/>
            <a:ext cx="8686800" cy="523220"/>
          </a:xfrm>
          <a:prstGeom prst="rect">
            <a:avLst/>
          </a:prstGeom>
          <a:solidFill>
            <a:schemeClr val="tx2">
              <a:lumMod val="20000"/>
              <a:lumOff val="80000"/>
            </a:schemeClr>
          </a:solidFill>
        </p:spPr>
        <p:txBody>
          <a:bodyPr wrap="square" rtlCol="0">
            <a:spAutoFit/>
          </a:bodyPr>
          <a:lstStyle/>
          <a:p>
            <a:pPr algn="ctr"/>
            <a:r>
              <a:rPr lang="en-US" altLang="ja-JP" sz="2800" b="1" dirty="0">
                <a:solidFill>
                  <a:srgbClr val="FF0000"/>
                </a:solidFill>
                <a:latin typeface="Tahoma" panose="020B0604030504040204" pitchFamily="34" charset="0"/>
                <a:ea typeface="Tahoma" panose="020B0604030504040204" pitchFamily="34" charset="0"/>
                <a:cs typeface="Tahoma" panose="020B0604030504040204" pitchFamily="34" charset="0"/>
              </a:rPr>
              <a:t>Recommended </a:t>
            </a:r>
            <a:r>
              <a:rPr lang="en-US" altLang="ja-JP" sz="2800" b="1" dirty="0" smtClean="0">
                <a:solidFill>
                  <a:srgbClr val="FF0000"/>
                </a:solidFill>
                <a:latin typeface="Tahoma" panose="020B0604030504040204" pitchFamily="34" charset="0"/>
                <a:ea typeface="Tahoma" panose="020B0604030504040204" pitchFamily="34" charset="0"/>
                <a:cs typeface="Tahoma" panose="020B0604030504040204" pitchFamily="34" charset="0"/>
              </a:rPr>
              <a:t>Textbooks</a:t>
            </a:r>
            <a:endParaRPr lang="en-US" sz="28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66088850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17122</TotalTime>
  <Words>1928</Words>
  <Application>Microsoft Office PowerPoint</Application>
  <PresentationFormat>On-screen Show (4:3)</PresentationFormat>
  <Paragraphs>330</Paragraphs>
  <Slides>34</Slides>
  <Notes>34</Notes>
  <HiddenSlides>0</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1</vt:i4>
      </vt:variant>
      <vt:variant>
        <vt:lpstr>Slide Titles</vt:lpstr>
      </vt:variant>
      <vt:variant>
        <vt:i4>34</vt:i4>
      </vt:variant>
    </vt:vector>
  </HeadingPairs>
  <TitlesOfParts>
    <vt:vector size="49" baseType="lpstr">
      <vt:lpstr>MS PGothic</vt:lpstr>
      <vt:lpstr>Arial</vt:lpstr>
      <vt:lpstr>Calibri</vt:lpstr>
      <vt:lpstr>Century</vt:lpstr>
      <vt:lpstr>Franklin Gothic Book</vt:lpstr>
      <vt:lpstr>Perpetua</vt:lpstr>
      <vt:lpstr>Symbol</vt:lpstr>
      <vt:lpstr>Tahoma</vt:lpstr>
      <vt:lpstr>Times New Roman</vt:lpstr>
      <vt:lpstr>TimesNewRomanPS-BoldMT</vt:lpstr>
      <vt:lpstr>TimesNewRomanPSMT</vt:lpstr>
      <vt:lpstr>Wingdings</vt:lpstr>
      <vt:lpstr>Wingdings 2</vt:lpstr>
      <vt:lpstr>Equity</vt:lpstr>
      <vt:lpstr>Bitmap Image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Pattern Recognition Algorithms to Extract Road Networks Automatically from Remotely Sensed Imagery for GIS Applications</dc:title>
  <dc:creator>User</dc:creator>
  <cp:lastModifiedBy>JUCSE</cp:lastModifiedBy>
  <cp:revision>1250</cp:revision>
  <cp:lastPrinted>2020-01-17T03:38:58Z</cp:lastPrinted>
  <dcterms:created xsi:type="dcterms:W3CDTF">2012-10-10T03:10:51Z</dcterms:created>
  <dcterms:modified xsi:type="dcterms:W3CDTF">2025-01-13T03:13:33Z</dcterms:modified>
</cp:coreProperties>
</file>