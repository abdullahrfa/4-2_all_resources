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32"/>
  </p:notesMasterIdLst>
  <p:handoutMasterIdLst>
    <p:handoutMasterId r:id="rId33"/>
  </p:handoutMasterIdLst>
  <p:sldIdLst>
    <p:sldId id="429" r:id="rId2"/>
    <p:sldId id="457" r:id="rId3"/>
    <p:sldId id="431" r:id="rId4"/>
    <p:sldId id="432" r:id="rId5"/>
    <p:sldId id="433" r:id="rId6"/>
    <p:sldId id="434" r:id="rId7"/>
    <p:sldId id="435" r:id="rId8"/>
    <p:sldId id="436" r:id="rId9"/>
    <p:sldId id="437" r:id="rId10"/>
    <p:sldId id="438" r:id="rId11"/>
    <p:sldId id="439" r:id="rId12"/>
    <p:sldId id="440" r:id="rId13"/>
    <p:sldId id="441" r:id="rId14"/>
    <p:sldId id="442" r:id="rId15"/>
    <p:sldId id="443" r:id="rId16"/>
    <p:sldId id="444" r:id="rId17"/>
    <p:sldId id="449" r:id="rId18"/>
    <p:sldId id="450" r:id="rId19"/>
    <p:sldId id="451" r:id="rId20"/>
    <p:sldId id="452" r:id="rId21"/>
    <p:sldId id="453" r:id="rId22"/>
    <p:sldId id="454" r:id="rId23"/>
    <p:sldId id="455" r:id="rId24"/>
    <p:sldId id="456" r:id="rId25"/>
    <p:sldId id="448" r:id="rId26"/>
    <p:sldId id="445" r:id="rId27"/>
    <p:sldId id="446" r:id="rId28"/>
    <p:sldId id="447" r:id="rId29"/>
    <p:sldId id="458" r:id="rId30"/>
    <p:sldId id="420" r:id="rId31"/>
  </p:sldIdLst>
  <p:sldSz cx="9144000" cy="6858000" type="screen4x3"/>
  <p:notesSz cx="6954838"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32" userDrawn="1">
          <p15:clr>
            <a:srgbClr val="A4A3A4"/>
          </p15:clr>
        </p15:guide>
        <p15:guide id="2" pos="219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94F9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17" autoAdjust="0"/>
    <p:restoredTop sz="94660"/>
  </p:normalViewPr>
  <p:slideViewPr>
    <p:cSldViewPr>
      <p:cViewPr varScale="1">
        <p:scale>
          <a:sx n="69" d="100"/>
          <a:sy n="69" d="100"/>
        </p:scale>
        <p:origin x="54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6234"/>
    </p:cViewPr>
  </p:sorterViewPr>
  <p:notesViewPr>
    <p:cSldViewPr>
      <p:cViewPr varScale="1">
        <p:scale>
          <a:sx n="55" d="100"/>
          <a:sy n="55" d="100"/>
        </p:scale>
        <p:origin x="-2904" y="-102"/>
      </p:cViewPr>
      <p:guideLst>
        <p:guide orient="horz" pos="2932"/>
        <p:guide pos="219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13763" cy="465455"/>
          </a:xfrm>
          <a:prstGeom prst="rect">
            <a:avLst/>
          </a:prstGeom>
        </p:spPr>
        <p:txBody>
          <a:bodyPr vert="horz" lIns="92051" tIns="46026" rIns="92051" bIns="46026" rtlCol="0"/>
          <a:lstStyle>
            <a:lvl1pPr algn="l">
              <a:defRPr sz="1200"/>
            </a:lvl1pPr>
          </a:lstStyle>
          <a:p>
            <a:endParaRPr lang="en-US"/>
          </a:p>
        </p:txBody>
      </p:sp>
      <p:sp>
        <p:nvSpPr>
          <p:cNvPr id="3" name="Date Placeholder 2"/>
          <p:cNvSpPr>
            <a:spLocks noGrp="1"/>
          </p:cNvSpPr>
          <p:nvPr>
            <p:ph type="dt" sz="quarter" idx="1"/>
          </p:nvPr>
        </p:nvSpPr>
        <p:spPr>
          <a:xfrm>
            <a:off x="3939466" y="1"/>
            <a:ext cx="3013763" cy="465455"/>
          </a:xfrm>
          <a:prstGeom prst="rect">
            <a:avLst/>
          </a:prstGeom>
        </p:spPr>
        <p:txBody>
          <a:bodyPr vert="horz" lIns="92051" tIns="46026" rIns="92051" bIns="46026" rtlCol="0"/>
          <a:lstStyle>
            <a:lvl1pPr algn="r">
              <a:defRPr sz="1200"/>
            </a:lvl1pPr>
          </a:lstStyle>
          <a:p>
            <a:fld id="{54B406EC-866D-4AAA-84EE-9578059F5FFC}" type="datetimeFigureOut">
              <a:rPr lang="en-US" smtClean="0"/>
              <a:pPr/>
              <a:t>1/21/2025</a:t>
            </a:fld>
            <a:endParaRPr lang="en-US"/>
          </a:p>
        </p:txBody>
      </p:sp>
      <p:sp>
        <p:nvSpPr>
          <p:cNvPr id="4" name="Footer Placeholder 3"/>
          <p:cNvSpPr>
            <a:spLocks noGrp="1"/>
          </p:cNvSpPr>
          <p:nvPr>
            <p:ph type="ftr" sz="quarter" idx="2"/>
          </p:nvPr>
        </p:nvSpPr>
        <p:spPr>
          <a:xfrm>
            <a:off x="0" y="8842030"/>
            <a:ext cx="3013763" cy="465455"/>
          </a:xfrm>
          <a:prstGeom prst="rect">
            <a:avLst/>
          </a:prstGeom>
        </p:spPr>
        <p:txBody>
          <a:bodyPr vert="horz" lIns="92051" tIns="46026" rIns="92051" bIns="46026" rtlCol="0" anchor="b"/>
          <a:lstStyle>
            <a:lvl1pPr algn="l">
              <a:defRPr sz="1200"/>
            </a:lvl1pPr>
          </a:lstStyle>
          <a:p>
            <a:endParaRPr lang="en-US"/>
          </a:p>
        </p:txBody>
      </p:sp>
      <p:sp>
        <p:nvSpPr>
          <p:cNvPr id="5" name="Slide Number Placeholder 4"/>
          <p:cNvSpPr>
            <a:spLocks noGrp="1"/>
          </p:cNvSpPr>
          <p:nvPr>
            <p:ph type="sldNum" sz="quarter" idx="3"/>
          </p:nvPr>
        </p:nvSpPr>
        <p:spPr>
          <a:xfrm>
            <a:off x="3939466" y="8842030"/>
            <a:ext cx="3013763" cy="465455"/>
          </a:xfrm>
          <a:prstGeom prst="rect">
            <a:avLst/>
          </a:prstGeom>
        </p:spPr>
        <p:txBody>
          <a:bodyPr vert="horz" lIns="92051" tIns="46026" rIns="92051" bIns="46026" rtlCol="0" anchor="b"/>
          <a:lstStyle>
            <a:lvl1pPr algn="r">
              <a:defRPr sz="1200"/>
            </a:lvl1pPr>
          </a:lstStyle>
          <a:p>
            <a:fld id="{538845BC-E5B8-4F76-AB4E-440694C63259}" type="slidenum">
              <a:rPr lang="en-US" smtClean="0"/>
              <a:pPr/>
              <a:t>‹#›</a:t>
            </a:fld>
            <a:endParaRPr lang="en-US"/>
          </a:p>
        </p:txBody>
      </p:sp>
    </p:spTree>
    <p:extLst>
      <p:ext uri="{BB962C8B-B14F-4D97-AF65-F5344CB8AC3E}">
        <p14:creationId xmlns:p14="http://schemas.microsoft.com/office/powerpoint/2010/main" val="27582111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13763" cy="465455"/>
          </a:xfrm>
          <a:prstGeom prst="rect">
            <a:avLst/>
          </a:prstGeom>
        </p:spPr>
        <p:txBody>
          <a:bodyPr vert="horz" lIns="92051" tIns="46026" rIns="92051" bIns="46026" rtlCol="0"/>
          <a:lstStyle>
            <a:lvl1pPr algn="l">
              <a:defRPr sz="1200"/>
            </a:lvl1pPr>
          </a:lstStyle>
          <a:p>
            <a:endParaRPr lang="en-US"/>
          </a:p>
        </p:txBody>
      </p:sp>
      <p:sp>
        <p:nvSpPr>
          <p:cNvPr id="3" name="Date Placeholder 2"/>
          <p:cNvSpPr>
            <a:spLocks noGrp="1"/>
          </p:cNvSpPr>
          <p:nvPr>
            <p:ph type="dt" idx="1"/>
          </p:nvPr>
        </p:nvSpPr>
        <p:spPr>
          <a:xfrm>
            <a:off x="3939466" y="1"/>
            <a:ext cx="3013763" cy="465455"/>
          </a:xfrm>
          <a:prstGeom prst="rect">
            <a:avLst/>
          </a:prstGeom>
        </p:spPr>
        <p:txBody>
          <a:bodyPr vert="horz" lIns="92051" tIns="46026" rIns="92051" bIns="46026" rtlCol="0"/>
          <a:lstStyle>
            <a:lvl1pPr algn="r">
              <a:defRPr sz="1200"/>
            </a:lvl1pPr>
          </a:lstStyle>
          <a:p>
            <a:fld id="{028DF241-7479-48D7-B926-3836CF66E8CA}" type="datetimeFigureOut">
              <a:rPr lang="en-US" smtClean="0"/>
              <a:pPr/>
              <a:t>1/21/2025</a:t>
            </a:fld>
            <a:endParaRPr lang="en-US"/>
          </a:p>
        </p:txBody>
      </p:sp>
      <p:sp>
        <p:nvSpPr>
          <p:cNvPr id="4" name="Slide Image Placeholder 3"/>
          <p:cNvSpPr>
            <a:spLocks noGrp="1" noRot="1" noChangeAspect="1"/>
          </p:cNvSpPr>
          <p:nvPr>
            <p:ph type="sldImg" idx="2"/>
          </p:nvPr>
        </p:nvSpPr>
        <p:spPr>
          <a:xfrm>
            <a:off x="1149350" y="696913"/>
            <a:ext cx="4656138" cy="3492500"/>
          </a:xfrm>
          <a:prstGeom prst="rect">
            <a:avLst/>
          </a:prstGeom>
          <a:noFill/>
          <a:ln w="12700">
            <a:solidFill>
              <a:prstClr val="black"/>
            </a:solidFill>
          </a:ln>
        </p:spPr>
        <p:txBody>
          <a:bodyPr vert="horz" lIns="92051" tIns="46026" rIns="92051" bIns="46026" rtlCol="0" anchor="ctr"/>
          <a:lstStyle/>
          <a:p>
            <a:endParaRPr lang="en-US"/>
          </a:p>
        </p:txBody>
      </p:sp>
      <p:sp>
        <p:nvSpPr>
          <p:cNvPr id="5" name="Notes Placeholder 4"/>
          <p:cNvSpPr>
            <a:spLocks noGrp="1"/>
          </p:cNvSpPr>
          <p:nvPr>
            <p:ph type="body" sz="quarter" idx="3"/>
          </p:nvPr>
        </p:nvSpPr>
        <p:spPr>
          <a:xfrm>
            <a:off x="695484" y="4421822"/>
            <a:ext cx="5563870" cy="4189095"/>
          </a:xfrm>
          <a:prstGeom prst="rect">
            <a:avLst/>
          </a:prstGeom>
        </p:spPr>
        <p:txBody>
          <a:bodyPr vert="horz" lIns="92051" tIns="46026" rIns="92051" bIns="46026"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42030"/>
            <a:ext cx="3013763" cy="465455"/>
          </a:xfrm>
          <a:prstGeom prst="rect">
            <a:avLst/>
          </a:prstGeom>
        </p:spPr>
        <p:txBody>
          <a:bodyPr vert="horz" lIns="92051" tIns="46026" rIns="92051" bIns="46026" rtlCol="0" anchor="b"/>
          <a:lstStyle>
            <a:lvl1pPr algn="l">
              <a:defRPr sz="1200"/>
            </a:lvl1pPr>
          </a:lstStyle>
          <a:p>
            <a:endParaRPr lang="en-US"/>
          </a:p>
        </p:txBody>
      </p:sp>
      <p:sp>
        <p:nvSpPr>
          <p:cNvPr id="7" name="Slide Number Placeholder 6"/>
          <p:cNvSpPr>
            <a:spLocks noGrp="1"/>
          </p:cNvSpPr>
          <p:nvPr>
            <p:ph type="sldNum" sz="quarter" idx="5"/>
          </p:nvPr>
        </p:nvSpPr>
        <p:spPr>
          <a:xfrm>
            <a:off x="3939466" y="8842030"/>
            <a:ext cx="3013763" cy="465455"/>
          </a:xfrm>
          <a:prstGeom prst="rect">
            <a:avLst/>
          </a:prstGeom>
        </p:spPr>
        <p:txBody>
          <a:bodyPr vert="horz" lIns="92051" tIns="46026" rIns="92051" bIns="46026" rtlCol="0" anchor="b"/>
          <a:lstStyle>
            <a:lvl1pPr algn="r">
              <a:defRPr sz="1200"/>
            </a:lvl1pPr>
          </a:lstStyle>
          <a:p>
            <a:fld id="{60658A72-D451-401C-9327-452145EF2A05}" type="slidenum">
              <a:rPr lang="en-US" smtClean="0"/>
              <a:pPr/>
              <a:t>‹#›</a:t>
            </a:fld>
            <a:endParaRPr lang="en-US"/>
          </a:p>
        </p:txBody>
      </p:sp>
    </p:spTree>
    <p:extLst>
      <p:ext uri="{BB962C8B-B14F-4D97-AF65-F5344CB8AC3E}">
        <p14:creationId xmlns:p14="http://schemas.microsoft.com/office/powerpoint/2010/main" val="4293058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a:t>
            </a:fld>
            <a:endParaRPr lang="en-US"/>
          </a:p>
        </p:txBody>
      </p:sp>
    </p:spTree>
    <p:extLst>
      <p:ext uri="{BB962C8B-B14F-4D97-AF65-F5344CB8AC3E}">
        <p14:creationId xmlns:p14="http://schemas.microsoft.com/office/powerpoint/2010/main" val="15907057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a:t>
            </a:fld>
            <a:endParaRPr lang="en-US"/>
          </a:p>
        </p:txBody>
      </p:sp>
    </p:spTree>
    <p:extLst>
      <p:ext uri="{BB962C8B-B14F-4D97-AF65-F5344CB8AC3E}">
        <p14:creationId xmlns:p14="http://schemas.microsoft.com/office/powerpoint/2010/main" val="982972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3</a:t>
            </a:fld>
            <a:endParaRPr lang="en-US"/>
          </a:p>
        </p:txBody>
      </p:sp>
    </p:spTree>
    <p:extLst>
      <p:ext uri="{BB962C8B-B14F-4D97-AF65-F5344CB8AC3E}">
        <p14:creationId xmlns:p14="http://schemas.microsoft.com/office/powerpoint/2010/main" val="3698186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4</a:t>
            </a:fld>
            <a:endParaRPr lang="en-US"/>
          </a:p>
        </p:txBody>
      </p:sp>
    </p:spTree>
    <p:extLst>
      <p:ext uri="{BB962C8B-B14F-4D97-AF65-F5344CB8AC3E}">
        <p14:creationId xmlns:p14="http://schemas.microsoft.com/office/powerpoint/2010/main" val="2640869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5</a:t>
            </a:fld>
            <a:endParaRPr lang="en-US"/>
          </a:p>
        </p:txBody>
      </p:sp>
    </p:spTree>
    <p:extLst>
      <p:ext uri="{BB962C8B-B14F-4D97-AF65-F5344CB8AC3E}">
        <p14:creationId xmlns:p14="http://schemas.microsoft.com/office/powerpoint/2010/main" val="198090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6</a:t>
            </a:fld>
            <a:endParaRPr lang="en-US"/>
          </a:p>
        </p:txBody>
      </p:sp>
    </p:spTree>
    <p:extLst>
      <p:ext uri="{BB962C8B-B14F-4D97-AF65-F5344CB8AC3E}">
        <p14:creationId xmlns:p14="http://schemas.microsoft.com/office/powerpoint/2010/main" val="42521248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7</a:t>
            </a:fld>
            <a:endParaRPr lang="en-US"/>
          </a:p>
        </p:txBody>
      </p:sp>
    </p:spTree>
    <p:extLst>
      <p:ext uri="{BB962C8B-B14F-4D97-AF65-F5344CB8AC3E}">
        <p14:creationId xmlns:p14="http://schemas.microsoft.com/office/powerpoint/2010/main" val="1092696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8</a:t>
            </a:fld>
            <a:endParaRPr lang="en-US"/>
          </a:p>
        </p:txBody>
      </p:sp>
    </p:spTree>
    <p:extLst>
      <p:ext uri="{BB962C8B-B14F-4D97-AF65-F5344CB8AC3E}">
        <p14:creationId xmlns:p14="http://schemas.microsoft.com/office/powerpoint/2010/main" val="37575576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9</a:t>
            </a:fld>
            <a:endParaRPr lang="en-US"/>
          </a:p>
        </p:txBody>
      </p:sp>
    </p:spTree>
    <p:extLst>
      <p:ext uri="{BB962C8B-B14F-4D97-AF65-F5344CB8AC3E}">
        <p14:creationId xmlns:p14="http://schemas.microsoft.com/office/powerpoint/2010/main" val="34195357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10</a:t>
            </a:fld>
            <a:endParaRPr lang="en-US"/>
          </a:p>
        </p:txBody>
      </p:sp>
    </p:spTree>
    <p:extLst>
      <p:ext uri="{BB962C8B-B14F-4D97-AF65-F5344CB8AC3E}">
        <p14:creationId xmlns:p14="http://schemas.microsoft.com/office/powerpoint/2010/main" val="20027972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11</a:t>
            </a:fld>
            <a:endParaRPr lang="en-US"/>
          </a:p>
        </p:txBody>
      </p:sp>
    </p:spTree>
    <p:extLst>
      <p:ext uri="{BB962C8B-B14F-4D97-AF65-F5344CB8AC3E}">
        <p14:creationId xmlns:p14="http://schemas.microsoft.com/office/powerpoint/2010/main" val="9804549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12</a:t>
            </a:fld>
            <a:endParaRPr lang="en-US"/>
          </a:p>
        </p:txBody>
      </p:sp>
    </p:spTree>
    <p:extLst>
      <p:ext uri="{BB962C8B-B14F-4D97-AF65-F5344CB8AC3E}">
        <p14:creationId xmlns:p14="http://schemas.microsoft.com/office/powerpoint/2010/main" val="130011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13</a:t>
            </a:fld>
            <a:endParaRPr lang="en-US"/>
          </a:p>
        </p:txBody>
      </p:sp>
    </p:spTree>
    <p:extLst>
      <p:ext uri="{BB962C8B-B14F-4D97-AF65-F5344CB8AC3E}">
        <p14:creationId xmlns:p14="http://schemas.microsoft.com/office/powerpoint/2010/main" val="22389752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14</a:t>
            </a:fld>
            <a:endParaRPr lang="en-US"/>
          </a:p>
        </p:txBody>
      </p:sp>
    </p:spTree>
    <p:extLst>
      <p:ext uri="{BB962C8B-B14F-4D97-AF65-F5344CB8AC3E}">
        <p14:creationId xmlns:p14="http://schemas.microsoft.com/office/powerpoint/2010/main" val="22554319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15</a:t>
            </a:fld>
            <a:endParaRPr lang="en-US"/>
          </a:p>
        </p:txBody>
      </p:sp>
    </p:spTree>
    <p:extLst>
      <p:ext uri="{BB962C8B-B14F-4D97-AF65-F5344CB8AC3E}">
        <p14:creationId xmlns:p14="http://schemas.microsoft.com/office/powerpoint/2010/main" val="42560986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16</a:t>
            </a:fld>
            <a:endParaRPr lang="en-US"/>
          </a:p>
        </p:txBody>
      </p:sp>
    </p:spTree>
    <p:extLst>
      <p:ext uri="{BB962C8B-B14F-4D97-AF65-F5344CB8AC3E}">
        <p14:creationId xmlns:p14="http://schemas.microsoft.com/office/powerpoint/2010/main" val="16030778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17</a:t>
            </a:fld>
            <a:endParaRPr lang="en-US"/>
          </a:p>
        </p:txBody>
      </p:sp>
    </p:spTree>
    <p:extLst>
      <p:ext uri="{BB962C8B-B14F-4D97-AF65-F5344CB8AC3E}">
        <p14:creationId xmlns:p14="http://schemas.microsoft.com/office/powerpoint/2010/main" val="5772994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18</a:t>
            </a:fld>
            <a:endParaRPr lang="en-US"/>
          </a:p>
        </p:txBody>
      </p:sp>
    </p:spTree>
    <p:extLst>
      <p:ext uri="{BB962C8B-B14F-4D97-AF65-F5344CB8AC3E}">
        <p14:creationId xmlns:p14="http://schemas.microsoft.com/office/powerpoint/2010/main" val="18657043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19</a:t>
            </a:fld>
            <a:endParaRPr lang="en-US"/>
          </a:p>
        </p:txBody>
      </p:sp>
    </p:spTree>
    <p:extLst>
      <p:ext uri="{BB962C8B-B14F-4D97-AF65-F5344CB8AC3E}">
        <p14:creationId xmlns:p14="http://schemas.microsoft.com/office/powerpoint/2010/main" val="15424477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20</a:t>
            </a:fld>
            <a:endParaRPr lang="en-US"/>
          </a:p>
        </p:txBody>
      </p:sp>
    </p:spTree>
    <p:extLst>
      <p:ext uri="{BB962C8B-B14F-4D97-AF65-F5344CB8AC3E}">
        <p14:creationId xmlns:p14="http://schemas.microsoft.com/office/powerpoint/2010/main" val="1832849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21</a:t>
            </a:fld>
            <a:endParaRPr lang="en-US"/>
          </a:p>
        </p:txBody>
      </p:sp>
    </p:spTree>
    <p:extLst>
      <p:ext uri="{BB962C8B-B14F-4D97-AF65-F5344CB8AC3E}">
        <p14:creationId xmlns:p14="http://schemas.microsoft.com/office/powerpoint/2010/main" val="20463299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22</a:t>
            </a:fld>
            <a:endParaRPr lang="en-US"/>
          </a:p>
        </p:txBody>
      </p:sp>
    </p:spTree>
    <p:extLst>
      <p:ext uri="{BB962C8B-B14F-4D97-AF65-F5344CB8AC3E}">
        <p14:creationId xmlns:p14="http://schemas.microsoft.com/office/powerpoint/2010/main" val="42214196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23</a:t>
            </a:fld>
            <a:endParaRPr lang="en-US"/>
          </a:p>
        </p:txBody>
      </p:sp>
    </p:spTree>
    <p:extLst>
      <p:ext uri="{BB962C8B-B14F-4D97-AF65-F5344CB8AC3E}">
        <p14:creationId xmlns:p14="http://schemas.microsoft.com/office/powerpoint/2010/main" val="19708539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24</a:t>
            </a:fld>
            <a:endParaRPr lang="en-US"/>
          </a:p>
        </p:txBody>
      </p:sp>
    </p:spTree>
    <p:extLst>
      <p:ext uri="{BB962C8B-B14F-4D97-AF65-F5344CB8AC3E}">
        <p14:creationId xmlns:p14="http://schemas.microsoft.com/office/powerpoint/2010/main" val="41897675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25</a:t>
            </a:fld>
            <a:endParaRPr lang="en-US"/>
          </a:p>
        </p:txBody>
      </p:sp>
    </p:spTree>
    <p:extLst>
      <p:ext uri="{BB962C8B-B14F-4D97-AF65-F5344CB8AC3E}">
        <p14:creationId xmlns:p14="http://schemas.microsoft.com/office/powerpoint/2010/main" val="37992428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26</a:t>
            </a:fld>
            <a:endParaRPr lang="en-US"/>
          </a:p>
        </p:txBody>
      </p:sp>
    </p:spTree>
    <p:extLst>
      <p:ext uri="{BB962C8B-B14F-4D97-AF65-F5344CB8AC3E}">
        <p14:creationId xmlns:p14="http://schemas.microsoft.com/office/powerpoint/2010/main" val="5745039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27</a:t>
            </a:fld>
            <a:endParaRPr lang="en-US"/>
          </a:p>
        </p:txBody>
      </p:sp>
    </p:spTree>
    <p:extLst>
      <p:ext uri="{BB962C8B-B14F-4D97-AF65-F5344CB8AC3E}">
        <p14:creationId xmlns:p14="http://schemas.microsoft.com/office/powerpoint/2010/main" val="24861040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28</a:t>
            </a:fld>
            <a:endParaRPr lang="en-US"/>
          </a:p>
        </p:txBody>
      </p:sp>
    </p:spTree>
    <p:extLst>
      <p:ext uri="{BB962C8B-B14F-4D97-AF65-F5344CB8AC3E}">
        <p14:creationId xmlns:p14="http://schemas.microsoft.com/office/powerpoint/2010/main" val="39136785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29</a:t>
            </a:fld>
            <a:endParaRPr lang="en-US"/>
          </a:p>
        </p:txBody>
      </p:sp>
    </p:spTree>
    <p:extLst>
      <p:ext uri="{BB962C8B-B14F-4D97-AF65-F5344CB8AC3E}">
        <p14:creationId xmlns:p14="http://schemas.microsoft.com/office/powerpoint/2010/main" val="17291500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30</a:t>
            </a:fld>
            <a:endParaRPr lang="en-US"/>
          </a:p>
        </p:txBody>
      </p:sp>
    </p:spTree>
    <p:extLst>
      <p:ext uri="{BB962C8B-B14F-4D97-AF65-F5344CB8AC3E}">
        <p14:creationId xmlns:p14="http://schemas.microsoft.com/office/powerpoint/2010/main" val="2431125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130628"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429000"/>
            <a:ext cx="6400800" cy="15240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97B10038-F89D-4298-8F1A-CB90076CC0D9}" type="datetime1">
              <a:rPr lang="en-US" smtClean="0"/>
              <a:t>1/21/2025</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8BC87070-6711-4EB4-A1B9-86156EA2E1B1}" type="slidenum">
              <a:rPr lang="en-US" smtClean="0"/>
              <a:pPr/>
              <a:t>‹#›</a:t>
            </a:fld>
            <a:endParaRPr lang="en-US"/>
          </a:p>
        </p:txBody>
      </p:sp>
      <p:sp>
        <p:nvSpPr>
          <p:cNvPr id="7" name="Rectangle 6"/>
          <p:cNvSpPr/>
          <p:nvPr/>
        </p:nvSpPr>
        <p:spPr>
          <a:xfrm>
            <a:off x="203916" y="1219200"/>
            <a:ext cx="8763000" cy="198120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dirty="0" smtClean="0"/>
              <a:t>Click to edit Master title style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681CF505-B873-45F3-A961-5C44A54FA86F}" type="datetime1">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C87070-6711-4EB4-A1B9-86156EA2E1B1}"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6444F34C-4D34-44D4-9F09-824BE64D3C56}" type="datetime1">
              <a:rPr lang="en-US" smtClean="0"/>
              <a:t>1/21/2025</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8BC87070-6711-4EB4-A1B9-86156EA2E1B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739FC498-0383-4E59-859A-50702E616C94}" type="datetime1">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C87070-6711-4EB4-A1B9-86156EA2E1B1}"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239628F8-7EAA-4180-B790-F3A66853457F}" type="datetime1">
              <a:rPr lang="en-US" smtClean="0"/>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C87070-6711-4EB4-A1B9-86156EA2E1B1}"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3875EFA-E2DD-40E4-96F1-83E178E28AE5}" type="datetime1">
              <a:rPr lang="en-US" smtClean="0"/>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C87070-6711-4EB4-A1B9-86156EA2E1B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9AB465-91DA-4DC3-BDC5-F79C236E33B9}" type="datetime1">
              <a:rPr lang="en-US" smtClean="0"/>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C87070-6711-4EB4-A1B9-86156EA2E1B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42722B2-5E53-43B8-A348-3A3F8CE77189}" type="datetime1">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C87070-6711-4EB4-A1B9-86156EA2E1B1}"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0D537A4-EB99-40EA-A21B-5911A1D36898}" type="datetime1">
              <a:rPr lang="en-US" smtClean="0"/>
              <a:t>1/21/2025</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8BC87070-6711-4EB4-A1B9-86156EA2E1B1}"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4EF9BB3-5A52-4FDD-9065-9C5975AE9424}" type="datetime1">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C87070-6711-4EB4-A1B9-86156EA2E1B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C497BB2-3479-4D4B-A8C2-BF72D282B92E}" type="datetime1">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C87070-6711-4EB4-A1B9-86156EA2E1B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B1FD2047-22FC-4185-9F7A-91AD22B69600}" type="datetime1">
              <a:rPr lang="en-US" smtClean="0"/>
              <a:t>1/21/2025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8BC87070-6711-4EB4-A1B9-86156EA2E1B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a:t>
            </a:fld>
            <a:endParaRPr lang="en-US" dirty="0"/>
          </a:p>
        </p:txBody>
      </p:sp>
      <p:sp>
        <p:nvSpPr>
          <p:cNvPr id="6" name="Content Placeholder 2"/>
          <p:cNvSpPr txBox="1">
            <a:spLocks/>
          </p:cNvSpPr>
          <p:nvPr/>
        </p:nvSpPr>
        <p:spPr>
          <a:xfrm>
            <a:off x="457200" y="685800"/>
            <a:ext cx="8534400" cy="5448300"/>
          </a:xfrm>
          <a:prstGeom prst="rect">
            <a:avLst/>
          </a:prstGeom>
        </p:spPr>
        <p:txBody>
          <a:bodyPr>
            <a:noAutofit/>
          </a:bodyPr>
          <a:lstStyle/>
          <a:p>
            <a:pPr marL="342900" indent="-342900" algn="just" eaLnBrk="0" hangingPunct="0">
              <a:spcBef>
                <a:spcPct val="20000"/>
              </a:spcBef>
              <a:buClr>
                <a:srgbClr val="FF0000"/>
              </a:buClr>
              <a:buFont typeface="Wingdings" pitchFamily="2" charset="2"/>
              <a:buChar char="q"/>
            </a:pPr>
            <a:r>
              <a:rPr kumimoji="1" lang="en-US" altLang="ja-JP" sz="2800" dirty="0" smtClean="0">
                <a:latin typeface="Tahoma" panose="020B0604030504040204" pitchFamily="34" charset="0"/>
                <a:ea typeface="MS PGothic" panose="020B0600070205080204" pitchFamily="34" charset="-128"/>
              </a:rPr>
              <a:t>Knowledge </a:t>
            </a:r>
            <a:r>
              <a:rPr kumimoji="1" lang="en-US" altLang="ja-JP" sz="2800" dirty="0">
                <a:latin typeface="Tahoma" panose="020B0604030504040204" pitchFamily="34" charset="0"/>
                <a:ea typeface="MS PGothic" panose="020B0600070205080204" pitchFamily="34" charset="-128"/>
              </a:rPr>
              <a:t>can be defined as the body of facts and principles accumulated by humankind or the fact, or state of knowing. It is having a familiarity with language, concepts, procedures, rules, ideas, abstractions, places, customs, facts, and associations, coupled with an ability to use these notions effectively in modeling different aspects of the world</a:t>
            </a:r>
            <a:r>
              <a:rPr kumimoji="1" lang="en-US" altLang="ja-JP" sz="2800" dirty="0" smtClean="0">
                <a:latin typeface="Tahoma" panose="020B0604030504040204" pitchFamily="34" charset="0"/>
                <a:ea typeface="MS PGothic" panose="020B0600070205080204" pitchFamily="34" charset="-128"/>
              </a:rPr>
              <a:t>.</a:t>
            </a:r>
          </a:p>
          <a:p>
            <a:pPr marL="342900" indent="-342900" algn="just" eaLnBrk="0" hangingPunct="0">
              <a:spcBef>
                <a:spcPct val="20000"/>
              </a:spcBef>
              <a:buClr>
                <a:srgbClr val="FF0000"/>
              </a:buClr>
              <a:buFont typeface="Wingdings" pitchFamily="2" charset="2"/>
              <a:buChar char="q"/>
            </a:pPr>
            <a:r>
              <a:rPr lang="en-US" altLang="ja-JP" sz="2800" dirty="0">
                <a:latin typeface="Tahoma" panose="020B0604030504040204" pitchFamily="34" charset="0"/>
                <a:ea typeface="Tahoma" panose="020B0604030504040204" pitchFamily="34" charset="0"/>
                <a:cs typeface="Tahoma" panose="020B0604030504040204" pitchFamily="34" charset="0"/>
              </a:rPr>
              <a:t>Knowledge is the perception about and understanding of a subject</a:t>
            </a:r>
            <a:r>
              <a:rPr lang="en-US" altLang="ja-JP" sz="2800" dirty="0" smtClean="0">
                <a:latin typeface="Tahoma" panose="020B0604030504040204" pitchFamily="34" charset="0"/>
                <a:ea typeface="Tahoma" panose="020B0604030504040204" pitchFamily="34" charset="0"/>
                <a:cs typeface="Tahoma" panose="020B0604030504040204" pitchFamily="34" charset="0"/>
              </a:rPr>
              <a:t>. 	</a:t>
            </a:r>
            <a:endParaRPr kumimoji="1" lang="en-US" altLang="ja-JP" sz="2800" dirty="0">
              <a:latin typeface="Tahoma" panose="020B0604030504040204" pitchFamily="34" charset="0"/>
              <a:ea typeface="MS PGothic" panose="020B0600070205080204" pitchFamily="34" charset="-128"/>
            </a:endParaRPr>
          </a:p>
          <a:p>
            <a:pPr marL="342900" indent="-342900" algn="just" eaLnBrk="0" hangingPunct="0">
              <a:spcBef>
                <a:spcPct val="20000"/>
              </a:spcBef>
              <a:buClr>
                <a:srgbClr val="FF0000"/>
              </a:buClr>
              <a:buFont typeface="Wingdings" pitchFamily="2" charset="2"/>
              <a:buChar char="q"/>
            </a:pPr>
            <a:endParaRPr lang="en-US" altLang="ja-JP" sz="2800" dirty="0" smtClean="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spcBef>
                <a:spcPct val="0"/>
              </a:spcBef>
            </a:pPr>
            <a:r>
              <a:rPr lang="en-US" altLang="ja-JP" sz="2800" b="1" dirty="0">
                <a:solidFill>
                  <a:srgbClr val="FD1B03"/>
                </a:solidFill>
                <a:latin typeface="Tahoma" panose="020B0604030504040204" pitchFamily="34" charset="0"/>
                <a:ea typeface="MS PGothic" panose="020B0600070205080204" pitchFamily="34" charset="-128"/>
              </a:rPr>
              <a:t>What is Knowledge?</a:t>
            </a:r>
            <a:endParaRPr lang="en-US" sz="2800" b="1" dirty="0">
              <a:solidFill>
                <a:srgbClr val="FD1B03"/>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20844518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a:t>
            </a:fld>
            <a:endParaRPr lang="en-US" dirty="0"/>
          </a:p>
        </p:txBody>
      </p:sp>
      <p:sp>
        <p:nvSpPr>
          <p:cNvPr id="6" name="Content Placeholder 2"/>
          <p:cNvSpPr txBox="1">
            <a:spLocks/>
          </p:cNvSpPr>
          <p:nvPr/>
        </p:nvSpPr>
        <p:spPr>
          <a:xfrm>
            <a:off x="457200" y="685800"/>
            <a:ext cx="8534400" cy="5448300"/>
          </a:xfrm>
          <a:prstGeom prst="rect">
            <a:avLst/>
          </a:prstGeom>
        </p:spPr>
        <p:txBody>
          <a:bodyPr>
            <a:noAutofit/>
          </a:bodyPr>
          <a:lstStyle/>
          <a:p>
            <a:pPr marL="342900" indent="-342900" algn="just" eaLnBrk="0" hangingPunct="0">
              <a:spcBef>
                <a:spcPct val="20000"/>
              </a:spcBef>
              <a:buClr>
                <a:srgbClr val="FF0000"/>
              </a:buClr>
              <a:buFont typeface="Wingdings" pitchFamily="2" charset="2"/>
              <a:buChar char="q"/>
            </a:pPr>
            <a:r>
              <a:rPr kumimoji="1" lang="en-US" altLang="ja-JP" sz="2800" dirty="0" smtClean="0">
                <a:latin typeface="Tahoma" panose="020B0604030504040204" pitchFamily="34" charset="0"/>
                <a:ea typeface="MS PGothic" panose="020B0600070205080204" pitchFamily="34" charset="-128"/>
              </a:rPr>
              <a:t>Knowledge-based </a:t>
            </a:r>
            <a:r>
              <a:rPr kumimoji="1" lang="en-US" altLang="ja-JP" sz="2800" dirty="0">
                <a:latin typeface="Tahoma" panose="020B0604030504040204" pitchFamily="34" charset="0"/>
                <a:ea typeface="MS PGothic" panose="020B0600070205080204" pitchFamily="34" charset="-128"/>
              </a:rPr>
              <a:t>systems may require thousands of facts and rules to perform their intended tasks. So the appropriate facts and rules be easy to locate and retrieve. Knowledge can be organized in memory for easy access by a method known as </a:t>
            </a:r>
            <a:r>
              <a:rPr kumimoji="1" lang="en-US" altLang="ja-JP" sz="2800" dirty="0" smtClean="0">
                <a:latin typeface="Tahoma" panose="020B0604030504040204" pitchFamily="34" charset="0"/>
                <a:ea typeface="MS PGothic" panose="020B0600070205080204" pitchFamily="34" charset="-128"/>
              </a:rPr>
              <a:t>indexing.</a:t>
            </a:r>
          </a:p>
          <a:p>
            <a:pPr marL="342900" indent="-342900" algn="just" eaLnBrk="0" hangingPunct="0">
              <a:spcBef>
                <a:spcPct val="20000"/>
              </a:spcBef>
              <a:buClr>
                <a:srgbClr val="FF0000"/>
              </a:buClr>
              <a:buFont typeface="Wingdings" pitchFamily="2" charset="2"/>
              <a:buChar char="q"/>
            </a:pPr>
            <a:r>
              <a:rPr kumimoji="1" lang="en-US" altLang="ja-JP" sz="2800" dirty="0" smtClean="0">
                <a:latin typeface="Tahoma" panose="020B0604030504040204" pitchFamily="34" charset="0"/>
                <a:ea typeface="MS PGothic" panose="020B0600070205080204" pitchFamily="34" charset="-128"/>
              </a:rPr>
              <a:t>Decisions </a:t>
            </a:r>
            <a:r>
              <a:rPr kumimoji="1" lang="en-US" altLang="ja-JP" sz="2800" dirty="0">
                <a:latin typeface="Tahoma" panose="020B0604030504040204" pitchFamily="34" charset="0"/>
                <a:ea typeface="MS PGothic" panose="020B0600070205080204" pitchFamily="34" charset="-128"/>
              </a:rPr>
              <a:t>in knowledge-based systems needs manipulation of knowledge in specified ways.</a:t>
            </a:r>
          </a:p>
          <a:p>
            <a:pPr marL="342900" indent="-342900" algn="just" eaLnBrk="0" hangingPunct="0">
              <a:spcBef>
                <a:spcPct val="20000"/>
              </a:spcBef>
              <a:buClr>
                <a:srgbClr val="FF0000"/>
              </a:buClr>
              <a:buFont typeface="Wingdings" pitchFamily="2" charset="2"/>
              <a:buChar char="q"/>
            </a:pPr>
            <a:endParaRPr kumimoji="1" lang="en-US" altLang="ja-JP" sz="2800" dirty="0">
              <a:latin typeface="Tahoma" panose="020B0604030504040204" pitchFamily="34" charset="0"/>
              <a:ea typeface="MS PGothic" panose="020B0600070205080204" pitchFamily="34" charset="-128"/>
            </a:endParaRPr>
          </a:p>
          <a:p>
            <a:pPr marL="342900" indent="-342900" algn="just" eaLnBrk="0" hangingPunct="0">
              <a:spcBef>
                <a:spcPct val="20000"/>
              </a:spcBef>
              <a:buClr>
                <a:srgbClr val="FF0000"/>
              </a:buClr>
              <a:buFont typeface="Wingdings" pitchFamily="2" charset="2"/>
              <a:buChar char="q"/>
            </a:pPr>
            <a:endParaRPr lang="en-US" altLang="ja-JP" sz="2800" dirty="0" smtClean="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spcBef>
                <a:spcPct val="0"/>
              </a:spcBef>
            </a:pPr>
            <a:r>
              <a:rPr lang="en-US" altLang="ja-JP" sz="2800" b="1" dirty="0">
                <a:solidFill>
                  <a:srgbClr val="FD1B03"/>
                </a:solidFill>
                <a:latin typeface="Tahoma" panose="020B0604030504040204" pitchFamily="34" charset="0"/>
                <a:ea typeface="MS PGothic" panose="020B0600070205080204" pitchFamily="34" charset="-128"/>
              </a:rPr>
              <a:t>What is Knowledge?</a:t>
            </a:r>
            <a:endParaRPr lang="en-US" sz="2800" b="1" dirty="0">
              <a:solidFill>
                <a:srgbClr val="FD1B03"/>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4801046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3</a:t>
            </a:fld>
            <a:endParaRPr lang="en-US" dirty="0"/>
          </a:p>
        </p:txBody>
      </p:sp>
      <p:sp>
        <p:nvSpPr>
          <p:cNvPr id="6" name="Content Placeholder 2"/>
          <p:cNvSpPr txBox="1">
            <a:spLocks/>
          </p:cNvSpPr>
          <p:nvPr/>
        </p:nvSpPr>
        <p:spPr>
          <a:xfrm>
            <a:off x="457200" y="685800"/>
            <a:ext cx="8534400" cy="5448300"/>
          </a:xfrm>
          <a:prstGeom prst="rect">
            <a:avLst/>
          </a:prstGeom>
        </p:spPr>
        <p:txBody>
          <a:bodyPr>
            <a:noAutofit/>
          </a:bodyPr>
          <a:lstStyle/>
          <a:p>
            <a:pPr marL="342900" indent="-342900" algn="just" eaLnBrk="0" hangingPunct="0">
              <a:spcBef>
                <a:spcPct val="20000"/>
              </a:spcBef>
              <a:buClr>
                <a:srgbClr val="FF0000"/>
              </a:buClr>
              <a:buFont typeface="Wingdings" pitchFamily="2" charset="2"/>
              <a:buChar char="q"/>
            </a:pPr>
            <a:r>
              <a:rPr kumimoji="1" lang="en-US" altLang="ja-JP" sz="2800" dirty="0" smtClean="0">
                <a:latin typeface="Tahoma" panose="020B0604030504040204" pitchFamily="34" charset="0"/>
                <a:ea typeface="Tahoma" panose="020B0604030504040204" pitchFamily="34" charset="0"/>
                <a:cs typeface="Tahoma" panose="020B0604030504040204" pitchFamily="34" charset="0"/>
              </a:rPr>
              <a:t>Knowledge-based </a:t>
            </a:r>
            <a:r>
              <a:rPr kumimoji="1" lang="en-US" altLang="ja-JP" sz="2800" dirty="0">
                <a:latin typeface="Tahoma" panose="020B0604030504040204" pitchFamily="34" charset="0"/>
                <a:ea typeface="Tahoma" panose="020B0604030504040204" pitchFamily="34" charset="0"/>
                <a:cs typeface="Tahoma" panose="020B0604030504040204" pitchFamily="34" charset="0"/>
              </a:rPr>
              <a:t>systems may require </a:t>
            </a:r>
            <a:r>
              <a:rPr kumimoji="1" lang="en-US" altLang="ja-JP" sz="2800" dirty="0" smtClean="0">
                <a:latin typeface="Tahoma" panose="020B0604030504040204" pitchFamily="34" charset="0"/>
                <a:ea typeface="Tahoma" panose="020B0604030504040204" pitchFamily="34" charset="0"/>
                <a:cs typeface="Tahoma" panose="020B0604030504040204" pitchFamily="34" charset="0"/>
              </a:rPr>
              <a:t>thousands</a:t>
            </a:r>
          </a:p>
          <a:p>
            <a:pPr marL="342900" indent="-342900" algn="just" eaLnBrk="0" hangingPunct="0">
              <a:spcBef>
                <a:spcPct val="20000"/>
              </a:spcBef>
              <a:buClr>
                <a:srgbClr val="FF0000"/>
              </a:buClr>
              <a:buFont typeface="Wingdings" pitchFamily="2" charset="2"/>
              <a:buChar char="q"/>
            </a:pPr>
            <a:r>
              <a:rPr kumimoji="1" lang="en-US" altLang="ja-JP" sz="2800" dirty="0" smtClean="0">
                <a:latin typeface="Tahoma" panose="020B0604030504040204" pitchFamily="34" charset="0"/>
                <a:ea typeface="Tahoma" panose="020B0604030504040204" pitchFamily="34" charset="0"/>
                <a:cs typeface="Tahoma" panose="020B0604030504040204" pitchFamily="34" charset="0"/>
              </a:rPr>
              <a:t>In </a:t>
            </a:r>
            <a:r>
              <a:rPr kumimoji="1" lang="en-US" altLang="ja-JP" sz="2800" dirty="0">
                <a:latin typeface="Tahoma" panose="020B0604030504040204" pitchFamily="34" charset="0"/>
                <a:ea typeface="Tahoma" panose="020B0604030504040204" pitchFamily="34" charset="0"/>
                <a:cs typeface="Tahoma" panose="020B0604030504040204" pitchFamily="34" charset="0"/>
              </a:rPr>
              <a:t>biological organisms, knowledge is stored as complex structures (symbolic representation) of interconnected </a:t>
            </a:r>
            <a:r>
              <a:rPr kumimoji="1" lang="en-US" altLang="ja-JP" sz="2800" dirty="0" smtClean="0">
                <a:latin typeface="Tahoma" panose="020B0604030504040204" pitchFamily="34" charset="0"/>
                <a:ea typeface="Tahoma" panose="020B0604030504040204" pitchFamily="34" charset="0"/>
                <a:cs typeface="Tahoma" panose="020B0604030504040204" pitchFamily="34" charset="0"/>
              </a:rPr>
              <a:t>neurons.</a:t>
            </a:r>
          </a:p>
          <a:p>
            <a:pPr marL="342900" indent="-342900" algn="just" eaLnBrk="0" hangingPunct="0">
              <a:spcBef>
                <a:spcPct val="20000"/>
              </a:spcBef>
              <a:buClr>
                <a:srgbClr val="FF0000"/>
              </a:buClr>
              <a:buFont typeface="Wingdings" pitchFamily="2" charset="2"/>
              <a:buChar char="q"/>
            </a:pPr>
            <a:r>
              <a:rPr kumimoji="1" lang="en-US" altLang="ja-JP" sz="2800" dirty="0" smtClean="0">
                <a:latin typeface="Tahoma" panose="020B0604030504040204" pitchFamily="34" charset="0"/>
                <a:ea typeface="Tahoma" panose="020B0604030504040204" pitchFamily="34" charset="0"/>
                <a:cs typeface="Tahoma" panose="020B0604030504040204" pitchFamily="34" charset="0"/>
              </a:rPr>
              <a:t>Human </a:t>
            </a:r>
            <a:r>
              <a:rPr kumimoji="1" lang="en-US" altLang="ja-JP" sz="2800" dirty="0">
                <a:latin typeface="Tahoma" panose="020B0604030504040204" pitchFamily="34" charset="0"/>
                <a:ea typeface="Tahoma" panose="020B0604030504040204" pitchFamily="34" charset="0"/>
                <a:cs typeface="Tahoma" panose="020B0604030504040204" pitchFamily="34" charset="0"/>
              </a:rPr>
              <a:t>brain weighs about 3.3 pounds and contains an estimated number of 10</a:t>
            </a:r>
            <a:r>
              <a:rPr kumimoji="1" lang="en-US" altLang="ja-JP" sz="2800" baseline="30000" dirty="0">
                <a:latin typeface="Tahoma" panose="020B0604030504040204" pitchFamily="34" charset="0"/>
                <a:ea typeface="Tahoma" panose="020B0604030504040204" pitchFamily="34" charset="0"/>
                <a:cs typeface="Tahoma" panose="020B0604030504040204" pitchFamily="34" charset="0"/>
              </a:rPr>
              <a:t>12</a:t>
            </a:r>
            <a:r>
              <a:rPr kumimoji="1" lang="en-US" altLang="ja-JP" sz="2800" dirty="0">
                <a:latin typeface="Tahoma" panose="020B0604030504040204" pitchFamily="34" charset="0"/>
                <a:ea typeface="Tahoma" panose="020B0604030504040204" pitchFamily="34" charset="0"/>
                <a:cs typeface="Tahoma" panose="020B0604030504040204" pitchFamily="34" charset="0"/>
              </a:rPr>
              <a:t> neurons. The neurons and their interconnection capabilities provide about 10</a:t>
            </a:r>
            <a:r>
              <a:rPr kumimoji="1" lang="en-US" altLang="ja-JP" sz="2800" baseline="30000" dirty="0">
                <a:latin typeface="Tahoma" panose="020B0604030504040204" pitchFamily="34" charset="0"/>
                <a:ea typeface="Tahoma" panose="020B0604030504040204" pitchFamily="34" charset="0"/>
                <a:cs typeface="Tahoma" panose="020B0604030504040204" pitchFamily="34" charset="0"/>
              </a:rPr>
              <a:t>14</a:t>
            </a:r>
            <a:r>
              <a:rPr kumimoji="1" lang="en-US" altLang="ja-JP" sz="2800" dirty="0">
                <a:latin typeface="Tahoma" panose="020B0604030504040204" pitchFamily="34" charset="0"/>
                <a:ea typeface="Tahoma" panose="020B0604030504040204" pitchFamily="34" charset="0"/>
                <a:cs typeface="Tahoma" panose="020B0604030504040204" pitchFamily="34" charset="0"/>
              </a:rPr>
              <a:t> bits of potential storage capacity (Sagan, 1977).</a:t>
            </a:r>
            <a:endParaRPr kumimoji="1" lang="en-US" sz="2800" b="1" dirty="0">
              <a:solidFill>
                <a:srgbClr val="FD1B03"/>
              </a:solidFill>
              <a:latin typeface="Tahoma" panose="020B0604030504040204" pitchFamily="34" charset="0"/>
              <a:ea typeface="Tahoma" panose="020B0604030504040204" pitchFamily="34" charset="0"/>
              <a:cs typeface="Tahoma" panose="020B0604030504040204" pitchFamily="34" charset="0"/>
            </a:endParaRPr>
          </a:p>
          <a:p>
            <a:pPr marL="342900" indent="-342900" algn="just" eaLnBrk="0" hangingPunct="0">
              <a:spcBef>
                <a:spcPct val="20000"/>
              </a:spcBef>
              <a:buClr>
                <a:srgbClr val="FF0000"/>
              </a:buClr>
              <a:buFont typeface="Wingdings" pitchFamily="2" charset="2"/>
              <a:buChar char="q"/>
            </a:pPr>
            <a:endParaRPr kumimoji="1" lang="en-US" altLang="ja-JP" sz="2800" dirty="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954107"/>
          </a:xfrm>
          <a:prstGeom prst="rect">
            <a:avLst/>
          </a:prstGeom>
          <a:solidFill>
            <a:schemeClr val="tx2">
              <a:lumMod val="20000"/>
              <a:lumOff val="80000"/>
            </a:schemeClr>
          </a:solidFill>
        </p:spPr>
        <p:txBody>
          <a:bodyPr wrap="square" rtlCol="0">
            <a:spAutoFit/>
          </a:bodyPr>
          <a:lstStyle/>
          <a:p>
            <a:pPr algn="ctr">
              <a:spcBef>
                <a:spcPct val="0"/>
              </a:spcBef>
            </a:pPr>
            <a:r>
              <a:rPr lang="en-US" altLang="ja-JP" sz="2800" b="1" dirty="0">
                <a:solidFill>
                  <a:srgbClr val="FD1B03"/>
                </a:solidFill>
                <a:latin typeface="Tahoma" panose="020B0604030504040204" pitchFamily="34" charset="0"/>
                <a:ea typeface="MS PGothic" panose="020B0600070205080204" pitchFamily="34" charset="-128"/>
              </a:rPr>
              <a:t>Knowledge – Biological Organisms and Computers</a:t>
            </a:r>
            <a:endParaRPr lang="en-US" sz="2800" b="1" dirty="0">
              <a:solidFill>
                <a:srgbClr val="FD1B03"/>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26625780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4</a:t>
            </a:fld>
            <a:endParaRPr lang="en-US" dirty="0"/>
          </a:p>
        </p:txBody>
      </p:sp>
      <p:sp>
        <p:nvSpPr>
          <p:cNvPr id="6" name="Content Placeholder 2"/>
          <p:cNvSpPr txBox="1">
            <a:spLocks/>
          </p:cNvSpPr>
          <p:nvPr/>
        </p:nvSpPr>
        <p:spPr>
          <a:xfrm>
            <a:off x="457200" y="685800"/>
            <a:ext cx="8534400" cy="5448300"/>
          </a:xfrm>
          <a:prstGeom prst="rect">
            <a:avLst/>
          </a:prstGeom>
        </p:spPr>
        <p:txBody>
          <a:bodyPr>
            <a:noAutofit/>
          </a:bodyPr>
          <a:lstStyle/>
          <a:p>
            <a:pPr marL="342900" indent="-342900" algn="just" eaLnBrk="0" hangingPunct="0">
              <a:spcBef>
                <a:spcPct val="20000"/>
              </a:spcBef>
              <a:buClr>
                <a:srgbClr val="FF0000"/>
              </a:buClr>
              <a:buFont typeface="Wingdings" pitchFamily="2" charset="2"/>
              <a:buChar char="q"/>
            </a:pPr>
            <a:r>
              <a:rPr kumimoji="1" lang="en-US" altLang="ja-JP" sz="2800" dirty="0" smtClean="0">
                <a:latin typeface="Tahoma" panose="020B0604030504040204" pitchFamily="34" charset="0"/>
                <a:ea typeface="Tahoma" panose="020B0604030504040204" pitchFamily="34" charset="0"/>
                <a:cs typeface="Tahoma" panose="020B0604030504040204" pitchFamily="34" charset="0"/>
              </a:rPr>
              <a:t>Knowledge-based </a:t>
            </a:r>
            <a:r>
              <a:rPr kumimoji="1" lang="en-US" altLang="ja-JP" sz="2800" dirty="0">
                <a:latin typeface="Tahoma" panose="020B0604030504040204" pitchFamily="34" charset="0"/>
                <a:ea typeface="Tahoma" panose="020B0604030504040204" pitchFamily="34" charset="0"/>
                <a:cs typeface="Tahoma" panose="020B0604030504040204" pitchFamily="34" charset="0"/>
              </a:rPr>
              <a:t>systems may require </a:t>
            </a:r>
            <a:r>
              <a:rPr kumimoji="1" lang="en-US" altLang="ja-JP" sz="2800" dirty="0" smtClean="0">
                <a:latin typeface="Tahoma" panose="020B0604030504040204" pitchFamily="34" charset="0"/>
                <a:ea typeface="Tahoma" panose="020B0604030504040204" pitchFamily="34" charset="0"/>
                <a:cs typeface="Tahoma" panose="020B0604030504040204" pitchFamily="34" charset="0"/>
              </a:rPr>
              <a:t>thousands</a:t>
            </a:r>
          </a:p>
          <a:p>
            <a:pPr marL="342900" indent="-342900" algn="just" eaLnBrk="0" hangingPunct="0">
              <a:spcBef>
                <a:spcPct val="20000"/>
              </a:spcBef>
              <a:buClr>
                <a:srgbClr val="FF0000"/>
              </a:buClr>
              <a:buFont typeface="Wingdings" pitchFamily="2" charset="2"/>
              <a:buChar char="q"/>
            </a:pPr>
            <a:r>
              <a:rPr kumimoji="1" lang="en-US" altLang="ja-JP" sz="2800" dirty="0" smtClean="0">
                <a:latin typeface="Tahoma" panose="020B0604030504040204" pitchFamily="34" charset="0"/>
                <a:ea typeface="Tahoma" panose="020B0604030504040204" pitchFamily="34" charset="0"/>
                <a:cs typeface="Tahoma" panose="020B0604030504040204" pitchFamily="34" charset="0"/>
              </a:rPr>
              <a:t>In </a:t>
            </a:r>
            <a:r>
              <a:rPr kumimoji="1" lang="en-US" altLang="ja-JP" sz="2800" dirty="0">
                <a:latin typeface="Tahoma" panose="020B0604030504040204" pitchFamily="34" charset="0"/>
                <a:ea typeface="Tahoma" panose="020B0604030504040204" pitchFamily="34" charset="0"/>
                <a:cs typeface="Tahoma" panose="020B0604030504040204" pitchFamily="34" charset="0"/>
              </a:rPr>
              <a:t>computers, knowledge is stored as symbolic structures, but in the form of collections of magnetic spots and voltage states.  State-of-the-art storage in computers is in the range of 10</a:t>
            </a:r>
            <a:r>
              <a:rPr kumimoji="1" lang="en-US" altLang="ja-JP" sz="2800" baseline="30000" dirty="0">
                <a:latin typeface="Tahoma" panose="020B0604030504040204" pitchFamily="34" charset="0"/>
                <a:ea typeface="Tahoma" panose="020B0604030504040204" pitchFamily="34" charset="0"/>
                <a:cs typeface="Tahoma" panose="020B0604030504040204" pitchFamily="34" charset="0"/>
              </a:rPr>
              <a:t>12 </a:t>
            </a:r>
            <a:r>
              <a:rPr kumimoji="1" lang="en-US" altLang="ja-JP" sz="2800" dirty="0">
                <a:latin typeface="Tahoma" panose="020B0604030504040204" pitchFamily="34" charset="0"/>
                <a:ea typeface="Tahoma" panose="020B0604030504040204" pitchFamily="34" charset="0"/>
                <a:cs typeface="Tahoma" panose="020B0604030504040204" pitchFamily="34" charset="0"/>
              </a:rPr>
              <a:t>bits with capacities doubling every ¾ years.</a:t>
            </a:r>
          </a:p>
          <a:p>
            <a:pPr algn="just">
              <a:spcBef>
                <a:spcPct val="20000"/>
              </a:spcBef>
            </a:pPr>
            <a:endParaRPr kumimoji="1" lang="en-US" altLang="ja-JP" sz="2800" dirty="0">
              <a:latin typeface="Tahoma" panose="020B0604030504040204" pitchFamily="34" charset="0"/>
              <a:ea typeface="Tahoma" panose="020B0604030504040204" pitchFamily="34" charset="0"/>
              <a:cs typeface="Tahoma" panose="020B0604030504040204" pitchFamily="34" charset="0"/>
            </a:endParaRPr>
          </a:p>
          <a:p>
            <a:pPr algn="ctr">
              <a:spcBef>
                <a:spcPct val="20000"/>
              </a:spcBef>
            </a:pPr>
            <a:r>
              <a:rPr kumimoji="1" lang="en-US" altLang="ja-JP" sz="2800" b="1" dirty="0">
                <a:solidFill>
                  <a:srgbClr val="000099"/>
                </a:solidFill>
                <a:latin typeface="Tahoma" panose="020B0604030504040204" pitchFamily="34" charset="0"/>
                <a:ea typeface="Tahoma" panose="020B0604030504040204" pitchFamily="34" charset="0"/>
                <a:cs typeface="Tahoma" panose="020B0604030504040204" pitchFamily="34" charset="0"/>
              </a:rPr>
              <a:t>Unfortunately, there is still a wide gap between representation schemes and efficiencies!</a:t>
            </a:r>
          </a:p>
          <a:p>
            <a:endParaRPr kumimoji="1" lang="en-US" sz="2800" b="1" dirty="0">
              <a:solidFill>
                <a:srgbClr val="000099"/>
              </a:solidFill>
              <a:latin typeface="Tahoma" panose="020B0604030504040204" pitchFamily="34" charset="0"/>
              <a:ea typeface="Tahoma" panose="020B0604030504040204" pitchFamily="34" charset="0"/>
              <a:cs typeface="Tahoma" panose="020B0604030504040204" pitchFamily="34" charset="0"/>
            </a:endParaRPr>
          </a:p>
          <a:p>
            <a:pPr marL="342900" indent="-342900" algn="just" eaLnBrk="0" hangingPunct="0">
              <a:spcBef>
                <a:spcPct val="20000"/>
              </a:spcBef>
              <a:buClr>
                <a:srgbClr val="FF0000"/>
              </a:buClr>
              <a:buFont typeface="Wingdings" pitchFamily="2" charset="2"/>
              <a:buChar char="q"/>
            </a:pPr>
            <a:endParaRPr kumimoji="1" lang="en-US" altLang="ja-JP" sz="2800" dirty="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954107"/>
          </a:xfrm>
          <a:prstGeom prst="rect">
            <a:avLst/>
          </a:prstGeom>
          <a:solidFill>
            <a:schemeClr val="tx2">
              <a:lumMod val="20000"/>
              <a:lumOff val="80000"/>
            </a:schemeClr>
          </a:solidFill>
        </p:spPr>
        <p:txBody>
          <a:bodyPr wrap="square" rtlCol="0">
            <a:spAutoFit/>
          </a:bodyPr>
          <a:lstStyle/>
          <a:p>
            <a:pPr algn="ctr">
              <a:spcBef>
                <a:spcPct val="0"/>
              </a:spcBef>
            </a:pPr>
            <a:r>
              <a:rPr lang="en-US" altLang="ja-JP" sz="2800" b="1" dirty="0">
                <a:solidFill>
                  <a:srgbClr val="FD1B03"/>
                </a:solidFill>
                <a:latin typeface="Tahoma" panose="020B0604030504040204" pitchFamily="34" charset="0"/>
                <a:ea typeface="MS PGothic" panose="020B0600070205080204" pitchFamily="34" charset="-128"/>
              </a:rPr>
              <a:t>Knowledge – Biological Organisms and Computers</a:t>
            </a:r>
            <a:endParaRPr lang="en-US" sz="2800" b="1" dirty="0">
              <a:solidFill>
                <a:srgbClr val="FD1B03"/>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11439677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5</a:t>
            </a:fld>
            <a:endParaRPr lang="en-US" dirty="0"/>
          </a:p>
        </p:txBody>
      </p:sp>
      <p:sp>
        <p:nvSpPr>
          <p:cNvPr id="6" name="Content Placeholder 2"/>
          <p:cNvSpPr txBox="1">
            <a:spLocks/>
          </p:cNvSpPr>
          <p:nvPr/>
        </p:nvSpPr>
        <p:spPr>
          <a:xfrm>
            <a:off x="457200" y="685800"/>
            <a:ext cx="8534400" cy="5448300"/>
          </a:xfrm>
          <a:prstGeom prst="rect">
            <a:avLst/>
          </a:prstGeom>
        </p:spPr>
        <p:txBody>
          <a:bodyPr>
            <a:noAutofit/>
          </a:bodyPr>
          <a:lstStyle/>
          <a:p>
            <a:pPr marL="342900" indent="-342900" algn="just" eaLnBrk="0" hangingPunct="0">
              <a:spcBef>
                <a:spcPct val="20000"/>
              </a:spcBef>
              <a:buClr>
                <a:srgbClr val="FF0000"/>
              </a:buClr>
              <a:buFont typeface="Wingdings" pitchFamily="2" charset="2"/>
              <a:buChar char="q"/>
            </a:pPr>
            <a:r>
              <a:rPr kumimoji="1" lang="en-US" altLang="ja-JP" sz="2800" dirty="0" smtClean="0">
                <a:latin typeface="Tahoma" panose="020B0604030504040204" pitchFamily="34" charset="0"/>
                <a:ea typeface="MS PGothic" panose="020B0600070205080204" pitchFamily="34" charset="-128"/>
              </a:rPr>
              <a:t>Over </a:t>
            </a:r>
            <a:r>
              <a:rPr kumimoji="1" lang="en-US" altLang="ja-JP" sz="2800" dirty="0">
                <a:latin typeface="Tahoma" panose="020B0604030504040204" pitchFamily="34" charset="0"/>
                <a:ea typeface="MS PGothic" panose="020B0600070205080204" pitchFamily="34" charset="-128"/>
              </a:rPr>
              <a:t>the past few decades, several computer systems have been developed that can perform intelligence tasks such as diagnose diseases, understand human speech and so on. Artificial intelligence is the breakthrough of computer science explaining how it is possible for computers to reason and perceive. It concerns with the study and creation of computer systems that exhibit magnificent form of intelligence. People enjoy this wonderful field because it provides a means of new ideas for representing knowledge and building expert systems. It provides an exciting computational perspective on the mystery of intelligence.</a:t>
            </a:r>
            <a:endParaRPr lang="en-US" altLang="ja-JP" sz="2800" dirty="0" smtClean="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spcBef>
                <a:spcPct val="0"/>
              </a:spcBef>
            </a:pPr>
            <a:r>
              <a:rPr lang="en-US" altLang="ja-JP" sz="2800" b="1" dirty="0">
                <a:solidFill>
                  <a:srgbClr val="FD1B03"/>
                </a:solidFill>
                <a:latin typeface="Tahoma" panose="020B0604030504040204" pitchFamily="34" charset="0"/>
                <a:ea typeface="MS PGothic" panose="020B0600070205080204" pitchFamily="34" charset="-128"/>
              </a:rPr>
              <a:t>Importance of Knowledge</a:t>
            </a:r>
            <a:endParaRPr lang="en-US" sz="2800" b="1" dirty="0">
              <a:solidFill>
                <a:srgbClr val="FD1B03"/>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26434384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6</a:t>
            </a:fld>
            <a:endParaRPr lang="en-US" dirty="0"/>
          </a:p>
        </p:txBody>
      </p:sp>
      <p:sp>
        <p:nvSpPr>
          <p:cNvPr id="6" name="Content Placeholder 2"/>
          <p:cNvSpPr txBox="1">
            <a:spLocks/>
          </p:cNvSpPr>
          <p:nvPr/>
        </p:nvSpPr>
        <p:spPr>
          <a:xfrm>
            <a:off x="457200" y="685800"/>
            <a:ext cx="8534400" cy="5448300"/>
          </a:xfrm>
          <a:prstGeom prst="rect">
            <a:avLst/>
          </a:prstGeom>
        </p:spPr>
        <p:txBody>
          <a:bodyPr>
            <a:noAutofit/>
          </a:bodyPr>
          <a:lstStyle/>
          <a:p>
            <a:pPr marL="457200" indent="-457200" algn="just">
              <a:buClr>
                <a:srgbClr val="FF0000"/>
              </a:buClr>
              <a:buFont typeface="Wingdings" panose="05000000000000000000" pitchFamily="2" charset="2"/>
              <a:buChar char="q"/>
            </a:pPr>
            <a:r>
              <a:rPr kumimoji="1" lang="en-US" altLang="ja-JP" sz="2800" dirty="0" smtClean="0">
                <a:latin typeface="Tahoma" panose="020B0604030504040204" pitchFamily="34" charset="0"/>
                <a:ea typeface="MS PGothic" panose="020B0600070205080204" pitchFamily="34" charset="-128"/>
              </a:rPr>
              <a:t>Essential </a:t>
            </a:r>
            <a:r>
              <a:rPr kumimoji="1" lang="en-US" altLang="ja-JP" sz="2800" dirty="0">
                <a:latin typeface="Tahoma" panose="020B0604030504040204" pitchFamily="34" charset="0"/>
                <a:ea typeface="MS PGothic" panose="020B0600070205080204" pitchFamily="34" charset="-128"/>
              </a:rPr>
              <a:t>for intelligent behavior</a:t>
            </a:r>
          </a:p>
          <a:p>
            <a:pPr marL="457200" indent="-457200" algn="just">
              <a:buClr>
                <a:srgbClr val="FF0000"/>
              </a:buClr>
              <a:buFont typeface="Wingdings" panose="05000000000000000000" pitchFamily="2" charset="2"/>
              <a:buChar char="q"/>
            </a:pPr>
            <a:r>
              <a:rPr kumimoji="1" lang="en-US" altLang="ja-JP" sz="2800" dirty="0">
                <a:latin typeface="Tahoma" panose="020B0604030504040204" pitchFamily="34" charset="0"/>
                <a:ea typeface="MS PGothic" panose="020B0600070205080204" pitchFamily="34" charset="-128"/>
              </a:rPr>
              <a:t>To perform a complex robotic task</a:t>
            </a:r>
          </a:p>
          <a:p>
            <a:pPr marL="457200" indent="-457200" algn="just">
              <a:buClr>
                <a:srgbClr val="FF0000"/>
              </a:buClr>
              <a:buFont typeface="Wingdings" panose="05000000000000000000" pitchFamily="2" charset="2"/>
              <a:buChar char="q"/>
            </a:pPr>
            <a:r>
              <a:rPr kumimoji="1" lang="en-US" altLang="ja-JP" sz="2800" dirty="0">
                <a:latin typeface="Tahoma" panose="020B0604030504040204" pitchFamily="34" charset="0"/>
                <a:ea typeface="MS PGothic" panose="020B0600070205080204" pitchFamily="34" charset="-128"/>
              </a:rPr>
              <a:t>To develop a plan to complete a sequence of intricate operations</a:t>
            </a:r>
          </a:p>
          <a:p>
            <a:pPr marL="342900" indent="-342900" algn="just" eaLnBrk="0" hangingPunct="0">
              <a:spcBef>
                <a:spcPct val="20000"/>
              </a:spcBef>
              <a:buClr>
                <a:srgbClr val="FF0000"/>
              </a:buClr>
              <a:buFont typeface="Wingdings" pitchFamily="2" charset="2"/>
              <a:buChar char="q"/>
            </a:pPr>
            <a:endParaRPr kumimoji="1" lang="en-US" altLang="ja-JP" sz="2800" dirty="0" smtClean="0">
              <a:latin typeface="Tahoma" panose="020B0604030504040204" pitchFamily="34" charset="0"/>
              <a:ea typeface="MS PGothic" panose="020B0600070205080204" pitchFamily="34" charset="-128"/>
            </a:endParaRPr>
          </a:p>
          <a:p>
            <a:pPr marL="342900" indent="-342900" algn="just" eaLnBrk="0" hangingPunct="0">
              <a:spcBef>
                <a:spcPct val="20000"/>
              </a:spcBef>
              <a:buClr>
                <a:srgbClr val="FF0000"/>
              </a:buClr>
              <a:buFont typeface="Wingdings" pitchFamily="2" charset="2"/>
              <a:buChar char="q"/>
            </a:pPr>
            <a:endParaRPr kumimoji="1" lang="en-US" altLang="ja-JP" sz="2800" dirty="0">
              <a:latin typeface="Tahoma" panose="020B0604030504040204" pitchFamily="34" charset="0"/>
              <a:ea typeface="MS PGothic" panose="020B0600070205080204" pitchFamily="34" charset="-128"/>
            </a:endParaRPr>
          </a:p>
          <a:p>
            <a:pPr marL="342900" indent="-342900" algn="just" eaLnBrk="0" hangingPunct="0">
              <a:spcBef>
                <a:spcPct val="20000"/>
              </a:spcBef>
              <a:buClr>
                <a:srgbClr val="FF0000"/>
              </a:buClr>
              <a:buFont typeface="Wingdings" pitchFamily="2" charset="2"/>
              <a:buChar char="q"/>
            </a:pPr>
            <a:r>
              <a:rPr kumimoji="1" lang="en-US" altLang="ja-JP" sz="2800" b="1" dirty="0">
                <a:latin typeface="Tahoma" panose="020B0604030504040204" pitchFamily="34" charset="0"/>
                <a:ea typeface="MS PGothic" panose="020B0600070205080204" pitchFamily="34" charset="-128"/>
              </a:rPr>
              <a:t>Those who possess knowledge are called </a:t>
            </a:r>
            <a:r>
              <a:rPr kumimoji="1" lang="en-US" altLang="ja-JP" sz="2800" b="1" dirty="0">
                <a:solidFill>
                  <a:srgbClr val="FF132F"/>
                </a:solidFill>
                <a:latin typeface="Tahoma" panose="020B0604030504040204" pitchFamily="34" charset="0"/>
                <a:ea typeface="MS PGothic" panose="020B0600070205080204" pitchFamily="34" charset="-128"/>
              </a:rPr>
              <a:t>experts.</a:t>
            </a:r>
            <a:endParaRPr kumimoji="1" lang="en-US" altLang="ja-JP" sz="2800" b="1" dirty="0">
              <a:latin typeface="Tahoma" panose="020B0604030504040204" pitchFamily="34" charset="0"/>
              <a:ea typeface="MS PGothic" panose="020B0600070205080204" pitchFamily="34" charset="-128"/>
            </a:endParaRPr>
          </a:p>
          <a:p>
            <a:pPr marL="342900" indent="-342900" algn="just" eaLnBrk="0" hangingPunct="0">
              <a:spcBef>
                <a:spcPct val="20000"/>
              </a:spcBef>
              <a:buClr>
                <a:srgbClr val="FF0000"/>
              </a:buClr>
              <a:buFont typeface="Wingdings" pitchFamily="2" charset="2"/>
              <a:buChar char="q"/>
            </a:pPr>
            <a:endParaRPr kumimoji="1" lang="en-US" altLang="ja-JP" sz="2800" dirty="0" smtClean="0">
              <a:latin typeface="Tahoma" panose="020B0604030504040204" pitchFamily="34" charset="0"/>
              <a:ea typeface="MS PGothic" panose="020B0600070205080204" pitchFamily="34" charset="-128"/>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spcBef>
                <a:spcPct val="0"/>
              </a:spcBef>
            </a:pPr>
            <a:r>
              <a:rPr lang="en-US" altLang="ja-JP" sz="2800" b="1" dirty="0">
                <a:solidFill>
                  <a:srgbClr val="FD1B03"/>
                </a:solidFill>
                <a:latin typeface="Tahoma" panose="020B0604030504040204" pitchFamily="34" charset="0"/>
                <a:ea typeface="MS PGothic" panose="020B0600070205080204" pitchFamily="34" charset="-128"/>
              </a:rPr>
              <a:t>Importance of Knowledge</a:t>
            </a:r>
            <a:endParaRPr lang="en-US" sz="2800" b="1" dirty="0">
              <a:solidFill>
                <a:srgbClr val="FD1B03"/>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17906642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7</a:t>
            </a:fld>
            <a:endParaRPr lang="en-US" dirty="0"/>
          </a:p>
        </p:txBody>
      </p:sp>
      <p:sp>
        <p:nvSpPr>
          <p:cNvPr id="6" name="Content Placeholder 2"/>
          <p:cNvSpPr txBox="1">
            <a:spLocks/>
          </p:cNvSpPr>
          <p:nvPr/>
        </p:nvSpPr>
        <p:spPr>
          <a:xfrm>
            <a:off x="457200" y="685800"/>
            <a:ext cx="8534400" cy="5448300"/>
          </a:xfrm>
          <a:prstGeom prst="rect">
            <a:avLst/>
          </a:prstGeom>
        </p:spPr>
        <p:txBody>
          <a:bodyPr>
            <a:noAutofit/>
          </a:bodyPr>
          <a:lstStyle/>
          <a:p>
            <a:pPr marL="457200" indent="-457200" algn="just">
              <a:buClr>
                <a:srgbClr val="FF0000"/>
              </a:buClr>
              <a:buFont typeface="Wingdings" panose="05000000000000000000" pitchFamily="2" charset="2"/>
              <a:buChar char="q"/>
            </a:pPr>
            <a:r>
              <a:rPr kumimoji="1" lang="en-US" altLang="ja-JP" sz="2800" b="1" dirty="0" smtClean="0">
                <a:solidFill>
                  <a:srgbClr val="000099"/>
                </a:solidFill>
                <a:latin typeface="Tahoma" panose="020B0604030504040204" pitchFamily="34" charset="0"/>
                <a:ea typeface="Tahoma" panose="020B0604030504040204" pitchFamily="34" charset="0"/>
                <a:cs typeface="Tahoma" panose="020B0604030504040204" pitchFamily="34" charset="0"/>
              </a:rPr>
              <a:t>Procedural</a:t>
            </a:r>
            <a:endParaRPr kumimoji="1" lang="en-US" altLang="ja-JP" sz="2800" dirty="0">
              <a:solidFill>
                <a:srgbClr val="000099"/>
              </a:solidFill>
              <a:latin typeface="Tahoma" panose="020B0604030504040204" pitchFamily="34" charset="0"/>
              <a:ea typeface="Tahoma" panose="020B0604030504040204" pitchFamily="34" charset="0"/>
              <a:cs typeface="Tahoma" panose="020B0604030504040204" pitchFamily="34" charset="0"/>
            </a:endParaRPr>
          </a:p>
          <a:p>
            <a:pPr marL="914400" lvl="1" indent="-457200" algn="just">
              <a:buClr>
                <a:srgbClr val="FF0000"/>
              </a:buClr>
              <a:buFont typeface="Courier New" panose="02070309020205020404" pitchFamily="49" charset="0"/>
              <a:buChar char="o"/>
              <a:defRPr/>
            </a:pPr>
            <a:r>
              <a:rPr kumimoji="1" lang="en-US" altLang="ja-JP" sz="2800" dirty="0">
                <a:latin typeface="Tahoma" panose="020B0604030504040204" pitchFamily="34" charset="0"/>
                <a:ea typeface="Tahoma" panose="020B0604030504040204" pitchFamily="34" charset="0"/>
                <a:cs typeface="Tahoma" panose="020B0604030504040204" pitchFamily="34" charset="0"/>
              </a:rPr>
              <a:t> Compiled knowledge related to the performance of </a:t>
            </a:r>
            <a:r>
              <a:rPr kumimoji="1" lang="en-US" altLang="ja-JP" sz="2800" dirty="0" smtClean="0">
                <a:latin typeface="Tahoma" panose="020B0604030504040204" pitchFamily="34" charset="0"/>
                <a:ea typeface="Tahoma" panose="020B0604030504040204" pitchFamily="34" charset="0"/>
                <a:cs typeface="Tahoma" panose="020B0604030504040204" pitchFamily="34" charset="0"/>
              </a:rPr>
              <a:t>some </a:t>
            </a:r>
            <a:r>
              <a:rPr kumimoji="1" lang="en-US" altLang="ja-JP" sz="2800" dirty="0">
                <a:latin typeface="Tahoma" panose="020B0604030504040204" pitchFamily="34" charset="0"/>
                <a:ea typeface="Tahoma" panose="020B0604030504040204" pitchFamily="34" charset="0"/>
                <a:cs typeface="Tahoma" panose="020B0604030504040204" pitchFamily="34" charset="0"/>
              </a:rPr>
              <a:t>task. </a:t>
            </a:r>
          </a:p>
          <a:p>
            <a:pPr marL="914400" lvl="1" indent="-457200" algn="just">
              <a:buClr>
                <a:srgbClr val="FF0000"/>
              </a:buClr>
              <a:buFont typeface="Courier New" panose="02070309020205020404" pitchFamily="49" charset="0"/>
              <a:buChar char="o"/>
              <a:defRPr/>
            </a:pPr>
            <a:r>
              <a:rPr kumimoji="1" lang="en-US" altLang="ja-JP" sz="2800" dirty="0">
                <a:latin typeface="Tahoma" panose="020B0604030504040204" pitchFamily="34" charset="0"/>
                <a:ea typeface="Tahoma" panose="020B0604030504040204" pitchFamily="34" charset="0"/>
                <a:cs typeface="Tahoma" panose="020B0604030504040204" pitchFamily="34" charset="0"/>
              </a:rPr>
              <a:t> knowing how to do something. </a:t>
            </a:r>
          </a:p>
          <a:p>
            <a:pPr marL="914400" lvl="1" indent="-457200" algn="just">
              <a:lnSpc>
                <a:spcPct val="90000"/>
              </a:lnSpc>
              <a:spcBef>
                <a:spcPct val="50000"/>
              </a:spcBef>
              <a:buClr>
                <a:srgbClr val="FF0000"/>
              </a:buClr>
              <a:buFont typeface="Courier New" panose="02070309020205020404" pitchFamily="49" charset="0"/>
              <a:buChar char="o"/>
              <a:defRPr/>
            </a:pPr>
            <a:r>
              <a:rPr kumimoji="1" lang="en-US" altLang="ja-JP" sz="2800" dirty="0">
                <a:latin typeface="Tahoma" panose="020B0604030504040204" pitchFamily="34" charset="0"/>
                <a:ea typeface="Tahoma" panose="020B0604030504040204" pitchFamily="34" charset="0"/>
                <a:cs typeface="Tahoma" panose="020B0604030504040204" pitchFamily="34" charset="0"/>
              </a:rPr>
              <a:t> Steps required to solve an algebraic equation.</a:t>
            </a:r>
            <a:endParaRPr kumimoji="1" lang="en-US" altLang="ja-JP" sz="2800" dirty="0">
              <a:effectLst>
                <a:outerShdw blurRad="38100" dist="38100" dir="2700000" algn="tl">
                  <a:srgbClr val="FFFFFF"/>
                </a:outerShdw>
              </a:effectLst>
              <a:latin typeface="Tahoma" panose="020B0604030504040204" pitchFamily="34" charset="0"/>
              <a:ea typeface="Tahoma" panose="020B0604030504040204" pitchFamily="34" charset="0"/>
              <a:cs typeface="Tahoma" panose="020B0604030504040204" pitchFamily="34" charset="0"/>
            </a:endParaRPr>
          </a:p>
          <a:p>
            <a:pPr marL="457200" indent="-457200" algn="just">
              <a:buClr>
                <a:srgbClr val="FF0000"/>
              </a:buClr>
              <a:buFont typeface="Wingdings" panose="05000000000000000000" pitchFamily="2" charset="2"/>
              <a:buChar char="q"/>
              <a:defRPr/>
            </a:pPr>
            <a:r>
              <a:rPr kumimoji="1" lang="en-US" altLang="ja-JP" sz="2800" b="1" dirty="0">
                <a:solidFill>
                  <a:srgbClr val="000099"/>
                </a:solidFill>
                <a:latin typeface="Tahoma" panose="020B0604030504040204" pitchFamily="34" charset="0"/>
                <a:ea typeface="Tahoma" panose="020B0604030504040204" pitchFamily="34" charset="0"/>
                <a:cs typeface="Tahoma" panose="020B0604030504040204" pitchFamily="34" charset="0"/>
              </a:rPr>
              <a:t>Declarative</a:t>
            </a:r>
            <a:endParaRPr kumimoji="1" lang="en-US" altLang="ja-JP" sz="2800" dirty="0">
              <a:solidFill>
                <a:srgbClr val="000099"/>
              </a:solidFill>
              <a:latin typeface="Tahoma" panose="020B0604030504040204" pitchFamily="34" charset="0"/>
              <a:ea typeface="Tahoma" panose="020B0604030504040204" pitchFamily="34" charset="0"/>
              <a:cs typeface="Tahoma" panose="020B0604030504040204" pitchFamily="34" charset="0"/>
            </a:endParaRPr>
          </a:p>
          <a:p>
            <a:pPr marL="457200" indent="-457200" algn="just">
              <a:buClr>
                <a:srgbClr val="FF0000"/>
              </a:buClr>
              <a:buFont typeface="Courier New" panose="02070309020205020404" pitchFamily="49" charset="0"/>
              <a:buChar char="o"/>
              <a:defRPr/>
            </a:pPr>
            <a:r>
              <a:rPr kumimoji="1" lang="en-US" altLang="ja-JP" sz="2800" dirty="0">
                <a:latin typeface="Tahoma" panose="020B0604030504040204" pitchFamily="34" charset="0"/>
                <a:ea typeface="Tahoma" panose="020B0604030504040204" pitchFamily="34" charset="0"/>
                <a:cs typeface="Tahoma" panose="020B0604030504040204" pitchFamily="34" charset="0"/>
              </a:rPr>
              <a:t>    Passive knowledge expressed as   statements of facts                                   the world. </a:t>
            </a:r>
          </a:p>
          <a:p>
            <a:pPr marL="457200" indent="-457200" algn="just">
              <a:buClr>
                <a:srgbClr val="FF0000"/>
              </a:buClr>
              <a:buFont typeface="Courier New" panose="02070309020205020404" pitchFamily="49" charset="0"/>
              <a:buChar char="o"/>
              <a:defRPr/>
            </a:pPr>
            <a:r>
              <a:rPr kumimoji="1" lang="en-US" altLang="ja-JP" sz="2800" dirty="0">
                <a:latin typeface="Tahoma" panose="020B0604030504040204" pitchFamily="34" charset="0"/>
                <a:ea typeface="Tahoma" panose="020B0604030504040204" pitchFamily="34" charset="0"/>
                <a:cs typeface="Tahoma" panose="020B0604030504040204" pitchFamily="34" charset="0"/>
              </a:rPr>
              <a:t>    Knowing that something is true or false.</a:t>
            </a:r>
          </a:p>
          <a:p>
            <a:pPr marL="457200" indent="-457200" algn="just">
              <a:buClr>
                <a:srgbClr val="FF0000"/>
              </a:buClr>
              <a:buFont typeface="Courier New" panose="02070309020205020404" pitchFamily="49" charset="0"/>
              <a:buChar char="o"/>
              <a:defRPr/>
            </a:pPr>
            <a:r>
              <a:rPr kumimoji="1" lang="en-US" altLang="ja-JP" sz="2800" dirty="0">
                <a:latin typeface="Tahoma" panose="020B0604030504040204" pitchFamily="34" charset="0"/>
                <a:ea typeface="Tahoma" panose="020B0604030504040204" pitchFamily="34" charset="0"/>
                <a:cs typeface="Tahoma" panose="020B0604030504040204" pitchFamily="34" charset="0"/>
              </a:rPr>
              <a:t>    Personal data in a database.</a:t>
            </a: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spcBef>
                <a:spcPct val="0"/>
              </a:spcBef>
            </a:pPr>
            <a:r>
              <a:rPr lang="en-US" altLang="ja-JP" sz="2800" b="1" dirty="0">
                <a:solidFill>
                  <a:srgbClr val="FD1B03"/>
                </a:solidFill>
                <a:latin typeface="Tahoma" panose="020B0604030504040204" pitchFamily="34" charset="0"/>
                <a:ea typeface="MS PGothic" panose="020B0600070205080204" pitchFamily="34" charset="-128"/>
              </a:rPr>
              <a:t>Different Kinds of Knowledge</a:t>
            </a:r>
          </a:p>
        </p:txBody>
      </p:sp>
    </p:spTree>
    <p:extLst>
      <p:ext uri="{BB962C8B-B14F-4D97-AF65-F5344CB8AC3E}">
        <p14:creationId xmlns:p14="http://schemas.microsoft.com/office/powerpoint/2010/main" val="31381606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8</a:t>
            </a:fld>
            <a:endParaRPr lang="en-US" dirty="0"/>
          </a:p>
        </p:txBody>
      </p:sp>
      <p:sp>
        <p:nvSpPr>
          <p:cNvPr id="6" name="Content Placeholder 2"/>
          <p:cNvSpPr txBox="1">
            <a:spLocks/>
          </p:cNvSpPr>
          <p:nvPr/>
        </p:nvSpPr>
        <p:spPr>
          <a:xfrm>
            <a:off x="457200" y="876300"/>
            <a:ext cx="8534400" cy="5448300"/>
          </a:xfrm>
          <a:prstGeom prst="rect">
            <a:avLst/>
          </a:prstGeom>
        </p:spPr>
        <p:txBody>
          <a:bodyPr>
            <a:noAutofit/>
          </a:bodyPr>
          <a:lstStyle/>
          <a:p>
            <a:pPr marL="457200" indent="-457200" algn="just">
              <a:buClr>
                <a:srgbClr val="FF0000"/>
              </a:buClr>
              <a:buFont typeface="Wingdings" panose="05000000000000000000" pitchFamily="2" charset="2"/>
              <a:buChar char="q"/>
            </a:pPr>
            <a:r>
              <a:rPr kumimoji="1" lang="en-US" altLang="ja-JP" sz="2800" b="1" dirty="0">
                <a:solidFill>
                  <a:srgbClr val="000099"/>
                </a:solidFill>
                <a:latin typeface="Tahoma" panose="020B0604030504040204" pitchFamily="34" charset="0"/>
                <a:ea typeface="Tahoma" panose="020B0604030504040204" pitchFamily="34" charset="0"/>
                <a:cs typeface="Tahoma" panose="020B0604030504040204" pitchFamily="34" charset="0"/>
              </a:rPr>
              <a:t>Heuristic</a:t>
            </a:r>
            <a:endParaRPr kumimoji="1" lang="en-US" altLang="ja-JP" sz="2800" dirty="0">
              <a:solidFill>
                <a:srgbClr val="000099"/>
              </a:solidFill>
              <a:latin typeface="Tahoma" panose="020B0604030504040204" pitchFamily="34" charset="0"/>
              <a:ea typeface="Tahoma" panose="020B0604030504040204" pitchFamily="34" charset="0"/>
              <a:cs typeface="Tahoma" panose="020B0604030504040204" pitchFamily="34" charset="0"/>
            </a:endParaRPr>
          </a:p>
          <a:p>
            <a:pPr marL="457200" indent="-457200" algn="just">
              <a:buClr>
                <a:srgbClr val="FF0000"/>
              </a:buClr>
              <a:buFont typeface="Courier New" panose="02070309020205020404" pitchFamily="49" charset="0"/>
              <a:buChar char="o"/>
              <a:defRPr/>
            </a:pPr>
            <a:r>
              <a:rPr kumimoji="1" lang="en-US" altLang="ja-JP" sz="2800" dirty="0" smtClean="0">
                <a:latin typeface="Tahoma" panose="020B0604030504040204" pitchFamily="34" charset="0"/>
                <a:ea typeface="Tahoma" panose="020B0604030504040204" pitchFamily="34" charset="0"/>
                <a:cs typeface="Tahoma" panose="020B0604030504040204" pitchFamily="34" charset="0"/>
              </a:rPr>
              <a:t> </a:t>
            </a:r>
            <a:r>
              <a:rPr kumimoji="1" lang="en-US" altLang="ja-JP" sz="2800" dirty="0">
                <a:latin typeface="Tahoma" panose="020B0604030504040204" pitchFamily="34" charset="0"/>
                <a:ea typeface="Tahoma" panose="020B0604030504040204" pitchFamily="34" charset="0"/>
                <a:cs typeface="Tahoma" panose="020B0604030504040204" pitchFamily="34" charset="0"/>
              </a:rPr>
              <a:t>For good judgments, or strategies, tricks, additional knowledge</a:t>
            </a:r>
            <a:r>
              <a:rPr kumimoji="1" lang="en-US" altLang="ja-JP" sz="2800" dirty="0" smtClean="0">
                <a:latin typeface="Tahoma" panose="020B0604030504040204" pitchFamily="34" charset="0"/>
                <a:ea typeface="Tahoma" panose="020B0604030504040204" pitchFamily="34" charset="0"/>
                <a:cs typeface="Tahoma" panose="020B0604030504040204" pitchFamily="34" charset="0"/>
              </a:rPr>
              <a:t>.</a:t>
            </a:r>
            <a:endParaRPr kumimoji="1" lang="en-US" altLang="ja-JP" sz="2800" dirty="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spcBef>
                <a:spcPct val="0"/>
              </a:spcBef>
            </a:pPr>
            <a:r>
              <a:rPr lang="en-US" altLang="ja-JP" sz="3200" dirty="0">
                <a:solidFill>
                  <a:srgbClr val="00FFFF"/>
                </a:solidFill>
                <a:latin typeface="Century" panose="02040604050505020304" pitchFamily="18" charset="0"/>
                <a:ea typeface="MS PGothic" panose="020B0600070205080204" pitchFamily="34" charset="-128"/>
              </a:rPr>
              <a:t> </a:t>
            </a:r>
            <a:r>
              <a:rPr lang="en-US" altLang="ja-JP" sz="2800" b="1" dirty="0">
                <a:solidFill>
                  <a:srgbClr val="FD1B03"/>
                </a:solidFill>
                <a:latin typeface="Tahoma" panose="020B0604030504040204" pitchFamily="34" charset="0"/>
                <a:ea typeface="MS PGothic" panose="020B0600070205080204" pitchFamily="34" charset="-128"/>
              </a:rPr>
              <a:t>Different Kinds of Knowledge</a:t>
            </a:r>
          </a:p>
        </p:txBody>
      </p:sp>
    </p:spTree>
    <p:extLst>
      <p:ext uri="{BB962C8B-B14F-4D97-AF65-F5344CB8AC3E}">
        <p14:creationId xmlns:p14="http://schemas.microsoft.com/office/powerpoint/2010/main" val="41218226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9</a:t>
            </a:fld>
            <a:endParaRPr lang="en-US" dirty="0"/>
          </a:p>
        </p:txBody>
      </p:sp>
      <p:sp>
        <p:nvSpPr>
          <p:cNvPr id="6" name="Content Placeholder 2"/>
          <p:cNvSpPr txBox="1">
            <a:spLocks/>
          </p:cNvSpPr>
          <p:nvPr/>
        </p:nvSpPr>
        <p:spPr>
          <a:xfrm>
            <a:off x="457200" y="685800"/>
            <a:ext cx="8534400" cy="5448300"/>
          </a:xfrm>
          <a:prstGeom prst="rect">
            <a:avLst/>
          </a:prstGeom>
        </p:spPr>
        <p:txBody>
          <a:bodyPr>
            <a:noAutofit/>
          </a:bodyPr>
          <a:lstStyle/>
          <a:p>
            <a:pPr marL="457200" indent="-457200" algn="just">
              <a:spcBef>
                <a:spcPct val="50000"/>
              </a:spcBef>
              <a:buClr>
                <a:srgbClr val="FF0000"/>
              </a:buClr>
              <a:buSzPct val="140000"/>
              <a:buFont typeface="Wingdings" panose="05000000000000000000" pitchFamily="2" charset="2"/>
              <a:buChar char="q"/>
            </a:pPr>
            <a:r>
              <a:rPr kumimoji="1" lang="en-US" altLang="ja-JP" sz="2800" b="1" dirty="0" smtClean="0">
                <a:solidFill>
                  <a:srgbClr val="000099"/>
                </a:solidFill>
                <a:latin typeface="Tahoma" panose="020B0604030504040204" pitchFamily="34" charset="0"/>
                <a:ea typeface="Tahoma" panose="020B0604030504040204" pitchFamily="34" charset="0"/>
                <a:cs typeface="Tahoma" panose="020B0604030504040204" pitchFamily="34" charset="0"/>
              </a:rPr>
              <a:t>Belief</a:t>
            </a:r>
            <a:r>
              <a:rPr kumimoji="1" lang="en-US" altLang="ja-JP" sz="2800" b="1" dirty="0">
                <a:solidFill>
                  <a:srgbClr val="000099"/>
                </a:solidFill>
                <a:latin typeface="Tahoma" panose="020B0604030504040204" pitchFamily="34" charset="0"/>
                <a:ea typeface="Tahoma" panose="020B0604030504040204" pitchFamily="34" charset="0"/>
                <a:cs typeface="Tahoma" panose="020B0604030504040204" pitchFamily="34" charset="0"/>
              </a:rPr>
              <a:t>: </a:t>
            </a:r>
            <a:r>
              <a:rPr kumimoji="1" lang="en-US" altLang="ja-JP" sz="2800" b="1" dirty="0">
                <a:latin typeface="Tahoma" panose="020B0604030504040204" pitchFamily="34" charset="0"/>
                <a:ea typeface="Tahoma" panose="020B0604030504040204" pitchFamily="34" charset="0"/>
                <a:cs typeface="Tahoma" panose="020B0604030504040204" pitchFamily="34" charset="0"/>
              </a:rPr>
              <a:t>Any meaningful and coherent expression that can be represented.</a:t>
            </a:r>
          </a:p>
          <a:p>
            <a:pPr marL="457200" indent="-457200" algn="just">
              <a:spcBef>
                <a:spcPct val="50000"/>
              </a:spcBef>
              <a:buClr>
                <a:srgbClr val="FF0000"/>
              </a:buClr>
              <a:buSzPct val="140000"/>
              <a:buFont typeface="Wingdings" panose="05000000000000000000" pitchFamily="2" charset="2"/>
              <a:buChar char="q"/>
            </a:pPr>
            <a:r>
              <a:rPr kumimoji="1" lang="en-US" altLang="ja-JP" sz="2800" b="1" dirty="0">
                <a:solidFill>
                  <a:srgbClr val="000099"/>
                </a:solidFill>
                <a:latin typeface="Tahoma" panose="020B0604030504040204" pitchFamily="34" charset="0"/>
                <a:ea typeface="Tahoma" panose="020B0604030504040204" pitchFamily="34" charset="0"/>
                <a:cs typeface="Tahoma" panose="020B0604030504040204" pitchFamily="34" charset="0"/>
              </a:rPr>
              <a:t>Hypothesis: </a:t>
            </a:r>
            <a:r>
              <a:rPr kumimoji="1" lang="en-US" altLang="ja-JP" sz="2800" b="1" dirty="0">
                <a:latin typeface="Tahoma" panose="020B0604030504040204" pitchFamily="34" charset="0"/>
                <a:ea typeface="Tahoma" panose="020B0604030504040204" pitchFamily="34" charset="0"/>
                <a:cs typeface="Tahoma" panose="020B0604030504040204" pitchFamily="34" charset="0"/>
              </a:rPr>
              <a:t>A justified belief that is not known to be true.</a:t>
            </a:r>
          </a:p>
          <a:p>
            <a:pPr marL="457200" indent="-457200" algn="just">
              <a:spcBef>
                <a:spcPct val="50000"/>
              </a:spcBef>
              <a:buClr>
                <a:srgbClr val="FF0000"/>
              </a:buClr>
              <a:buSzPct val="140000"/>
              <a:buFont typeface="Wingdings" panose="05000000000000000000" pitchFamily="2" charset="2"/>
              <a:buChar char="q"/>
            </a:pPr>
            <a:r>
              <a:rPr kumimoji="1" lang="en-US" altLang="ja-JP" sz="2800" b="1" dirty="0">
                <a:solidFill>
                  <a:srgbClr val="000099"/>
                </a:solidFill>
                <a:latin typeface="Tahoma" panose="020B0604030504040204" pitchFamily="34" charset="0"/>
                <a:ea typeface="Tahoma" panose="020B0604030504040204" pitchFamily="34" charset="0"/>
                <a:cs typeface="Tahoma" panose="020B0604030504040204" pitchFamily="34" charset="0"/>
              </a:rPr>
              <a:t> Knowledge: </a:t>
            </a:r>
            <a:r>
              <a:rPr kumimoji="1" lang="en-US" altLang="ja-JP" sz="2800" b="1" dirty="0">
                <a:latin typeface="Tahoma" panose="020B0604030504040204" pitchFamily="34" charset="0"/>
                <a:ea typeface="Tahoma" panose="020B0604030504040204" pitchFamily="34" charset="0"/>
                <a:cs typeface="Tahoma" panose="020B0604030504040204" pitchFamily="34" charset="0"/>
              </a:rPr>
              <a:t>True justified belief.</a:t>
            </a:r>
          </a:p>
          <a:p>
            <a:pPr marL="457200" indent="-457200" algn="just">
              <a:spcBef>
                <a:spcPct val="50000"/>
              </a:spcBef>
              <a:buClr>
                <a:srgbClr val="FF0000"/>
              </a:buClr>
              <a:buSzPct val="140000"/>
              <a:buFont typeface="Wingdings" panose="05000000000000000000" pitchFamily="2" charset="2"/>
              <a:buChar char="q"/>
            </a:pPr>
            <a:r>
              <a:rPr kumimoji="1" lang="en-US" altLang="ja-JP" sz="2800" b="1" dirty="0" err="1">
                <a:solidFill>
                  <a:srgbClr val="000099"/>
                </a:solidFill>
                <a:latin typeface="Tahoma" panose="020B0604030504040204" pitchFamily="34" charset="0"/>
                <a:ea typeface="Tahoma" panose="020B0604030504040204" pitchFamily="34" charset="0"/>
                <a:cs typeface="Tahoma" panose="020B0604030504040204" pitchFamily="34" charset="0"/>
              </a:rPr>
              <a:t>Metaknowledge</a:t>
            </a:r>
            <a:r>
              <a:rPr kumimoji="1" lang="en-US" altLang="ja-JP" sz="2800" b="1" dirty="0">
                <a:solidFill>
                  <a:srgbClr val="000099"/>
                </a:solidFill>
                <a:latin typeface="Tahoma" panose="020B0604030504040204" pitchFamily="34" charset="0"/>
                <a:ea typeface="Tahoma" panose="020B0604030504040204" pitchFamily="34" charset="0"/>
                <a:cs typeface="Tahoma" panose="020B0604030504040204" pitchFamily="34" charset="0"/>
              </a:rPr>
              <a:t>:</a:t>
            </a:r>
            <a:r>
              <a:rPr kumimoji="1" lang="en-US" altLang="ja-JP" sz="2800" b="1" dirty="0">
                <a:latin typeface="Tahoma" panose="020B0604030504040204" pitchFamily="34" charset="0"/>
                <a:ea typeface="Tahoma" panose="020B0604030504040204" pitchFamily="34" charset="0"/>
                <a:cs typeface="Tahoma" panose="020B0604030504040204" pitchFamily="34" charset="0"/>
              </a:rPr>
              <a:t> Knowledge about knowledge, i.e., knowledge about what we know.</a:t>
            </a:r>
          </a:p>
          <a:p>
            <a:pPr marL="457200" indent="-457200" algn="just">
              <a:buClr>
                <a:srgbClr val="FF0000"/>
              </a:buClr>
              <a:buFont typeface="Wingdings" panose="05000000000000000000" pitchFamily="2" charset="2"/>
              <a:buChar char="q"/>
            </a:pPr>
            <a:endParaRPr kumimoji="1" lang="en-US" altLang="ja-JP" sz="2800" dirty="0" smtClean="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spcBef>
                <a:spcPct val="0"/>
              </a:spcBef>
            </a:pPr>
            <a:r>
              <a:rPr lang="en-US" altLang="ja-JP" sz="2800" b="1" dirty="0">
                <a:solidFill>
                  <a:srgbClr val="FD1B03"/>
                </a:solidFill>
                <a:latin typeface="Tahoma" panose="020B0604030504040204" pitchFamily="34" charset="0"/>
                <a:ea typeface="MS PGothic" panose="020B0600070205080204" pitchFamily="34" charset="-128"/>
              </a:rPr>
              <a:t>More about Knowledge</a:t>
            </a:r>
          </a:p>
        </p:txBody>
      </p:sp>
    </p:spTree>
    <p:extLst>
      <p:ext uri="{BB962C8B-B14F-4D97-AF65-F5344CB8AC3E}">
        <p14:creationId xmlns:p14="http://schemas.microsoft.com/office/powerpoint/2010/main" val="34116503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10</a:t>
            </a:fld>
            <a:endParaRPr lang="en-US" dirty="0"/>
          </a:p>
        </p:txBody>
      </p:sp>
      <p:sp>
        <p:nvSpPr>
          <p:cNvPr id="6" name="Content Placeholder 2"/>
          <p:cNvSpPr txBox="1">
            <a:spLocks/>
          </p:cNvSpPr>
          <p:nvPr/>
        </p:nvSpPr>
        <p:spPr>
          <a:xfrm>
            <a:off x="457200" y="685800"/>
            <a:ext cx="8534400" cy="5448300"/>
          </a:xfrm>
          <a:prstGeom prst="rect">
            <a:avLst/>
          </a:prstGeom>
        </p:spPr>
        <p:txBody>
          <a:bodyPr>
            <a:noAutofit/>
          </a:bodyPr>
          <a:lstStyle/>
          <a:p>
            <a:pPr marL="457200" indent="-457200" algn="just">
              <a:spcBef>
                <a:spcPct val="50000"/>
              </a:spcBef>
              <a:buClr>
                <a:srgbClr val="FF0000"/>
              </a:buClr>
              <a:buSzPct val="75000"/>
              <a:buFont typeface="Wingdings" panose="05000000000000000000" pitchFamily="2" charset="2"/>
              <a:buChar char="q"/>
              <a:defRPr/>
            </a:pPr>
            <a:r>
              <a:rPr kumimoji="1" lang="en-US" altLang="ja-JP" sz="2800" b="1" dirty="0" smtClean="0">
                <a:solidFill>
                  <a:srgbClr val="000099"/>
                </a:solidFill>
                <a:latin typeface="Tahoma" panose="020B0604030504040204" pitchFamily="34" charset="0"/>
                <a:ea typeface="Tahoma" panose="020B0604030504040204" pitchFamily="34" charset="0"/>
                <a:cs typeface="Tahoma" panose="020B0604030504040204" pitchFamily="34" charset="0"/>
              </a:rPr>
              <a:t>Data</a:t>
            </a:r>
            <a:r>
              <a:rPr kumimoji="1" lang="en-US" altLang="ja-JP" sz="2800" dirty="0">
                <a:solidFill>
                  <a:srgbClr val="000099"/>
                </a:solidFill>
                <a:latin typeface="Tahoma" panose="020B0604030504040204" pitchFamily="34" charset="0"/>
                <a:ea typeface="Tahoma" panose="020B0604030504040204" pitchFamily="34" charset="0"/>
                <a:cs typeface="Tahoma" panose="020B0604030504040204" pitchFamily="34" charset="0"/>
              </a:rPr>
              <a:t>:</a:t>
            </a:r>
            <a:r>
              <a:rPr kumimoji="1" lang="en-US" altLang="ja-JP" sz="2800" dirty="0">
                <a:latin typeface="Tahoma" panose="020B0604030504040204" pitchFamily="34" charset="0"/>
                <a:ea typeface="Tahoma" panose="020B0604030504040204" pitchFamily="34" charset="0"/>
                <a:cs typeface="Tahoma" panose="020B0604030504040204" pitchFamily="34" charset="0"/>
              </a:rPr>
              <a:t> A symbolic representation of facts, measurements, or observations. Data is what we collect and store. Data</a:t>
            </a:r>
            <a:r>
              <a:rPr kumimoji="1" lang="en-US" altLang="ja-JP" sz="2800" i="1" dirty="0">
                <a:latin typeface="Tahoma" panose="020B0604030504040204" pitchFamily="34" charset="0"/>
                <a:ea typeface="Tahoma" panose="020B0604030504040204" pitchFamily="34" charset="0"/>
                <a:cs typeface="Tahoma" panose="020B0604030504040204" pitchFamily="34" charset="0"/>
              </a:rPr>
              <a:t> is the `raw material', the `mess of numbers'.</a:t>
            </a:r>
            <a:endParaRPr kumimoji="1" lang="en-US" altLang="ja-JP" sz="2800" dirty="0">
              <a:latin typeface="Tahoma" panose="020B0604030504040204" pitchFamily="34" charset="0"/>
              <a:ea typeface="Tahoma" panose="020B0604030504040204" pitchFamily="34" charset="0"/>
              <a:cs typeface="Tahoma" panose="020B0604030504040204" pitchFamily="34" charset="0"/>
            </a:endParaRPr>
          </a:p>
          <a:p>
            <a:pPr marL="457200" indent="-457200" algn="just">
              <a:spcBef>
                <a:spcPct val="50000"/>
              </a:spcBef>
              <a:buClr>
                <a:srgbClr val="FF0000"/>
              </a:buClr>
              <a:buSzPct val="75000"/>
              <a:buFont typeface="Wingdings" panose="05000000000000000000" pitchFamily="2" charset="2"/>
              <a:buChar char="q"/>
              <a:defRPr/>
            </a:pPr>
            <a:r>
              <a:rPr kumimoji="1" lang="en-US" altLang="ja-JP" sz="2800" b="1" dirty="0">
                <a:solidFill>
                  <a:srgbClr val="000099"/>
                </a:solidFill>
                <a:latin typeface="Tahoma" panose="020B0604030504040204" pitchFamily="34" charset="0"/>
                <a:ea typeface="Tahoma" panose="020B0604030504040204" pitchFamily="34" charset="0"/>
                <a:cs typeface="Tahoma" panose="020B0604030504040204" pitchFamily="34" charset="0"/>
              </a:rPr>
              <a:t> Information</a:t>
            </a:r>
            <a:r>
              <a:rPr kumimoji="1" lang="en-US" altLang="ja-JP" sz="2800" dirty="0">
                <a:solidFill>
                  <a:srgbClr val="000099"/>
                </a:solidFill>
                <a:latin typeface="Tahoma" panose="020B0604030504040204" pitchFamily="34" charset="0"/>
                <a:ea typeface="Tahoma" panose="020B0604030504040204" pitchFamily="34" charset="0"/>
                <a:cs typeface="Tahoma" panose="020B0604030504040204" pitchFamily="34" charset="0"/>
              </a:rPr>
              <a:t>:</a:t>
            </a:r>
            <a:r>
              <a:rPr kumimoji="1" lang="en-US" altLang="ja-JP" sz="2800" dirty="0">
                <a:latin typeface="Tahoma" panose="020B0604030504040204" pitchFamily="34" charset="0"/>
                <a:ea typeface="Tahoma" panose="020B0604030504040204" pitchFamily="34" charset="0"/>
                <a:cs typeface="Tahoma" panose="020B0604030504040204" pitchFamily="34" charset="0"/>
              </a:rPr>
              <a:t> Meaningful data.</a:t>
            </a:r>
          </a:p>
          <a:p>
            <a:pPr marL="457200" indent="-457200" algn="just">
              <a:spcBef>
                <a:spcPct val="50000"/>
              </a:spcBef>
              <a:buClr>
                <a:srgbClr val="FF0000"/>
              </a:buClr>
              <a:buSzPct val="75000"/>
              <a:buFont typeface="Wingdings" panose="05000000000000000000" pitchFamily="2" charset="2"/>
              <a:buChar char="q"/>
              <a:defRPr/>
            </a:pPr>
            <a:r>
              <a:rPr kumimoji="1" lang="en-US" altLang="ja-JP" sz="2800" b="1" dirty="0">
                <a:solidFill>
                  <a:srgbClr val="000099"/>
                </a:solidFill>
                <a:latin typeface="Tahoma" panose="020B0604030504040204" pitchFamily="34" charset="0"/>
                <a:ea typeface="Tahoma" panose="020B0604030504040204" pitchFamily="34" charset="0"/>
                <a:cs typeface="Tahoma" panose="020B0604030504040204" pitchFamily="34" charset="0"/>
              </a:rPr>
              <a:t> Knowledge</a:t>
            </a:r>
            <a:r>
              <a:rPr kumimoji="1" lang="en-US" altLang="ja-JP" sz="2800" dirty="0">
                <a:solidFill>
                  <a:srgbClr val="000099"/>
                </a:solidFill>
                <a:latin typeface="Tahoma" panose="020B0604030504040204" pitchFamily="34" charset="0"/>
                <a:ea typeface="Tahoma" panose="020B0604030504040204" pitchFamily="34" charset="0"/>
                <a:cs typeface="Tahoma" panose="020B0604030504040204" pitchFamily="34" charset="0"/>
              </a:rPr>
              <a:t>:</a:t>
            </a:r>
            <a:r>
              <a:rPr kumimoji="1" lang="en-US" altLang="ja-JP" sz="2800" dirty="0">
                <a:latin typeface="Tahoma" panose="020B0604030504040204" pitchFamily="34" charset="0"/>
                <a:ea typeface="Tahoma" panose="020B0604030504040204" pitchFamily="34" charset="0"/>
                <a:cs typeface="Tahoma" panose="020B0604030504040204" pitchFamily="34" charset="0"/>
              </a:rPr>
              <a:t> A theoretical or practical understanding of a subject. Knowledge is what helps us to make appropriate decisions. Knowledge</a:t>
            </a:r>
            <a:r>
              <a:rPr kumimoji="1" lang="en-US" altLang="ja-JP" sz="2800" i="1" dirty="0">
                <a:latin typeface="Tahoma" panose="020B0604030504040204" pitchFamily="34" charset="0"/>
                <a:ea typeface="Tahoma" panose="020B0604030504040204" pitchFamily="34" charset="0"/>
                <a:cs typeface="Tahoma" panose="020B0604030504040204" pitchFamily="34" charset="0"/>
              </a:rPr>
              <a:t> is `condensed' information. It is a concise presentation of previous experience</a:t>
            </a:r>
            <a:r>
              <a:rPr kumimoji="1" lang="en-US" altLang="ja-JP" sz="2800" i="1" dirty="0" smtClean="0">
                <a:latin typeface="Tahoma" panose="020B0604030504040204" pitchFamily="34" charset="0"/>
                <a:ea typeface="Tahoma" panose="020B0604030504040204" pitchFamily="34" charset="0"/>
                <a:cs typeface="Tahoma" panose="020B0604030504040204" pitchFamily="34" charset="0"/>
              </a:rPr>
              <a:t>.</a:t>
            </a:r>
          </a:p>
          <a:p>
            <a:pPr algn="just">
              <a:spcBef>
                <a:spcPct val="50000"/>
              </a:spcBef>
              <a:buClr>
                <a:srgbClr val="FF0000"/>
              </a:buClr>
              <a:buSzPct val="75000"/>
              <a:defRPr/>
            </a:pPr>
            <a:r>
              <a:rPr kumimoji="1" lang="en-US" altLang="ja-JP" sz="2800" i="1" dirty="0">
                <a:solidFill>
                  <a:srgbClr val="FD1B03"/>
                </a:solidFill>
                <a:latin typeface="Tahoma" panose="020B0604030504040204" pitchFamily="34" charset="0"/>
                <a:ea typeface="MS PGothic" panose="020B0600070205080204" pitchFamily="34" charset="-128"/>
              </a:rPr>
              <a:t>Knowledge should not be confused with data!</a:t>
            </a:r>
          </a:p>
          <a:p>
            <a:pPr marL="457200" indent="-457200" algn="just">
              <a:spcBef>
                <a:spcPct val="50000"/>
              </a:spcBef>
              <a:buClr>
                <a:srgbClr val="FF0000"/>
              </a:buClr>
              <a:buSzPct val="75000"/>
              <a:buFont typeface="Wingdings" panose="05000000000000000000" pitchFamily="2" charset="2"/>
              <a:buChar char="q"/>
              <a:defRPr/>
            </a:pPr>
            <a:endParaRPr kumimoji="1" lang="en-US" sz="2800" i="1" dirty="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spcBef>
                <a:spcPct val="0"/>
              </a:spcBef>
            </a:pPr>
            <a:r>
              <a:rPr lang="en-US" altLang="ja-JP" sz="2800" b="1" dirty="0">
                <a:solidFill>
                  <a:srgbClr val="FD1B03"/>
                </a:solidFill>
                <a:latin typeface="Tahoma" panose="020B0604030504040204" pitchFamily="34" charset="0"/>
                <a:ea typeface="MS PGothic" panose="020B0600070205080204" pitchFamily="34" charset="-128"/>
              </a:rPr>
              <a:t>Data, Information and Knowledge</a:t>
            </a:r>
          </a:p>
        </p:txBody>
      </p:sp>
    </p:spTree>
    <p:extLst>
      <p:ext uri="{BB962C8B-B14F-4D97-AF65-F5344CB8AC3E}">
        <p14:creationId xmlns:p14="http://schemas.microsoft.com/office/powerpoint/2010/main" val="1297058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11</a:t>
            </a:fld>
            <a:endParaRPr lang="en-US" dirty="0"/>
          </a:p>
        </p:txBody>
      </p:sp>
      <p:sp>
        <p:nvSpPr>
          <p:cNvPr id="6" name="Content Placeholder 2"/>
          <p:cNvSpPr txBox="1">
            <a:spLocks/>
          </p:cNvSpPr>
          <p:nvPr/>
        </p:nvSpPr>
        <p:spPr>
          <a:xfrm>
            <a:off x="457200" y="685800"/>
            <a:ext cx="8534400" cy="5448300"/>
          </a:xfrm>
          <a:prstGeom prst="rect">
            <a:avLst/>
          </a:prstGeom>
        </p:spPr>
        <p:txBody>
          <a:bodyPr>
            <a:noAutofit/>
          </a:bodyPr>
          <a:lstStyle/>
          <a:p>
            <a:pPr marL="457200" indent="-457200" algn="just">
              <a:spcBef>
                <a:spcPct val="50000"/>
              </a:spcBef>
              <a:buClr>
                <a:srgbClr val="FF0000"/>
              </a:buClr>
              <a:buSzPct val="75000"/>
              <a:buFont typeface="Wingdings" panose="05000000000000000000" pitchFamily="2" charset="2"/>
              <a:buChar char="q"/>
              <a:defRPr/>
            </a:pPr>
            <a:r>
              <a:rPr kumimoji="1" lang="en-US" altLang="ja-JP" sz="2800" b="1" dirty="0" smtClean="0">
                <a:solidFill>
                  <a:srgbClr val="000099"/>
                </a:solidFill>
                <a:latin typeface="Tahoma" panose="020B0604030504040204" pitchFamily="34" charset="0"/>
                <a:ea typeface="Tahoma" panose="020B0604030504040204" pitchFamily="34" charset="0"/>
                <a:cs typeface="Tahoma" panose="020B0604030504040204" pitchFamily="34" charset="0"/>
              </a:rPr>
              <a:t>Rita </a:t>
            </a:r>
            <a:r>
              <a:rPr kumimoji="1" lang="en-US" altLang="ja-JP" sz="2800" b="1" dirty="0">
                <a:solidFill>
                  <a:srgbClr val="000099"/>
                </a:solidFill>
                <a:latin typeface="Tahoma" panose="020B0604030504040204" pitchFamily="34" charset="0"/>
                <a:ea typeface="Tahoma" panose="020B0604030504040204" pitchFamily="34" charset="0"/>
                <a:cs typeface="Tahoma" panose="020B0604030504040204" pitchFamily="34" charset="0"/>
              </a:rPr>
              <a:t>is tall:</a:t>
            </a:r>
            <a:r>
              <a:rPr kumimoji="1" lang="en-US" altLang="ja-JP" sz="2800" b="1" dirty="0">
                <a:latin typeface="Tahoma" panose="020B0604030504040204" pitchFamily="34" charset="0"/>
                <a:ea typeface="Tahoma" panose="020B0604030504040204" pitchFamily="34" charset="0"/>
                <a:cs typeface="Tahoma" panose="020B0604030504040204" pitchFamily="34" charset="0"/>
              </a:rPr>
              <a:t> Expresses a simple fact, an attribute                   possessed by a </a:t>
            </a:r>
            <a:r>
              <a:rPr kumimoji="1" lang="en-US" altLang="ja-JP" sz="2800" b="1" dirty="0" smtClean="0">
                <a:latin typeface="Tahoma" panose="020B0604030504040204" pitchFamily="34" charset="0"/>
                <a:ea typeface="Tahoma" panose="020B0604030504040204" pitchFamily="34" charset="0"/>
                <a:cs typeface="Tahoma" panose="020B0604030504040204" pitchFamily="34" charset="0"/>
              </a:rPr>
              <a:t>person.</a:t>
            </a:r>
          </a:p>
          <a:p>
            <a:pPr marL="457200" indent="-457200" algn="just">
              <a:spcBef>
                <a:spcPct val="50000"/>
              </a:spcBef>
              <a:buClr>
                <a:srgbClr val="FF0000"/>
              </a:buClr>
              <a:buSzPct val="75000"/>
              <a:buFont typeface="Wingdings" panose="05000000000000000000" pitchFamily="2" charset="2"/>
              <a:buChar char="q"/>
              <a:defRPr/>
            </a:pPr>
            <a:r>
              <a:rPr kumimoji="1" lang="en-US" altLang="ja-JP" sz="2800" b="1" dirty="0" err="1" smtClean="0">
                <a:solidFill>
                  <a:srgbClr val="000099"/>
                </a:solidFill>
                <a:latin typeface="Tahoma" panose="020B0604030504040204" pitchFamily="34" charset="0"/>
                <a:ea typeface="Tahoma" panose="020B0604030504040204" pitchFamily="34" charset="0"/>
                <a:cs typeface="Tahoma" panose="020B0604030504040204" pitchFamily="34" charset="0"/>
              </a:rPr>
              <a:t>Rafiq</a:t>
            </a:r>
            <a:r>
              <a:rPr kumimoji="1" lang="en-US" altLang="ja-JP" sz="2800" b="1" dirty="0" smtClean="0">
                <a:solidFill>
                  <a:srgbClr val="000099"/>
                </a:solidFill>
                <a:latin typeface="Tahoma" panose="020B0604030504040204" pitchFamily="34" charset="0"/>
                <a:ea typeface="Tahoma" panose="020B0604030504040204" pitchFamily="34" charset="0"/>
                <a:cs typeface="Tahoma" panose="020B0604030504040204" pitchFamily="34" charset="0"/>
              </a:rPr>
              <a:t> </a:t>
            </a:r>
            <a:r>
              <a:rPr kumimoji="1" lang="en-US" altLang="ja-JP" sz="2800" b="1" dirty="0">
                <a:solidFill>
                  <a:srgbClr val="000099"/>
                </a:solidFill>
                <a:latin typeface="Tahoma" panose="020B0604030504040204" pitchFamily="34" charset="0"/>
                <a:ea typeface="Tahoma" panose="020B0604030504040204" pitchFamily="34" charset="0"/>
                <a:cs typeface="Tahoma" panose="020B0604030504040204" pitchFamily="34" charset="0"/>
              </a:rPr>
              <a:t>loves Rita:</a:t>
            </a:r>
            <a:r>
              <a:rPr kumimoji="1" lang="en-US" altLang="ja-JP" sz="2800" b="1" dirty="0">
                <a:latin typeface="Tahoma" panose="020B0604030504040204" pitchFamily="34" charset="0"/>
                <a:ea typeface="Tahoma" panose="020B0604030504040204" pitchFamily="34" charset="0"/>
                <a:cs typeface="Tahoma" panose="020B0604030504040204" pitchFamily="34" charset="0"/>
              </a:rPr>
              <a:t> A binary relation between two persons. </a:t>
            </a:r>
            <a:endParaRPr kumimoji="1" lang="en-US" altLang="ja-JP" sz="2800" b="1" dirty="0" smtClean="0">
              <a:latin typeface="Tahoma" panose="020B0604030504040204" pitchFamily="34" charset="0"/>
              <a:ea typeface="Tahoma" panose="020B0604030504040204" pitchFamily="34" charset="0"/>
              <a:cs typeface="Tahoma" panose="020B0604030504040204" pitchFamily="34" charset="0"/>
            </a:endParaRPr>
          </a:p>
          <a:p>
            <a:pPr marL="457200" indent="-457200" algn="just">
              <a:spcBef>
                <a:spcPct val="50000"/>
              </a:spcBef>
              <a:buClr>
                <a:srgbClr val="FF0000"/>
              </a:buClr>
              <a:buSzPct val="75000"/>
              <a:buFont typeface="Wingdings" panose="05000000000000000000" pitchFamily="2" charset="2"/>
              <a:buChar char="q"/>
              <a:defRPr/>
            </a:pPr>
            <a:r>
              <a:rPr kumimoji="1" lang="en-US" altLang="ja-JP" sz="2800" b="1" dirty="0" smtClean="0">
                <a:solidFill>
                  <a:srgbClr val="000099"/>
                </a:solidFill>
                <a:latin typeface="Tahoma" panose="020B0604030504040204" pitchFamily="34" charset="0"/>
                <a:ea typeface="Tahoma" panose="020B0604030504040204" pitchFamily="34" charset="0"/>
                <a:cs typeface="Tahoma" panose="020B0604030504040204" pitchFamily="34" charset="0"/>
              </a:rPr>
              <a:t>Liza </a:t>
            </a:r>
            <a:r>
              <a:rPr kumimoji="1" lang="en-US" altLang="ja-JP" sz="2800" b="1" dirty="0">
                <a:solidFill>
                  <a:srgbClr val="000099"/>
                </a:solidFill>
                <a:latin typeface="Tahoma" panose="020B0604030504040204" pitchFamily="34" charset="0"/>
                <a:ea typeface="Tahoma" panose="020B0604030504040204" pitchFamily="34" charset="0"/>
                <a:cs typeface="Tahoma" panose="020B0604030504040204" pitchFamily="34" charset="0"/>
              </a:rPr>
              <a:t>has learned to use recursion to manipulate linked lists in several programming languages:</a:t>
            </a:r>
            <a:r>
              <a:rPr kumimoji="1" lang="en-US" altLang="ja-JP" sz="2800" b="1" dirty="0">
                <a:latin typeface="Tahoma" panose="020B0604030504040204" pitchFamily="34" charset="0"/>
                <a:ea typeface="Tahoma" panose="020B0604030504040204" pitchFamily="34" charset="0"/>
                <a:cs typeface="Tahoma" panose="020B0604030504040204" pitchFamily="34" charset="0"/>
              </a:rPr>
              <a:t> Expressing relations between a person and more abstract programming concepts.</a:t>
            </a:r>
          </a:p>
          <a:p>
            <a:pPr marL="457200" indent="-457200" algn="just">
              <a:spcBef>
                <a:spcPct val="50000"/>
              </a:spcBef>
              <a:buClr>
                <a:srgbClr val="FF0000"/>
              </a:buClr>
              <a:buSzPct val="75000"/>
              <a:buFont typeface="Wingdings" panose="05000000000000000000" pitchFamily="2" charset="2"/>
              <a:buChar char="q"/>
              <a:defRPr/>
            </a:pPr>
            <a:endParaRPr kumimoji="1" lang="en-US" altLang="ja-JP" sz="2800" dirty="0" smtClean="0">
              <a:solidFill>
                <a:srgbClr val="000099"/>
              </a:solidFill>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spcBef>
                <a:spcPct val="0"/>
              </a:spcBef>
            </a:pPr>
            <a:r>
              <a:rPr lang="en-US" altLang="ja-JP" sz="3200" dirty="0">
                <a:solidFill>
                  <a:srgbClr val="00FFFF"/>
                </a:solidFill>
                <a:latin typeface="Century" panose="02040604050505020304" pitchFamily="18" charset="0"/>
                <a:ea typeface="MS PGothic" panose="020B0600070205080204" pitchFamily="34" charset="-128"/>
              </a:rPr>
              <a:t> </a:t>
            </a:r>
            <a:r>
              <a:rPr lang="en-US" altLang="ja-JP" sz="2800" b="1" dirty="0">
                <a:solidFill>
                  <a:srgbClr val="FD1B03"/>
                </a:solidFill>
                <a:latin typeface="Tahoma" panose="020B0604030504040204" pitchFamily="34" charset="0"/>
                <a:ea typeface="MS PGothic" panose="020B0600070205080204" pitchFamily="34" charset="-128"/>
              </a:rPr>
              <a:t>Example of Knowledge</a:t>
            </a:r>
          </a:p>
        </p:txBody>
      </p:sp>
    </p:spTree>
    <p:extLst>
      <p:ext uri="{BB962C8B-B14F-4D97-AF65-F5344CB8AC3E}">
        <p14:creationId xmlns:p14="http://schemas.microsoft.com/office/powerpoint/2010/main" val="763670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12</a:t>
            </a:fld>
            <a:endParaRPr lang="en-US" dirty="0"/>
          </a:p>
        </p:txBody>
      </p:sp>
      <p:sp>
        <p:nvSpPr>
          <p:cNvPr id="6" name="Content Placeholder 2"/>
          <p:cNvSpPr txBox="1">
            <a:spLocks/>
          </p:cNvSpPr>
          <p:nvPr/>
        </p:nvSpPr>
        <p:spPr>
          <a:xfrm>
            <a:off x="457200" y="685800"/>
            <a:ext cx="8534400" cy="5448300"/>
          </a:xfrm>
          <a:prstGeom prst="rect">
            <a:avLst/>
          </a:prstGeom>
        </p:spPr>
        <p:txBody>
          <a:bodyPr>
            <a:noAutofit/>
          </a:bodyPr>
          <a:lstStyle/>
          <a:p>
            <a:pPr marL="457200" indent="-457200" algn="just">
              <a:spcBef>
                <a:spcPct val="50000"/>
              </a:spcBef>
              <a:buClr>
                <a:srgbClr val="FF0000"/>
              </a:buClr>
              <a:buSzPct val="75000"/>
              <a:buFont typeface="Wingdings" panose="05000000000000000000" pitchFamily="2" charset="2"/>
              <a:buChar char="q"/>
              <a:defRPr/>
            </a:pPr>
            <a:r>
              <a:rPr kumimoji="1" lang="en-US" altLang="ja-JP" sz="2800" dirty="0">
                <a:latin typeface="Tahoma" panose="020B0604030504040204" pitchFamily="34" charset="0"/>
                <a:ea typeface="Tahoma" panose="020B0604030504040204" pitchFamily="34" charset="0"/>
                <a:cs typeface="Tahoma" panose="020B0604030504040204" pitchFamily="34" charset="0"/>
              </a:rPr>
              <a:t>Expert systems are knowledge-based systems which contain expert knowledge and can provide an expertise, similar to the one provided by an expert in a restricted application area. For example, an expert system for diagnosis of cars has a knowledge base containing rules for checking a car and finding faulty elements, as it would be done by a specialized engineer.</a:t>
            </a:r>
          </a:p>
          <a:p>
            <a:pPr marL="457200" indent="-457200" algn="just">
              <a:spcBef>
                <a:spcPct val="50000"/>
              </a:spcBef>
              <a:buClr>
                <a:srgbClr val="FF0000"/>
              </a:buClr>
              <a:buSzPct val="75000"/>
              <a:buFont typeface="Wingdings" panose="05000000000000000000" pitchFamily="2" charset="2"/>
              <a:buChar char="q"/>
              <a:defRPr/>
            </a:pPr>
            <a:endParaRPr kumimoji="1" lang="en-US" altLang="ja-JP" sz="2800" dirty="0" smtClean="0">
              <a:solidFill>
                <a:srgbClr val="000099"/>
              </a:solidFill>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spcBef>
                <a:spcPct val="0"/>
              </a:spcBef>
            </a:pPr>
            <a:r>
              <a:rPr lang="en-US" altLang="ja-JP" sz="3200" dirty="0">
                <a:solidFill>
                  <a:srgbClr val="00FFFF"/>
                </a:solidFill>
                <a:latin typeface="Century" panose="02040604050505020304" pitchFamily="18" charset="0"/>
                <a:ea typeface="MS PGothic" panose="020B0600070205080204" pitchFamily="34" charset="-128"/>
              </a:rPr>
              <a:t> </a:t>
            </a:r>
            <a:r>
              <a:rPr lang="en-US" altLang="ja-JP" sz="2800" b="1" dirty="0">
                <a:solidFill>
                  <a:srgbClr val="FD1B03"/>
                </a:solidFill>
                <a:latin typeface="Tahoma" panose="020B0604030504040204" pitchFamily="34" charset="0"/>
                <a:ea typeface="MS PGothic" panose="020B0600070205080204" pitchFamily="34" charset="-128"/>
              </a:rPr>
              <a:t>Knowledge-Based Expert Systems</a:t>
            </a:r>
          </a:p>
        </p:txBody>
      </p:sp>
      <p:grpSp>
        <p:nvGrpSpPr>
          <p:cNvPr id="8" name="Group 1040"/>
          <p:cNvGrpSpPr>
            <a:grpSpLocks/>
          </p:cNvGrpSpPr>
          <p:nvPr/>
        </p:nvGrpSpPr>
        <p:grpSpPr bwMode="auto">
          <a:xfrm>
            <a:off x="685800" y="4883150"/>
            <a:ext cx="7315200" cy="679450"/>
            <a:chOff x="136" y="3360"/>
            <a:chExt cx="4608" cy="428"/>
          </a:xfrm>
        </p:grpSpPr>
        <p:sp>
          <p:nvSpPr>
            <p:cNvPr id="9" name="Text Box 1030"/>
            <p:cNvSpPr txBox="1">
              <a:spLocks noChangeArrowheads="1"/>
            </p:cNvSpPr>
            <p:nvPr/>
          </p:nvSpPr>
          <p:spPr bwMode="auto">
            <a:xfrm>
              <a:off x="720" y="3378"/>
              <a:ext cx="960" cy="4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sz="1800" dirty="0">
                  <a:latin typeface="Tahoma" panose="020B0604030504040204" pitchFamily="34" charset="0"/>
                </a:rPr>
                <a:t>Input-output unit</a:t>
              </a:r>
            </a:p>
          </p:txBody>
        </p:sp>
        <p:sp>
          <p:nvSpPr>
            <p:cNvPr id="10" name="Text Box 1031"/>
            <p:cNvSpPr txBox="1">
              <a:spLocks noChangeArrowheads="1"/>
            </p:cNvSpPr>
            <p:nvPr/>
          </p:nvSpPr>
          <p:spPr bwMode="auto">
            <a:xfrm>
              <a:off x="3784" y="3360"/>
              <a:ext cx="960" cy="4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sz="1800">
                  <a:latin typeface="Tahoma" panose="020B0604030504040204" pitchFamily="34" charset="0"/>
                </a:rPr>
                <a:t>Knowledge base</a:t>
              </a:r>
            </a:p>
          </p:txBody>
        </p:sp>
        <p:sp>
          <p:nvSpPr>
            <p:cNvPr id="11" name="Text Box 1032"/>
            <p:cNvSpPr txBox="1">
              <a:spLocks noChangeArrowheads="1"/>
            </p:cNvSpPr>
            <p:nvPr/>
          </p:nvSpPr>
          <p:spPr bwMode="auto">
            <a:xfrm>
              <a:off x="2256" y="3360"/>
              <a:ext cx="960" cy="4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sz="1800">
                  <a:latin typeface="Tahoma" panose="020B0604030504040204" pitchFamily="34" charset="0"/>
                </a:rPr>
                <a:t>Inference-control unit</a:t>
              </a:r>
            </a:p>
          </p:txBody>
        </p:sp>
        <p:sp>
          <p:nvSpPr>
            <p:cNvPr id="12" name="Line 1034"/>
            <p:cNvSpPr>
              <a:spLocks noChangeShapeType="1"/>
            </p:cNvSpPr>
            <p:nvPr/>
          </p:nvSpPr>
          <p:spPr bwMode="auto">
            <a:xfrm>
              <a:off x="1680" y="3472"/>
              <a:ext cx="57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3" name="Line 1035"/>
            <p:cNvSpPr>
              <a:spLocks noChangeShapeType="1"/>
            </p:cNvSpPr>
            <p:nvPr/>
          </p:nvSpPr>
          <p:spPr bwMode="auto">
            <a:xfrm flipH="1">
              <a:off x="1672" y="3640"/>
              <a:ext cx="57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4" name="Line 1036"/>
            <p:cNvSpPr>
              <a:spLocks noChangeShapeType="1"/>
            </p:cNvSpPr>
            <p:nvPr/>
          </p:nvSpPr>
          <p:spPr bwMode="auto">
            <a:xfrm>
              <a:off x="3216" y="3456"/>
              <a:ext cx="57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 name="Line 1037"/>
            <p:cNvSpPr>
              <a:spLocks noChangeShapeType="1"/>
            </p:cNvSpPr>
            <p:nvPr/>
          </p:nvSpPr>
          <p:spPr bwMode="auto">
            <a:xfrm flipH="1">
              <a:off x="3208" y="3624"/>
              <a:ext cx="57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6" name="Line 1038"/>
            <p:cNvSpPr>
              <a:spLocks noChangeShapeType="1"/>
            </p:cNvSpPr>
            <p:nvPr/>
          </p:nvSpPr>
          <p:spPr bwMode="auto">
            <a:xfrm>
              <a:off x="144" y="3496"/>
              <a:ext cx="57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7" name="Line 1039"/>
            <p:cNvSpPr>
              <a:spLocks noChangeShapeType="1"/>
            </p:cNvSpPr>
            <p:nvPr/>
          </p:nvSpPr>
          <p:spPr bwMode="auto">
            <a:xfrm flipH="1">
              <a:off x="136" y="3664"/>
              <a:ext cx="57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18" name="Text Box 1041"/>
          <p:cNvSpPr txBox="1">
            <a:spLocks noChangeArrowheads="1"/>
          </p:cNvSpPr>
          <p:nvPr/>
        </p:nvSpPr>
        <p:spPr bwMode="auto">
          <a:xfrm>
            <a:off x="2438400" y="5683250"/>
            <a:ext cx="4629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sz="1600" b="1" dirty="0">
                <a:latin typeface="Tahoma" panose="020B0604030504040204" pitchFamily="34" charset="0"/>
              </a:rPr>
              <a:t>Components of a knowledge-based system.</a:t>
            </a:r>
          </a:p>
        </p:txBody>
      </p:sp>
    </p:spTree>
    <p:extLst>
      <p:ext uri="{BB962C8B-B14F-4D97-AF65-F5344CB8AC3E}">
        <p14:creationId xmlns:p14="http://schemas.microsoft.com/office/powerpoint/2010/main" val="3610853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13</a:t>
            </a:fld>
            <a:endParaRPr lang="en-US" dirty="0"/>
          </a:p>
        </p:txBody>
      </p:sp>
      <p:sp>
        <p:nvSpPr>
          <p:cNvPr id="5" name="TextBox 4"/>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spcBef>
                <a:spcPct val="0"/>
              </a:spcBef>
            </a:pPr>
            <a:r>
              <a:rPr lang="en-US" altLang="ja-JP" sz="3200" dirty="0">
                <a:solidFill>
                  <a:srgbClr val="00FFFF"/>
                </a:solidFill>
                <a:latin typeface="Century" panose="02040604050505020304" pitchFamily="18" charset="0"/>
                <a:ea typeface="MS PGothic" panose="020B0600070205080204" pitchFamily="34" charset="-128"/>
              </a:rPr>
              <a:t> </a:t>
            </a:r>
            <a:r>
              <a:rPr lang="en-US" altLang="ja-JP" sz="2800" b="1" dirty="0">
                <a:solidFill>
                  <a:srgbClr val="FD1B03"/>
                </a:solidFill>
                <a:latin typeface="Tahoma" panose="020B0604030504040204" pitchFamily="34" charset="0"/>
                <a:ea typeface="MS PGothic" panose="020B0600070205080204" pitchFamily="34" charset="-128"/>
              </a:rPr>
              <a:t>knowledge in Expert Systems</a:t>
            </a:r>
          </a:p>
        </p:txBody>
      </p:sp>
      <p:sp>
        <p:nvSpPr>
          <p:cNvPr id="19" name="Rectangle 5"/>
          <p:cNvSpPr>
            <a:spLocks noChangeArrowheads="1"/>
          </p:cNvSpPr>
          <p:nvPr/>
        </p:nvSpPr>
        <p:spPr bwMode="auto">
          <a:xfrm>
            <a:off x="228600" y="1447800"/>
            <a:ext cx="4343400" cy="4648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ja-JP" sz="2400" b="1" dirty="0">
                <a:latin typeface="Tahoma" panose="020B0604030504040204" pitchFamily="34" charset="0"/>
                <a:ea typeface="MS PGothic" panose="020B0600070205080204" pitchFamily="34" charset="-128"/>
              </a:rPr>
              <a:t>Conventional Programming</a:t>
            </a:r>
            <a:r>
              <a:rPr lang="en-US" altLang="ja-JP" sz="2800" dirty="0">
                <a:ea typeface="MS PGothic" panose="020B0600070205080204" pitchFamily="34" charset="-128"/>
              </a:rPr>
              <a:t>   </a:t>
            </a:r>
          </a:p>
        </p:txBody>
      </p:sp>
      <p:sp>
        <p:nvSpPr>
          <p:cNvPr id="20" name="Rectangle 6"/>
          <p:cNvSpPr>
            <a:spLocks noChangeArrowheads="1"/>
          </p:cNvSpPr>
          <p:nvPr/>
        </p:nvSpPr>
        <p:spPr bwMode="auto">
          <a:xfrm>
            <a:off x="4724400" y="1447800"/>
            <a:ext cx="4343400" cy="4648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ja-JP" sz="2400" b="1">
                <a:latin typeface="Tahoma" panose="020B0604030504040204" pitchFamily="34" charset="0"/>
                <a:ea typeface="MS PGothic" panose="020B0600070205080204" pitchFamily="34" charset="-128"/>
              </a:rPr>
              <a:t>Knowledge-Based </a:t>
            </a:r>
          </a:p>
          <a:p>
            <a:pPr algn="ctr" eaLnBrk="1" hangingPunct="1">
              <a:spcBef>
                <a:spcPct val="50000"/>
              </a:spcBef>
              <a:buFontTx/>
              <a:buNone/>
            </a:pPr>
            <a:r>
              <a:rPr lang="en-US" altLang="ja-JP" sz="2400" b="1">
                <a:latin typeface="Tahoma" panose="020B0604030504040204" pitchFamily="34" charset="0"/>
                <a:ea typeface="MS PGothic" panose="020B0600070205080204" pitchFamily="34" charset="-128"/>
              </a:rPr>
              <a:t>Systems</a:t>
            </a:r>
          </a:p>
        </p:txBody>
      </p:sp>
      <p:sp>
        <p:nvSpPr>
          <p:cNvPr id="21" name="Rectangle 7"/>
          <p:cNvSpPr>
            <a:spLocks noChangeArrowheads="1"/>
          </p:cNvSpPr>
          <p:nvPr/>
        </p:nvSpPr>
        <p:spPr bwMode="auto">
          <a:xfrm>
            <a:off x="838200" y="2590800"/>
            <a:ext cx="3352800" cy="2057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buClr>
                <a:srgbClr val="FAFD00"/>
              </a:buClr>
              <a:buSzPct val="75000"/>
              <a:buFont typeface="Wingdings" panose="05000000000000000000" pitchFamily="2" charset="2"/>
              <a:buNone/>
            </a:pPr>
            <a:r>
              <a:rPr kumimoji="1" lang="en-US" altLang="ja-JP" sz="2400">
                <a:latin typeface="Tahoma" panose="020B0604030504040204" pitchFamily="34" charset="0"/>
                <a:ea typeface="MS PGothic" panose="020B0600070205080204" pitchFamily="34" charset="-128"/>
              </a:rPr>
              <a:t>Algorithms </a:t>
            </a:r>
          </a:p>
          <a:p>
            <a:pPr algn="ctr" eaLnBrk="1" hangingPunct="1">
              <a:buClr>
                <a:srgbClr val="FAFD00"/>
              </a:buClr>
              <a:buSzPct val="75000"/>
              <a:buFont typeface="Wingdings" panose="05000000000000000000" pitchFamily="2" charset="2"/>
              <a:buNone/>
            </a:pPr>
            <a:r>
              <a:rPr kumimoji="1" lang="en-US" altLang="ja-JP" sz="2400">
                <a:latin typeface="Tahoma" panose="020B0604030504040204" pitchFamily="34" charset="0"/>
                <a:ea typeface="MS PGothic" panose="020B0600070205080204" pitchFamily="34" charset="-128"/>
              </a:rPr>
              <a:t>+ Data Structures </a:t>
            </a:r>
          </a:p>
          <a:p>
            <a:pPr algn="ctr" eaLnBrk="1" hangingPunct="1">
              <a:buClr>
                <a:srgbClr val="FAFD00"/>
              </a:buClr>
              <a:buSzPct val="75000"/>
              <a:buFont typeface="Wingdings" panose="05000000000000000000" pitchFamily="2" charset="2"/>
              <a:buNone/>
            </a:pPr>
            <a:r>
              <a:rPr kumimoji="1" lang="en-US" altLang="ja-JP" sz="2400">
                <a:latin typeface="Tahoma" panose="020B0604030504040204" pitchFamily="34" charset="0"/>
                <a:ea typeface="MS PGothic" panose="020B0600070205080204" pitchFamily="34" charset="-128"/>
              </a:rPr>
              <a:t>= Programs</a:t>
            </a:r>
          </a:p>
        </p:txBody>
      </p:sp>
      <p:sp>
        <p:nvSpPr>
          <p:cNvPr id="22" name="Rectangle 8"/>
          <p:cNvSpPr>
            <a:spLocks noChangeArrowheads="1"/>
          </p:cNvSpPr>
          <p:nvPr/>
        </p:nvSpPr>
        <p:spPr bwMode="auto">
          <a:xfrm>
            <a:off x="5105400" y="2590800"/>
            <a:ext cx="3352800" cy="2057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00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buClr>
                <a:srgbClr val="FAFD00"/>
              </a:buClr>
              <a:buSzPct val="75000"/>
              <a:buFont typeface="Wingdings" panose="05000000000000000000" pitchFamily="2" charset="2"/>
              <a:buNone/>
            </a:pPr>
            <a:r>
              <a:rPr kumimoji="1" lang="en-US" altLang="ja-JP" sz="2400">
                <a:latin typeface="Tahoma" panose="020B0604030504040204" pitchFamily="34" charset="0"/>
                <a:ea typeface="MS PGothic" panose="020B0600070205080204" pitchFamily="34" charset="-128"/>
              </a:rPr>
              <a:t>Knowledge</a:t>
            </a:r>
          </a:p>
          <a:p>
            <a:pPr algn="ctr" eaLnBrk="1" hangingPunct="1">
              <a:buClr>
                <a:srgbClr val="FAFD00"/>
              </a:buClr>
              <a:buSzPct val="75000"/>
              <a:buFont typeface="Wingdings" panose="05000000000000000000" pitchFamily="2" charset="2"/>
              <a:buNone/>
            </a:pPr>
            <a:r>
              <a:rPr kumimoji="1" lang="en-US" altLang="ja-JP" sz="2400">
                <a:latin typeface="Tahoma" panose="020B0604030504040204" pitchFamily="34" charset="0"/>
                <a:ea typeface="MS PGothic" panose="020B0600070205080204" pitchFamily="34" charset="-128"/>
              </a:rPr>
              <a:t>+ Inference </a:t>
            </a:r>
          </a:p>
          <a:p>
            <a:pPr algn="ctr" eaLnBrk="1" hangingPunct="1">
              <a:buClr>
                <a:srgbClr val="FAFD00"/>
              </a:buClr>
              <a:buSzPct val="75000"/>
              <a:buFont typeface="Wingdings" panose="05000000000000000000" pitchFamily="2" charset="2"/>
              <a:buNone/>
            </a:pPr>
            <a:r>
              <a:rPr kumimoji="1" lang="en-US" altLang="ja-JP" sz="2400">
                <a:latin typeface="Tahoma" panose="020B0604030504040204" pitchFamily="34" charset="0"/>
                <a:ea typeface="MS PGothic" panose="020B0600070205080204" pitchFamily="34" charset="-128"/>
              </a:rPr>
              <a:t>= Expert System</a:t>
            </a:r>
          </a:p>
        </p:txBody>
      </p:sp>
      <p:sp>
        <p:nvSpPr>
          <p:cNvPr id="23" name="Text Box 9"/>
          <p:cNvSpPr txBox="1">
            <a:spLocks noChangeArrowheads="1"/>
          </p:cNvSpPr>
          <p:nvPr/>
        </p:nvSpPr>
        <p:spPr bwMode="auto">
          <a:xfrm>
            <a:off x="1219200" y="1747838"/>
            <a:ext cx="21875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endParaRPr kumimoji="1" lang="en-US" sz="2800">
              <a:ea typeface="MS PGothic" panose="020B0600070205080204" pitchFamily="34" charset="-128"/>
            </a:endParaRPr>
          </a:p>
        </p:txBody>
      </p:sp>
      <p:sp>
        <p:nvSpPr>
          <p:cNvPr id="24" name="Text Box 10"/>
          <p:cNvSpPr txBox="1">
            <a:spLocks noChangeArrowheads="1"/>
          </p:cNvSpPr>
          <p:nvPr/>
        </p:nvSpPr>
        <p:spPr bwMode="auto">
          <a:xfrm>
            <a:off x="5295900" y="1749425"/>
            <a:ext cx="2667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endParaRPr kumimoji="1" lang="en-US" sz="2800">
              <a:ea typeface="MS PGothic" panose="020B0600070205080204" pitchFamily="34" charset="-128"/>
            </a:endParaRPr>
          </a:p>
        </p:txBody>
      </p:sp>
    </p:spTree>
    <p:extLst>
      <p:ext uri="{BB962C8B-B14F-4D97-AF65-F5344CB8AC3E}">
        <p14:creationId xmlns:p14="http://schemas.microsoft.com/office/powerpoint/2010/main" val="40187249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14</a:t>
            </a:fld>
            <a:endParaRPr lang="en-US" dirty="0"/>
          </a:p>
        </p:txBody>
      </p:sp>
      <p:sp>
        <p:nvSpPr>
          <p:cNvPr id="6" name="Content Placeholder 2"/>
          <p:cNvSpPr txBox="1">
            <a:spLocks/>
          </p:cNvSpPr>
          <p:nvPr/>
        </p:nvSpPr>
        <p:spPr>
          <a:xfrm>
            <a:off x="457200" y="685800"/>
            <a:ext cx="8534400" cy="5448300"/>
          </a:xfrm>
          <a:prstGeom prst="rect">
            <a:avLst/>
          </a:prstGeom>
        </p:spPr>
        <p:txBody>
          <a:bodyPr>
            <a:noAutofit/>
          </a:bodyPr>
          <a:lstStyle/>
          <a:p>
            <a:pPr marL="457200" indent="-457200" algn="just">
              <a:spcBef>
                <a:spcPct val="50000"/>
              </a:spcBef>
              <a:buClr>
                <a:srgbClr val="FF0000"/>
              </a:buClr>
              <a:buSzPct val="75000"/>
              <a:buFont typeface="Wingdings" panose="05000000000000000000" pitchFamily="2" charset="2"/>
              <a:buChar char="q"/>
              <a:defRPr/>
            </a:pPr>
            <a:r>
              <a:rPr kumimoji="1" lang="en-US" altLang="ja-JP" sz="2800" b="1" dirty="0" smtClean="0">
                <a:latin typeface="Tahoma" panose="020B0604030504040204" pitchFamily="34" charset="0"/>
                <a:ea typeface="MS PGothic" panose="020B0600070205080204" pitchFamily="34" charset="-128"/>
              </a:rPr>
              <a:t>Rule </a:t>
            </a:r>
            <a:r>
              <a:rPr kumimoji="1" lang="en-US" altLang="ja-JP" sz="2800" b="1" dirty="0">
                <a:latin typeface="Tahoma" panose="020B0604030504040204" pitchFamily="34" charset="0"/>
                <a:ea typeface="MS PGothic" panose="020B0600070205080204" pitchFamily="34" charset="-128"/>
              </a:rPr>
              <a:t>1: </a:t>
            </a:r>
            <a:endParaRPr kumimoji="1" lang="en-US" altLang="ja-JP" sz="2800" dirty="0">
              <a:latin typeface="Tahoma" panose="020B0604030504040204" pitchFamily="34" charset="0"/>
              <a:ea typeface="MS PGothic" panose="020B0600070205080204" pitchFamily="34" charset="-128"/>
            </a:endParaRPr>
          </a:p>
          <a:p>
            <a:pPr>
              <a:spcBef>
                <a:spcPct val="50000"/>
              </a:spcBef>
              <a:buClr>
                <a:schemeClr val="folHlink"/>
              </a:buClr>
              <a:buSzPct val="75000"/>
              <a:buFont typeface="Monotype Sorts" pitchFamily="2" charset="2"/>
              <a:buNone/>
            </a:pPr>
            <a:r>
              <a:rPr kumimoji="1" lang="en-US" altLang="ja-JP" sz="2800" dirty="0">
                <a:latin typeface="Tahoma" panose="020B0604030504040204" pitchFamily="34" charset="0"/>
                <a:ea typeface="MS PGothic" panose="020B0600070205080204" pitchFamily="34" charset="-128"/>
              </a:rPr>
              <a:t>IF (Score is high) and (Viva is good or GPA is excellent)</a:t>
            </a:r>
          </a:p>
          <a:p>
            <a:pPr>
              <a:spcBef>
                <a:spcPct val="50000"/>
              </a:spcBef>
              <a:buClr>
                <a:schemeClr val="folHlink"/>
              </a:buClr>
              <a:buSzPct val="75000"/>
              <a:buFont typeface="Monotype Sorts" pitchFamily="2" charset="2"/>
              <a:buNone/>
            </a:pPr>
            <a:r>
              <a:rPr kumimoji="1" lang="en-US" altLang="ja-JP" sz="2800" dirty="0">
                <a:latin typeface="Tahoma" panose="020B0604030504040204" pitchFamily="34" charset="0"/>
                <a:ea typeface="MS PGothic" panose="020B0600070205080204" pitchFamily="34" charset="-128"/>
              </a:rPr>
              <a:t>THEN (Decision is Selected)   </a:t>
            </a:r>
          </a:p>
          <a:p>
            <a:pPr marL="457200" indent="-457200">
              <a:spcBef>
                <a:spcPct val="50000"/>
              </a:spcBef>
              <a:buClr>
                <a:srgbClr val="FF0000"/>
              </a:buClr>
              <a:buSzPct val="75000"/>
              <a:buFont typeface="Wingdings" panose="05000000000000000000" pitchFamily="2" charset="2"/>
              <a:buChar char="q"/>
            </a:pPr>
            <a:r>
              <a:rPr kumimoji="1" lang="en-US" altLang="ja-JP" sz="2800" b="1" dirty="0">
                <a:latin typeface="Tahoma" panose="020B0604030504040204" pitchFamily="34" charset="0"/>
                <a:ea typeface="MS PGothic" panose="020B0600070205080204" pitchFamily="34" charset="-128"/>
              </a:rPr>
              <a:t>Rule 2: </a:t>
            </a:r>
            <a:endParaRPr kumimoji="1" lang="en-US" altLang="ja-JP" sz="2800" dirty="0">
              <a:latin typeface="Tahoma" panose="020B0604030504040204" pitchFamily="34" charset="0"/>
              <a:ea typeface="MS PGothic" panose="020B0600070205080204" pitchFamily="34" charset="-128"/>
            </a:endParaRPr>
          </a:p>
          <a:p>
            <a:pPr>
              <a:spcBef>
                <a:spcPct val="50000"/>
              </a:spcBef>
              <a:buClr>
                <a:schemeClr val="folHlink"/>
              </a:buClr>
              <a:buSzPct val="75000"/>
              <a:buFont typeface="Monotype Sorts" pitchFamily="2" charset="2"/>
              <a:buNone/>
            </a:pPr>
            <a:r>
              <a:rPr kumimoji="1" lang="en-US" altLang="ja-JP" sz="2800" dirty="0">
                <a:latin typeface="Tahoma" panose="020B0604030504040204" pitchFamily="34" charset="0"/>
                <a:ea typeface="MS PGothic" panose="020B0600070205080204" pitchFamily="34" charset="-128"/>
              </a:rPr>
              <a:t>IF (Score is low)  and (Viva is bad or GPA is marginal)</a:t>
            </a:r>
          </a:p>
          <a:p>
            <a:pPr>
              <a:spcBef>
                <a:spcPct val="50000"/>
              </a:spcBef>
              <a:buClr>
                <a:schemeClr val="folHlink"/>
              </a:buClr>
              <a:buSzPct val="75000"/>
              <a:buFont typeface="Monotype Sorts" pitchFamily="2" charset="2"/>
              <a:buNone/>
            </a:pPr>
            <a:r>
              <a:rPr kumimoji="1" lang="en-US" altLang="ja-JP" sz="2800" dirty="0">
                <a:latin typeface="Tahoma" panose="020B0604030504040204" pitchFamily="34" charset="0"/>
                <a:ea typeface="MS PGothic" panose="020B0600070205080204" pitchFamily="34" charset="-128"/>
              </a:rPr>
              <a:t> THEN (Decision is Disapprove)</a:t>
            </a:r>
          </a:p>
          <a:p>
            <a:pPr marL="457200" indent="-457200" algn="just">
              <a:spcBef>
                <a:spcPct val="50000"/>
              </a:spcBef>
              <a:buClr>
                <a:srgbClr val="FF0000"/>
              </a:buClr>
              <a:buSzPct val="75000"/>
              <a:buFont typeface="Wingdings" panose="05000000000000000000" pitchFamily="2" charset="2"/>
              <a:buChar char="q"/>
              <a:defRPr/>
            </a:pPr>
            <a:endParaRPr kumimoji="1" lang="en-US" altLang="ja-JP" sz="2800" b="1" dirty="0" smtClean="0">
              <a:solidFill>
                <a:srgbClr val="000099"/>
              </a:solidFill>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spcBef>
                <a:spcPct val="0"/>
              </a:spcBef>
            </a:pPr>
            <a:r>
              <a:rPr lang="en-US" altLang="ja-JP" sz="3200" dirty="0">
                <a:solidFill>
                  <a:srgbClr val="00FFFF"/>
                </a:solidFill>
                <a:latin typeface="Century" panose="02040604050505020304" pitchFamily="18" charset="0"/>
                <a:ea typeface="MS PGothic" panose="020B0600070205080204" pitchFamily="34" charset="-128"/>
              </a:rPr>
              <a:t> </a:t>
            </a:r>
            <a:r>
              <a:rPr lang="en-US" altLang="ja-JP" sz="2800" b="1" dirty="0">
                <a:solidFill>
                  <a:srgbClr val="FD1B03"/>
                </a:solidFill>
                <a:latin typeface="Tahoma" panose="020B0604030504040204" pitchFamily="34" charset="0"/>
                <a:ea typeface="MS PGothic" panose="020B0600070205080204" pitchFamily="34" charset="-128"/>
              </a:rPr>
              <a:t>Example of Expert Systems</a:t>
            </a:r>
          </a:p>
        </p:txBody>
      </p:sp>
    </p:spTree>
    <p:extLst>
      <p:ext uri="{BB962C8B-B14F-4D97-AF65-F5344CB8AC3E}">
        <p14:creationId xmlns:p14="http://schemas.microsoft.com/office/powerpoint/2010/main" val="22285222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15</a:t>
            </a:fld>
            <a:endParaRPr lang="en-US" dirty="0"/>
          </a:p>
        </p:txBody>
      </p:sp>
      <p:sp>
        <p:nvSpPr>
          <p:cNvPr id="6" name="Content Placeholder 2"/>
          <p:cNvSpPr txBox="1">
            <a:spLocks/>
          </p:cNvSpPr>
          <p:nvPr/>
        </p:nvSpPr>
        <p:spPr>
          <a:xfrm>
            <a:off x="457200" y="685800"/>
            <a:ext cx="8534400" cy="5448300"/>
          </a:xfrm>
          <a:prstGeom prst="rect">
            <a:avLst/>
          </a:prstGeom>
        </p:spPr>
        <p:txBody>
          <a:bodyPr>
            <a:noAutofit/>
          </a:bodyPr>
          <a:lstStyle/>
          <a:p>
            <a:pPr>
              <a:spcBef>
                <a:spcPct val="50000"/>
              </a:spcBef>
              <a:buClr>
                <a:schemeClr val="folHlink"/>
              </a:buClr>
              <a:buSzPct val="75000"/>
              <a:buFont typeface="Monotype Sorts" pitchFamily="2" charset="2"/>
              <a:buNone/>
            </a:pPr>
            <a:r>
              <a:rPr lang="en-AU" altLang="ja-JP" sz="2800" dirty="0" smtClean="0">
                <a:latin typeface="Tahoma" panose="020B0604030504040204" pitchFamily="34" charset="0"/>
                <a:ea typeface="MS PGothic" panose="020B0600070205080204" pitchFamily="34" charset="-128"/>
              </a:rPr>
              <a:t>IF  </a:t>
            </a:r>
            <a:r>
              <a:rPr lang="en-AU" altLang="ja-JP" sz="2800" dirty="0">
                <a:latin typeface="Tahoma" panose="020B0604030504040204" pitchFamily="34" charset="0"/>
                <a:ea typeface="MS PGothic" panose="020B0600070205080204" pitchFamily="34" charset="-128"/>
              </a:rPr>
              <a:t>‘traffic light’ is green</a:t>
            </a:r>
            <a:br>
              <a:rPr lang="en-AU" altLang="ja-JP" sz="2800" dirty="0">
                <a:latin typeface="Tahoma" panose="020B0604030504040204" pitchFamily="34" charset="0"/>
                <a:ea typeface="MS PGothic" panose="020B0600070205080204" pitchFamily="34" charset="-128"/>
              </a:rPr>
            </a:br>
            <a:r>
              <a:rPr lang="en-AU" altLang="ja-JP" sz="2800" dirty="0">
                <a:latin typeface="Tahoma" panose="020B0604030504040204" pitchFamily="34" charset="0"/>
                <a:ea typeface="MS PGothic" panose="020B0600070205080204" pitchFamily="34" charset="-128"/>
              </a:rPr>
              <a:t>THEN action is go</a:t>
            </a:r>
            <a:br>
              <a:rPr lang="en-AU" altLang="ja-JP" sz="2800" dirty="0">
                <a:latin typeface="Tahoma" panose="020B0604030504040204" pitchFamily="34" charset="0"/>
                <a:ea typeface="MS PGothic" panose="020B0600070205080204" pitchFamily="34" charset="-128"/>
              </a:rPr>
            </a:br>
            <a:r>
              <a:rPr lang="en-AU" altLang="ja-JP" sz="2800" dirty="0">
                <a:latin typeface="Tahoma" panose="020B0604030504040204" pitchFamily="34" charset="0"/>
                <a:ea typeface="MS PGothic" panose="020B0600070205080204" pitchFamily="34" charset="-128"/>
              </a:rPr>
              <a:t/>
            </a:r>
            <a:br>
              <a:rPr lang="en-AU" altLang="ja-JP" sz="2800" dirty="0">
                <a:latin typeface="Tahoma" panose="020B0604030504040204" pitchFamily="34" charset="0"/>
                <a:ea typeface="MS PGothic" panose="020B0600070205080204" pitchFamily="34" charset="-128"/>
              </a:rPr>
            </a:br>
            <a:r>
              <a:rPr lang="en-AU" altLang="ja-JP" sz="2800" dirty="0">
                <a:latin typeface="Tahoma" panose="020B0604030504040204" pitchFamily="34" charset="0"/>
                <a:ea typeface="MS PGothic" panose="020B0600070205080204" pitchFamily="34" charset="-128"/>
              </a:rPr>
              <a:t>IF  ‘traffic light’ is red</a:t>
            </a:r>
            <a:br>
              <a:rPr lang="en-AU" altLang="ja-JP" sz="2800" dirty="0">
                <a:latin typeface="Tahoma" panose="020B0604030504040204" pitchFamily="34" charset="0"/>
                <a:ea typeface="MS PGothic" panose="020B0600070205080204" pitchFamily="34" charset="-128"/>
              </a:rPr>
            </a:br>
            <a:r>
              <a:rPr lang="en-AU" altLang="ja-JP" sz="2800" dirty="0">
                <a:latin typeface="Tahoma" panose="020B0604030504040204" pitchFamily="34" charset="0"/>
                <a:ea typeface="MS PGothic" panose="020B0600070205080204" pitchFamily="34" charset="-128"/>
              </a:rPr>
              <a:t>THEN action is stop</a:t>
            </a:r>
            <a:br>
              <a:rPr lang="en-AU" altLang="ja-JP" sz="2800" dirty="0">
                <a:latin typeface="Tahoma" panose="020B0604030504040204" pitchFamily="34" charset="0"/>
                <a:ea typeface="MS PGothic" panose="020B0600070205080204" pitchFamily="34" charset="-128"/>
              </a:rPr>
            </a:br>
            <a:r>
              <a:rPr lang="en-AU" altLang="ja-JP" sz="2800" dirty="0">
                <a:latin typeface="Tahoma" panose="020B0604030504040204" pitchFamily="34" charset="0"/>
                <a:ea typeface="MS PGothic" panose="020B0600070205080204" pitchFamily="34" charset="-128"/>
              </a:rPr>
              <a:t>IF  car is dead  AND ‘fuel tank’ is empty</a:t>
            </a:r>
            <a:br>
              <a:rPr lang="en-AU" altLang="ja-JP" sz="2800" dirty="0">
                <a:latin typeface="Tahoma" panose="020B0604030504040204" pitchFamily="34" charset="0"/>
                <a:ea typeface="MS PGothic" panose="020B0600070205080204" pitchFamily="34" charset="-128"/>
              </a:rPr>
            </a:br>
            <a:r>
              <a:rPr lang="en-AU" altLang="ja-JP" sz="2800" dirty="0">
                <a:latin typeface="Tahoma" panose="020B0604030504040204" pitchFamily="34" charset="0"/>
                <a:ea typeface="MS PGothic" panose="020B0600070205080204" pitchFamily="34" charset="-128"/>
              </a:rPr>
              <a:t>THEN action is ‘refuel the car’</a:t>
            </a:r>
            <a:br>
              <a:rPr lang="en-AU" altLang="ja-JP" sz="2800" dirty="0">
                <a:latin typeface="Tahoma" panose="020B0604030504040204" pitchFamily="34" charset="0"/>
                <a:ea typeface="MS PGothic" panose="020B0600070205080204" pitchFamily="34" charset="-128"/>
              </a:rPr>
            </a:br>
            <a:r>
              <a:rPr lang="en-AU" altLang="ja-JP" sz="2800" dirty="0">
                <a:latin typeface="Tahoma" panose="020B0604030504040204" pitchFamily="34" charset="0"/>
                <a:ea typeface="MS PGothic" panose="020B0600070205080204" pitchFamily="34" charset="-128"/>
              </a:rPr>
              <a:t>John is the father of Jim</a:t>
            </a:r>
            <a:endParaRPr kumimoji="1" lang="en-US" altLang="ja-JP" sz="2800" b="1" dirty="0" smtClean="0">
              <a:solidFill>
                <a:srgbClr val="000099"/>
              </a:solidFill>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spcBef>
                <a:spcPct val="0"/>
              </a:spcBef>
            </a:pPr>
            <a:r>
              <a:rPr lang="en-US" altLang="ja-JP" sz="3200" dirty="0">
                <a:solidFill>
                  <a:srgbClr val="00FFFF"/>
                </a:solidFill>
                <a:latin typeface="Century" panose="02040604050505020304" pitchFamily="18" charset="0"/>
                <a:ea typeface="MS PGothic" panose="020B0600070205080204" pitchFamily="34" charset="-128"/>
              </a:rPr>
              <a:t>  </a:t>
            </a:r>
            <a:r>
              <a:rPr lang="en-US" altLang="ja-JP" sz="2800" b="1" dirty="0">
                <a:solidFill>
                  <a:srgbClr val="FD1B03"/>
                </a:solidFill>
                <a:latin typeface="Tahoma" panose="020B0604030504040204" pitchFamily="34" charset="0"/>
                <a:ea typeface="MS PGothic" panose="020B0600070205080204" pitchFamily="34" charset="-128"/>
              </a:rPr>
              <a:t>Rules as Knowledge Representation</a:t>
            </a:r>
          </a:p>
        </p:txBody>
      </p:sp>
      <p:sp>
        <p:nvSpPr>
          <p:cNvPr id="9" name="Text Box 1035"/>
          <p:cNvSpPr txBox="1">
            <a:spLocks noChangeArrowheads="1"/>
          </p:cNvSpPr>
          <p:nvPr/>
        </p:nvSpPr>
        <p:spPr bwMode="auto">
          <a:xfrm>
            <a:off x="6858000" y="1117600"/>
            <a:ext cx="2133600" cy="4064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sz="2000">
                <a:latin typeface="Tahoma" panose="020B0604030504040204" pitchFamily="34" charset="0"/>
              </a:rPr>
              <a:t>Mental images</a:t>
            </a:r>
          </a:p>
          <a:p>
            <a:pPr algn="ctr" eaLnBrk="1" hangingPunct="1">
              <a:spcBef>
                <a:spcPct val="50000"/>
              </a:spcBef>
              <a:buFontTx/>
              <a:buNone/>
            </a:pPr>
            <a:endParaRPr lang="en-US" sz="2000">
              <a:latin typeface="Tahoma" panose="020B0604030504040204" pitchFamily="34" charset="0"/>
            </a:endParaRPr>
          </a:p>
          <a:p>
            <a:pPr algn="ctr" eaLnBrk="1" hangingPunct="1">
              <a:spcBef>
                <a:spcPct val="50000"/>
              </a:spcBef>
              <a:buFontTx/>
              <a:buNone/>
            </a:pPr>
            <a:r>
              <a:rPr lang="en-US" sz="2000">
                <a:latin typeface="Tahoma" panose="020B0604030504040204" pitchFamily="34" charset="0"/>
              </a:rPr>
              <a:t>Written text</a:t>
            </a:r>
          </a:p>
          <a:p>
            <a:pPr algn="ctr" eaLnBrk="1" hangingPunct="1">
              <a:spcBef>
                <a:spcPct val="50000"/>
              </a:spcBef>
              <a:buFontTx/>
              <a:buNone/>
            </a:pPr>
            <a:endParaRPr lang="en-US" sz="2000">
              <a:latin typeface="Tahoma" panose="020B0604030504040204" pitchFamily="34" charset="0"/>
            </a:endParaRPr>
          </a:p>
          <a:p>
            <a:pPr algn="ctr" eaLnBrk="1" hangingPunct="1">
              <a:spcBef>
                <a:spcPct val="50000"/>
              </a:spcBef>
              <a:buFontTx/>
              <a:buNone/>
            </a:pPr>
            <a:r>
              <a:rPr lang="en-US" sz="2000">
                <a:latin typeface="Tahoma" panose="020B0604030504040204" pitchFamily="34" charset="0"/>
              </a:rPr>
              <a:t>Character strings</a:t>
            </a:r>
          </a:p>
          <a:p>
            <a:pPr algn="ctr" eaLnBrk="1" hangingPunct="1">
              <a:spcBef>
                <a:spcPct val="50000"/>
              </a:spcBef>
              <a:buFontTx/>
              <a:buNone/>
            </a:pPr>
            <a:endParaRPr lang="en-US" sz="2000">
              <a:latin typeface="Tahoma" panose="020B0604030504040204" pitchFamily="34" charset="0"/>
            </a:endParaRPr>
          </a:p>
          <a:p>
            <a:pPr algn="ctr" eaLnBrk="1" hangingPunct="1">
              <a:spcBef>
                <a:spcPct val="50000"/>
              </a:spcBef>
              <a:buFontTx/>
              <a:buNone/>
            </a:pPr>
            <a:r>
              <a:rPr lang="en-US" sz="2000">
                <a:latin typeface="Tahoma" panose="020B0604030504040204" pitchFamily="34" charset="0"/>
              </a:rPr>
              <a:t>Binary numbers</a:t>
            </a:r>
          </a:p>
          <a:p>
            <a:pPr algn="ctr" eaLnBrk="1" hangingPunct="1">
              <a:spcBef>
                <a:spcPct val="50000"/>
              </a:spcBef>
              <a:buFontTx/>
              <a:buNone/>
            </a:pPr>
            <a:endParaRPr lang="en-US" sz="2000">
              <a:latin typeface="Tahoma" panose="020B0604030504040204" pitchFamily="34" charset="0"/>
            </a:endParaRPr>
          </a:p>
          <a:p>
            <a:pPr algn="ctr" eaLnBrk="1" hangingPunct="1">
              <a:spcBef>
                <a:spcPct val="50000"/>
              </a:spcBef>
              <a:buFontTx/>
              <a:buNone/>
            </a:pPr>
            <a:r>
              <a:rPr lang="en-US" sz="2000">
                <a:latin typeface="Tahoma" panose="020B0604030504040204" pitchFamily="34" charset="0"/>
              </a:rPr>
              <a:t>Magnetic spots</a:t>
            </a:r>
          </a:p>
        </p:txBody>
      </p:sp>
      <p:sp>
        <p:nvSpPr>
          <p:cNvPr id="10" name="Line 1036"/>
          <p:cNvSpPr>
            <a:spLocks noChangeShapeType="1"/>
          </p:cNvSpPr>
          <p:nvPr/>
        </p:nvSpPr>
        <p:spPr bwMode="auto">
          <a:xfrm flipH="1">
            <a:off x="8077200" y="1447800"/>
            <a:ext cx="0" cy="5334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1" name="Line 1037"/>
          <p:cNvSpPr>
            <a:spLocks noChangeShapeType="1"/>
          </p:cNvSpPr>
          <p:nvPr/>
        </p:nvSpPr>
        <p:spPr bwMode="auto">
          <a:xfrm flipH="1">
            <a:off x="8077200" y="3276600"/>
            <a:ext cx="0" cy="5334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 name="Line 1038"/>
          <p:cNvSpPr>
            <a:spLocks noChangeShapeType="1"/>
          </p:cNvSpPr>
          <p:nvPr/>
        </p:nvSpPr>
        <p:spPr bwMode="auto">
          <a:xfrm flipH="1">
            <a:off x="8077200" y="2362200"/>
            <a:ext cx="0" cy="5334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3" name="Line 1039"/>
          <p:cNvSpPr>
            <a:spLocks noChangeShapeType="1"/>
          </p:cNvSpPr>
          <p:nvPr/>
        </p:nvSpPr>
        <p:spPr bwMode="auto">
          <a:xfrm flipH="1">
            <a:off x="8115300" y="4191000"/>
            <a:ext cx="0" cy="5334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4" name="Text Box 1041"/>
          <p:cNvSpPr txBox="1">
            <a:spLocks noChangeArrowheads="1"/>
          </p:cNvSpPr>
          <p:nvPr/>
        </p:nvSpPr>
        <p:spPr bwMode="auto">
          <a:xfrm>
            <a:off x="228600" y="4495800"/>
            <a:ext cx="5126038"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sz="2400" b="1" dirty="0">
                <a:latin typeface="Tahoma" panose="020B0604030504040204" pitchFamily="34" charset="0"/>
              </a:rPr>
              <a:t>FATHER(</a:t>
            </a:r>
            <a:r>
              <a:rPr lang="en-US" sz="2400" b="1" dirty="0" err="1">
                <a:latin typeface="Tahoma" panose="020B0604030504040204" pitchFamily="34" charset="0"/>
              </a:rPr>
              <a:t>john,jim</a:t>
            </a:r>
            <a:r>
              <a:rPr lang="en-US" sz="2400" b="1" dirty="0">
                <a:latin typeface="Tahoma" panose="020B0604030504040204" pitchFamily="34" charset="0"/>
              </a:rPr>
              <a:t>) :  </a:t>
            </a:r>
          </a:p>
          <a:p>
            <a:pPr eaLnBrk="1" hangingPunct="1">
              <a:spcBef>
                <a:spcPct val="0"/>
              </a:spcBef>
              <a:buFontTx/>
              <a:buNone/>
            </a:pPr>
            <a:r>
              <a:rPr lang="en-US" sz="2400" b="1" dirty="0">
                <a:latin typeface="Tahoma" panose="020B0604030504040204" pitchFamily="34" charset="0"/>
              </a:rPr>
              <a:t>Representation of a fatherhood </a:t>
            </a:r>
          </a:p>
          <a:p>
            <a:pPr eaLnBrk="1" hangingPunct="1">
              <a:spcBef>
                <a:spcPct val="0"/>
              </a:spcBef>
              <a:buFontTx/>
              <a:buNone/>
            </a:pPr>
            <a:r>
              <a:rPr lang="en-US" sz="2400" b="1" dirty="0">
                <a:latin typeface="Tahoma" panose="020B0604030504040204" pitchFamily="34" charset="0"/>
              </a:rPr>
              <a:t>family relationship</a:t>
            </a:r>
          </a:p>
        </p:txBody>
      </p:sp>
      <p:sp>
        <p:nvSpPr>
          <p:cNvPr id="15" name="Text Box 1040"/>
          <p:cNvSpPr txBox="1">
            <a:spLocks noChangeArrowheads="1"/>
          </p:cNvSpPr>
          <p:nvPr/>
        </p:nvSpPr>
        <p:spPr bwMode="auto">
          <a:xfrm>
            <a:off x="4770438" y="5318125"/>
            <a:ext cx="429736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sz="2400">
                <a:latin typeface="Tahoma" panose="020B0604030504040204" pitchFamily="34" charset="0"/>
              </a:rPr>
              <a:t>Different levels of knowledge</a:t>
            </a:r>
          </a:p>
          <a:p>
            <a:pPr eaLnBrk="1" hangingPunct="1">
              <a:spcBef>
                <a:spcPct val="0"/>
              </a:spcBef>
              <a:buFontTx/>
              <a:buNone/>
            </a:pPr>
            <a:r>
              <a:rPr lang="en-US" sz="2400">
                <a:latin typeface="Tahoma" panose="020B0604030504040204" pitchFamily="34" charset="0"/>
              </a:rPr>
              <a:t> representation</a:t>
            </a:r>
          </a:p>
        </p:txBody>
      </p:sp>
    </p:spTree>
    <p:extLst>
      <p:ext uri="{BB962C8B-B14F-4D97-AF65-F5344CB8AC3E}">
        <p14:creationId xmlns:p14="http://schemas.microsoft.com/office/powerpoint/2010/main" val="17193650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16</a:t>
            </a:fld>
            <a:endParaRPr lang="en-US" dirty="0"/>
          </a:p>
        </p:txBody>
      </p:sp>
      <p:sp>
        <p:nvSpPr>
          <p:cNvPr id="6" name="Content Placeholder 2"/>
          <p:cNvSpPr txBox="1">
            <a:spLocks/>
          </p:cNvSpPr>
          <p:nvPr/>
        </p:nvSpPr>
        <p:spPr>
          <a:xfrm>
            <a:off x="457200" y="800100"/>
            <a:ext cx="8534400" cy="5448300"/>
          </a:xfrm>
          <a:prstGeom prst="rect">
            <a:avLst/>
          </a:prstGeom>
        </p:spPr>
        <p:txBody>
          <a:bodyPr>
            <a:noAutofit/>
          </a:bodyPr>
          <a:lstStyle/>
          <a:p>
            <a:pPr>
              <a:lnSpc>
                <a:spcPct val="90000"/>
              </a:lnSpc>
              <a:buFont typeface="Wingdings" panose="05000000000000000000" pitchFamily="2" charset="2"/>
              <a:buChar char="v"/>
            </a:pPr>
            <a:r>
              <a:rPr lang="en-US" sz="2800" dirty="0">
                <a:latin typeface="Tahoma" panose="020B0604030504040204" pitchFamily="34" charset="0"/>
                <a:ea typeface="Tahoma" panose="020B0604030504040204" pitchFamily="34" charset="0"/>
                <a:cs typeface="Tahoma" panose="020B0604030504040204" pitchFamily="34" charset="0"/>
              </a:rPr>
              <a:t>Primary objective of A.I: </a:t>
            </a:r>
          </a:p>
          <a:p>
            <a:pPr marL="742950" lvl="2" indent="-342900">
              <a:lnSpc>
                <a:spcPct val="90000"/>
              </a:lnSpc>
              <a:buClr>
                <a:srgbClr val="33CC33"/>
              </a:buClr>
              <a:buFont typeface="Wingdings" panose="05000000000000000000" pitchFamily="2" charset="2"/>
              <a:buChar char="v"/>
            </a:pPr>
            <a:r>
              <a:rPr lang="en-US" sz="2800" dirty="0">
                <a:latin typeface="Tahoma" panose="020B0604030504040204" pitchFamily="34" charset="0"/>
                <a:ea typeface="Tahoma" panose="020B0604030504040204" pitchFamily="34" charset="0"/>
                <a:cs typeface="Tahoma" panose="020B0604030504040204" pitchFamily="34" charset="0"/>
              </a:rPr>
              <a:t>To store knowledge so that programs can process it and achieve the resemblance of human intelligence.</a:t>
            </a:r>
          </a:p>
          <a:p>
            <a:pPr>
              <a:lnSpc>
                <a:spcPct val="90000"/>
              </a:lnSpc>
              <a:buFont typeface="Wingdings" panose="05000000000000000000" pitchFamily="2" charset="2"/>
              <a:buChar char="v"/>
            </a:pPr>
            <a:r>
              <a:rPr lang="en-US" sz="2800" dirty="0">
                <a:latin typeface="Tahoma" panose="020B0604030504040204" pitchFamily="34" charset="0"/>
                <a:ea typeface="Tahoma" panose="020B0604030504040204" pitchFamily="34" charset="0"/>
                <a:cs typeface="Tahoma" panose="020B0604030504040204" pitchFamily="34" charset="0"/>
              </a:rPr>
              <a:t>Knowledge Representation techniques</a:t>
            </a:r>
          </a:p>
          <a:p>
            <a:pPr marL="742950" lvl="1" indent="-285750">
              <a:lnSpc>
                <a:spcPct val="90000"/>
              </a:lnSpc>
            </a:pPr>
            <a:r>
              <a:rPr lang="en-US" sz="2800" dirty="0">
                <a:latin typeface="Tahoma" panose="020B0604030504040204" pitchFamily="34" charset="0"/>
                <a:ea typeface="Tahoma" panose="020B0604030504040204" pitchFamily="34" charset="0"/>
                <a:cs typeface="Tahoma" panose="020B0604030504040204" pitchFamily="34" charset="0"/>
              </a:rPr>
              <a:t>Rule-based </a:t>
            </a:r>
          </a:p>
          <a:p>
            <a:pPr marL="742950" lvl="1" indent="-285750">
              <a:lnSpc>
                <a:spcPct val="90000"/>
              </a:lnSpc>
            </a:pPr>
            <a:r>
              <a:rPr lang="en-US" sz="2800" dirty="0">
                <a:latin typeface="Tahoma" panose="020B0604030504040204" pitchFamily="34" charset="0"/>
                <a:ea typeface="Tahoma" panose="020B0604030504040204" pitchFamily="34" charset="0"/>
                <a:cs typeface="Tahoma" panose="020B0604030504040204" pitchFamily="34" charset="0"/>
              </a:rPr>
              <a:t>Frame-based</a:t>
            </a:r>
          </a:p>
          <a:p>
            <a:pPr marL="742950" lvl="1" indent="-285750">
              <a:lnSpc>
                <a:spcPct val="90000"/>
              </a:lnSpc>
            </a:pPr>
            <a:r>
              <a:rPr lang="en-US" sz="2800" dirty="0">
                <a:latin typeface="Tahoma" panose="020B0604030504040204" pitchFamily="34" charset="0"/>
                <a:ea typeface="Tahoma" panose="020B0604030504040204" pitchFamily="34" charset="0"/>
                <a:cs typeface="Tahoma" panose="020B0604030504040204" pitchFamily="34" charset="0"/>
              </a:rPr>
              <a:t>Semantic Network, etc.</a:t>
            </a:r>
          </a:p>
          <a:p>
            <a:pPr marL="457200" indent="-457200" algn="just">
              <a:spcBef>
                <a:spcPct val="50000"/>
              </a:spcBef>
              <a:buClr>
                <a:srgbClr val="FF0000"/>
              </a:buClr>
              <a:buSzPct val="75000"/>
              <a:buFont typeface="Wingdings" panose="05000000000000000000" pitchFamily="2" charset="2"/>
              <a:buChar char="q"/>
              <a:defRPr/>
            </a:pPr>
            <a:endParaRPr kumimoji="1" lang="en-US" altLang="ja-JP" sz="2800" dirty="0">
              <a:latin typeface="Tahoma" panose="020B0604030504040204" pitchFamily="34" charset="0"/>
              <a:ea typeface="Tahoma" panose="020B0604030504040204" pitchFamily="34" charset="0"/>
              <a:cs typeface="Tahoma" panose="020B0604030504040204" pitchFamily="34" charset="0"/>
            </a:endParaRPr>
          </a:p>
        </p:txBody>
      </p:sp>
      <p:sp>
        <p:nvSpPr>
          <p:cNvPr id="5" name="TextBox 4"/>
          <p:cNvSpPr txBox="1"/>
          <p:nvPr/>
        </p:nvSpPr>
        <p:spPr>
          <a:xfrm>
            <a:off x="228600" y="228600"/>
            <a:ext cx="8686800" cy="523220"/>
          </a:xfrm>
          <a:prstGeom prst="rect">
            <a:avLst/>
          </a:prstGeom>
          <a:solidFill>
            <a:schemeClr val="tx2">
              <a:lumMod val="20000"/>
              <a:lumOff val="80000"/>
            </a:schemeClr>
          </a:solidFill>
        </p:spPr>
        <p:txBody>
          <a:bodyPr wrap="square" rtlCol="0">
            <a:spAutoFit/>
          </a:bodyPr>
          <a:lstStyle/>
          <a:p>
            <a:pPr algn="ctr">
              <a:defRPr/>
            </a:pPr>
            <a:r>
              <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rPr>
              <a:t>Knowledge Representation System (1 of 6)</a:t>
            </a:r>
            <a:endParaRPr lang="en-US" sz="2800" b="1" dirty="0">
              <a:solidFill>
                <a:srgbClr val="FF0000"/>
              </a:solidFill>
              <a:effectLst>
                <a:outerShdw blurRad="38100" dist="38100" dir="2700000" algn="tl">
                  <a:srgbClr val="C0C0C0"/>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2891459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17</a:t>
            </a:fld>
            <a:endParaRPr lang="en-US" dirty="0"/>
          </a:p>
        </p:txBody>
      </p:sp>
      <p:sp>
        <p:nvSpPr>
          <p:cNvPr id="6" name="Content Placeholder 2"/>
          <p:cNvSpPr txBox="1">
            <a:spLocks/>
          </p:cNvSpPr>
          <p:nvPr/>
        </p:nvSpPr>
        <p:spPr>
          <a:xfrm>
            <a:off x="609600" y="1333500"/>
            <a:ext cx="8534400" cy="5448300"/>
          </a:xfrm>
          <a:prstGeom prst="rect">
            <a:avLst/>
          </a:prstGeom>
        </p:spPr>
        <p:txBody>
          <a:bodyPr>
            <a:noAutofit/>
          </a:bodyPr>
          <a:lstStyle/>
          <a:p>
            <a:pPr>
              <a:lnSpc>
                <a:spcPct val="90000"/>
              </a:lnSpc>
              <a:buFont typeface="Wingdings" panose="05000000000000000000" pitchFamily="2" charset="2"/>
              <a:buChar char="v"/>
            </a:pPr>
            <a:r>
              <a:rPr lang="en-US" sz="2800" dirty="0">
                <a:latin typeface="Tahoma" panose="020B0604030504040204" pitchFamily="34" charset="0"/>
                <a:ea typeface="Tahoma" panose="020B0604030504040204" pitchFamily="34" charset="0"/>
                <a:cs typeface="Tahoma" panose="020B0604030504040204" pitchFamily="34" charset="0"/>
              </a:rPr>
              <a:t>Features:</a:t>
            </a:r>
          </a:p>
          <a:p>
            <a:pPr lvl="1">
              <a:lnSpc>
                <a:spcPct val="90000"/>
              </a:lnSpc>
              <a:buFont typeface="Wingdings" panose="05000000000000000000" pitchFamily="2" charset="2"/>
              <a:buChar char="v"/>
            </a:pPr>
            <a:r>
              <a:rPr lang="en-US" sz="2800" dirty="0">
                <a:latin typeface="Tahoma" panose="020B0604030504040204" pitchFamily="34" charset="0"/>
                <a:ea typeface="Tahoma" panose="020B0604030504040204" pitchFamily="34" charset="0"/>
                <a:cs typeface="Tahoma" panose="020B0604030504040204" pitchFamily="34" charset="0"/>
              </a:rPr>
              <a:t>This is the most popular choice for building knowledge-based systems.</a:t>
            </a:r>
          </a:p>
          <a:p>
            <a:pPr lvl="1">
              <a:lnSpc>
                <a:spcPct val="90000"/>
              </a:lnSpc>
              <a:buFont typeface="Wingdings" panose="05000000000000000000" pitchFamily="2" charset="2"/>
              <a:buChar char="v"/>
            </a:pPr>
            <a:r>
              <a:rPr lang="en-US" sz="2800" dirty="0">
                <a:latin typeface="Tahoma" panose="020B0604030504040204" pitchFamily="34" charset="0"/>
                <a:ea typeface="Tahoma" panose="020B0604030504040204" pitchFamily="34" charset="0"/>
                <a:cs typeface="Tahoma" panose="020B0604030504040204" pitchFamily="34" charset="0"/>
              </a:rPr>
              <a:t>Rule is the most commonly used type of knowledge representation, which can be defined as an    IF-THEN structure.</a:t>
            </a:r>
          </a:p>
        </p:txBody>
      </p:sp>
      <p:sp>
        <p:nvSpPr>
          <p:cNvPr id="5" name="TextBox 4"/>
          <p:cNvSpPr txBox="1"/>
          <p:nvPr/>
        </p:nvSpPr>
        <p:spPr>
          <a:xfrm>
            <a:off x="228600" y="228600"/>
            <a:ext cx="8686800" cy="954107"/>
          </a:xfrm>
          <a:prstGeom prst="rect">
            <a:avLst/>
          </a:prstGeom>
          <a:solidFill>
            <a:schemeClr val="tx2">
              <a:lumMod val="20000"/>
              <a:lumOff val="80000"/>
            </a:schemeClr>
          </a:solidFill>
        </p:spPr>
        <p:txBody>
          <a:bodyPr wrap="square" rtlCol="0">
            <a:spAutoFit/>
          </a:bodyPr>
          <a:lstStyle/>
          <a:p>
            <a:pPr algn="ctr"/>
            <a:r>
              <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rPr>
              <a:t>Knowledge Representation System (2 of 6)</a:t>
            </a:r>
          </a:p>
          <a:p>
            <a:pPr algn="ctr"/>
            <a:r>
              <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rPr>
              <a:t>(Rule-Based)</a:t>
            </a:r>
          </a:p>
        </p:txBody>
      </p:sp>
    </p:spTree>
    <p:extLst>
      <p:ext uri="{BB962C8B-B14F-4D97-AF65-F5344CB8AC3E}">
        <p14:creationId xmlns:p14="http://schemas.microsoft.com/office/powerpoint/2010/main" val="33349245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18</a:t>
            </a:fld>
            <a:endParaRPr lang="en-US" dirty="0"/>
          </a:p>
        </p:txBody>
      </p:sp>
      <p:sp>
        <p:nvSpPr>
          <p:cNvPr id="5" name="TextBox 4"/>
          <p:cNvSpPr txBox="1"/>
          <p:nvPr/>
        </p:nvSpPr>
        <p:spPr>
          <a:xfrm>
            <a:off x="228600" y="228600"/>
            <a:ext cx="8686800" cy="892552"/>
          </a:xfrm>
          <a:prstGeom prst="rect">
            <a:avLst/>
          </a:prstGeom>
          <a:solidFill>
            <a:schemeClr val="tx2">
              <a:lumMod val="20000"/>
              <a:lumOff val="80000"/>
            </a:schemeClr>
          </a:solidFill>
        </p:spPr>
        <p:txBody>
          <a:bodyPr wrap="square" rtlCol="0">
            <a:spAutoFit/>
          </a:bodyPr>
          <a:lstStyle/>
          <a:p>
            <a:pPr algn="ctr"/>
            <a:r>
              <a:rPr lang="en-US" sz="2600" b="1" dirty="0">
                <a:solidFill>
                  <a:srgbClr val="FF0000"/>
                </a:solidFill>
                <a:latin typeface="Tahoma" panose="020B0604030504040204" pitchFamily="34" charset="0"/>
                <a:ea typeface="Tahoma" panose="020B0604030504040204" pitchFamily="34" charset="0"/>
                <a:cs typeface="Tahoma" panose="020B0604030504040204" pitchFamily="34" charset="0"/>
              </a:rPr>
              <a:t>Knowledge Representation </a:t>
            </a:r>
            <a:r>
              <a:rPr lang="en-US" sz="26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System</a:t>
            </a:r>
            <a:r>
              <a:rPr lang="en-US" sz="2600" b="1" dirty="0">
                <a:solidFill>
                  <a:srgbClr val="FF0000"/>
                </a:solidFill>
                <a:latin typeface="Tahoma" panose="020B0604030504040204" pitchFamily="34" charset="0"/>
                <a:ea typeface="Tahoma" panose="020B0604030504040204" pitchFamily="34" charset="0"/>
                <a:cs typeface="Tahoma" panose="020B0604030504040204" pitchFamily="34" charset="0"/>
              </a:rPr>
              <a:t> (3 of 6)</a:t>
            </a:r>
          </a:p>
          <a:p>
            <a:pPr algn="ctr"/>
            <a:r>
              <a:rPr lang="en-US" sz="2600" b="1" dirty="0">
                <a:solidFill>
                  <a:srgbClr val="FF0000"/>
                </a:solidFill>
                <a:latin typeface="Tahoma" panose="020B0604030504040204" pitchFamily="34" charset="0"/>
                <a:ea typeface="Tahoma" panose="020B0604030504040204" pitchFamily="34" charset="0"/>
                <a:cs typeface="Tahoma" panose="020B0604030504040204" pitchFamily="34" charset="0"/>
              </a:rPr>
              <a:t>(Rule-Based)</a:t>
            </a:r>
          </a:p>
        </p:txBody>
      </p:sp>
      <p:sp>
        <p:nvSpPr>
          <p:cNvPr id="8" name="AutoShape 3"/>
          <p:cNvSpPr>
            <a:spLocks noChangeArrowheads="1"/>
          </p:cNvSpPr>
          <p:nvPr/>
        </p:nvSpPr>
        <p:spPr bwMode="auto">
          <a:xfrm>
            <a:off x="5562600" y="2209800"/>
            <a:ext cx="2033588" cy="2206625"/>
          </a:xfrm>
          <a:prstGeom prst="roundRect">
            <a:avLst>
              <a:gd name="adj" fmla="val 16667"/>
            </a:avLst>
          </a:prstGeom>
          <a:gradFill rotWithShape="1">
            <a:gsLst>
              <a:gs pos="0">
                <a:srgbClr val="99CCFF"/>
              </a:gs>
              <a:gs pos="100000">
                <a:srgbClr val="E3F1FF"/>
              </a:gs>
            </a:gsLst>
            <a:lin ang="5400000" scaled="1"/>
          </a:gradFill>
          <a:ln w="38100">
            <a:solidFill>
              <a:srgbClr val="3366FF"/>
            </a:solidFill>
            <a:round/>
            <a:headEnd/>
            <a:tailEnd/>
          </a:ln>
        </p:spPr>
        <p:txBody>
          <a:bodyPr wrap="none" anchor="ct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latinLnBrk="0"/>
            <a:endParaRPr kumimoji="0" lang="en-US" sz="1800" b="0">
              <a:latin typeface="Verdana" panose="020B0604030504040204" pitchFamily="34" charset="0"/>
              <a:cs typeface="Arial" panose="020B0604020202020204" pitchFamily="34" charset="0"/>
            </a:endParaRPr>
          </a:p>
        </p:txBody>
      </p:sp>
      <p:sp>
        <p:nvSpPr>
          <p:cNvPr id="9" name="Text Box 4"/>
          <p:cNvSpPr txBox="1">
            <a:spLocks noChangeArrowheads="1"/>
          </p:cNvSpPr>
          <p:nvPr/>
        </p:nvSpPr>
        <p:spPr bwMode="auto">
          <a:xfrm>
            <a:off x="5715000" y="2392363"/>
            <a:ext cx="1830388" cy="104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algn="l" latinLnBrk="0"/>
            <a:r>
              <a:rPr kumimoji="0" lang="en-US" sz="2000">
                <a:solidFill>
                  <a:srgbClr val="000000"/>
                </a:solidFill>
                <a:latin typeface="Arial" panose="020B0604020202020204" pitchFamily="34" charset="0"/>
                <a:cs typeface="Arial" panose="020B0604020202020204" pitchFamily="34" charset="0"/>
              </a:rPr>
              <a:t>THEN PART</a:t>
            </a:r>
            <a:r>
              <a:rPr kumimoji="0" lang="en-US" sz="1800" b="0">
                <a:solidFill>
                  <a:srgbClr val="000000"/>
                </a:solidFill>
                <a:latin typeface="Arial" panose="020B0604020202020204" pitchFamily="34" charset="0"/>
                <a:cs typeface="Arial" panose="020B0604020202020204" pitchFamily="34" charset="0"/>
              </a:rPr>
              <a:t> </a:t>
            </a:r>
          </a:p>
          <a:p>
            <a:pPr algn="l" latinLnBrk="0">
              <a:buFont typeface="Arial" panose="020B0604020202020204" pitchFamily="34" charset="0"/>
              <a:buChar char="•"/>
            </a:pPr>
            <a:r>
              <a:rPr kumimoji="0" lang="en-US" sz="1400" b="0">
                <a:solidFill>
                  <a:srgbClr val="000000"/>
                </a:solidFill>
                <a:latin typeface="Arial" panose="020B0604020202020204" pitchFamily="34" charset="0"/>
                <a:cs typeface="Arial" panose="020B0604020202020204" pitchFamily="34" charset="0"/>
              </a:rPr>
              <a:t> It is called consequent or conclusion or action.</a:t>
            </a:r>
          </a:p>
        </p:txBody>
      </p:sp>
      <p:sp>
        <p:nvSpPr>
          <p:cNvPr id="10" name="AutoShape 5"/>
          <p:cNvSpPr>
            <a:spLocks noChangeArrowheads="1"/>
          </p:cNvSpPr>
          <p:nvPr/>
        </p:nvSpPr>
        <p:spPr bwMode="auto">
          <a:xfrm>
            <a:off x="1295400" y="2057400"/>
            <a:ext cx="2033588" cy="2206625"/>
          </a:xfrm>
          <a:prstGeom prst="roundRect">
            <a:avLst>
              <a:gd name="adj" fmla="val 16667"/>
            </a:avLst>
          </a:prstGeom>
          <a:gradFill rotWithShape="1">
            <a:gsLst>
              <a:gs pos="0">
                <a:srgbClr val="99CCFF"/>
              </a:gs>
              <a:gs pos="100000">
                <a:srgbClr val="E3F1FF"/>
              </a:gs>
            </a:gsLst>
            <a:lin ang="5400000" scaled="1"/>
          </a:gradFill>
          <a:ln w="38100">
            <a:solidFill>
              <a:srgbClr val="3366FF"/>
            </a:solidFill>
            <a:round/>
            <a:headEnd/>
            <a:tailEnd/>
          </a:ln>
        </p:spPr>
        <p:txBody>
          <a:bodyPr wrap="none" anchor="ct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latinLnBrk="0"/>
            <a:endParaRPr kumimoji="0" lang="en-US" sz="1800" b="0">
              <a:latin typeface="Verdana" panose="020B0604030504040204" pitchFamily="34" charset="0"/>
              <a:cs typeface="Arial" panose="020B0604020202020204" pitchFamily="34" charset="0"/>
            </a:endParaRPr>
          </a:p>
        </p:txBody>
      </p:sp>
      <p:sp>
        <p:nvSpPr>
          <p:cNvPr id="11" name="Text Box 6"/>
          <p:cNvSpPr txBox="1">
            <a:spLocks noChangeArrowheads="1"/>
          </p:cNvSpPr>
          <p:nvPr/>
        </p:nvSpPr>
        <p:spPr bwMode="auto">
          <a:xfrm>
            <a:off x="1447800" y="2362200"/>
            <a:ext cx="1812925" cy="135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algn="l" latinLnBrk="0"/>
            <a:r>
              <a:rPr kumimoji="0" lang="en-US" sz="2000" dirty="0">
                <a:solidFill>
                  <a:srgbClr val="000000"/>
                </a:solidFill>
                <a:latin typeface="Arial" panose="020B0604020202020204" pitchFamily="34" charset="0"/>
                <a:cs typeface="Arial" panose="020B0604020202020204" pitchFamily="34" charset="0"/>
              </a:rPr>
              <a:t>IF Part</a:t>
            </a:r>
          </a:p>
          <a:p>
            <a:pPr algn="l" latinLnBrk="0">
              <a:buFont typeface="Arial" panose="020B0604020202020204" pitchFamily="34" charset="0"/>
              <a:buChar char="•"/>
            </a:pPr>
            <a:r>
              <a:rPr kumimoji="0" lang="en-US" sz="2000" dirty="0">
                <a:solidFill>
                  <a:srgbClr val="000000"/>
                </a:solidFill>
                <a:latin typeface="Arial" panose="020B0604020202020204" pitchFamily="34" charset="0"/>
                <a:cs typeface="Arial" panose="020B0604020202020204" pitchFamily="34" charset="0"/>
              </a:rPr>
              <a:t> </a:t>
            </a:r>
            <a:r>
              <a:rPr kumimoji="0" lang="en-US" sz="1400" b="0" dirty="0">
                <a:solidFill>
                  <a:srgbClr val="000000"/>
                </a:solidFill>
                <a:latin typeface="Arial" panose="020B0604020202020204" pitchFamily="34" charset="0"/>
                <a:cs typeface="Arial" panose="020B0604020202020204" pitchFamily="34" charset="0"/>
              </a:rPr>
              <a:t>It is called antecedent or premise or condition.</a:t>
            </a:r>
          </a:p>
        </p:txBody>
      </p:sp>
      <p:sp>
        <p:nvSpPr>
          <p:cNvPr id="12" name="AutoShape 7"/>
          <p:cNvSpPr>
            <a:spLocks noChangeAspect="1" noChangeArrowheads="1" noTextEdit="1"/>
          </p:cNvSpPr>
          <p:nvPr/>
        </p:nvSpPr>
        <p:spPr bwMode="gray">
          <a:xfrm>
            <a:off x="3222625" y="2476500"/>
            <a:ext cx="809625" cy="110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 name="Freeform 8"/>
          <p:cNvSpPr>
            <a:spLocks/>
          </p:cNvSpPr>
          <p:nvPr/>
        </p:nvSpPr>
        <p:spPr bwMode="gray">
          <a:xfrm>
            <a:off x="3222625" y="2209800"/>
            <a:ext cx="803275" cy="1027113"/>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bg1"/>
              </a:gs>
              <a:gs pos="100000">
                <a:schemeClr val="bg1">
                  <a:gamma/>
                  <a:tint val="31765"/>
                  <a:invGamma/>
                </a:schemeClr>
              </a:gs>
            </a:gsLst>
            <a:lin ang="0" scaled="1"/>
          </a:gradFill>
          <a:ln w="0">
            <a:noFill/>
            <a:prstDash val="solid"/>
            <a:round/>
            <a:headEnd/>
            <a:tailEnd/>
          </a:ln>
        </p:spPr>
        <p:txBody>
          <a:bodyPr/>
          <a:lstStyle/>
          <a:p>
            <a:pPr algn="l" latinLnBrk="0">
              <a:defRPr/>
            </a:pPr>
            <a:endParaRPr kumimoji="0" lang="en-US" sz="1800" b="0">
              <a:latin typeface="Arial" charset="0"/>
              <a:ea typeface="+mn-ea"/>
            </a:endParaRPr>
          </a:p>
        </p:txBody>
      </p:sp>
      <p:sp>
        <p:nvSpPr>
          <p:cNvPr id="14" name="AutoShape 9"/>
          <p:cNvSpPr>
            <a:spLocks noChangeAspect="1" noChangeArrowheads="1" noTextEdit="1"/>
          </p:cNvSpPr>
          <p:nvPr/>
        </p:nvSpPr>
        <p:spPr bwMode="gray">
          <a:xfrm flipH="1">
            <a:off x="4868863" y="2476500"/>
            <a:ext cx="809625" cy="110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 name="Freeform 10"/>
          <p:cNvSpPr>
            <a:spLocks/>
          </p:cNvSpPr>
          <p:nvPr/>
        </p:nvSpPr>
        <p:spPr bwMode="gray">
          <a:xfrm flipH="1">
            <a:off x="4875213" y="2209800"/>
            <a:ext cx="803275" cy="1027113"/>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1"/>
              </a:gs>
              <a:gs pos="100000">
                <a:schemeClr val="accent1">
                  <a:gamma/>
                  <a:tint val="31765"/>
                  <a:invGamma/>
                </a:schemeClr>
              </a:gs>
            </a:gsLst>
            <a:lin ang="0" scaled="1"/>
          </a:gradFill>
          <a:ln w="0">
            <a:noFill/>
            <a:prstDash val="solid"/>
            <a:round/>
            <a:headEnd/>
            <a:tailEnd/>
          </a:ln>
        </p:spPr>
        <p:txBody>
          <a:bodyPr/>
          <a:lstStyle/>
          <a:p>
            <a:pPr algn="l" latinLnBrk="0">
              <a:defRPr/>
            </a:pPr>
            <a:endParaRPr kumimoji="0" lang="en-US" sz="1800" b="0">
              <a:latin typeface="Arial" charset="0"/>
              <a:ea typeface="+mn-ea"/>
            </a:endParaRPr>
          </a:p>
        </p:txBody>
      </p:sp>
      <p:grpSp>
        <p:nvGrpSpPr>
          <p:cNvPr id="16" name="Group 11"/>
          <p:cNvGrpSpPr>
            <a:grpSpLocks/>
          </p:cNvGrpSpPr>
          <p:nvPr/>
        </p:nvGrpSpPr>
        <p:grpSpPr bwMode="auto">
          <a:xfrm>
            <a:off x="3048000" y="990600"/>
            <a:ext cx="2667000" cy="1325563"/>
            <a:chOff x="1997" y="1314"/>
            <a:chExt cx="1889" cy="1009"/>
          </a:xfrm>
        </p:grpSpPr>
        <p:grpSp>
          <p:nvGrpSpPr>
            <p:cNvPr id="17" name="Group 12"/>
            <p:cNvGrpSpPr>
              <a:grpSpLocks/>
            </p:cNvGrpSpPr>
            <p:nvPr/>
          </p:nvGrpSpPr>
          <p:grpSpPr bwMode="auto">
            <a:xfrm>
              <a:off x="1997" y="1404"/>
              <a:ext cx="1889" cy="919"/>
              <a:chOff x="1973" y="1027"/>
              <a:chExt cx="1926" cy="937"/>
            </a:xfrm>
          </p:grpSpPr>
          <p:sp>
            <p:nvSpPr>
              <p:cNvPr id="22" name="Oval 13"/>
              <p:cNvSpPr>
                <a:spLocks noChangeArrowheads="1"/>
              </p:cNvSpPr>
              <p:nvPr/>
            </p:nvSpPr>
            <p:spPr bwMode="gray">
              <a:xfrm>
                <a:off x="1994" y="1056"/>
                <a:ext cx="1905" cy="908"/>
              </a:xfrm>
              <a:prstGeom prst="ellipse">
                <a:avLst/>
              </a:prstGeom>
              <a:gradFill rotWithShape="1">
                <a:gsLst>
                  <a:gs pos="0">
                    <a:schemeClr val="hlink"/>
                  </a:gs>
                  <a:gs pos="100000">
                    <a:schemeClr val="hlink">
                      <a:gamma/>
                      <a:shade val="48627"/>
                      <a:invGamma/>
                    </a:schemeClr>
                  </a:gs>
                </a:gsLst>
                <a:lin ang="2700000" scaled="1"/>
              </a:gradFill>
              <a:ln w="9525">
                <a:noFill/>
                <a:round/>
                <a:headEnd/>
                <a:tailEnd/>
              </a:ln>
              <a:effectLst/>
            </p:spPr>
            <p:txBody>
              <a:bodyPr wrap="none" anchor="ctr"/>
              <a:lstStyle/>
              <a:p>
                <a:pPr algn="l" latinLnBrk="0">
                  <a:defRPr/>
                </a:pPr>
                <a:endParaRPr kumimoji="0" lang="en-US" sz="1800" b="0">
                  <a:latin typeface="Arial" charset="0"/>
                  <a:ea typeface="+mn-ea"/>
                </a:endParaRPr>
              </a:p>
            </p:txBody>
          </p:sp>
          <p:sp>
            <p:nvSpPr>
              <p:cNvPr id="23" name="Oval 14"/>
              <p:cNvSpPr>
                <a:spLocks noChangeArrowheads="1"/>
              </p:cNvSpPr>
              <p:nvPr/>
            </p:nvSpPr>
            <p:spPr bwMode="gray">
              <a:xfrm>
                <a:off x="1973" y="1024"/>
                <a:ext cx="1905" cy="910"/>
              </a:xfrm>
              <a:prstGeom prst="ellipse">
                <a:avLst/>
              </a:prstGeom>
              <a:gradFill rotWithShape="1">
                <a:gsLst>
                  <a:gs pos="0">
                    <a:schemeClr val="hlink">
                      <a:gamma/>
                      <a:tint val="44314"/>
                      <a:invGamma/>
                    </a:schemeClr>
                  </a:gs>
                  <a:gs pos="100000">
                    <a:schemeClr val="hlink"/>
                  </a:gs>
                </a:gsLst>
                <a:lin ang="2700000" scaled="1"/>
              </a:gradFill>
              <a:ln w="9525">
                <a:noFill/>
                <a:round/>
                <a:headEnd/>
                <a:tailEnd/>
              </a:ln>
              <a:effectLst/>
            </p:spPr>
            <p:txBody>
              <a:bodyPr wrap="none" anchor="ctr"/>
              <a:lstStyle/>
              <a:p>
                <a:pPr algn="l" latinLnBrk="0">
                  <a:defRPr/>
                </a:pPr>
                <a:endParaRPr kumimoji="0" lang="en-US" sz="1800" b="0">
                  <a:latin typeface="Arial" charset="0"/>
                  <a:ea typeface="+mn-ea"/>
                </a:endParaRPr>
              </a:p>
            </p:txBody>
          </p:sp>
        </p:grpSp>
        <p:sp>
          <p:nvSpPr>
            <p:cNvPr id="18" name="Oval 15"/>
            <p:cNvSpPr>
              <a:spLocks noChangeArrowheads="1"/>
            </p:cNvSpPr>
            <p:nvPr/>
          </p:nvSpPr>
          <p:spPr bwMode="gray">
            <a:xfrm>
              <a:off x="2086" y="1314"/>
              <a:ext cx="1691" cy="845"/>
            </a:xfrm>
            <a:prstGeom prst="ellipse">
              <a:avLst/>
            </a:prstGeom>
            <a:gradFill rotWithShape="1">
              <a:gsLst>
                <a:gs pos="0">
                  <a:schemeClr val="accent1">
                    <a:gamma/>
                    <a:shade val="46275"/>
                    <a:invGamma/>
                  </a:schemeClr>
                </a:gs>
                <a:gs pos="100000">
                  <a:schemeClr val="accent1"/>
                </a:gs>
              </a:gsLst>
              <a:lin ang="2700000" scaled="1"/>
            </a:gradFill>
            <a:ln w="9525" algn="ctr">
              <a:noFill/>
              <a:round/>
              <a:headEnd/>
              <a:tailEnd/>
            </a:ln>
            <a:effectLst/>
          </p:spPr>
          <p:txBody>
            <a:bodyPr vert="eaVert" wrap="none" anchor="ctr"/>
            <a:lstStyle/>
            <a:p>
              <a:pPr algn="l" latinLnBrk="0">
                <a:defRPr/>
              </a:pPr>
              <a:endParaRPr kumimoji="0" lang="en-US" sz="1800" b="0">
                <a:latin typeface="Arial" charset="0"/>
                <a:ea typeface="+mn-ea"/>
              </a:endParaRPr>
            </a:p>
          </p:txBody>
        </p:sp>
        <p:sp>
          <p:nvSpPr>
            <p:cNvPr id="19" name="Oval 16"/>
            <p:cNvSpPr>
              <a:spLocks noChangeArrowheads="1"/>
            </p:cNvSpPr>
            <p:nvPr/>
          </p:nvSpPr>
          <p:spPr bwMode="gray">
            <a:xfrm>
              <a:off x="2108" y="1319"/>
              <a:ext cx="1650" cy="824"/>
            </a:xfrm>
            <a:prstGeom prst="ellipse">
              <a:avLst/>
            </a:prstGeom>
            <a:gradFill rotWithShape="1">
              <a:gsLst>
                <a:gs pos="0">
                  <a:schemeClr val="accent1">
                    <a:alpha val="0"/>
                  </a:schemeClr>
                </a:gs>
                <a:gs pos="100000">
                  <a:schemeClr val="accent1">
                    <a:gamma/>
                    <a:tint val="34902"/>
                    <a:invGamma/>
                  </a:schemeClr>
                </a:gs>
              </a:gsLst>
              <a:lin ang="2700000" scaled="1"/>
            </a:gradFill>
            <a:ln w="9525" algn="ctr">
              <a:noFill/>
              <a:round/>
              <a:headEnd/>
              <a:tailEnd/>
            </a:ln>
            <a:effectLst/>
          </p:spPr>
          <p:txBody>
            <a:bodyPr vert="eaVert" wrap="none" anchor="ctr"/>
            <a:lstStyle/>
            <a:p>
              <a:pPr algn="l" latinLnBrk="0">
                <a:defRPr/>
              </a:pPr>
              <a:endParaRPr kumimoji="0" lang="en-US" sz="1800" b="0">
                <a:latin typeface="Arial" charset="0"/>
                <a:ea typeface="+mn-ea"/>
              </a:endParaRPr>
            </a:p>
          </p:txBody>
        </p:sp>
        <p:sp>
          <p:nvSpPr>
            <p:cNvPr id="20" name="Oval 17"/>
            <p:cNvSpPr>
              <a:spLocks noChangeArrowheads="1"/>
            </p:cNvSpPr>
            <p:nvPr/>
          </p:nvSpPr>
          <p:spPr bwMode="gray">
            <a:xfrm>
              <a:off x="2125" y="1327"/>
              <a:ext cx="1570" cy="770"/>
            </a:xfrm>
            <a:prstGeom prst="ellipse">
              <a:avLst/>
            </a:prstGeom>
            <a:gradFill rotWithShape="1">
              <a:gsLst>
                <a:gs pos="0">
                  <a:schemeClr val="accent1">
                    <a:gamma/>
                    <a:shade val="79216"/>
                    <a:invGamma/>
                  </a:schemeClr>
                </a:gs>
                <a:gs pos="100000">
                  <a:schemeClr val="accent1">
                    <a:alpha val="48000"/>
                  </a:schemeClr>
                </a:gs>
              </a:gsLst>
              <a:lin ang="2700000" scaled="1"/>
            </a:gradFill>
            <a:ln w="9525" algn="ctr">
              <a:noFill/>
              <a:round/>
              <a:headEnd/>
              <a:tailEnd/>
            </a:ln>
            <a:effectLst/>
          </p:spPr>
          <p:txBody>
            <a:bodyPr vert="eaVert" wrap="none" anchor="ctr"/>
            <a:lstStyle/>
            <a:p>
              <a:pPr algn="l" latinLnBrk="0">
                <a:defRPr/>
              </a:pPr>
              <a:endParaRPr kumimoji="0" lang="en-US" sz="1800" b="0">
                <a:latin typeface="Arial" charset="0"/>
                <a:ea typeface="+mn-ea"/>
              </a:endParaRPr>
            </a:p>
          </p:txBody>
        </p:sp>
        <p:sp>
          <p:nvSpPr>
            <p:cNvPr id="21" name="Oval 18"/>
            <p:cNvSpPr>
              <a:spLocks noChangeArrowheads="1"/>
            </p:cNvSpPr>
            <p:nvPr/>
          </p:nvSpPr>
          <p:spPr bwMode="gray">
            <a:xfrm>
              <a:off x="2208" y="1344"/>
              <a:ext cx="1382" cy="624"/>
            </a:xfrm>
            <a:prstGeom prst="ellipse">
              <a:avLst/>
            </a:prstGeom>
            <a:gradFill rotWithShape="1">
              <a:gsLst>
                <a:gs pos="0">
                  <a:schemeClr val="accent1">
                    <a:gamma/>
                    <a:tint val="0"/>
                    <a:invGamma/>
                  </a:schemeClr>
                </a:gs>
                <a:gs pos="100000">
                  <a:schemeClr val="accent1">
                    <a:alpha val="38000"/>
                  </a:schemeClr>
                </a:gs>
              </a:gsLst>
              <a:lin ang="2700000" scaled="1"/>
            </a:gradFill>
            <a:ln w="9525" algn="ctr">
              <a:noFill/>
              <a:round/>
              <a:headEnd/>
              <a:tailEnd/>
            </a:ln>
            <a:effectLst/>
          </p:spPr>
          <p:txBody>
            <a:bodyPr vert="eaVert" wrap="none" anchor="ctr"/>
            <a:lstStyle/>
            <a:p>
              <a:pPr algn="l" latinLnBrk="0">
                <a:defRPr/>
              </a:pPr>
              <a:endParaRPr kumimoji="0" lang="en-US" sz="1800" b="0">
                <a:latin typeface="Arial" charset="0"/>
                <a:ea typeface="+mn-ea"/>
              </a:endParaRPr>
            </a:p>
          </p:txBody>
        </p:sp>
      </p:grpSp>
      <p:sp>
        <p:nvSpPr>
          <p:cNvPr id="24" name="Text Box 19"/>
          <p:cNvSpPr txBox="1">
            <a:spLocks noChangeArrowheads="1"/>
          </p:cNvSpPr>
          <p:nvPr/>
        </p:nvSpPr>
        <p:spPr bwMode="auto">
          <a:xfrm>
            <a:off x="3778250" y="1141413"/>
            <a:ext cx="11747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latinLnBrk="0"/>
            <a:r>
              <a:rPr kumimoji="0" lang="en-US">
                <a:solidFill>
                  <a:srgbClr val="000000"/>
                </a:solidFill>
                <a:latin typeface="Arial" panose="020B0604020202020204" pitchFamily="34" charset="0"/>
                <a:cs typeface="Arial" panose="020B0604020202020204" pitchFamily="34" charset="0"/>
              </a:rPr>
              <a:t>Rules</a:t>
            </a:r>
          </a:p>
        </p:txBody>
      </p:sp>
      <p:sp>
        <p:nvSpPr>
          <p:cNvPr id="25" name="Rectangle 34"/>
          <p:cNvSpPr>
            <a:spLocks noChangeArrowheads="1"/>
          </p:cNvSpPr>
          <p:nvPr/>
        </p:nvSpPr>
        <p:spPr bwMode="auto">
          <a:xfrm>
            <a:off x="-152400" y="4799013"/>
            <a:ext cx="4572000" cy="83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sz="2400" b="1">
                <a:solidFill>
                  <a:schemeClr val="tx1"/>
                </a:solidFill>
                <a:latin typeface="Times New Roman" panose="02020603050405020304" pitchFamily="18" charset="0"/>
                <a:ea typeface="Gulim" pitchFamily="34" charset="-127"/>
              </a:defRPr>
            </a:lvl1pPr>
            <a:lvl2pPr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lvl="1" algn="l" eaLnBrk="1" latinLnBrk="0" hangingPunct="1">
              <a:lnSpc>
                <a:spcPct val="90000"/>
              </a:lnSpc>
            </a:pPr>
            <a:r>
              <a:rPr kumimoji="0" lang="en-US" sz="1800" b="0" dirty="0">
                <a:solidFill>
                  <a:schemeClr val="tx2"/>
                </a:solidFill>
                <a:latin typeface="Arial" panose="020B0604020202020204" pitchFamily="34" charset="0"/>
                <a:cs typeface="Arial" panose="020B0604020202020204" pitchFamily="34" charset="0"/>
              </a:rPr>
              <a:t>So, the basic construct is-</a:t>
            </a:r>
          </a:p>
          <a:p>
            <a:pPr lvl="1" algn="l" eaLnBrk="1" latinLnBrk="0" hangingPunct="1">
              <a:lnSpc>
                <a:spcPct val="90000"/>
              </a:lnSpc>
            </a:pPr>
            <a:r>
              <a:rPr kumimoji="0" lang="en-US" sz="1800" b="0" dirty="0">
                <a:solidFill>
                  <a:schemeClr val="tx2"/>
                </a:solidFill>
                <a:latin typeface="Arial" panose="020B0604020202020204" pitchFamily="34" charset="0"/>
                <a:cs typeface="Arial" panose="020B0604020202020204" pitchFamily="34" charset="0"/>
              </a:rPr>
              <a:t>IF 		&lt;antecedent&gt;</a:t>
            </a:r>
          </a:p>
          <a:p>
            <a:pPr lvl="1" algn="l" eaLnBrk="1" latinLnBrk="0" hangingPunct="1">
              <a:lnSpc>
                <a:spcPct val="90000"/>
              </a:lnSpc>
            </a:pPr>
            <a:r>
              <a:rPr kumimoji="0" lang="en-US" sz="1800" b="0" dirty="0">
                <a:solidFill>
                  <a:schemeClr val="tx2"/>
                </a:solidFill>
                <a:latin typeface="Arial" panose="020B0604020202020204" pitchFamily="34" charset="0"/>
                <a:cs typeface="Arial" panose="020B0604020202020204" pitchFamily="34" charset="0"/>
              </a:rPr>
              <a:t>THEN 	&lt;consequent&gt;</a:t>
            </a:r>
          </a:p>
        </p:txBody>
      </p:sp>
      <p:sp>
        <p:nvSpPr>
          <p:cNvPr id="26" name="Rectangle 35"/>
          <p:cNvSpPr>
            <a:spLocks noChangeArrowheads="1"/>
          </p:cNvSpPr>
          <p:nvPr/>
        </p:nvSpPr>
        <p:spPr bwMode="auto">
          <a:xfrm>
            <a:off x="4419600" y="4495800"/>
            <a:ext cx="4572000"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sz="2400" b="1">
                <a:solidFill>
                  <a:schemeClr val="tx1"/>
                </a:solidFill>
                <a:latin typeface="Times New Roman" panose="02020603050405020304" pitchFamily="18" charset="0"/>
                <a:ea typeface="Gulim" pitchFamily="34" charset="-127"/>
              </a:defRPr>
            </a:lvl1pPr>
            <a:lvl2pPr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lvl="1" algn="l" eaLnBrk="1" latinLnBrk="0" hangingPunct="1">
              <a:lnSpc>
                <a:spcPct val="90000"/>
              </a:lnSpc>
            </a:pPr>
            <a:r>
              <a:rPr kumimoji="0" lang="en-US" sz="1800" b="0">
                <a:solidFill>
                  <a:schemeClr val="tx2"/>
                </a:solidFill>
                <a:latin typeface="Arial" panose="020B0604020202020204" pitchFamily="34" charset="0"/>
                <a:cs typeface="Arial" panose="020B0604020202020204" pitchFamily="34" charset="0"/>
              </a:rPr>
              <a:t>An Example of this construct</a:t>
            </a:r>
          </a:p>
          <a:p>
            <a:pPr lvl="1" algn="l" eaLnBrk="1" latinLnBrk="0" hangingPunct="1">
              <a:lnSpc>
                <a:spcPct val="90000"/>
              </a:lnSpc>
            </a:pPr>
            <a:r>
              <a:rPr kumimoji="0" lang="en-US" sz="1800" b="0">
                <a:solidFill>
                  <a:srgbClr val="FF0000"/>
                </a:solidFill>
                <a:latin typeface="Arial" panose="020B0604020202020204" pitchFamily="34" charset="0"/>
                <a:cs typeface="Arial" panose="020B0604020202020204" pitchFamily="34" charset="0"/>
              </a:rPr>
              <a:t>RULE #1</a:t>
            </a:r>
          </a:p>
          <a:p>
            <a:pPr lvl="1" algn="l" eaLnBrk="1" latinLnBrk="0" hangingPunct="1">
              <a:lnSpc>
                <a:spcPct val="90000"/>
              </a:lnSpc>
            </a:pPr>
            <a:r>
              <a:rPr kumimoji="0" lang="en-US" sz="1800" b="0">
                <a:solidFill>
                  <a:schemeClr val="tx2"/>
                </a:solidFill>
                <a:latin typeface="Arial" panose="020B0604020202020204" pitchFamily="34" charset="0"/>
                <a:cs typeface="Arial" panose="020B0604020202020204" pitchFamily="34" charset="0"/>
              </a:rPr>
              <a:t>IF 		the ‘traffic light’ is green</a:t>
            </a:r>
          </a:p>
          <a:p>
            <a:pPr lvl="1" algn="l" eaLnBrk="1" latinLnBrk="0" hangingPunct="1">
              <a:lnSpc>
                <a:spcPct val="90000"/>
              </a:lnSpc>
            </a:pPr>
            <a:r>
              <a:rPr kumimoji="0" lang="en-US" sz="1800" b="0">
                <a:solidFill>
                  <a:schemeClr val="tx2"/>
                </a:solidFill>
                <a:latin typeface="Arial" panose="020B0604020202020204" pitchFamily="34" charset="0"/>
                <a:cs typeface="Arial" panose="020B0604020202020204" pitchFamily="34" charset="0"/>
              </a:rPr>
              <a:t>THEN 	the action is go</a:t>
            </a:r>
          </a:p>
          <a:p>
            <a:pPr lvl="1" algn="l" eaLnBrk="1" latinLnBrk="0" hangingPunct="1">
              <a:lnSpc>
                <a:spcPct val="90000"/>
              </a:lnSpc>
            </a:pPr>
            <a:r>
              <a:rPr kumimoji="0" lang="en-US" sz="1800" b="0">
                <a:solidFill>
                  <a:srgbClr val="FF0000"/>
                </a:solidFill>
                <a:latin typeface="Arial" panose="020B0604020202020204" pitchFamily="34" charset="0"/>
                <a:cs typeface="Arial" panose="020B0604020202020204" pitchFamily="34" charset="0"/>
              </a:rPr>
              <a:t>RULE #2</a:t>
            </a:r>
          </a:p>
          <a:p>
            <a:pPr lvl="1" algn="l" eaLnBrk="1" latinLnBrk="0" hangingPunct="1">
              <a:lnSpc>
                <a:spcPct val="90000"/>
              </a:lnSpc>
            </a:pPr>
            <a:r>
              <a:rPr kumimoji="0" lang="en-US" sz="1800" b="0">
                <a:solidFill>
                  <a:schemeClr val="tx2"/>
                </a:solidFill>
                <a:latin typeface="Arial" panose="020B0604020202020204" pitchFamily="34" charset="0"/>
                <a:cs typeface="Arial" panose="020B0604020202020204" pitchFamily="34" charset="0"/>
              </a:rPr>
              <a:t>IF 		the ‘traffic light’ is red</a:t>
            </a:r>
          </a:p>
          <a:p>
            <a:pPr lvl="1" algn="l" eaLnBrk="1" latinLnBrk="0" hangingPunct="1">
              <a:lnSpc>
                <a:spcPct val="90000"/>
              </a:lnSpc>
            </a:pPr>
            <a:r>
              <a:rPr kumimoji="0" lang="en-US" sz="1800" b="0">
                <a:solidFill>
                  <a:schemeClr val="tx2"/>
                </a:solidFill>
                <a:latin typeface="Arial" panose="020B0604020202020204" pitchFamily="34" charset="0"/>
                <a:cs typeface="Arial" panose="020B0604020202020204" pitchFamily="34" charset="0"/>
              </a:rPr>
              <a:t>THEN 	the action is stop</a:t>
            </a:r>
          </a:p>
          <a:p>
            <a:pPr lvl="1" algn="l" eaLnBrk="1" latinLnBrk="0" hangingPunct="1">
              <a:lnSpc>
                <a:spcPct val="90000"/>
              </a:lnSpc>
            </a:pPr>
            <a:endParaRPr kumimoji="0" lang="en-US" sz="1800" b="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2850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down)">
                                      <p:cBhvr>
                                        <p:cTn id="1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utoUpdateAnimBg="0"/>
      <p:bldP spid="26"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19</a:t>
            </a:fld>
            <a:endParaRPr lang="en-US" dirty="0"/>
          </a:p>
        </p:txBody>
      </p:sp>
      <p:sp>
        <p:nvSpPr>
          <p:cNvPr id="6" name="Content Placeholder 2"/>
          <p:cNvSpPr txBox="1">
            <a:spLocks/>
          </p:cNvSpPr>
          <p:nvPr/>
        </p:nvSpPr>
        <p:spPr>
          <a:xfrm>
            <a:off x="609600" y="1333500"/>
            <a:ext cx="8534400" cy="5448300"/>
          </a:xfrm>
          <a:prstGeom prst="rect">
            <a:avLst/>
          </a:prstGeom>
        </p:spPr>
        <p:txBody>
          <a:bodyPr>
            <a:noAutofit/>
          </a:bodyPr>
          <a:lstStyle/>
          <a:p>
            <a:pPr>
              <a:buFont typeface="Wingdings" panose="05000000000000000000" pitchFamily="2" charset="2"/>
              <a:buChar char="v"/>
            </a:pPr>
            <a:r>
              <a:rPr lang="en-US" sz="2800" dirty="0">
                <a:latin typeface="Times New Roman" panose="02020603050405020304" pitchFamily="18" charset="0"/>
              </a:rPr>
              <a:t>A rule can have multiple antecedents joined by the keywords AND, OR </a:t>
            </a:r>
            <a:r>
              <a:rPr lang="en-US" sz="2800" dirty="0" err="1">
                <a:latin typeface="Times New Roman" panose="02020603050405020304" pitchFamily="18" charset="0"/>
              </a:rPr>
              <a:t>or</a:t>
            </a:r>
            <a:r>
              <a:rPr lang="en-US" sz="2800" dirty="0">
                <a:latin typeface="Times New Roman" panose="02020603050405020304" pitchFamily="18" charset="0"/>
              </a:rPr>
              <a:t> a combination of both.</a:t>
            </a:r>
          </a:p>
          <a:p>
            <a:r>
              <a:rPr lang="en-US" sz="2800" dirty="0">
                <a:latin typeface="Times New Roman" panose="02020603050405020304" pitchFamily="18" charset="0"/>
              </a:rPr>
              <a:t>For example,</a:t>
            </a:r>
          </a:p>
          <a:p>
            <a:r>
              <a:rPr lang="en-US" sz="2800" dirty="0">
                <a:solidFill>
                  <a:srgbClr val="FF0000"/>
                </a:solidFill>
                <a:latin typeface="Times New Roman" panose="02020603050405020304" pitchFamily="18" charset="0"/>
              </a:rPr>
              <a:t>RULE#3</a:t>
            </a:r>
          </a:p>
          <a:p>
            <a:r>
              <a:rPr lang="en-US" sz="2800" dirty="0">
                <a:latin typeface="Times New Roman" panose="02020603050405020304" pitchFamily="18" charset="0"/>
              </a:rPr>
              <a:t>IF ‘age of the customer’ &lt; 18</a:t>
            </a:r>
          </a:p>
          <a:p>
            <a:r>
              <a:rPr lang="en-US" sz="2800" dirty="0">
                <a:latin typeface="Times New Roman" panose="02020603050405020304" pitchFamily="18" charset="0"/>
              </a:rPr>
              <a:t>AND ‘cash withdrawal’ &gt; 1000</a:t>
            </a:r>
          </a:p>
          <a:p>
            <a:r>
              <a:rPr lang="en-US" sz="2800" dirty="0">
                <a:latin typeface="Times New Roman" panose="02020603050405020304" pitchFamily="18" charset="0"/>
              </a:rPr>
              <a:t>THEN ‘signature of the parent’ is required.</a:t>
            </a:r>
          </a:p>
        </p:txBody>
      </p:sp>
      <p:sp>
        <p:nvSpPr>
          <p:cNvPr id="5" name="TextBox 4"/>
          <p:cNvSpPr txBox="1"/>
          <p:nvPr/>
        </p:nvSpPr>
        <p:spPr>
          <a:xfrm>
            <a:off x="228600" y="228600"/>
            <a:ext cx="8686800" cy="954107"/>
          </a:xfrm>
          <a:prstGeom prst="rect">
            <a:avLst/>
          </a:prstGeom>
          <a:solidFill>
            <a:schemeClr val="tx2">
              <a:lumMod val="20000"/>
              <a:lumOff val="80000"/>
            </a:schemeClr>
          </a:solidFill>
        </p:spPr>
        <p:txBody>
          <a:bodyPr wrap="square" rtlCol="0">
            <a:spAutoFit/>
          </a:bodyPr>
          <a:lstStyle/>
          <a:p>
            <a:pPr algn="ctr"/>
            <a:r>
              <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rPr>
              <a:t>Knowledge Representation System  </a:t>
            </a:r>
            <a:r>
              <a:rPr lang="en-US" sz="28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(4 </a:t>
            </a:r>
            <a:r>
              <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rPr>
              <a:t>of 6)</a:t>
            </a:r>
          </a:p>
          <a:p>
            <a:pPr algn="ctr"/>
            <a:r>
              <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rPr>
              <a:t>(Rule-Based)</a:t>
            </a:r>
          </a:p>
        </p:txBody>
      </p:sp>
    </p:spTree>
    <p:extLst>
      <p:ext uri="{BB962C8B-B14F-4D97-AF65-F5344CB8AC3E}">
        <p14:creationId xmlns:p14="http://schemas.microsoft.com/office/powerpoint/2010/main" val="295745134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20</a:t>
            </a:fld>
            <a:endParaRPr lang="en-US" dirty="0"/>
          </a:p>
        </p:txBody>
      </p:sp>
      <p:sp>
        <p:nvSpPr>
          <p:cNvPr id="5" name="TextBox 4"/>
          <p:cNvSpPr txBox="1"/>
          <p:nvPr/>
        </p:nvSpPr>
        <p:spPr>
          <a:xfrm>
            <a:off x="228600" y="228600"/>
            <a:ext cx="8686800" cy="954107"/>
          </a:xfrm>
          <a:prstGeom prst="rect">
            <a:avLst/>
          </a:prstGeom>
          <a:solidFill>
            <a:schemeClr val="tx2">
              <a:lumMod val="20000"/>
              <a:lumOff val="80000"/>
            </a:schemeClr>
          </a:solidFill>
        </p:spPr>
        <p:txBody>
          <a:bodyPr wrap="square" rtlCol="0">
            <a:spAutoFit/>
          </a:bodyPr>
          <a:lstStyle/>
          <a:p>
            <a:pPr algn="ctr"/>
            <a:r>
              <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rPr>
              <a:t>Knowledge Representation System  </a:t>
            </a:r>
            <a:r>
              <a:rPr lang="en-US" sz="28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(5 </a:t>
            </a:r>
            <a:r>
              <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rPr>
              <a:t>of 6)</a:t>
            </a:r>
          </a:p>
          <a:p>
            <a:pPr algn="ctr"/>
            <a:r>
              <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rPr>
              <a:t>(Rule-Based)</a:t>
            </a:r>
          </a:p>
        </p:txBody>
      </p:sp>
      <p:grpSp>
        <p:nvGrpSpPr>
          <p:cNvPr id="8" name="Group 29"/>
          <p:cNvGrpSpPr>
            <a:grpSpLocks/>
          </p:cNvGrpSpPr>
          <p:nvPr/>
        </p:nvGrpSpPr>
        <p:grpSpPr bwMode="auto">
          <a:xfrm>
            <a:off x="1524000" y="2469629"/>
            <a:ext cx="1752600" cy="2057400"/>
            <a:chOff x="960" y="1104"/>
            <a:chExt cx="1104" cy="1296"/>
          </a:xfrm>
        </p:grpSpPr>
        <p:sp>
          <p:nvSpPr>
            <p:cNvPr id="9" name="AutoShape 32"/>
            <p:cNvSpPr>
              <a:spLocks noChangeArrowheads="1"/>
            </p:cNvSpPr>
            <p:nvPr/>
          </p:nvSpPr>
          <p:spPr bwMode="gray">
            <a:xfrm>
              <a:off x="960" y="1104"/>
              <a:ext cx="1104" cy="1296"/>
            </a:xfrm>
            <a:prstGeom prst="roundRect">
              <a:avLst>
                <a:gd name="adj" fmla="val 17509"/>
              </a:avLst>
            </a:prstGeom>
            <a:solidFill>
              <a:srgbClr val="4E91D4"/>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algn="l" eaLnBrk="1" latinLnBrk="0" hangingPunct="1"/>
              <a:endParaRPr kumimoji="0" lang="en-US" sz="1800" b="0">
                <a:latin typeface="Arial" panose="020B0604020202020204" pitchFamily="34" charset="0"/>
                <a:cs typeface="Arial" panose="020B0604020202020204" pitchFamily="34" charset="0"/>
              </a:endParaRPr>
            </a:p>
          </p:txBody>
        </p:sp>
        <p:sp>
          <p:nvSpPr>
            <p:cNvPr id="10" name="AutoShape 33"/>
            <p:cNvSpPr>
              <a:spLocks noChangeArrowheads="1"/>
            </p:cNvSpPr>
            <p:nvPr/>
          </p:nvSpPr>
          <p:spPr bwMode="gray">
            <a:xfrm>
              <a:off x="986" y="2044"/>
              <a:ext cx="1056" cy="322"/>
            </a:xfrm>
            <a:prstGeom prst="roundRect">
              <a:avLst>
                <a:gd name="adj" fmla="val 50000"/>
              </a:avLst>
            </a:prstGeom>
            <a:gradFill rotWithShape="1">
              <a:gsLst>
                <a:gs pos="0">
                  <a:srgbClr val="4E91D4"/>
                </a:gs>
                <a:gs pos="100000">
                  <a:srgbClr val="93BCE5"/>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algn="l" eaLnBrk="1" latinLnBrk="0" hangingPunct="1"/>
              <a:endParaRPr kumimoji="0" lang="en-US" sz="1800" b="0">
                <a:latin typeface="Arial" panose="020B0604020202020204" pitchFamily="34" charset="0"/>
                <a:cs typeface="Arial" panose="020B0604020202020204" pitchFamily="34" charset="0"/>
              </a:endParaRPr>
            </a:p>
          </p:txBody>
        </p:sp>
        <p:sp>
          <p:nvSpPr>
            <p:cNvPr id="11" name="AutoShape 34"/>
            <p:cNvSpPr>
              <a:spLocks noChangeArrowheads="1"/>
            </p:cNvSpPr>
            <p:nvPr/>
          </p:nvSpPr>
          <p:spPr bwMode="gray">
            <a:xfrm>
              <a:off x="986" y="1118"/>
              <a:ext cx="1056" cy="321"/>
            </a:xfrm>
            <a:prstGeom prst="roundRect">
              <a:avLst>
                <a:gd name="adj" fmla="val 50000"/>
              </a:avLst>
            </a:prstGeom>
            <a:gradFill rotWithShape="0">
              <a:gsLst>
                <a:gs pos="0">
                  <a:srgbClr val="CEE1F3"/>
                </a:gs>
                <a:gs pos="100000">
                  <a:srgbClr val="4E91D4"/>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algn="l" eaLnBrk="1" latinLnBrk="0" hangingPunct="1"/>
              <a:endParaRPr kumimoji="0" lang="en-US" sz="1800" b="0">
                <a:latin typeface="Arial" panose="020B0604020202020204" pitchFamily="34" charset="0"/>
                <a:cs typeface="Arial" panose="020B0604020202020204" pitchFamily="34" charset="0"/>
              </a:endParaRPr>
            </a:p>
          </p:txBody>
        </p:sp>
        <p:sp>
          <p:nvSpPr>
            <p:cNvPr id="12" name="Text Box 35"/>
            <p:cNvSpPr txBox="1">
              <a:spLocks noChangeArrowheads="1"/>
            </p:cNvSpPr>
            <p:nvPr/>
          </p:nvSpPr>
          <p:spPr bwMode="gray">
            <a:xfrm>
              <a:off x="1056" y="1523"/>
              <a:ext cx="912" cy="349"/>
            </a:xfrm>
            <a:prstGeom prst="rect">
              <a:avLst/>
            </a:prstGeom>
            <a:noFill/>
            <a:ln w="9525" algn="ctr">
              <a:noFill/>
              <a:miter lim="800000"/>
              <a:headEnd/>
              <a:tailEnd/>
            </a:ln>
            <a:effectLst/>
          </p:spPr>
          <p:txBody>
            <a:bodyPr>
              <a:spAutoFit/>
            </a:bodyPr>
            <a:lstStyle/>
            <a:p>
              <a:pPr eaLnBrk="0" latinLnBrk="0" hangingPunct="0">
                <a:defRPr/>
              </a:pPr>
              <a:r>
                <a:rPr kumimoji="0" lang="en-US" sz="3000" dirty="0">
                  <a:solidFill>
                    <a:srgbClr val="FFFFFF"/>
                  </a:solidFill>
                  <a:effectLst>
                    <a:outerShdw blurRad="38100" dist="38100" dir="2700000" algn="tl">
                      <a:srgbClr val="000000"/>
                    </a:outerShdw>
                  </a:effectLst>
                  <a:latin typeface="Arial" charset="0"/>
                  <a:ea typeface="+mn-ea"/>
                </a:rPr>
                <a:t>Object</a:t>
              </a:r>
            </a:p>
          </p:txBody>
        </p:sp>
      </p:grpSp>
      <p:grpSp>
        <p:nvGrpSpPr>
          <p:cNvPr id="13" name="Group 37"/>
          <p:cNvGrpSpPr>
            <a:grpSpLocks/>
          </p:cNvGrpSpPr>
          <p:nvPr/>
        </p:nvGrpSpPr>
        <p:grpSpPr bwMode="auto">
          <a:xfrm>
            <a:off x="6059488" y="2622029"/>
            <a:ext cx="1712912" cy="1901825"/>
            <a:chOff x="3817" y="1536"/>
            <a:chExt cx="1079" cy="1198"/>
          </a:xfrm>
        </p:grpSpPr>
        <p:sp>
          <p:nvSpPr>
            <p:cNvPr id="14" name="AutoShape 40"/>
            <p:cNvSpPr>
              <a:spLocks noChangeArrowheads="1"/>
            </p:cNvSpPr>
            <p:nvPr/>
          </p:nvSpPr>
          <p:spPr bwMode="gray">
            <a:xfrm>
              <a:off x="3817" y="1536"/>
              <a:ext cx="1079" cy="1198"/>
            </a:xfrm>
            <a:prstGeom prst="roundRect">
              <a:avLst>
                <a:gd name="adj" fmla="val 17509"/>
              </a:avLst>
            </a:prstGeom>
            <a:solidFill>
              <a:srgbClr val="B59F4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algn="l" eaLnBrk="1" latinLnBrk="0" hangingPunct="1"/>
              <a:endParaRPr kumimoji="0" lang="en-US" sz="1800" b="0">
                <a:latin typeface="Arial" panose="020B0604020202020204" pitchFamily="34" charset="0"/>
                <a:cs typeface="Arial" panose="020B0604020202020204" pitchFamily="34" charset="0"/>
              </a:endParaRPr>
            </a:p>
          </p:txBody>
        </p:sp>
        <p:sp>
          <p:nvSpPr>
            <p:cNvPr id="15" name="AutoShape 41"/>
            <p:cNvSpPr>
              <a:spLocks noChangeArrowheads="1"/>
            </p:cNvSpPr>
            <p:nvPr/>
          </p:nvSpPr>
          <p:spPr bwMode="gray">
            <a:xfrm>
              <a:off x="3842" y="2405"/>
              <a:ext cx="1033" cy="297"/>
            </a:xfrm>
            <a:prstGeom prst="roundRect">
              <a:avLst>
                <a:gd name="adj" fmla="val 50000"/>
              </a:avLst>
            </a:prstGeom>
            <a:gradFill rotWithShape="0">
              <a:gsLst>
                <a:gs pos="0">
                  <a:srgbClr val="B59F43"/>
                </a:gs>
                <a:gs pos="100000">
                  <a:srgbClr val="DBD0A4"/>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algn="l" eaLnBrk="1" latinLnBrk="0" hangingPunct="1"/>
              <a:endParaRPr kumimoji="0" lang="en-US" sz="1800" b="0">
                <a:latin typeface="Arial" panose="020B0604020202020204" pitchFamily="34" charset="0"/>
                <a:cs typeface="Arial" panose="020B0604020202020204" pitchFamily="34" charset="0"/>
              </a:endParaRPr>
            </a:p>
          </p:txBody>
        </p:sp>
        <p:sp>
          <p:nvSpPr>
            <p:cNvPr id="16" name="AutoShape 42"/>
            <p:cNvSpPr>
              <a:spLocks noChangeArrowheads="1"/>
            </p:cNvSpPr>
            <p:nvPr/>
          </p:nvSpPr>
          <p:spPr bwMode="gray">
            <a:xfrm>
              <a:off x="3842" y="1549"/>
              <a:ext cx="1033" cy="296"/>
            </a:xfrm>
            <a:prstGeom prst="roundRect">
              <a:avLst>
                <a:gd name="adj" fmla="val 50000"/>
              </a:avLst>
            </a:prstGeom>
            <a:gradFill rotWithShape="0">
              <a:gsLst>
                <a:gs pos="0">
                  <a:srgbClr val="EDE8D1"/>
                </a:gs>
                <a:gs pos="100000">
                  <a:srgbClr val="B59F43"/>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algn="l" eaLnBrk="1" latinLnBrk="0" hangingPunct="1"/>
              <a:endParaRPr kumimoji="0" lang="en-US" sz="1800" b="0">
                <a:latin typeface="Arial" panose="020B0604020202020204" pitchFamily="34" charset="0"/>
                <a:cs typeface="Arial" panose="020B0604020202020204" pitchFamily="34" charset="0"/>
              </a:endParaRPr>
            </a:p>
          </p:txBody>
        </p:sp>
        <p:sp>
          <p:nvSpPr>
            <p:cNvPr id="17" name="Text Box 43"/>
            <p:cNvSpPr txBox="1">
              <a:spLocks noChangeArrowheads="1"/>
            </p:cNvSpPr>
            <p:nvPr/>
          </p:nvSpPr>
          <p:spPr bwMode="gray">
            <a:xfrm>
              <a:off x="4044" y="1926"/>
              <a:ext cx="708" cy="330"/>
            </a:xfrm>
            <a:prstGeom prst="rect">
              <a:avLst/>
            </a:prstGeom>
            <a:noFill/>
            <a:ln w="9525" algn="ctr">
              <a:noFill/>
              <a:miter lim="800000"/>
              <a:headEnd/>
              <a:tailEnd/>
            </a:ln>
            <a:effectLst/>
          </p:spPr>
          <p:txBody>
            <a:bodyPr wrap="none">
              <a:spAutoFit/>
            </a:bodyPr>
            <a:lstStyle/>
            <a:p>
              <a:pPr eaLnBrk="0" latinLnBrk="0" hangingPunct="0">
                <a:defRPr/>
              </a:pPr>
              <a:r>
                <a:rPr kumimoji="0" lang="en-US" sz="2800" dirty="0">
                  <a:solidFill>
                    <a:srgbClr val="FFFFFF"/>
                  </a:solidFill>
                  <a:effectLst>
                    <a:outerShdw blurRad="38100" dist="38100" dir="2700000" algn="tl">
                      <a:srgbClr val="000000"/>
                    </a:outerShdw>
                  </a:effectLst>
                  <a:latin typeface="Arial" charset="0"/>
                  <a:ea typeface="+mn-ea"/>
                </a:rPr>
                <a:t>Value</a:t>
              </a:r>
              <a:endParaRPr kumimoji="0" lang="en-US" sz="1600" dirty="0">
                <a:solidFill>
                  <a:srgbClr val="FFFFFF"/>
                </a:solidFill>
                <a:effectLst>
                  <a:outerShdw blurRad="38100" dist="38100" dir="2700000" algn="tl">
                    <a:srgbClr val="000000"/>
                  </a:outerShdw>
                </a:effectLst>
                <a:latin typeface="Arial" charset="0"/>
                <a:ea typeface="+mn-ea"/>
              </a:endParaRPr>
            </a:p>
          </p:txBody>
        </p:sp>
      </p:grpSp>
      <p:grpSp>
        <p:nvGrpSpPr>
          <p:cNvPr id="18" name="Group 45"/>
          <p:cNvGrpSpPr>
            <a:grpSpLocks/>
          </p:cNvGrpSpPr>
          <p:nvPr/>
        </p:nvGrpSpPr>
        <p:grpSpPr bwMode="auto">
          <a:xfrm>
            <a:off x="3835400" y="2545829"/>
            <a:ext cx="1727200" cy="1981200"/>
            <a:chOff x="2416" y="1296"/>
            <a:chExt cx="1088" cy="1248"/>
          </a:xfrm>
        </p:grpSpPr>
        <p:sp>
          <p:nvSpPr>
            <p:cNvPr id="19" name="AutoShape 47"/>
            <p:cNvSpPr>
              <a:spLocks noChangeArrowheads="1"/>
            </p:cNvSpPr>
            <p:nvPr/>
          </p:nvSpPr>
          <p:spPr bwMode="gray">
            <a:xfrm>
              <a:off x="2416" y="1296"/>
              <a:ext cx="1088" cy="1248"/>
            </a:xfrm>
            <a:prstGeom prst="roundRect">
              <a:avLst>
                <a:gd name="adj" fmla="val 17509"/>
              </a:avLst>
            </a:prstGeom>
            <a:solidFill>
              <a:srgbClr val="34B034"/>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algn="l" eaLnBrk="1" latinLnBrk="0" hangingPunct="1"/>
              <a:endParaRPr kumimoji="0" lang="en-US" sz="1800" b="0">
                <a:latin typeface="Arial" panose="020B0604020202020204" pitchFamily="34" charset="0"/>
                <a:cs typeface="Arial" panose="020B0604020202020204" pitchFamily="34" charset="0"/>
              </a:endParaRPr>
            </a:p>
          </p:txBody>
        </p:sp>
        <p:sp>
          <p:nvSpPr>
            <p:cNvPr id="20" name="AutoShape 48"/>
            <p:cNvSpPr>
              <a:spLocks noChangeArrowheads="1"/>
            </p:cNvSpPr>
            <p:nvPr/>
          </p:nvSpPr>
          <p:spPr bwMode="gray">
            <a:xfrm>
              <a:off x="2442" y="2202"/>
              <a:ext cx="1040" cy="310"/>
            </a:xfrm>
            <a:prstGeom prst="roundRect">
              <a:avLst>
                <a:gd name="adj" fmla="val 50000"/>
              </a:avLst>
            </a:prstGeom>
            <a:gradFill rotWithShape="1">
              <a:gsLst>
                <a:gs pos="0">
                  <a:srgbClr val="34B034">
                    <a:alpha val="0"/>
                  </a:srgbClr>
                </a:gs>
                <a:gs pos="100000">
                  <a:srgbClr val="A3DBA3"/>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algn="l" eaLnBrk="1" latinLnBrk="0" hangingPunct="1"/>
              <a:endParaRPr kumimoji="0" lang="en-US" sz="1800" b="0">
                <a:latin typeface="Arial" panose="020B0604020202020204" pitchFamily="34" charset="0"/>
                <a:cs typeface="Arial" panose="020B0604020202020204" pitchFamily="34" charset="0"/>
              </a:endParaRPr>
            </a:p>
          </p:txBody>
        </p:sp>
        <p:sp>
          <p:nvSpPr>
            <p:cNvPr id="21" name="AutoShape 49"/>
            <p:cNvSpPr>
              <a:spLocks noChangeArrowheads="1"/>
            </p:cNvSpPr>
            <p:nvPr/>
          </p:nvSpPr>
          <p:spPr bwMode="gray">
            <a:xfrm>
              <a:off x="2442" y="1311"/>
              <a:ext cx="1040" cy="309"/>
            </a:xfrm>
            <a:prstGeom prst="roundRect">
              <a:avLst>
                <a:gd name="adj" fmla="val 50000"/>
              </a:avLst>
            </a:prstGeom>
            <a:gradFill rotWithShape="1">
              <a:gsLst>
                <a:gs pos="0">
                  <a:srgbClr val="E0F3E0"/>
                </a:gs>
                <a:gs pos="100000">
                  <a:srgbClr val="34B034"/>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algn="l" eaLnBrk="1" latinLnBrk="0" hangingPunct="1"/>
              <a:endParaRPr kumimoji="0" lang="en-US" sz="1800" b="0">
                <a:latin typeface="Arial" panose="020B0604020202020204" pitchFamily="34" charset="0"/>
                <a:cs typeface="Arial" panose="020B0604020202020204" pitchFamily="34" charset="0"/>
              </a:endParaRPr>
            </a:p>
          </p:txBody>
        </p:sp>
        <p:sp>
          <p:nvSpPr>
            <p:cNvPr id="22" name="Text Box 51"/>
            <p:cNvSpPr txBox="1">
              <a:spLocks noChangeArrowheads="1"/>
            </p:cNvSpPr>
            <p:nvPr/>
          </p:nvSpPr>
          <p:spPr bwMode="gray">
            <a:xfrm>
              <a:off x="2486" y="1763"/>
              <a:ext cx="970" cy="301"/>
            </a:xfrm>
            <a:prstGeom prst="rect">
              <a:avLst/>
            </a:prstGeom>
            <a:noFill/>
            <a:ln w="9525" algn="ctr">
              <a:noFill/>
              <a:miter lim="800000"/>
              <a:headEnd/>
              <a:tailEnd/>
            </a:ln>
            <a:effectLst/>
          </p:spPr>
          <p:txBody>
            <a:bodyPr wrap="none">
              <a:spAutoFit/>
            </a:bodyPr>
            <a:lstStyle/>
            <a:p>
              <a:pPr eaLnBrk="0" latinLnBrk="0" hangingPunct="0">
                <a:defRPr/>
              </a:pPr>
              <a:r>
                <a:rPr kumimoji="0" lang="en-US" sz="2500" dirty="0">
                  <a:solidFill>
                    <a:srgbClr val="FFFFFF"/>
                  </a:solidFill>
                  <a:effectLst>
                    <a:outerShdw blurRad="38100" dist="38100" dir="2700000" algn="tl">
                      <a:srgbClr val="000000"/>
                    </a:outerShdw>
                  </a:effectLst>
                  <a:latin typeface="Arial" charset="0"/>
                  <a:ea typeface="+mn-ea"/>
                </a:rPr>
                <a:t>Operator</a:t>
              </a:r>
            </a:p>
          </p:txBody>
        </p:sp>
      </p:grpSp>
      <p:sp>
        <p:nvSpPr>
          <p:cNvPr id="23" name="TextBox 42"/>
          <p:cNvSpPr txBox="1">
            <a:spLocks noChangeArrowheads="1"/>
          </p:cNvSpPr>
          <p:nvPr/>
        </p:nvSpPr>
        <p:spPr bwMode="auto">
          <a:xfrm>
            <a:off x="1219200" y="1936229"/>
            <a:ext cx="6999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algn="l" eaLnBrk="1" latinLnBrk="0" hangingPunct="1"/>
            <a:r>
              <a:rPr kumimoji="0" lang="en-US" b="0" dirty="0">
                <a:solidFill>
                  <a:schemeClr val="tx2"/>
                </a:solidFill>
                <a:latin typeface="Arial" panose="020B0604020202020204" pitchFamily="34" charset="0"/>
                <a:cs typeface="Arial" panose="020B0604020202020204" pitchFamily="34" charset="0"/>
              </a:rPr>
              <a:t>Each antecedent &amp; consequent has 3 components</a:t>
            </a:r>
          </a:p>
        </p:txBody>
      </p:sp>
      <p:sp>
        <p:nvSpPr>
          <p:cNvPr id="24" name="Rectangle 43"/>
          <p:cNvSpPr>
            <a:spLocks noChangeArrowheads="1"/>
          </p:cNvSpPr>
          <p:nvPr/>
        </p:nvSpPr>
        <p:spPr bwMode="auto">
          <a:xfrm>
            <a:off x="1371600" y="4679429"/>
            <a:ext cx="7086600"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algn="l" eaLnBrk="1" latinLnBrk="0" hangingPunct="1">
              <a:lnSpc>
                <a:spcPct val="90000"/>
              </a:lnSpc>
            </a:pPr>
            <a:r>
              <a:rPr kumimoji="0" lang="en-US" sz="1800" b="0" dirty="0">
                <a:solidFill>
                  <a:schemeClr val="tx2"/>
                </a:solidFill>
                <a:latin typeface="Arial" panose="020B0604020202020204" pitchFamily="34" charset="0"/>
                <a:cs typeface="Arial" panose="020B0604020202020204" pitchFamily="34" charset="0"/>
              </a:rPr>
              <a:t>RULE#3</a:t>
            </a:r>
          </a:p>
          <a:p>
            <a:pPr algn="l" eaLnBrk="1" latinLnBrk="0" hangingPunct="1">
              <a:lnSpc>
                <a:spcPct val="90000"/>
              </a:lnSpc>
            </a:pPr>
            <a:endParaRPr kumimoji="0" lang="en-US" sz="1800" b="0" dirty="0">
              <a:solidFill>
                <a:schemeClr val="tx2"/>
              </a:solidFill>
              <a:latin typeface="Arial" panose="020B0604020202020204" pitchFamily="34" charset="0"/>
              <a:cs typeface="Arial" panose="020B0604020202020204" pitchFamily="34" charset="0"/>
            </a:endParaRPr>
          </a:p>
          <a:p>
            <a:pPr algn="l" eaLnBrk="1" latinLnBrk="0" hangingPunct="1">
              <a:lnSpc>
                <a:spcPct val="90000"/>
              </a:lnSpc>
            </a:pPr>
            <a:r>
              <a:rPr kumimoji="0" lang="en-US" sz="1800" b="0" dirty="0">
                <a:solidFill>
                  <a:schemeClr val="tx2"/>
                </a:solidFill>
                <a:latin typeface="Arial" panose="020B0604020202020204" pitchFamily="34" charset="0"/>
                <a:cs typeface="Arial" panose="020B0604020202020204" pitchFamily="34" charset="0"/>
              </a:rPr>
              <a:t>IF 	‘taxable income’ 	&gt;	25000</a:t>
            </a:r>
          </a:p>
          <a:p>
            <a:pPr algn="l" eaLnBrk="1" latinLnBrk="0" hangingPunct="1">
              <a:lnSpc>
                <a:spcPct val="90000"/>
              </a:lnSpc>
            </a:pPr>
            <a:r>
              <a:rPr kumimoji="0" lang="en-US" sz="1800" b="0" dirty="0">
                <a:solidFill>
                  <a:schemeClr val="tx2"/>
                </a:solidFill>
                <a:latin typeface="Arial" panose="020B0604020202020204" pitchFamily="34" charset="0"/>
                <a:cs typeface="Arial" panose="020B0604020202020204" pitchFamily="34" charset="0"/>
              </a:rPr>
              <a:t>THEN 	‘Medicare levy’ 	= 	‘taxable income’ * 1.5 / 100</a:t>
            </a:r>
          </a:p>
        </p:txBody>
      </p:sp>
      <p:cxnSp>
        <p:nvCxnSpPr>
          <p:cNvPr id="25" name="Straight Arrow Connector 24"/>
          <p:cNvCxnSpPr/>
          <p:nvPr/>
        </p:nvCxnSpPr>
        <p:spPr>
          <a:xfrm rot="16200000" flipH="1">
            <a:off x="2514600" y="4679429"/>
            <a:ext cx="609600" cy="3048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20" idx="2"/>
          </p:cNvCxnSpPr>
          <p:nvPr/>
        </p:nvCxnSpPr>
        <p:spPr>
          <a:xfrm rot="5400000">
            <a:off x="4116388" y="4703241"/>
            <a:ext cx="812800" cy="35877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10800000" flipV="1">
            <a:off x="5715000" y="4527029"/>
            <a:ext cx="838200" cy="6858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62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up)">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up)">
                                      <p:cBhvr>
                                        <p:cTn id="1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21</a:t>
            </a:fld>
            <a:endParaRPr lang="en-US" dirty="0"/>
          </a:p>
        </p:txBody>
      </p:sp>
      <p:sp>
        <p:nvSpPr>
          <p:cNvPr id="6" name="Content Placeholder 2"/>
          <p:cNvSpPr txBox="1">
            <a:spLocks/>
          </p:cNvSpPr>
          <p:nvPr/>
        </p:nvSpPr>
        <p:spPr>
          <a:xfrm>
            <a:off x="609600" y="1333500"/>
            <a:ext cx="8534400" cy="5448300"/>
          </a:xfrm>
          <a:prstGeom prst="rect">
            <a:avLst/>
          </a:prstGeom>
        </p:spPr>
        <p:txBody>
          <a:bodyPr>
            <a:noAutofit/>
          </a:bodyPr>
          <a:lstStyle/>
          <a:p>
            <a:pPr marL="742950" lvl="1" indent="-285750"/>
            <a:r>
              <a:rPr lang="en-US" sz="2400" b="1" dirty="0">
                <a:solidFill>
                  <a:srgbClr val="000099"/>
                </a:solidFill>
                <a:latin typeface="Times New Roman" panose="02020603050405020304" pitchFamily="18" charset="0"/>
              </a:rPr>
              <a:t>Relation</a:t>
            </a:r>
          </a:p>
          <a:p>
            <a:pPr marL="742950" lvl="1" indent="-285750"/>
            <a:r>
              <a:rPr lang="en-US" sz="2400" dirty="0">
                <a:latin typeface="Times New Roman" panose="02020603050405020304" pitchFamily="18" charset="0"/>
              </a:rPr>
              <a:t>IF			the ‘fuel tank’ is empty</a:t>
            </a:r>
          </a:p>
          <a:p>
            <a:pPr marL="742950" lvl="1" indent="-285750"/>
            <a:r>
              <a:rPr lang="en-US" sz="2400" dirty="0">
                <a:latin typeface="Times New Roman" panose="02020603050405020304" pitchFamily="18" charset="0"/>
              </a:rPr>
              <a:t>THEN	the ‘car’ is dead</a:t>
            </a:r>
          </a:p>
          <a:p>
            <a:pPr marL="742950" lvl="1" indent="-285750"/>
            <a:r>
              <a:rPr lang="en-US" sz="2400" b="1" dirty="0">
                <a:solidFill>
                  <a:srgbClr val="000099"/>
                </a:solidFill>
                <a:latin typeface="Times New Roman" panose="02020603050405020304" pitchFamily="18" charset="0"/>
              </a:rPr>
              <a:t>Recommendation</a:t>
            </a:r>
          </a:p>
          <a:p>
            <a:pPr marL="742950" lvl="1" indent="-285750"/>
            <a:r>
              <a:rPr lang="en-US" sz="2400" dirty="0">
                <a:latin typeface="Times New Roman" panose="02020603050405020304" pitchFamily="18" charset="0"/>
              </a:rPr>
              <a:t>IF			the ‘season’ is autumn</a:t>
            </a:r>
          </a:p>
          <a:p>
            <a:pPr marL="742950" lvl="1" indent="-285750"/>
            <a:r>
              <a:rPr lang="en-US" sz="2400" dirty="0">
                <a:latin typeface="Times New Roman" panose="02020603050405020304" pitchFamily="18" charset="0"/>
              </a:rPr>
              <a:t>AND	the ‘sky’ is cloudy</a:t>
            </a:r>
          </a:p>
          <a:p>
            <a:pPr marL="742950" lvl="1" indent="-285750"/>
            <a:r>
              <a:rPr lang="en-US" sz="2400" dirty="0">
                <a:latin typeface="Times New Roman" panose="02020603050405020304" pitchFamily="18" charset="0"/>
              </a:rPr>
              <a:t>THEN	the ‘advice’ is ‘take an umbrella’</a:t>
            </a:r>
          </a:p>
          <a:p>
            <a:pPr marL="742950" lvl="1" indent="-285750"/>
            <a:r>
              <a:rPr lang="en-US" sz="2400" b="1" dirty="0">
                <a:solidFill>
                  <a:srgbClr val="000099"/>
                </a:solidFill>
                <a:latin typeface="Times New Roman" panose="02020603050405020304" pitchFamily="18" charset="0"/>
              </a:rPr>
              <a:t>Directive</a:t>
            </a:r>
          </a:p>
          <a:p>
            <a:pPr marL="742950" lvl="1" indent="-285750"/>
            <a:r>
              <a:rPr lang="en-US" sz="2400" dirty="0">
                <a:latin typeface="Times New Roman" panose="02020603050405020304" pitchFamily="18" charset="0"/>
              </a:rPr>
              <a:t>IF			the ‘car’ is dead</a:t>
            </a:r>
          </a:p>
          <a:p>
            <a:pPr marL="742950" lvl="1" indent="-285750"/>
            <a:r>
              <a:rPr lang="en-US" sz="2400" dirty="0">
                <a:latin typeface="Times New Roman" panose="02020603050405020304" pitchFamily="18" charset="0"/>
              </a:rPr>
              <a:t>AND	the ‘fuel tank’ is empty</a:t>
            </a:r>
          </a:p>
          <a:p>
            <a:pPr marL="742950" lvl="1" indent="-285750"/>
            <a:r>
              <a:rPr lang="en-US" sz="2400" dirty="0">
                <a:latin typeface="Times New Roman" panose="02020603050405020304" pitchFamily="18" charset="0"/>
              </a:rPr>
              <a:t>THEN	the action is ‘refuel the car’</a:t>
            </a:r>
          </a:p>
        </p:txBody>
      </p:sp>
      <p:sp>
        <p:nvSpPr>
          <p:cNvPr id="5" name="TextBox 4"/>
          <p:cNvSpPr txBox="1"/>
          <p:nvPr/>
        </p:nvSpPr>
        <p:spPr>
          <a:xfrm>
            <a:off x="228600" y="228600"/>
            <a:ext cx="8686800" cy="997196"/>
          </a:xfrm>
          <a:prstGeom prst="rect">
            <a:avLst/>
          </a:prstGeom>
          <a:solidFill>
            <a:schemeClr val="tx2">
              <a:lumMod val="20000"/>
              <a:lumOff val="80000"/>
            </a:schemeClr>
          </a:solidFill>
        </p:spPr>
        <p:txBody>
          <a:bodyPr wrap="square" rtlCol="0">
            <a:spAutoFit/>
          </a:bodyPr>
          <a:lstStyle/>
          <a:p>
            <a:pPr algn="ctr"/>
            <a:r>
              <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rPr>
              <a:t>Knowledge Representation System (6 of 6)</a:t>
            </a:r>
          </a:p>
          <a:p>
            <a:pPr algn="ctr">
              <a:lnSpc>
                <a:spcPct val="90000"/>
              </a:lnSpc>
              <a:spcBef>
                <a:spcPct val="20000"/>
              </a:spcBef>
              <a:buClr>
                <a:schemeClr val="accent1"/>
              </a:buClr>
              <a:buSzPct val="70000"/>
              <a:buFont typeface="Wingdings" pitchFamily="2" charset="2"/>
              <a:buNone/>
              <a:defRPr/>
            </a:pPr>
            <a:r>
              <a:rPr lang="en-US" sz="2800" b="1" dirty="0">
                <a:solidFill>
                  <a:srgbClr val="000099"/>
                </a:solidFill>
                <a:latin typeface="Tahoma" panose="020B0604030504040204" pitchFamily="34" charset="0"/>
                <a:ea typeface="Tahoma" panose="020B0604030504040204" pitchFamily="34" charset="0"/>
                <a:cs typeface="Tahoma" panose="020B0604030504040204" pitchFamily="34" charset="0"/>
              </a:rPr>
              <a:t>(What rules can represent?)</a:t>
            </a:r>
            <a:endParaRPr lang="en-US" sz="2800" b="1" dirty="0">
              <a:solidFill>
                <a:srgbClr val="000099"/>
              </a:solidFill>
              <a:effectLst>
                <a:outerShdw blurRad="38100" dist="38100" dir="2700000" algn="tl">
                  <a:srgbClr val="C0C0C0"/>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11262034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22</a:t>
            </a:fld>
            <a:endParaRPr lang="en-US" dirty="0"/>
          </a:p>
        </p:txBody>
      </p:sp>
      <p:sp>
        <p:nvSpPr>
          <p:cNvPr id="6" name="Content Placeholder 2"/>
          <p:cNvSpPr txBox="1">
            <a:spLocks/>
          </p:cNvSpPr>
          <p:nvPr/>
        </p:nvSpPr>
        <p:spPr>
          <a:xfrm>
            <a:off x="609600" y="1333500"/>
            <a:ext cx="8534400" cy="5448300"/>
          </a:xfrm>
          <a:prstGeom prst="rect">
            <a:avLst/>
          </a:prstGeom>
        </p:spPr>
        <p:txBody>
          <a:bodyPr>
            <a:noAutofit/>
          </a:bodyPr>
          <a:lstStyle/>
          <a:p>
            <a:pPr>
              <a:lnSpc>
                <a:spcPct val="90000"/>
              </a:lnSpc>
              <a:buClr>
                <a:srgbClr val="33CC33"/>
              </a:buClr>
            </a:pPr>
            <a:r>
              <a:rPr lang="en-US" sz="2900" b="1" dirty="0">
                <a:solidFill>
                  <a:srgbClr val="000099"/>
                </a:solidFill>
                <a:latin typeface="Times New Roman" panose="02020603050405020304" pitchFamily="18" charset="0"/>
              </a:rPr>
              <a:t>Strategy</a:t>
            </a:r>
          </a:p>
          <a:p>
            <a:pPr marL="742950" lvl="1" indent="-285750">
              <a:lnSpc>
                <a:spcPct val="90000"/>
              </a:lnSpc>
              <a:buClr>
                <a:srgbClr val="33CC33"/>
              </a:buClr>
            </a:pPr>
            <a:r>
              <a:rPr lang="en-US" sz="2400" dirty="0">
                <a:latin typeface="Times New Roman" panose="02020603050405020304" pitchFamily="18" charset="0"/>
              </a:rPr>
              <a:t>IF			the ‘car’ is dead</a:t>
            </a:r>
          </a:p>
          <a:p>
            <a:pPr>
              <a:lnSpc>
                <a:spcPct val="90000"/>
              </a:lnSpc>
              <a:buClr>
                <a:srgbClr val="33CC33"/>
              </a:buClr>
            </a:pPr>
            <a:r>
              <a:rPr lang="en-US" sz="2900" dirty="0">
                <a:latin typeface="Times New Roman" panose="02020603050405020304" pitchFamily="18" charset="0"/>
              </a:rPr>
              <a:t>	THEN	the action ‘check the fuel tank’</a:t>
            </a:r>
          </a:p>
          <a:p>
            <a:pPr marL="742950" lvl="1" indent="-285750">
              <a:lnSpc>
                <a:spcPct val="90000"/>
              </a:lnSpc>
            </a:pPr>
            <a:r>
              <a:rPr lang="en-US" sz="2400" dirty="0">
                <a:latin typeface="Times New Roman" panose="02020603050405020304" pitchFamily="18" charset="0"/>
              </a:rPr>
              <a:t>			step 1 is complete</a:t>
            </a:r>
          </a:p>
          <a:p>
            <a:pPr marL="742950" lvl="1" indent="-285750">
              <a:lnSpc>
                <a:spcPct val="90000"/>
              </a:lnSpc>
            </a:pPr>
            <a:r>
              <a:rPr lang="en-US" sz="2400" dirty="0">
                <a:latin typeface="Times New Roman" panose="02020603050405020304" pitchFamily="18" charset="0"/>
              </a:rPr>
              <a:t>IF			step 1 is complete</a:t>
            </a:r>
          </a:p>
          <a:p>
            <a:pPr marL="742950" lvl="1" indent="-285750">
              <a:lnSpc>
                <a:spcPct val="90000"/>
              </a:lnSpc>
            </a:pPr>
            <a:r>
              <a:rPr lang="en-US" sz="2400" dirty="0">
                <a:latin typeface="Times New Roman" panose="02020603050405020304" pitchFamily="18" charset="0"/>
              </a:rPr>
              <a:t>AND	the ‘fuel tank’ is full</a:t>
            </a:r>
          </a:p>
          <a:p>
            <a:pPr marL="742950" lvl="1" indent="-285750">
              <a:lnSpc>
                <a:spcPct val="90000"/>
              </a:lnSpc>
            </a:pPr>
            <a:r>
              <a:rPr lang="en-US" sz="2400" dirty="0">
                <a:latin typeface="Times New Roman" panose="02020603050405020304" pitchFamily="18" charset="0"/>
              </a:rPr>
              <a:t>THEN	the action is ‘check the battery’</a:t>
            </a:r>
          </a:p>
          <a:p>
            <a:pPr marL="742950" lvl="1" indent="-285750">
              <a:lnSpc>
                <a:spcPct val="90000"/>
              </a:lnSpc>
            </a:pPr>
            <a:r>
              <a:rPr lang="en-US" sz="2400" dirty="0">
                <a:latin typeface="Times New Roman" panose="02020603050405020304" pitchFamily="18" charset="0"/>
              </a:rPr>
              <a:t>			step 2 is complete.</a:t>
            </a:r>
          </a:p>
          <a:p>
            <a:pPr marL="742950" lvl="1" indent="-285750">
              <a:lnSpc>
                <a:spcPct val="90000"/>
              </a:lnSpc>
            </a:pPr>
            <a:r>
              <a:rPr lang="en-US" sz="2400" b="1" dirty="0">
                <a:solidFill>
                  <a:srgbClr val="000099"/>
                </a:solidFill>
                <a:latin typeface="Times New Roman" panose="02020603050405020304" pitchFamily="18" charset="0"/>
              </a:rPr>
              <a:t>Heuristic</a:t>
            </a:r>
          </a:p>
          <a:p>
            <a:pPr marL="742950" lvl="1" indent="-285750">
              <a:lnSpc>
                <a:spcPct val="90000"/>
              </a:lnSpc>
            </a:pPr>
            <a:r>
              <a:rPr lang="en-US" sz="2400" dirty="0">
                <a:latin typeface="Times New Roman" panose="02020603050405020304" pitchFamily="18" charset="0"/>
              </a:rPr>
              <a:t>IF			the sample is liquid</a:t>
            </a:r>
          </a:p>
          <a:p>
            <a:pPr marL="742950" lvl="1" indent="-285750">
              <a:lnSpc>
                <a:spcPct val="90000"/>
              </a:lnSpc>
            </a:pPr>
            <a:r>
              <a:rPr lang="en-US" sz="2400" dirty="0">
                <a:latin typeface="Times New Roman" panose="02020603050405020304" pitchFamily="18" charset="0"/>
              </a:rPr>
              <a:t>AND	the ‘sample pH’ &lt; 6</a:t>
            </a:r>
          </a:p>
          <a:p>
            <a:pPr marL="742950" lvl="1" indent="-285750">
              <a:lnSpc>
                <a:spcPct val="90000"/>
              </a:lnSpc>
            </a:pPr>
            <a:r>
              <a:rPr lang="en-US" sz="2400" dirty="0">
                <a:latin typeface="Times New Roman" panose="02020603050405020304" pitchFamily="18" charset="0"/>
              </a:rPr>
              <a:t>AND	the ‘sample smell’ is vinegar</a:t>
            </a:r>
          </a:p>
          <a:p>
            <a:pPr marL="742950" lvl="1" indent="-285750">
              <a:lnSpc>
                <a:spcPct val="90000"/>
              </a:lnSpc>
            </a:pPr>
            <a:r>
              <a:rPr lang="en-US" sz="2400" dirty="0">
                <a:latin typeface="Times New Roman" panose="02020603050405020304" pitchFamily="18" charset="0"/>
              </a:rPr>
              <a:t>THEN	the ‘sample material’ is ‘acetic acid’</a:t>
            </a:r>
          </a:p>
        </p:txBody>
      </p:sp>
      <p:sp>
        <p:nvSpPr>
          <p:cNvPr id="5" name="TextBox 4"/>
          <p:cNvSpPr txBox="1"/>
          <p:nvPr/>
        </p:nvSpPr>
        <p:spPr>
          <a:xfrm>
            <a:off x="228600" y="228600"/>
            <a:ext cx="8686800" cy="997196"/>
          </a:xfrm>
          <a:prstGeom prst="rect">
            <a:avLst/>
          </a:prstGeom>
          <a:solidFill>
            <a:schemeClr val="tx2">
              <a:lumMod val="20000"/>
              <a:lumOff val="80000"/>
            </a:schemeClr>
          </a:solidFill>
        </p:spPr>
        <p:txBody>
          <a:bodyPr wrap="square" rtlCol="0">
            <a:spAutoFit/>
          </a:bodyPr>
          <a:lstStyle/>
          <a:p>
            <a:pPr algn="ctr"/>
            <a:r>
              <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rPr>
              <a:t>Knowledge Representation </a:t>
            </a:r>
            <a:r>
              <a:rPr lang="en-US" sz="28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System</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algn="ctr">
              <a:lnSpc>
                <a:spcPct val="90000"/>
              </a:lnSpc>
              <a:spcBef>
                <a:spcPct val="20000"/>
              </a:spcBef>
              <a:buClr>
                <a:schemeClr val="accent1"/>
              </a:buClr>
              <a:buSzPct val="70000"/>
              <a:buFont typeface="Wingdings" pitchFamily="2" charset="2"/>
              <a:buNone/>
              <a:defRPr/>
            </a:pPr>
            <a:r>
              <a:rPr lang="en-US" sz="2800" b="1" dirty="0">
                <a:solidFill>
                  <a:srgbClr val="000099"/>
                </a:solidFill>
                <a:latin typeface="Tahoma" panose="020B0604030504040204" pitchFamily="34" charset="0"/>
                <a:ea typeface="Tahoma" panose="020B0604030504040204" pitchFamily="34" charset="0"/>
                <a:cs typeface="Tahoma" panose="020B0604030504040204" pitchFamily="34" charset="0"/>
              </a:rPr>
              <a:t>(What rules can represent?)</a:t>
            </a:r>
            <a:endParaRPr lang="en-US" sz="2800" b="1" dirty="0">
              <a:solidFill>
                <a:srgbClr val="000099"/>
              </a:solidFill>
              <a:effectLst>
                <a:outerShdw blurRad="38100" dist="38100" dir="2700000" algn="tl">
                  <a:srgbClr val="C0C0C0"/>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67334022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23</a:t>
            </a:fld>
            <a:endParaRPr lang="en-US" dirty="0"/>
          </a:p>
        </p:txBody>
      </p:sp>
      <p:sp>
        <p:nvSpPr>
          <p:cNvPr id="5" name="TextBox 4"/>
          <p:cNvSpPr txBox="1"/>
          <p:nvPr/>
        </p:nvSpPr>
        <p:spPr>
          <a:xfrm>
            <a:off x="228600" y="228600"/>
            <a:ext cx="8686800" cy="892552"/>
          </a:xfrm>
          <a:prstGeom prst="rect">
            <a:avLst/>
          </a:prstGeom>
          <a:solidFill>
            <a:schemeClr val="tx2">
              <a:lumMod val="20000"/>
              <a:lumOff val="80000"/>
            </a:schemeClr>
          </a:solidFill>
        </p:spPr>
        <p:txBody>
          <a:bodyPr wrap="square" rtlCol="0">
            <a:spAutoFit/>
          </a:bodyPr>
          <a:lstStyle/>
          <a:p>
            <a:pPr algn="ctr">
              <a:defRPr/>
            </a:pPr>
            <a:r>
              <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rPr>
              <a:t>Knowledge Representation </a:t>
            </a:r>
            <a:r>
              <a:rPr lang="en-US" sz="28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system</a:t>
            </a:r>
          </a:p>
          <a:p>
            <a:pPr algn="ctr">
              <a:defRPr/>
            </a:pPr>
            <a:r>
              <a:rPr lang="en-US" sz="24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Basic </a:t>
            </a:r>
            <a:r>
              <a:rPr lang="en-US" sz="2400" b="1" dirty="0">
                <a:solidFill>
                  <a:srgbClr val="FF0000"/>
                </a:solidFill>
                <a:latin typeface="Tahoma" panose="020B0604030504040204" pitchFamily="34" charset="0"/>
                <a:ea typeface="Tahoma" panose="020B0604030504040204" pitchFamily="34" charset="0"/>
                <a:cs typeface="Tahoma" panose="020B0604030504040204" pitchFamily="34" charset="0"/>
              </a:rPr>
              <a:t>structure of rule-based expert </a:t>
            </a:r>
            <a:r>
              <a:rPr lang="en-US" sz="24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system</a:t>
            </a:r>
            <a:endParaRPr lang="en-US" sz="2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8" name="Round Same Side Corner Rectangle 7"/>
          <p:cNvSpPr/>
          <p:nvPr/>
        </p:nvSpPr>
        <p:spPr>
          <a:xfrm>
            <a:off x="990600" y="1371600"/>
            <a:ext cx="2743200" cy="1219200"/>
          </a:xfrm>
          <a:prstGeom prst="round2Same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lstStyle/>
          <a:p>
            <a:pPr latinLnBrk="0">
              <a:defRPr/>
            </a:pPr>
            <a:r>
              <a:rPr kumimoji="0" lang="en-US" sz="1800" dirty="0">
                <a:ln w="0"/>
                <a:solidFill>
                  <a:schemeClr val="tx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Knowledge-Base</a:t>
            </a:r>
          </a:p>
        </p:txBody>
      </p:sp>
      <p:sp>
        <p:nvSpPr>
          <p:cNvPr id="9" name="Round Same Side Corner Rectangle 8"/>
          <p:cNvSpPr/>
          <p:nvPr/>
        </p:nvSpPr>
        <p:spPr>
          <a:xfrm>
            <a:off x="1143000" y="1828800"/>
            <a:ext cx="2362200" cy="609600"/>
          </a:xfrm>
          <a:prstGeom prst="round2Same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atinLnBrk="0">
              <a:defRPr/>
            </a:pPr>
            <a:r>
              <a:rPr kumimoji="0" lang="en-US" sz="1800" dirty="0">
                <a:ln w="0"/>
                <a:solidFill>
                  <a:schemeClr val="tx1"/>
                </a:solidFill>
                <a:effectLst>
                  <a:outerShdw blurRad="38100" dist="19050" dir="2700000" algn="tl" rotWithShape="0">
                    <a:schemeClr val="dk1">
                      <a:alpha val="40000"/>
                    </a:schemeClr>
                  </a:outerShdw>
                </a:effectLst>
                <a:latin typeface="Arial" charset="0"/>
                <a:cs typeface="Arial" charset="0"/>
              </a:rPr>
              <a:t>Rule: IF-THEN</a:t>
            </a:r>
          </a:p>
        </p:txBody>
      </p:sp>
      <p:sp>
        <p:nvSpPr>
          <p:cNvPr id="10" name="Round Same Side Corner Rectangle 9"/>
          <p:cNvSpPr/>
          <p:nvPr/>
        </p:nvSpPr>
        <p:spPr>
          <a:xfrm>
            <a:off x="4953000" y="1447800"/>
            <a:ext cx="2743200" cy="1219200"/>
          </a:xfrm>
          <a:prstGeom prst="round2Same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lstStyle/>
          <a:p>
            <a:pPr latinLnBrk="0">
              <a:defRPr/>
            </a:pPr>
            <a:r>
              <a:rPr kumimoji="0" lang="en-US" sz="1800" dirty="0">
                <a:ln w="0"/>
                <a:solidFill>
                  <a:schemeClr val="tx1"/>
                </a:solidFill>
                <a:effectLst>
                  <a:outerShdw blurRad="38100" dist="19050" dir="2700000" algn="tl" rotWithShape="0">
                    <a:schemeClr val="dk1">
                      <a:alpha val="40000"/>
                    </a:schemeClr>
                  </a:outerShdw>
                </a:effectLst>
              </a:rPr>
              <a:t>Database</a:t>
            </a:r>
            <a:endParaRPr kumimoji="0" lang="en-US" sz="1800" b="0" dirty="0">
              <a:solidFill>
                <a:srgbClr val="FFC000"/>
              </a:solidFill>
            </a:endParaRPr>
          </a:p>
        </p:txBody>
      </p:sp>
      <p:sp>
        <p:nvSpPr>
          <p:cNvPr id="11" name="Round Same Side Corner Rectangle 10"/>
          <p:cNvSpPr/>
          <p:nvPr/>
        </p:nvSpPr>
        <p:spPr>
          <a:xfrm>
            <a:off x="5181600" y="1905000"/>
            <a:ext cx="2362200" cy="533400"/>
          </a:xfrm>
          <a:prstGeom prst="round2Same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atinLnBrk="0">
              <a:defRPr/>
            </a:pPr>
            <a:r>
              <a:rPr kumimoji="0" lang="en-US" sz="1800" dirty="0">
                <a:ln w="0"/>
                <a:solidFill>
                  <a:schemeClr val="tx1"/>
                </a:solidFill>
                <a:effectLst>
                  <a:outerShdw blurRad="38100" dist="19050" dir="2700000" algn="tl" rotWithShape="0">
                    <a:schemeClr val="dk1">
                      <a:alpha val="40000"/>
                    </a:schemeClr>
                  </a:outerShdw>
                </a:effectLst>
                <a:latin typeface="Arial" charset="0"/>
                <a:cs typeface="Arial" charset="0"/>
              </a:rPr>
              <a:t>FACT</a:t>
            </a:r>
            <a:endParaRPr kumimoji="0" lang="en-US" sz="1800" b="0" dirty="0">
              <a:solidFill>
                <a:schemeClr val="accent1"/>
              </a:solidFill>
              <a:latin typeface="Arial" charset="0"/>
              <a:cs typeface="Arial" charset="0"/>
            </a:endParaRPr>
          </a:p>
        </p:txBody>
      </p:sp>
      <p:sp>
        <p:nvSpPr>
          <p:cNvPr id="12" name="Round Same Side Corner Rectangle 11"/>
          <p:cNvSpPr/>
          <p:nvPr/>
        </p:nvSpPr>
        <p:spPr>
          <a:xfrm>
            <a:off x="3352800" y="2819400"/>
            <a:ext cx="2514600" cy="685800"/>
          </a:xfrm>
          <a:prstGeom prst="round2Same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atinLnBrk="0">
              <a:defRPr/>
            </a:pPr>
            <a:r>
              <a:rPr kumimoji="0" lang="en-US" sz="1800" dirty="0">
                <a:ln w="0"/>
                <a:solidFill>
                  <a:schemeClr val="tx1"/>
                </a:solidFill>
                <a:effectLst>
                  <a:outerShdw blurRad="38100" dist="19050" dir="2700000" algn="tl" rotWithShape="0">
                    <a:schemeClr val="dk1">
                      <a:alpha val="40000"/>
                    </a:schemeClr>
                  </a:outerShdw>
                </a:effectLst>
                <a:latin typeface="Arial" charset="0"/>
                <a:cs typeface="Arial" charset="0"/>
              </a:rPr>
              <a:t>Inference engine</a:t>
            </a:r>
            <a:endParaRPr kumimoji="0" lang="en-US" sz="1800" b="0" dirty="0">
              <a:solidFill>
                <a:schemeClr val="accent1"/>
              </a:solidFill>
              <a:latin typeface="Arial" charset="0"/>
              <a:cs typeface="Arial" charset="0"/>
            </a:endParaRPr>
          </a:p>
        </p:txBody>
      </p:sp>
      <p:sp>
        <p:nvSpPr>
          <p:cNvPr id="13" name="Round Same Side Corner Rectangle 12"/>
          <p:cNvSpPr/>
          <p:nvPr/>
        </p:nvSpPr>
        <p:spPr>
          <a:xfrm>
            <a:off x="3352800" y="3886200"/>
            <a:ext cx="2514600" cy="685800"/>
          </a:xfrm>
          <a:prstGeom prst="round2Same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atinLnBrk="0">
              <a:defRPr/>
            </a:pPr>
            <a:r>
              <a:rPr kumimoji="0" lang="en-US" sz="1800" dirty="0">
                <a:ln w="0"/>
                <a:solidFill>
                  <a:schemeClr val="tx1"/>
                </a:solidFill>
                <a:effectLst>
                  <a:outerShdw blurRad="38100" dist="19050" dir="2700000" algn="tl" rotWithShape="0">
                    <a:schemeClr val="dk1">
                      <a:alpha val="40000"/>
                    </a:schemeClr>
                  </a:outerShdw>
                </a:effectLst>
                <a:latin typeface="Arial" charset="0"/>
                <a:cs typeface="Arial" charset="0"/>
              </a:rPr>
              <a:t>Explanation Facilities</a:t>
            </a:r>
            <a:endParaRPr kumimoji="0" lang="en-US" sz="1800" b="0" dirty="0">
              <a:solidFill>
                <a:schemeClr val="accent1"/>
              </a:solidFill>
              <a:latin typeface="Arial" charset="0"/>
              <a:cs typeface="Arial" charset="0"/>
            </a:endParaRPr>
          </a:p>
        </p:txBody>
      </p:sp>
      <p:sp>
        <p:nvSpPr>
          <p:cNvPr id="14" name="Round Same Side Corner Rectangle 13"/>
          <p:cNvSpPr/>
          <p:nvPr/>
        </p:nvSpPr>
        <p:spPr>
          <a:xfrm>
            <a:off x="3352800" y="4953000"/>
            <a:ext cx="2514600" cy="685800"/>
          </a:xfrm>
          <a:prstGeom prst="round2Same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atinLnBrk="0">
              <a:defRPr/>
            </a:pPr>
            <a:r>
              <a:rPr kumimoji="0" lang="en-US" sz="1800" dirty="0">
                <a:ln w="0"/>
                <a:solidFill>
                  <a:schemeClr val="tx1"/>
                </a:solidFill>
                <a:effectLst>
                  <a:outerShdw blurRad="38100" dist="19050" dir="2700000" algn="tl" rotWithShape="0">
                    <a:schemeClr val="dk1">
                      <a:alpha val="40000"/>
                    </a:schemeClr>
                  </a:outerShdw>
                </a:effectLst>
                <a:latin typeface="Arial" charset="0"/>
                <a:cs typeface="Arial" charset="0"/>
              </a:rPr>
              <a:t>User Interface</a:t>
            </a:r>
            <a:endParaRPr kumimoji="0" lang="en-US" sz="1800" b="0" dirty="0">
              <a:solidFill>
                <a:schemeClr val="accent1"/>
              </a:solidFill>
              <a:latin typeface="Arial" charset="0"/>
              <a:cs typeface="Arial" charset="0"/>
            </a:endParaRPr>
          </a:p>
        </p:txBody>
      </p:sp>
      <p:sp>
        <p:nvSpPr>
          <p:cNvPr id="15" name="Oval 14"/>
          <p:cNvSpPr/>
          <p:nvPr/>
        </p:nvSpPr>
        <p:spPr>
          <a:xfrm>
            <a:off x="3962400" y="6019800"/>
            <a:ext cx="1066800" cy="83820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atinLnBrk="0">
              <a:defRPr/>
            </a:pPr>
            <a:r>
              <a:rPr kumimoji="0" lang="en-US" sz="1800">
                <a:ln w="0"/>
                <a:solidFill>
                  <a:schemeClr val="tx1"/>
                </a:solidFill>
                <a:effectLst>
                  <a:outerShdw blurRad="38100" dist="19050" dir="2700000" algn="tl" rotWithShape="0">
                    <a:schemeClr val="dk1">
                      <a:alpha val="40000"/>
                    </a:schemeClr>
                  </a:outerShdw>
                </a:effectLst>
                <a:latin typeface="Arial" charset="0"/>
                <a:cs typeface="Arial" charset="0"/>
              </a:rPr>
              <a:t>User</a:t>
            </a:r>
          </a:p>
        </p:txBody>
      </p:sp>
      <p:cxnSp>
        <p:nvCxnSpPr>
          <p:cNvPr id="16" name="Shape 28"/>
          <p:cNvCxnSpPr>
            <a:stCxn id="8" idx="1"/>
            <a:endCxn id="12" idx="2"/>
          </p:cNvCxnSpPr>
          <p:nvPr/>
        </p:nvCxnSpPr>
        <p:spPr>
          <a:xfrm rot="16200000" flipH="1">
            <a:off x="2571750" y="2381250"/>
            <a:ext cx="571500" cy="990600"/>
          </a:xfrm>
          <a:prstGeom prst="bentConnector2">
            <a:avLst/>
          </a:prstGeom>
          <a:ln w="254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Shape 33"/>
          <p:cNvCxnSpPr/>
          <p:nvPr/>
        </p:nvCxnSpPr>
        <p:spPr>
          <a:xfrm rot="5400000">
            <a:off x="5848350" y="2724150"/>
            <a:ext cx="495300" cy="457200"/>
          </a:xfrm>
          <a:prstGeom prst="bentConnector2">
            <a:avLst/>
          </a:prstGeom>
          <a:ln w="254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8" name="Up-Down Arrow 17"/>
          <p:cNvSpPr/>
          <p:nvPr/>
        </p:nvSpPr>
        <p:spPr>
          <a:xfrm>
            <a:off x="4495800" y="3505200"/>
            <a:ext cx="76200" cy="457200"/>
          </a:xfrm>
          <a:prstGeom prst="upDown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atinLnBrk="0">
              <a:defRPr/>
            </a:pPr>
            <a:endParaRPr kumimoji="0" lang="en-US" sz="1800" b="0" dirty="0"/>
          </a:p>
        </p:txBody>
      </p:sp>
      <p:sp>
        <p:nvSpPr>
          <p:cNvPr id="19" name="Up-Down Arrow 18"/>
          <p:cNvSpPr/>
          <p:nvPr/>
        </p:nvSpPr>
        <p:spPr>
          <a:xfrm>
            <a:off x="4495800" y="4495800"/>
            <a:ext cx="76200" cy="457200"/>
          </a:xfrm>
          <a:prstGeom prst="upDown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atinLnBrk="0">
              <a:defRPr/>
            </a:pPr>
            <a:endParaRPr kumimoji="0" lang="en-US" sz="1800" b="0" dirty="0"/>
          </a:p>
        </p:txBody>
      </p:sp>
      <p:sp>
        <p:nvSpPr>
          <p:cNvPr id="20" name="Up-Down Arrow 19"/>
          <p:cNvSpPr/>
          <p:nvPr/>
        </p:nvSpPr>
        <p:spPr>
          <a:xfrm>
            <a:off x="4495800" y="5562600"/>
            <a:ext cx="76200" cy="457200"/>
          </a:xfrm>
          <a:prstGeom prst="upDown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atinLnBrk="0">
              <a:defRPr/>
            </a:pPr>
            <a:endParaRPr kumimoji="0" lang="en-US" sz="1800" b="0" dirty="0"/>
          </a:p>
        </p:txBody>
      </p:sp>
    </p:spTree>
    <p:extLst>
      <p:ext uri="{BB962C8B-B14F-4D97-AF65-F5344CB8AC3E}">
        <p14:creationId xmlns:p14="http://schemas.microsoft.com/office/powerpoint/2010/main" val="2224171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down)">
                                      <p:cBhvr>
                                        <p:cTn id="16" dur="500"/>
                                        <p:tgtEl>
                                          <p:spTgt spid="10"/>
                                        </p:tgtEl>
                                      </p:cBhvr>
                                    </p:animEffect>
                                  </p:childTnLst>
                                </p:cTn>
                              </p:par>
                            </p:childTnLst>
                          </p:cTn>
                        </p:par>
                        <p:par>
                          <p:cTn id="17" fill="hold">
                            <p:stCondLst>
                              <p:cond delay="500"/>
                            </p:stCondLst>
                            <p:childTnLst>
                              <p:par>
                                <p:cTn id="18" presetID="22" presetClass="entr" presetSubtype="4"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down)">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down)">
                                      <p:cBhvr>
                                        <p:cTn id="30" dur="500"/>
                                        <p:tgtEl>
                                          <p:spTgt spid="16"/>
                                        </p:tgtEl>
                                      </p:cBhvr>
                                    </p:animEffect>
                                  </p:childTnLst>
                                </p:cTn>
                              </p:par>
                            </p:childTnLst>
                          </p:cTn>
                        </p:par>
                        <p:par>
                          <p:cTn id="31" fill="hold">
                            <p:stCondLst>
                              <p:cond delay="500"/>
                            </p:stCondLst>
                            <p:childTnLst>
                              <p:par>
                                <p:cTn id="32" presetID="22" presetClass="entr" presetSubtype="4" fill="hold" nodeType="after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down)">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down)">
                                      <p:cBhvr>
                                        <p:cTn id="39" dur="500"/>
                                        <p:tgtEl>
                                          <p:spTgt spid="13"/>
                                        </p:tgtEl>
                                      </p:cBhvr>
                                    </p:animEffect>
                                  </p:childTnLst>
                                </p:cTn>
                              </p:par>
                            </p:childTnLst>
                          </p:cTn>
                        </p:par>
                        <p:par>
                          <p:cTn id="40" fill="hold">
                            <p:stCondLst>
                              <p:cond delay="500"/>
                            </p:stCondLst>
                            <p:childTnLst>
                              <p:par>
                                <p:cTn id="41" presetID="22" presetClass="entr" presetSubtype="4"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down)">
                                      <p:cBhvr>
                                        <p:cTn id="43" dur="500"/>
                                        <p:tgtEl>
                                          <p:spTgt spid="1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down)">
                                      <p:cBhvr>
                                        <p:cTn id="48" dur="500"/>
                                        <p:tgtEl>
                                          <p:spTgt spid="14"/>
                                        </p:tgtEl>
                                      </p:cBhvr>
                                    </p:animEffect>
                                  </p:childTnLst>
                                </p:cTn>
                              </p:par>
                            </p:childTnLst>
                          </p:cTn>
                        </p:par>
                        <p:par>
                          <p:cTn id="49" fill="hold">
                            <p:stCondLst>
                              <p:cond delay="500"/>
                            </p:stCondLst>
                            <p:childTnLst>
                              <p:par>
                                <p:cTn id="50" presetID="22" presetClass="entr" presetSubtype="4" fill="hold" grpId="0" nodeType="after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wipe(down)">
                                      <p:cBhvr>
                                        <p:cTn id="52" dur="500"/>
                                        <p:tgtEl>
                                          <p:spTgt spid="1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down)">
                                      <p:cBhvr>
                                        <p:cTn id="57" dur="500"/>
                                        <p:tgtEl>
                                          <p:spTgt spid="15"/>
                                        </p:tgtEl>
                                      </p:cBhvr>
                                    </p:animEffect>
                                  </p:childTnLst>
                                </p:cTn>
                              </p:par>
                            </p:childTnLst>
                          </p:cTn>
                        </p:par>
                        <p:par>
                          <p:cTn id="58" fill="hold">
                            <p:stCondLst>
                              <p:cond delay="500"/>
                            </p:stCondLst>
                            <p:childTnLst>
                              <p:par>
                                <p:cTn id="59" presetID="22" presetClass="entr" presetSubtype="4" fill="hold" grpId="0" nodeType="after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down)">
                                      <p:cBhvr>
                                        <p:cTn id="6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P spid="9" grpId="0" animBg="1" autoUpdateAnimBg="0"/>
      <p:bldP spid="10" grpId="0" animBg="1" autoUpdateAnimBg="0"/>
      <p:bldP spid="11" grpId="0" animBg="1" autoUpdateAnimBg="0"/>
      <p:bldP spid="12" grpId="0" animBg="1" autoUpdateAnimBg="0"/>
      <p:bldP spid="13" grpId="0" animBg="1" autoUpdateAnimBg="0"/>
      <p:bldP spid="14" grpId="0" animBg="1" autoUpdateAnimBg="0"/>
      <p:bldP spid="15" grpId="0" animBg="1" autoUpdateAnimBg="0"/>
      <p:bldP spid="18" grpId="0" animBg="1" autoUpdateAnimBg="0"/>
      <p:bldP spid="19" grpId="0" animBg="1" autoUpdateAnimBg="0"/>
      <p:bldP spid="20"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24</a:t>
            </a:fld>
            <a:endParaRPr lang="en-US" dirty="0"/>
          </a:p>
        </p:txBody>
      </p:sp>
      <p:sp>
        <p:nvSpPr>
          <p:cNvPr id="5" name="TextBox 4"/>
          <p:cNvSpPr txBox="1"/>
          <p:nvPr/>
        </p:nvSpPr>
        <p:spPr>
          <a:xfrm>
            <a:off x="228600" y="228600"/>
            <a:ext cx="8686800" cy="954107"/>
          </a:xfrm>
          <a:prstGeom prst="rect">
            <a:avLst/>
          </a:prstGeom>
          <a:solidFill>
            <a:schemeClr val="tx2">
              <a:lumMod val="20000"/>
              <a:lumOff val="80000"/>
            </a:schemeClr>
          </a:solidFill>
        </p:spPr>
        <p:txBody>
          <a:bodyPr wrap="square" rtlCol="0">
            <a:spAutoFit/>
          </a:bodyPr>
          <a:lstStyle/>
          <a:p>
            <a:pPr algn="ctr">
              <a:defRPr/>
            </a:pPr>
            <a:r>
              <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rPr>
              <a:t>Advantages and Disadvantages of </a:t>
            </a:r>
          </a:p>
          <a:p>
            <a:pPr algn="ctr">
              <a:defRPr/>
            </a:pPr>
            <a:r>
              <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rPr>
              <a:t>Rule-based Knowledge Representation</a:t>
            </a:r>
            <a:endParaRPr lang="en-US" sz="2800" b="1" dirty="0">
              <a:solidFill>
                <a:srgbClr val="FF0000"/>
              </a:solidFill>
              <a:effectLst>
                <a:outerShdw blurRad="38100" dist="38100" dir="2700000" algn="tl">
                  <a:srgbClr val="C0C0C0"/>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8" name="AutoShape 3"/>
          <p:cNvSpPr>
            <a:spLocks noChangeArrowheads="1"/>
          </p:cNvSpPr>
          <p:nvPr/>
        </p:nvSpPr>
        <p:spPr bwMode="auto">
          <a:xfrm>
            <a:off x="5257800" y="2886860"/>
            <a:ext cx="3657600" cy="2971800"/>
          </a:xfrm>
          <a:prstGeom prst="roundRect">
            <a:avLst>
              <a:gd name="adj" fmla="val 16667"/>
            </a:avLst>
          </a:prstGeom>
          <a:gradFill rotWithShape="1">
            <a:gsLst>
              <a:gs pos="0">
                <a:srgbClr val="99CCFF"/>
              </a:gs>
              <a:gs pos="100000">
                <a:srgbClr val="E3F1FF"/>
              </a:gs>
            </a:gsLst>
            <a:lin ang="5400000" scaled="1"/>
          </a:gradFill>
          <a:ln w="38100">
            <a:solidFill>
              <a:srgbClr val="3366FF"/>
            </a:solidFill>
            <a:round/>
            <a:headEnd/>
            <a:tailEnd/>
          </a:ln>
        </p:spPr>
        <p:txBody>
          <a:bodyPr wrap="none" anchor="ct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latinLnBrk="0"/>
            <a:endParaRPr kumimoji="0" lang="en-US" sz="1800" b="0">
              <a:latin typeface="Verdana" panose="020B0604030504040204" pitchFamily="34" charset="0"/>
              <a:cs typeface="Arial" panose="020B0604020202020204" pitchFamily="34" charset="0"/>
            </a:endParaRPr>
          </a:p>
        </p:txBody>
      </p:sp>
      <p:sp>
        <p:nvSpPr>
          <p:cNvPr id="9" name="Text Box 4"/>
          <p:cNvSpPr txBox="1">
            <a:spLocks noChangeArrowheads="1"/>
          </p:cNvSpPr>
          <p:nvPr/>
        </p:nvSpPr>
        <p:spPr bwMode="auto">
          <a:xfrm>
            <a:off x="5715000" y="3082123"/>
            <a:ext cx="3048000" cy="104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algn="l" latinLnBrk="0"/>
            <a:r>
              <a:rPr kumimoji="0" lang="en-US" sz="2000" dirty="0">
                <a:solidFill>
                  <a:srgbClr val="000000"/>
                </a:solidFill>
                <a:latin typeface="Arial" panose="020B0604020202020204" pitchFamily="34" charset="0"/>
                <a:cs typeface="Arial" panose="020B0604020202020204" pitchFamily="34" charset="0"/>
              </a:rPr>
              <a:t>Disadvantage</a:t>
            </a:r>
          </a:p>
          <a:p>
            <a:pPr algn="l" latinLnBrk="0">
              <a:buFont typeface="Arial" panose="020B0604020202020204" pitchFamily="34" charset="0"/>
              <a:buChar char="•"/>
            </a:pPr>
            <a:r>
              <a:rPr kumimoji="0" lang="en-US" sz="1400" b="0" dirty="0">
                <a:solidFill>
                  <a:srgbClr val="000000"/>
                </a:solidFill>
                <a:latin typeface="Arial" panose="020B0604020202020204" pitchFamily="34" charset="0"/>
                <a:cs typeface="Arial" panose="020B0604020202020204" pitchFamily="34" charset="0"/>
              </a:rPr>
              <a:t>Opaque relations between rules</a:t>
            </a:r>
          </a:p>
          <a:p>
            <a:pPr algn="l" latinLnBrk="0">
              <a:buFont typeface="Arial" panose="020B0604020202020204" pitchFamily="34" charset="0"/>
              <a:buChar char="•"/>
            </a:pPr>
            <a:r>
              <a:rPr kumimoji="0" lang="en-US" sz="1400" b="0" dirty="0">
                <a:solidFill>
                  <a:srgbClr val="000000"/>
                </a:solidFill>
                <a:latin typeface="Arial" panose="020B0604020202020204" pitchFamily="34" charset="0"/>
                <a:cs typeface="Arial" panose="020B0604020202020204" pitchFamily="34" charset="0"/>
              </a:rPr>
              <a:t>Ineffective search strategy</a:t>
            </a:r>
          </a:p>
          <a:p>
            <a:pPr algn="l" latinLnBrk="0">
              <a:buFont typeface="Arial" panose="020B0604020202020204" pitchFamily="34" charset="0"/>
              <a:buChar char="•"/>
            </a:pPr>
            <a:r>
              <a:rPr kumimoji="0" lang="en-US" sz="1400" b="0" dirty="0">
                <a:solidFill>
                  <a:srgbClr val="000000"/>
                </a:solidFill>
                <a:latin typeface="Arial" panose="020B0604020202020204" pitchFamily="34" charset="0"/>
                <a:cs typeface="Arial" panose="020B0604020202020204" pitchFamily="34" charset="0"/>
              </a:rPr>
              <a:t>Inability to learn.</a:t>
            </a:r>
            <a:endParaRPr kumimoji="0" lang="en-US" sz="1200" b="0" dirty="0">
              <a:solidFill>
                <a:srgbClr val="000000"/>
              </a:solidFill>
              <a:latin typeface="Arial" panose="020B0604020202020204" pitchFamily="34" charset="0"/>
              <a:cs typeface="Arial" panose="020B0604020202020204" pitchFamily="34" charset="0"/>
            </a:endParaRPr>
          </a:p>
        </p:txBody>
      </p:sp>
      <p:sp>
        <p:nvSpPr>
          <p:cNvPr id="10" name="AutoShape 5"/>
          <p:cNvSpPr>
            <a:spLocks noChangeArrowheads="1"/>
          </p:cNvSpPr>
          <p:nvPr/>
        </p:nvSpPr>
        <p:spPr bwMode="auto">
          <a:xfrm>
            <a:off x="228600" y="2886860"/>
            <a:ext cx="3581400" cy="2971800"/>
          </a:xfrm>
          <a:prstGeom prst="roundRect">
            <a:avLst>
              <a:gd name="adj" fmla="val 16667"/>
            </a:avLst>
          </a:prstGeom>
          <a:gradFill rotWithShape="1">
            <a:gsLst>
              <a:gs pos="0">
                <a:srgbClr val="99CCFF"/>
              </a:gs>
              <a:gs pos="100000">
                <a:srgbClr val="E3F1FF"/>
              </a:gs>
            </a:gsLst>
            <a:lin ang="5400000" scaled="1"/>
          </a:gradFill>
          <a:ln w="38100">
            <a:solidFill>
              <a:srgbClr val="3366FF"/>
            </a:solidFill>
            <a:round/>
            <a:headEnd/>
            <a:tailEnd/>
          </a:ln>
        </p:spPr>
        <p:txBody>
          <a:bodyPr wrap="none" anchor="ct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latinLnBrk="0"/>
            <a:endParaRPr kumimoji="0" lang="en-US" sz="1800" b="0">
              <a:latin typeface="Verdana" panose="020B0604030504040204" pitchFamily="34" charset="0"/>
              <a:cs typeface="Arial" panose="020B0604020202020204" pitchFamily="34" charset="0"/>
            </a:endParaRPr>
          </a:p>
        </p:txBody>
      </p:sp>
      <p:sp>
        <p:nvSpPr>
          <p:cNvPr id="11" name="Text Box 6"/>
          <p:cNvSpPr txBox="1">
            <a:spLocks noChangeArrowheads="1"/>
          </p:cNvSpPr>
          <p:nvPr/>
        </p:nvSpPr>
        <p:spPr bwMode="auto">
          <a:xfrm>
            <a:off x="304800" y="2963060"/>
            <a:ext cx="3352800"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algn="l" latinLnBrk="0"/>
            <a:r>
              <a:rPr kumimoji="0" lang="en-US" sz="2000" dirty="0">
                <a:solidFill>
                  <a:srgbClr val="000000"/>
                </a:solidFill>
                <a:latin typeface="Arial" panose="020B0604020202020204" pitchFamily="34" charset="0"/>
                <a:cs typeface="Arial" panose="020B0604020202020204" pitchFamily="34" charset="0"/>
              </a:rPr>
              <a:t>Advantages</a:t>
            </a:r>
          </a:p>
          <a:p>
            <a:pPr algn="l" latinLnBrk="0">
              <a:buFont typeface="Wingdings" panose="05000000000000000000" pitchFamily="2" charset="2"/>
              <a:buChar char="§"/>
            </a:pPr>
            <a:r>
              <a:rPr kumimoji="0" lang="en-US" sz="1400" b="0" dirty="0">
                <a:solidFill>
                  <a:srgbClr val="000000"/>
                </a:solidFill>
                <a:latin typeface="Arial" panose="020B0604020202020204" pitchFamily="34" charset="0"/>
                <a:cs typeface="Arial" panose="020B0604020202020204" pitchFamily="34" charset="0"/>
              </a:rPr>
              <a:t>Natural Knowledge representation</a:t>
            </a:r>
          </a:p>
          <a:p>
            <a:pPr algn="l" latinLnBrk="0">
              <a:buFont typeface="Wingdings" panose="05000000000000000000" pitchFamily="2" charset="2"/>
              <a:buChar char="§"/>
            </a:pPr>
            <a:r>
              <a:rPr kumimoji="0" lang="en-US" sz="1400" b="0" dirty="0">
                <a:solidFill>
                  <a:srgbClr val="000000"/>
                </a:solidFill>
                <a:latin typeface="Arial" panose="020B0604020202020204" pitchFamily="34" charset="0"/>
                <a:cs typeface="Arial" panose="020B0604020202020204" pitchFamily="34" charset="0"/>
              </a:rPr>
              <a:t>Uniform structure</a:t>
            </a:r>
          </a:p>
          <a:p>
            <a:pPr algn="l" latinLnBrk="0">
              <a:buFont typeface="Wingdings" panose="05000000000000000000" pitchFamily="2" charset="2"/>
              <a:buChar char="§"/>
            </a:pPr>
            <a:r>
              <a:rPr kumimoji="0" lang="en-US" sz="1400" b="0" dirty="0">
                <a:solidFill>
                  <a:srgbClr val="000000"/>
                </a:solidFill>
                <a:latin typeface="Arial" panose="020B0604020202020204" pitchFamily="34" charset="0"/>
                <a:cs typeface="Arial" panose="020B0604020202020204" pitchFamily="34" charset="0"/>
              </a:rPr>
              <a:t>Separation of knowledge from the inference engine</a:t>
            </a:r>
          </a:p>
          <a:p>
            <a:pPr algn="l" latinLnBrk="0">
              <a:buFont typeface="Wingdings" panose="05000000000000000000" pitchFamily="2" charset="2"/>
              <a:buChar char="§"/>
            </a:pPr>
            <a:r>
              <a:rPr kumimoji="0" lang="en-US" sz="1400" b="0" dirty="0">
                <a:solidFill>
                  <a:srgbClr val="000000"/>
                </a:solidFill>
                <a:latin typeface="Arial" panose="020B0604020202020204" pitchFamily="34" charset="0"/>
                <a:cs typeface="Arial" panose="020B0604020202020204" pitchFamily="34" charset="0"/>
              </a:rPr>
              <a:t>Dealing with incomplete and uncertain knowledge. E.g., </a:t>
            </a:r>
          </a:p>
          <a:p>
            <a:pPr algn="l" latinLnBrk="0"/>
            <a:r>
              <a:rPr kumimoji="0" lang="en-US" sz="1400" b="0" dirty="0">
                <a:solidFill>
                  <a:srgbClr val="000000"/>
                </a:solidFill>
                <a:latin typeface="Arial" panose="020B0604020202020204" pitchFamily="34" charset="0"/>
                <a:cs typeface="Arial" panose="020B0604020202020204" pitchFamily="34" charset="0"/>
              </a:rPr>
              <a:t>IF	season is Autumn</a:t>
            </a:r>
          </a:p>
          <a:p>
            <a:pPr algn="l" latinLnBrk="0"/>
            <a:r>
              <a:rPr kumimoji="0" lang="en-US" sz="1400" b="0" dirty="0">
                <a:solidFill>
                  <a:srgbClr val="000000"/>
                </a:solidFill>
                <a:latin typeface="Arial" panose="020B0604020202020204" pitchFamily="34" charset="0"/>
                <a:cs typeface="Arial" panose="020B0604020202020204" pitchFamily="34" charset="0"/>
              </a:rPr>
              <a:t>AND	sky is cloudy</a:t>
            </a:r>
          </a:p>
          <a:p>
            <a:pPr algn="l" latinLnBrk="0"/>
            <a:r>
              <a:rPr kumimoji="0" lang="en-US" sz="1400" b="0" dirty="0">
                <a:solidFill>
                  <a:srgbClr val="000000"/>
                </a:solidFill>
                <a:latin typeface="Arial" panose="020B0604020202020204" pitchFamily="34" charset="0"/>
                <a:cs typeface="Arial" panose="020B0604020202020204" pitchFamily="34" charset="0"/>
              </a:rPr>
              <a:t>AND	wind is low</a:t>
            </a:r>
          </a:p>
          <a:p>
            <a:pPr algn="l" latinLnBrk="0"/>
            <a:r>
              <a:rPr kumimoji="0" lang="en-US" sz="1400" b="0" dirty="0">
                <a:solidFill>
                  <a:srgbClr val="000000"/>
                </a:solidFill>
                <a:latin typeface="Arial" panose="020B0604020202020204" pitchFamily="34" charset="0"/>
                <a:cs typeface="Arial" panose="020B0604020202020204" pitchFamily="34" charset="0"/>
              </a:rPr>
              <a:t>THEN 	forecast is clear {</a:t>
            </a:r>
            <a:r>
              <a:rPr kumimoji="0" lang="en-US" sz="1400" b="0" dirty="0" err="1">
                <a:solidFill>
                  <a:srgbClr val="000000"/>
                </a:solidFill>
                <a:latin typeface="Arial" panose="020B0604020202020204" pitchFamily="34" charset="0"/>
                <a:cs typeface="Arial" panose="020B0604020202020204" pitchFamily="34" charset="0"/>
              </a:rPr>
              <a:t>cf</a:t>
            </a:r>
            <a:r>
              <a:rPr kumimoji="0" lang="en-US" sz="1400" b="0" dirty="0">
                <a:solidFill>
                  <a:srgbClr val="000000"/>
                </a:solidFill>
                <a:latin typeface="Arial" panose="020B0604020202020204" pitchFamily="34" charset="0"/>
                <a:cs typeface="Arial" panose="020B0604020202020204" pitchFamily="34" charset="0"/>
              </a:rPr>
              <a:t> 0.1};</a:t>
            </a:r>
          </a:p>
          <a:p>
            <a:pPr algn="l" latinLnBrk="0"/>
            <a:r>
              <a:rPr kumimoji="0" lang="en-US" sz="1400" b="0" dirty="0">
                <a:solidFill>
                  <a:srgbClr val="000000"/>
                </a:solidFill>
                <a:latin typeface="Arial" panose="020B0604020202020204" pitchFamily="34" charset="0"/>
                <a:cs typeface="Arial" panose="020B0604020202020204" pitchFamily="34" charset="0"/>
              </a:rPr>
              <a:t>	forecast is rain   {</a:t>
            </a:r>
            <a:r>
              <a:rPr kumimoji="0" lang="en-US" sz="1400" b="0" dirty="0" err="1">
                <a:solidFill>
                  <a:srgbClr val="000000"/>
                </a:solidFill>
                <a:latin typeface="Arial" panose="020B0604020202020204" pitchFamily="34" charset="0"/>
                <a:cs typeface="Arial" panose="020B0604020202020204" pitchFamily="34" charset="0"/>
              </a:rPr>
              <a:t>cf</a:t>
            </a:r>
            <a:r>
              <a:rPr kumimoji="0" lang="en-US" sz="1400" b="0" dirty="0">
                <a:solidFill>
                  <a:srgbClr val="000000"/>
                </a:solidFill>
                <a:latin typeface="Arial" panose="020B0604020202020204" pitchFamily="34" charset="0"/>
                <a:cs typeface="Arial" panose="020B0604020202020204" pitchFamily="34" charset="0"/>
              </a:rPr>
              <a:t> 0.9}</a:t>
            </a:r>
            <a:endParaRPr kumimoji="0" lang="en-US" sz="1200" b="0" dirty="0">
              <a:solidFill>
                <a:srgbClr val="000000"/>
              </a:solidFill>
              <a:latin typeface="Arial" panose="020B0604020202020204" pitchFamily="34" charset="0"/>
              <a:cs typeface="Arial" panose="020B0604020202020204" pitchFamily="34" charset="0"/>
            </a:endParaRPr>
          </a:p>
        </p:txBody>
      </p:sp>
      <p:sp>
        <p:nvSpPr>
          <p:cNvPr id="12" name="AutoShape 7"/>
          <p:cNvSpPr>
            <a:spLocks noChangeAspect="1" noChangeArrowheads="1" noTextEdit="1"/>
          </p:cNvSpPr>
          <p:nvPr/>
        </p:nvSpPr>
        <p:spPr bwMode="gray">
          <a:xfrm>
            <a:off x="3222625" y="3176588"/>
            <a:ext cx="909638"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 name="Freeform 8"/>
          <p:cNvSpPr>
            <a:spLocks/>
          </p:cNvSpPr>
          <p:nvPr/>
        </p:nvSpPr>
        <p:spPr bwMode="gray">
          <a:xfrm>
            <a:off x="3222625" y="2790023"/>
            <a:ext cx="903288"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bg1"/>
              </a:gs>
              <a:gs pos="100000">
                <a:schemeClr val="bg1">
                  <a:gamma/>
                  <a:tint val="31765"/>
                  <a:invGamma/>
                </a:schemeClr>
              </a:gs>
            </a:gsLst>
            <a:lin ang="0" scaled="1"/>
          </a:gradFill>
          <a:ln w="0">
            <a:noFill/>
            <a:prstDash val="solid"/>
            <a:round/>
            <a:headEnd/>
            <a:tailEnd/>
          </a:ln>
        </p:spPr>
        <p:txBody>
          <a:bodyPr/>
          <a:lstStyle/>
          <a:p>
            <a:pPr algn="l" latinLnBrk="0">
              <a:defRPr/>
            </a:pPr>
            <a:endParaRPr kumimoji="0" lang="en-US" sz="1800" b="0">
              <a:latin typeface="Arial" charset="0"/>
              <a:ea typeface="+mn-ea"/>
            </a:endParaRPr>
          </a:p>
        </p:txBody>
      </p:sp>
      <p:sp>
        <p:nvSpPr>
          <p:cNvPr id="14" name="AutoShape 9"/>
          <p:cNvSpPr>
            <a:spLocks noChangeAspect="1" noChangeArrowheads="1" noTextEdit="1"/>
          </p:cNvSpPr>
          <p:nvPr/>
        </p:nvSpPr>
        <p:spPr bwMode="gray">
          <a:xfrm flipH="1">
            <a:off x="4868863" y="3176588"/>
            <a:ext cx="909637"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 name="Freeform 10"/>
          <p:cNvSpPr>
            <a:spLocks/>
          </p:cNvSpPr>
          <p:nvPr/>
        </p:nvSpPr>
        <p:spPr bwMode="gray">
          <a:xfrm flipH="1">
            <a:off x="4875213" y="2790023"/>
            <a:ext cx="903287"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1"/>
              </a:gs>
              <a:gs pos="100000">
                <a:schemeClr val="accent1">
                  <a:gamma/>
                  <a:tint val="31765"/>
                  <a:invGamma/>
                </a:schemeClr>
              </a:gs>
            </a:gsLst>
            <a:lin ang="0" scaled="1"/>
          </a:gradFill>
          <a:ln w="0">
            <a:noFill/>
            <a:prstDash val="solid"/>
            <a:round/>
            <a:headEnd/>
            <a:tailEnd/>
          </a:ln>
        </p:spPr>
        <p:txBody>
          <a:bodyPr/>
          <a:lstStyle/>
          <a:p>
            <a:pPr algn="l" latinLnBrk="0">
              <a:defRPr/>
            </a:pPr>
            <a:endParaRPr kumimoji="0" lang="en-US" sz="1800" b="0">
              <a:latin typeface="Arial" charset="0"/>
              <a:ea typeface="+mn-ea"/>
            </a:endParaRPr>
          </a:p>
        </p:txBody>
      </p:sp>
      <p:grpSp>
        <p:nvGrpSpPr>
          <p:cNvPr id="16" name="Group 11"/>
          <p:cNvGrpSpPr>
            <a:grpSpLocks/>
          </p:cNvGrpSpPr>
          <p:nvPr/>
        </p:nvGrpSpPr>
        <p:grpSpPr bwMode="auto">
          <a:xfrm>
            <a:off x="3048000" y="1162835"/>
            <a:ext cx="2998788" cy="1601788"/>
            <a:chOff x="1997" y="1314"/>
            <a:chExt cx="1889" cy="1009"/>
          </a:xfrm>
        </p:grpSpPr>
        <p:grpSp>
          <p:nvGrpSpPr>
            <p:cNvPr id="17" name="Group 12"/>
            <p:cNvGrpSpPr>
              <a:grpSpLocks/>
            </p:cNvGrpSpPr>
            <p:nvPr/>
          </p:nvGrpSpPr>
          <p:grpSpPr bwMode="auto">
            <a:xfrm>
              <a:off x="1997" y="1404"/>
              <a:ext cx="1889" cy="919"/>
              <a:chOff x="1973" y="1027"/>
              <a:chExt cx="1926" cy="937"/>
            </a:xfrm>
          </p:grpSpPr>
          <p:sp>
            <p:nvSpPr>
              <p:cNvPr id="22" name="Oval 13"/>
              <p:cNvSpPr>
                <a:spLocks noChangeArrowheads="1"/>
              </p:cNvSpPr>
              <p:nvPr/>
            </p:nvSpPr>
            <p:spPr bwMode="gray">
              <a:xfrm>
                <a:off x="1994" y="1057"/>
                <a:ext cx="1905" cy="907"/>
              </a:xfrm>
              <a:prstGeom prst="ellipse">
                <a:avLst/>
              </a:prstGeom>
              <a:gradFill rotWithShape="1">
                <a:gsLst>
                  <a:gs pos="0">
                    <a:schemeClr val="hlink"/>
                  </a:gs>
                  <a:gs pos="100000">
                    <a:schemeClr val="hlink">
                      <a:gamma/>
                      <a:shade val="48627"/>
                      <a:invGamma/>
                    </a:schemeClr>
                  </a:gs>
                </a:gsLst>
                <a:lin ang="2700000" scaled="1"/>
              </a:gradFill>
              <a:ln w="9525">
                <a:noFill/>
                <a:round/>
                <a:headEnd/>
                <a:tailEnd/>
              </a:ln>
              <a:effectLst/>
            </p:spPr>
            <p:txBody>
              <a:bodyPr wrap="none" anchor="ctr"/>
              <a:lstStyle/>
              <a:p>
                <a:pPr algn="l" latinLnBrk="0">
                  <a:defRPr/>
                </a:pPr>
                <a:endParaRPr kumimoji="0" lang="en-US" sz="1800" b="0">
                  <a:latin typeface="Arial" charset="0"/>
                  <a:ea typeface="+mn-ea"/>
                </a:endParaRPr>
              </a:p>
            </p:txBody>
          </p:sp>
          <p:sp>
            <p:nvSpPr>
              <p:cNvPr id="23" name="Oval 14"/>
              <p:cNvSpPr>
                <a:spLocks noChangeArrowheads="1"/>
              </p:cNvSpPr>
              <p:nvPr/>
            </p:nvSpPr>
            <p:spPr bwMode="gray">
              <a:xfrm>
                <a:off x="1973" y="1027"/>
                <a:ext cx="1905" cy="907"/>
              </a:xfrm>
              <a:prstGeom prst="ellipse">
                <a:avLst/>
              </a:prstGeom>
              <a:gradFill rotWithShape="1">
                <a:gsLst>
                  <a:gs pos="0">
                    <a:schemeClr val="hlink">
                      <a:gamma/>
                      <a:tint val="44314"/>
                      <a:invGamma/>
                    </a:schemeClr>
                  </a:gs>
                  <a:gs pos="100000">
                    <a:schemeClr val="hlink"/>
                  </a:gs>
                </a:gsLst>
                <a:lin ang="2700000" scaled="1"/>
              </a:gradFill>
              <a:ln w="9525">
                <a:noFill/>
                <a:round/>
                <a:headEnd/>
                <a:tailEnd/>
              </a:ln>
              <a:effectLst/>
            </p:spPr>
            <p:txBody>
              <a:bodyPr wrap="none" anchor="ctr"/>
              <a:lstStyle/>
              <a:p>
                <a:pPr algn="l" latinLnBrk="0">
                  <a:defRPr/>
                </a:pPr>
                <a:endParaRPr kumimoji="0" lang="en-US" sz="1800" b="0">
                  <a:latin typeface="Arial" charset="0"/>
                  <a:ea typeface="+mn-ea"/>
                </a:endParaRPr>
              </a:p>
            </p:txBody>
          </p:sp>
        </p:grpSp>
        <p:sp>
          <p:nvSpPr>
            <p:cNvPr id="18" name="Oval 15"/>
            <p:cNvSpPr>
              <a:spLocks noChangeArrowheads="1"/>
            </p:cNvSpPr>
            <p:nvPr/>
          </p:nvSpPr>
          <p:spPr bwMode="gray">
            <a:xfrm>
              <a:off x="2086" y="1314"/>
              <a:ext cx="1691" cy="845"/>
            </a:xfrm>
            <a:prstGeom prst="ellipse">
              <a:avLst/>
            </a:prstGeom>
            <a:gradFill rotWithShape="1">
              <a:gsLst>
                <a:gs pos="0">
                  <a:schemeClr val="accent1">
                    <a:gamma/>
                    <a:shade val="46275"/>
                    <a:invGamma/>
                  </a:schemeClr>
                </a:gs>
                <a:gs pos="100000">
                  <a:schemeClr val="accent1"/>
                </a:gs>
              </a:gsLst>
              <a:lin ang="2700000" scaled="1"/>
            </a:gradFill>
            <a:ln w="9525" algn="ctr">
              <a:noFill/>
              <a:round/>
              <a:headEnd/>
              <a:tailEnd/>
            </a:ln>
            <a:effectLst/>
          </p:spPr>
          <p:txBody>
            <a:bodyPr vert="eaVert" wrap="none" anchor="ctr"/>
            <a:lstStyle/>
            <a:p>
              <a:pPr algn="l" latinLnBrk="0">
                <a:defRPr/>
              </a:pPr>
              <a:endParaRPr kumimoji="0" lang="en-US" sz="1800" b="0">
                <a:latin typeface="Arial" charset="0"/>
                <a:ea typeface="+mn-ea"/>
              </a:endParaRPr>
            </a:p>
          </p:txBody>
        </p:sp>
        <p:sp>
          <p:nvSpPr>
            <p:cNvPr id="19" name="Oval 16"/>
            <p:cNvSpPr>
              <a:spLocks noChangeArrowheads="1"/>
            </p:cNvSpPr>
            <p:nvPr/>
          </p:nvSpPr>
          <p:spPr bwMode="gray">
            <a:xfrm>
              <a:off x="2108" y="1319"/>
              <a:ext cx="1650" cy="824"/>
            </a:xfrm>
            <a:prstGeom prst="ellipse">
              <a:avLst/>
            </a:prstGeom>
            <a:gradFill rotWithShape="1">
              <a:gsLst>
                <a:gs pos="0">
                  <a:schemeClr val="accent1">
                    <a:alpha val="0"/>
                  </a:schemeClr>
                </a:gs>
                <a:gs pos="100000">
                  <a:schemeClr val="accent1">
                    <a:gamma/>
                    <a:tint val="34902"/>
                    <a:invGamma/>
                  </a:schemeClr>
                </a:gs>
              </a:gsLst>
              <a:lin ang="2700000" scaled="1"/>
            </a:gradFill>
            <a:ln w="9525" algn="ctr">
              <a:noFill/>
              <a:round/>
              <a:headEnd/>
              <a:tailEnd/>
            </a:ln>
            <a:effectLst/>
          </p:spPr>
          <p:txBody>
            <a:bodyPr vert="eaVert" wrap="none" anchor="ctr"/>
            <a:lstStyle/>
            <a:p>
              <a:pPr algn="l" latinLnBrk="0">
                <a:defRPr/>
              </a:pPr>
              <a:endParaRPr kumimoji="0" lang="en-US" sz="1800" b="0">
                <a:latin typeface="Arial" charset="0"/>
                <a:ea typeface="+mn-ea"/>
              </a:endParaRPr>
            </a:p>
          </p:txBody>
        </p:sp>
        <p:sp>
          <p:nvSpPr>
            <p:cNvPr id="20" name="Oval 17"/>
            <p:cNvSpPr>
              <a:spLocks noChangeArrowheads="1"/>
            </p:cNvSpPr>
            <p:nvPr/>
          </p:nvSpPr>
          <p:spPr bwMode="gray">
            <a:xfrm>
              <a:off x="2125" y="1327"/>
              <a:ext cx="1570" cy="770"/>
            </a:xfrm>
            <a:prstGeom prst="ellipse">
              <a:avLst/>
            </a:prstGeom>
            <a:gradFill rotWithShape="1">
              <a:gsLst>
                <a:gs pos="0">
                  <a:schemeClr val="accent1">
                    <a:gamma/>
                    <a:shade val="79216"/>
                    <a:invGamma/>
                  </a:schemeClr>
                </a:gs>
                <a:gs pos="100000">
                  <a:schemeClr val="accent1">
                    <a:alpha val="48000"/>
                  </a:schemeClr>
                </a:gs>
              </a:gsLst>
              <a:lin ang="2700000" scaled="1"/>
            </a:gradFill>
            <a:ln w="9525" algn="ctr">
              <a:noFill/>
              <a:round/>
              <a:headEnd/>
              <a:tailEnd/>
            </a:ln>
            <a:effectLst/>
          </p:spPr>
          <p:txBody>
            <a:bodyPr vert="eaVert" wrap="none" anchor="ctr"/>
            <a:lstStyle/>
            <a:p>
              <a:pPr algn="l" latinLnBrk="0">
                <a:defRPr/>
              </a:pPr>
              <a:endParaRPr kumimoji="0" lang="en-US" sz="1800" b="0">
                <a:latin typeface="Arial" charset="0"/>
                <a:ea typeface="+mn-ea"/>
              </a:endParaRPr>
            </a:p>
          </p:txBody>
        </p:sp>
        <p:sp>
          <p:nvSpPr>
            <p:cNvPr id="21" name="Oval 18"/>
            <p:cNvSpPr>
              <a:spLocks noChangeArrowheads="1"/>
            </p:cNvSpPr>
            <p:nvPr/>
          </p:nvSpPr>
          <p:spPr bwMode="gray">
            <a:xfrm>
              <a:off x="2208" y="1344"/>
              <a:ext cx="1382" cy="624"/>
            </a:xfrm>
            <a:prstGeom prst="ellipse">
              <a:avLst/>
            </a:prstGeom>
            <a:gradFill rotWithShape="1">
              <a:gsLst>
                <a:gs pos="0">
                  <a:schemeClr val="accent1">
                    <a:gamma/>
                    <a:tint val="0"/>
                    <a:invGamma/>
                  </a:schemeClr>
                </a:gs>
                <a:gs pos="100000">
                  <a:schemeClr val="accent1">
                    <a:alpha val="38000"/>
                  </a:schemeClr>
                </a:gs>
              </a:gsLst>
              <a:lin ang="2700000" scaled="1"/>
            </a:gradFill>
            <a:ln w="9525" algn="ctr">
              <a:noFill/>
              <a:round/>
              <a:headEnd/>
              <a:tailEnd/>
            </a:ln>
            <a:effectLst/>
          </p:spPr>
          <p:txBody>
            <a:bodyPr vert="eaVert" wrap="none" anchor="ctr"/>
            <a:lstStyle/>
            <a:p>
              <a:pPr algn="l" latinLnBrk="0">
                <a:defRPr/>
              </a:pPr>
              <a:endParaRPr kumimoji="0" lang="en-US" sz="1800" b="0">
                <a:latin typeface="Arial" charset="0"/>
                <a:ea typeface="+mn-ea"/>
              </a:endParaRPr>
            </a:p>
          </p:txBody>
        </p:sp>
      </p:grpSp>
      <p:sp>
        <p:nvSpPr>
          <p:cNvPr id="24" name="Text Box 19"/>
          <p:cNvSpPr txBox="1">
            <a:spLocks noChangeArrowheads="1"/>
          </p:cNvSpPr>
          <p:nvPr/>
        </p:nvSpPr>
        <p:spPr bwMode="auto">
          <a:xfrm>
            <a:off x="3549650" y="1370615"/>
            <a:ext cx="201689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Gulim" pitchFamily="34" charset="-127"/>
              </a:defRPr>
            </a:lvl1pPr>
            <a:lvl2pPr marL="742950" indent="-285750" eaLnBrk="0" hangingPunct="0">
              <a:defRPr kumimoji="1" sz="2400" b="1">
                <a:solidFill>
                  <a:schemeClr val="tx1"/>
                </a:solidFill>
                <a:latin typeface="Times New Roman" panose="02020603050405020304" pitchFamily="18" charset="0"/>
                <a:ea typeface="Gulim" pitchFamily="34" charset="-127"/>
              </a:defRPr>
            </a:lvl2pPr>
            <a:lvl3pPr marL="1143000" indent="-228600" eaLnBrk="0" hangingPunct="0">
              <a:defRPr kumimoji="1" sz="2400" b="1">
                <a:solidFill>
                  <a:schemeClr val="tx1"/>
                </a:solidFill>
                <a:latin typeface="Times New Roman" panose="02020603050405020304" pitchFamily="18" charset="0"/>
                <a:ea typeface="Gulim" pitchFamily="34" charset="-127"/>
              </a:defRPr>
            </a:lvl3pPr>
            <a:lvl4pPr marL="1600200" indent="-228600" eaLnBrk="0" hangingPunct="0">
              <a:defRPr kumimoji="1" sz="2400" b="1">
                <a:solidFill>
                  <a:schemeClr val="tx1"/>
                </a:solidFill>
                <a:latin typeface="Times New Roman" panose="02020603050405020304" pitchFamily="18" charset="0"/>
                <a:ea typeface="Gulim" pitchFamily="34" charset="-127"/>
              </a:defRPr>
            </a:lvl4pPr>
            <a:lvl5pPr marL="2057400" indent="-228600" eaLnBrk="0" hangingPunct="0">
              <a:defRPr kumimoji="1" sz="2400" b="1">
                <a:solidFill>
                  <a:schemeClr val="tx1"/>
                </a:solidFill>
                <a:latin typeface="Times New Roman" panose="02020603050405020304" pitchFamily="18" charset="0"/>
                <a:ea typeface="Gulim" pitchFamily="34" charset="-127"/>
              </a:defRPr>
            </a:lvl5pPr>
            <a:lvl6pPr marL="25146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6pPr>
            <a:lvl7pPr marL="29718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7pPr>
            <a:lvl8pPr marL="34290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8pPr>
            <a:lvl9pPr marL="3886200" indent="-228600" algn="ctr" eaLnBrk="0" fontAlgn="base" latinLnBrk="1" hangingPunct="0">
              <a:spcBef>
                <a:spcPct val="0"/>
              </a:spcBef>
              <a:spcAft>
                <a:spcPct val="0"/>
              </a:spcAft>
              <a:defRPr kumimoji="1" sz="2400" b="1">
                <a:solidFill>
                  <a:schemeClr val="tx1"/>
                </a:solidFill>
                <a:latin typeface="Times New Roman" panose="02020603050405020304" pitchFamily="18" charset="0"/>
                <a:ea typeface="Gulim" pitchFamily="34" charset="-127"/>
              </a:defRPr>
            </a:lvl9pPr>
          </a:lstStyle>
          <a:p>
            <a:pPr latinLnBrk="0"/>
            <a:r>
              <a:rPr kumimoji="0" lang="en-US" sz="2000" dirty="0">
                <a:solidFill>
                  <a:srgbClr val="000000"/>
                </a:solidFill>
                <a:latin typeface="Tahoma" panose="020B0604030504040204" pitchFamily="34" charset="0"/>
                <a:ea typeface="Tahoma" panose="020B0604030504040204" pitchFamily="34" charset="0"/>
                <a:cs typeface="Tahoma" panose="020B0604030504040204" pitchFamily="34" charset="0"/>
              </a:rPr>
              <a:t>Rule-base</a:t>
            </a:r>
          </a:p>
          <a:p>
            <a:pPr latinLnBrk="0"/>
            <a:r>
              <a:rPr kumimoji="0" lang="en-US" sz="2000" dirty="0">
                <a:solidFill>
                  <a:srgbClr val="000000"/>
                </a:solidFill>
                <a:latin typeface="Tahoma" panose="020B0604030504040204" pitchFamily="34" charset="0"/>
                <a:ea typeface="Tahoma" panose="020B0604030504040204" pitchFamily="34" charset="0"/>
                <a:cs typeface="Tahoma" panose="020B0604030504040204" pitchFamily="34" charset="0"/>
              </a:rPr>
              <a:t>Expert system</a:t>
            </a:r>
            <a:endParaRPr kumimoji="0" lang="en-US" sz="1200" b="0" dirty="0">
              <a:solidFill>
                <a:srgbClr val="00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435688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1"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25</a:t>
            </a:fld>
            <a:endParaRPr lang="en-US" dirty="0"/>
          </a:p>
        </p:txBody>
      </p:sp>
      <p:sp>
        <p:nvSpPr>
          <p:cNvPr id="6" name="Content Placeholder 2"/>
          <p:cNvSpPr txBox="1">
            <a:spLocks/>
          </p:cNvSpPr>
          <p:nvPr/>
        </p:nvSpPr>
        <p:spPr>
          <a:xfrm>
            <a:off x="457200" y="685800"/>
            <a:ext cx="8534400" cy="5448300"/>
          </a:xfrm>
          <a:prstGeom prst="rect">
            <a:avLst/>
          </a:prstGeom>
        </p:spPr>
        <p:txBody>
          <a:bodyPr>
            <a:noAutofit/>
          </a:bodyPr>
          <a:lstStyle/>
          <a:p>
            <a:pPr marL="457200" indent="-457200" algn="just">
              <a:spcBef>
                <a:spcPct val="50000"/>
              </a:spcBef>
              <a:buClr>
                <a:srgbClr val="FF0000"/>
              </a:buClr>
              <a:buSzPct val="75000"/>
              <a:buFont typeface="Wingdings" panose="05000000000000000000" pitchFamily="2" charset="2"/>
              <a:buChar char="q"/>
              <a:defRPr/>
            </a:pPr>
            <a:r>
              <a:rPr lang="en-US" altLang="ja-JP" sz="2800" dirty="0" smtClean="0">
                <a:latin typeface="Tahoma" panose="020B0604030504040204" pitchFamily="34" charset="0"/>
                <a:ea typeface="MS PGothic" panose="020B0600070205080204" pitchFamily="34" charset="-128"/>
              </a:rPr>
              <a:t>The </a:t>
            </a:r>
            <a:r>
              <a:rPr lang="en-US" altLang="ja-JP" sz="2800" dirty="0">
                <a:latin typeface="Tahoma" panose="020B0604030504040204" pitchFamily="34" charset="0"/>
                <a:ea typeface="MS PGothic" panose="020B0600070205080204" pitchFamily="34" charset="-128"/>
              </a:rPr>
              <a:t>fact or condition of knowing something with familiarity gained through experience or association. </a:t>
            </a:r>
            <a:endParaRPr lang="en-US" altLang="ja-JP" sz="2800" dirty="0" smtClean="0">
              <a:latin typeface="Tahoma" panose="020B0604030504040204" pitchFamily="34" charset="0"/>
              <a:ea typeface="MS PGothic" panose="020B0600070205080204" pitchFamily="34" charset="-128"/>
            </a:endParaRPr>
          </a:p>
          <a:p>
            <a:pPr marL="457200" indent="-457200" algn="just">
              <a:spcBef>
                <a:spcPct val="50000"/>
              </a:spcBef>
              <a:buClr>
                <a:srgbClr val="FF0000"/>
              </a:buClr>
              <a:buSzPct val="75000"/>
              <a:buFont typeface="Wingdings" panose="05000000000000000000" pitchFamily="2" charset="2"/>
              <a:buChar char="q"/>
              <a:defRPr/>
            </a:pPr>
            <a:r>
              <a:rPr lang="en-US" altLang="ja-JP" sz="2800" dirty="0" smtClean="0">
                <a:latin typeface="Tahoma" panose="020B0604030504040204" pitchFamily="34" charset="0"/>
                <a:ea typeface="MS PGothic" panose="020B0600070205080204" pitchFamily="34" charset="-128"/>
              </a:rPr>
              <a:t>Acquaintance </a:t>
            </a:r>
            <a:r>
              <a:rPr lang="en-US" altLang="ja-JP" sz="2800" dirty="0">
                <a:latin typeface="Tahoma" panose="020B0604030504040204" pitchFamily="34" charset="0"/>
                <a:ea typeface="MS PGothic" panose="020B0600070205080204" pitchFamily="34" charset="-128"/>
              </a:rPr>
              <a:t>with or understanding of a </a:t>
            </a:r>
            <a:r>
              <a:rPr lang="en-US" altLang="ja-JP" sz="2800" dirty="0" smtClean="0">
                <a:latin typeface="Tahoma" panose="020B0604030504040204" pitchFamily="34" charset="0"/>
                <a:ea typeface="MS PGothic" panose="020B0600070205080204" pitchFamily="34" charset="-128"/>
              </a:rPr>
              <a:t>subject.</a:t>
            </a:r>
          </a:p>
          <a:p>
            <a:pPr marL="457200" indent="-457200" algn="just">
              <a:spcBef>
                <a:spcPct val="50000"/>
              </a:spcBef>
              <a:buClr>
                <a:srgbClr val="FF0000"/>
              </a:buClr>
              <a:buSzPct val="75000"/>
              <a:buFont typeface="Wingdings" panose="05000000000000000000" pitchFamily="2" charset="2"/>
              <a:buChar char="q"/>
              <a:defRPr/>
            </a:pPr>
            <a:r>
              <a:rPr lang="en-US" altLang="ja-JP" sz="2800" dirty="0" smtClean="0">
                <a:latin typeface="Tahoma" panose="020B0604030504040204" pitchFamily="34" charset="0"/>
                <a:ea typeface="MS PGothic" panose="020B0600070205080204" pitchFamily="34" charset="-128"/>
              </a:rPr>
              <a:t>Facts </a:t>
            </a:r>
            <a:r>
              <a:rPr lang="en-US" altLang="ja-JP" sz="2800" dirty="0">
                <a:latin typeface="Tahoma" panose="020B0604030504040204" pitchFamily="34" charset="0"/>
                <a:ea typeface="MS PGothic" panose="020B0600070205080204" pitchFamily="34" charset="-128"/>
              </a:rPr>
              <a:t>and principles accumulated by human kind or the act, fact or state of </a:t>
            </a:r>
            <a:r>
              <a:rPr lang="en-US" altLang="ja-JP" sz="2800" dirty="0" smtClean="0">
                <a:latin typeface="Tahoma" panose="020B0604030504040204" pitchFamily="34" charset="0"/>
                <a:ea typeface="MS PGothic" panose="020B0600070205080204" pitchFamily="34" charset="-128"/>
              </a:rPr>
              <a:t>knowing.</a:t>
            </a:r>
          </a:p>
          <a:p>
            <a:pPr marL="457200" indent="-457200" algn="just">
              <a:spcBef>
                <a:spcPct val="50000"/>
              </a:spcBef>
              <a:buClr>
                <a:srgbClr val="FF0000"/>
              </a:buClr>
              <a:buSzPct val="75000"/>
              <a:buFont typeface="Wingdings" panose="05000000000000000000" pitchFamily="2" charset="2"/>
              <a:buChar char="q"/>
              <a:defRPr/>
            </a:pPr>
            <a:r>
              <a:rPr lang="en-US" altLang="ja-JP" sz="2800" dirty="0" smtClean="0">
                <a:latin typeface="Tahoma" panose="020B0604030504040204" pitchFamily="34" charset="0"/>
                <a:ea typeface="MS PGothic" panose="020B0600070205080204" pitchFamily="34" charset="-128"/>
              </a:rPr>
              <a:t>Familiarity </a:t>
            </a:r>
            <a:r>
              <a:rPr lang="en-US" altLang="ja-JP" sz="2800" dirty="0">
                <a:latin typeface="Tahoma" panose="020B0604030504040204" pitchFamily="34" charset="0"/>
                <a:ea typeface="MS PGothic" panose="020B0600070205080204" pitchFamily="34" charset="-128"/>
              </a:rPr>
              <a:t>of with language, concepts, procedures, rules, ideas, abstractions, customs, </a:t>
            </a:r>
            <a:r>
              <a:rPr lang="en-US" altLang="ja-JP" sz="2800" dirty="0" smtClean="0">
                <a:latin typeface="Tahoma" panose="020B0604030504040204" pitchFamily="34" charset="0"/>
                <a:ea typeface="MS PGothic" panose="020B0600070205080204" pitchFamily="34" charset="-128"/>
              </a:rPr>
              <a:t>associations.</a:t>
            </a:r>
          </a:p>
          <a:p>
            <a:pPr marL="457200" indent="-457200" algn="just">
              <a:spcBef>
                <a:spcPct val="50000"/>
              </a:spcBef>
              <a:buClr>
                <a:srgbClr val="FF0000"/>
              </a:buClr>
              <a:buSzPct val="75000"/>
              <a:buFont typeface="Wingdings" panose="05000000000000000000" pitchFamily="2" charset="2"/>
              <a:buChar char="q"/>
              <a:defRPr/>
            </a:pPr>
            <a:r>
              <a:rPr lang="en-US" altLang="ja-JP" sz="2800" dirty="0" smtClean="0">
                <a:latin typeface="Tahoma" panose="020B0604030504040204" pitchFamily="34" charset="0"/>
                <a:ea typeface="MS PGothic" panose="020B0600070205080204" pitchFamily="34" charset="-128"/>
              </a:rPr>
              <a:t>Coupled </a:t>
            </a:r>
            <a:r>
              <a:rPr lang="en-US" altLang="ja-JP" sz="2800" dirty="0">
                <a:latin typeface="Tahoma" panose="020B0604030504040204" pitchFamily="34" charset="0"/>
                <a:ea typeface="MS PGothic" panose="020B0600070205080204" pitchFamily="34" charset="-128"/>
              </a:rPr>
              <a:t>with an ability to use these notions effectively in modeling different aspects of the world.</a:t>
            </a:r>
          </a:p>
          <a:p>
            <a:pPr marL="457200" indent="-457200" algn="just">
              <a:spcBef>
                <a:spcPct val="50000"/>
              </a:spcBef>
              <a:buClr>
                <a:srgbClr val="FF0000"/>
              </a:buClr>
              <a:buSzPct val="75000"/>
              <a:buFont typeface="Wingdings" panose="05000000000000000000" pitchFamily="2" charset="2"/>
              <a:buChar char="q"/>
              <a:defRPr/>
            </a:pPr>
            <a:endParaRPr kumimoji="1" lang="en-US" altLang="ja-JP" sz="2800" dirty="0">
              <a:latin typeface="Tahoma" panose="020B0604030504040204" pitchFamily="34" charset="0"/>
              <a:ea typeface="MS PGothic" panose="020B0600070205080204" pitchFamily="34" charset="-128"/>
            </a:endParaRPr>
          </a:p>
        </p:txBody>
      </p:sp>
      <p:sp>
        <p:nvSpPr>
          <p:cNvPr id="5" name="TextBox 4"/>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spcBef>
                <a:spcPct val="0"/>
              </a:spcBef>
            </a:pPr>
            <a:r>
              <a:rPr lang="en-US" altLang="ja-JP" sz="3200" dirty="0">
                <a:solidFill>
                  <a:srgbClr val="00FFFF"/>
                </a:solidFill>
                <a:latin typeface="Century" panose="02040604050505020304" pitchFamily="18" charset="0"/>
                <a:ea typeface="MS PGothic" panose="020B0600070205080204" pitchFamily="34" charset="-128"/>
              </a:rPr>
              <a:t> </a:t>
            </a:r>
            <a:r>
              <a:rPr lang="en-US" altLang="ja-JP" sz="2800" b="1" dirty="0">
                <a:solidFill>
                  <a:srgbClr val="FD1B03"/>
                </a:solidFill>
                <a:latin typeface="Tahoma" panose="020B0604030504040204" pitchFamily="34" charset="0"/>
                <a:ea typeface="MS PGothic" panose="020B0600070205080204" pitchFamily="34" charset="-128"/>
              </a:rPr>
              <a:t>Organization of Knowledge</a:t>
            </a:r>
          </a:p>
        </p:txBody>
      </p:sp>
    </p:spTree>
    <p:extLst>
      <p:ext uri="{BB962C8B-B14F-4D97-AF65-F5344CB8AC3E}">
        <p14:creationId xmlns:p14="http://schemas.microsoft.com/office/powerpoint/2010/main" val="324651750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26</a:t>
            </a:fld>
            <a:endParaRPr lang="en-US" dirty="0"/>
          </a:p>
        </p:txBody>
      </p:sp>
      <p:sp>
        <p:nvSpPr>
          <p:cNvPr id="6" name="Content Placeholder 2"/>
          <p:cNvSpPr txBox="1">
            <a:spLocks/>
          </p:cNvSpPr>
          <p:nvPr/>
        </p:nvSpPr>
        <p:spPr>
          <a:xfrm>
            <a:off x="457200" y="685800"/>
            <a:ext cx="8534400" cy="5448300"/>
          </a:xfrm>
          <a:prstGeom prst="rect">
            <a:avLst/>
          </a:prstGeom>
        </p:spPr>
        <p:txBody>
          <a:bodyPr>
            <a:noAutofit/>
          </a:bodyPr>
          <a:lstStyle/>
          <a:p>
            <a:pPr marL="457200" indent="-457200" algn="just">
              <a:spcBef>
                <a:spcPct val="50000"/>
              </a:spcBef>
              <a:buClr>
                <a:srgbClr val="FF0000"/>
              </a:buClr>
              <a:buSzPct val="75000"/>
              <a:buFont typeface="Wingdings" panose="05000000000000000000" pitchFamily="2" charset="2"/>
              <a:buChar char="q"/>
              <a:defRPr/>
            </a:pPr>
            <a:r>
              <a:rPr lang="en-US" altLang="ja-JP" sz="2800" dirty="0" smtClean="0">
                <a:latin typeface="Tahoma" panose="020B0604030504040204" pitchFamily="34" charset="0"/>
                <a:ea typeface="MS PGothic" panose="020B0600070205080204" pitchFamily="34" charset="-128"/>
              </a:rPr>
              <a:t>The </a:t>
            </a:r>
            <a:r>
              <a:rPr lang="en-US" altLang="ja-JP" sz="2800" dirty="0">
                <a:latin typeface="Tahoma" panose="020B0604030504040204" pitchFamily="34" charset="0"/>
                <a:ea typeface="MS PGothic" panose="020B0600070205080204" pitchFamily="34" charset="-128"/>
              </a:rPr>
              <a:t>fact or condition of knowing something with Knowledge is the perception about and understanding of a subject. </a:t>
            </a:r>
            <a:endParaRPr lang="en-US" altLang="ja-JP" sz="2800" dirty="0" smtClean="0">
              <a:latin typeface="Tahoma" panose="020B0604030504040204" pitchFamily="34" charset="0"/>
              <a:ea typeface="MS PGothic" panose="020B0600070205080204" pitchFamily="34" charset="-128"/>
            </a:endParaRPr>
          </a:p>
          <a:p>
            <a:pPr marL="457200" indent="-457200" algn="just">
              <a:spcBef>
                <a:spcPct val="50000"/>
              </a:spcBef>
              <a:buClr>
                <a:srgbClr val="FF0000"/>
              </a:buClr>
              <a:buSzPct val="75000"/>
              <a:buFont typeface="Wingdings" panose="05000000000000000000" pitchFamily="2" charset="2"/>
              <a:buChar char="q"/>
              <a:defRPr/>
            </a:pPr>
            <a:r>
              <a:rPr lang="en-US" altLang="ja-JP" sz="2800" dirty="0" smtClean="0">
                <a:latin typeface="Tahoma" panose="020B0604030504040204" pitchFamily="34" charset="0"/>
                <a:ea typeface="MS PGothic" panose="020B0600070205080204" pitchFamily="34" charset="-128"/>
              </a:rPr>
              <a:t>Consists </a:t>
            </a:r>
            <a:r>
              <a:rPr lang="en-US" altLang="ja-JP" sz="2800" dirty="0">
                <a:latin typeface="Tahoma" panose="020B0604030504040204" pitchFamily="34" charset="0"/>
                <a:ea typeface="MS PGothic" panose="020B0600070205080204" pitchFamily="34" charset="-128"/>
              </a:rPr>
              <a:t>of facts, concepts, </a:t>
            </a:r>
            <a:r>
              <a:rPr lang="en-US" altLang="ja-JP" sz="2800" dirty="0" smtClean="0">
                <a:latin typeface="Tahoma" panose="020B0604030504040204" pitchFamily="34" charset="0"/>
                <a:ea typeface="MS PGothic" panose="020B0600070205080204" pitchFamily="34" charset="-128"/>
              </a:rPr>
              <a:t>rules.</a:t>
            </a:r>
            <a:endParaRPr lang="en-US" altLang="ja-JP" sz="2800" dirty="0">
              <a:latin typeface="Tahoma" panose="020B0604030504040204" pitchFamily="34" charset="0"/>
              <a:ea typeface="MS PGothic" panose="020B0600070205080204" pitchFamily="34" charset="-128"/>
            </a:endParaRPr>
          </a:p>
        </p:txBody>
      </p:sp>
      <p:sp>
        <p:nvSpPr>
          <p:cNvPr id="5" name="TextBox 4"/>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spcBef>
                <a:spcPct val="0"/>
              </a:spcBef>
            </a:pPr>
            <a:r>
              <a:rPr lang="en-US" altLang="ja-JP" sz="3200" dirty="0">
                <a:solidFill>
                  <a:srgbClr val="00FFFF"/>
                </a:solidFill>
                <a:latin typeface="Century" panose="02040604050505020304" pitchFamily="18" charset="0"/>
                <a:ea typeface="MS PGothic" panose="020B0600070205080204" pitchFamily="34" charset="-128"/>
              </a:rPr>
              <a:t> </a:t>
            </a:r>
            <a:r>
              <a:rPr lang="en-US" altLang="ja-JP" sz="2800" b="1" dirty="0">
                <a:solidFill>
                  <a:srgbClr val="FD1B03"/>
                </a:solidFill>
                <a:latin typeface="Tahoma" panose="020B0604030504040204" pitchFamily="34" charset="0"/>
                <a:ea typeface="MS PGothic" panose="020B0600070205080204" pitchFamily="34" charset="-128"/>
              </a:rPr>
              <a:t>Organization of Knowledge</a:t>
            </a:r>
          </a:p>
        </p:txBody>
      </p:sp>
    </p:spTree>
    <p:extLst>
      <p:ext uri="{BB962C8B-B14F-4D97-AF65-F5344CB8AC3E}">
        <p14:creationId xmlns:p14="http://schemas.microsoft.com/office/powerpoint/2010/main" val="29736633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27</a:t>
            </a:fld>
            <a:endParaRPr lang="en-US" dirty="0"/>
          </a:p>
        </p:txBody>
      </p:sp>
      <p:sp>
        <p:nvSpPr>
          <p:cNvPr id="6" name="Content Placeholder 2"/>
          <p:cNvSpPr txBox="1">
            <a:spLocks/>
          </p:cNvSpPr>
          <p:nvPr/>
        </p:nvSpPr>
        <p:spPr>
          <a:xfrm>
            <a:off x="457200" y="685800"/>
            <a:ext cx="8534400" cy="5448300"/>
          </a:xfrm>
          <a:prstGeom prst="rect">
            <a:avLst/>
          </a:prstGeom>
        </p:spPr>
        <p:txBody>
          <a:bodyPr>
            <a:noAutofit/>
          </a:bodyPr>
          <a:lstStyle/>
          <a:p>
            <a:pPr marL="457200" indent="-457200" algn="just">
              <a:spcBef>
                <a:spcPct val="50000"/>
              </a:spcBef>
              <a:buClr>
                <a:srgbClr val="FF0000"/>
              </a:buClr>
              <a:buSzPct val="75000"/>
              <a:buFont typeface="Wingdings" panose="05000000000000000000" pitchFamily="2" charset="2"/>
              <a:buChar char="q"/>
              <a:defRPr/>
            </a:pPr>
            <a:r>
              <a:rPr lang="en-US" altLang="ja-JP" sz="2800" dirty="0" smtClean="0">
                <a:latin typeface="Tahoma" panose="020B0604030504040204" pitchFamily="34" charset="0"/>
                <a:ea typeface="MS PGothic" panose="020B0600070205080204" pitchFamily="34" charset="-128"/>
              </a:rPr>
              <a:t>Decisions </a:t>
            </a:r>
            <a:r>
              <a:rPr lang="en-US" altLang="ja-JP" sz="2800" dirty="0">
                <a:latin typeface="Tahoma" panose="020B0604030504040204" pitchFamily="34" charset="0"/>
                <a:ea typeface="MS PGothic" panose="020B0600070205080204" pitchFamily="34" charset="-128"/>
              </a:rPr>
              <a:t>and actions in knowledge-based systems come from manipulation of the knowledge in specified ways. Typically some form of input will initiate a search for a goal or decision. This requires that known facts in the knowledge-base be located, compared (matched), and possibly altered in some way. </a:t>
            </a:r>
            <a:endParaRPr lang="en-US" altLang="ja-JP" sz="2800" dirty="0" smtClean="0">
              <a:latin typeface="Tahoma" panose="020B0604030504040204" pitchFamily="34" charset="0"/>
              <a:ea typeface="MS PGothic" panose="020B0600070205080204" pitchFamily="34" charset="-128"/>
            </a:endParaRPr>
          </a:p>
          <a:p>
            <a:pPr marL="457200" indent="-457200" algn="just">
              <a:spcBef>
                <a:spcPct val="50000"/>
              </a:spcBef>
              <a:buClr>
                <a:srgbClr val="FF0000"/>
              </a:buClr>
              <a:buSzPct val="75000"/>
              <a:buFont typeface="Wingdings" panose="05000000000000000000" pitchFamily="2" charset="2"/>
              <a:buChar char="q"/>
              <a:defRPr/>
            </a:pPr>
            <a:r>
              <a:rPr lang="en-US" altLang="ja-JP" sz="2800" dirty="0" smtClean="0">
                <a:latin typeface="Tahoma" panose="020B0604030504040204" pitchFamily="34" charset="0"/>
                <a:ea typeface="MS PGothic" panose="020B0600070205080204" pitchFamily="34" charset="-128"/>
              </a:rPr>
              <a:t>Manipulations </a:t>
            </a:r>
            <a:r>
              <a:rPr lang="en-US" altLang="ja-JP" sz="2800" dirty="0">
                <a:latin typeface="Tahoma" panose="020B0604030504040204" pitchFamily="34" charset="0"/>
                <a:ea typeface="MS PGothic" panose="020B0600070205080204" pitchFamily="34" charset="-128"/>
              </a:rPr>
              <a:t>are the computational equivalent of reasoning.  All forms of reasoning require a certain amount of searching and matching.</a:t>
            </a:r>
          </a:p>
        </p:txBody>
      </p:sp>
      <p:sp>
        <p:nvSpPr>
          <p:cNvPr id="5" name="TextBox 4"/>
          <p:cNvSpPr txBox="1"/>
          <p:nvPr/>
        </p:nvSpPr>
        <p:spPr>
          <a:xfrm>
            <a:off x="228600" y="152400"/>
            <a:ext cx="8686800" cy="646331"/>
          </a:xfrm>
          <a:prstGeom prst="rect">
            <a:avLst/>
          </a:prstGeom>
          <a:solidFill>
            <a:schemeClr val="tx2">
              <a:lumMod val="20000"/>
              <a:lumOff val="80000"/>
            </a:schemeClr>
          </a:solidFill>
        </p:spPr>
        <p:txBody>
          <a:bodyPr wrap="square" rtlCol="0">
            <a:spAutoFit/>
          </a:bodyPr>
          <a:lstStyle/>
          <a:p>
            <a:pPr algn="ctr">
              <a:spcBef>
                <a:spcPct val="0"/>
              </a:spcBef>
            </a:pPr>
            <a:r>
              <a:rPr lang="en-US" altLang="ja-JP" sz="3600" dirty="0">
                <a:solidFill>
                  <a:srgbClr val="00FFFF"/>
                </a:solidFill>
                <a:latin typeface="Century" panose="02040604050505020304" pitchFamily="18" charset="0"/>
                <a:ea typeface="MS PGothic" panose="020B0600070205080204" pitchFamily="34" charset="-128"/>
              </a:rPr>
              <a:t> </a:t>
            </a:r>
            <a:r>
              <a:rPr lang="en-US" altLang="ja-JP" sz="3200" b="1" dirty="0">
                <a:solidFill>
                  <a:srgbClr val="FD1B03"/>
                </a:solidFill>
                <a:latin typeface="Tahoma" panose="020B0604030504040204" pitchFamily="34" charset="0"/>
                <a:ea typeface="MS PGothic" panose="020B0600070205080204" pitchFamily="34" charset="-128"/>
              </a:rPr>
              <a:t>Manipulation of Knowledge</a:t>
            </a:r>
          </a:p>
        </p:txBody>
      </p:sp>
    </p:spTree>
    <p:extLst>
      <p:ext uri="{BB962C8B-B14F-4D97-AF65-F5344CB8AC3E}">
        <p14:creationId xmlns:p14="http://schemas.microsoft.com/office/powerpoint/2010/main" val="24010119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28</a:t>
            </a:fld>
            <a:endParaRPr lang="en-US" dirty="0"/>
          </a:p>
        </p:txBody>
      </p:sp>
      <p:sp>
        <p:nvSpPr>
          <p:cNvPr id="6" name="Content Placeholder 2"/>
          <p:cNvSpPr txBox="1">
            <a:spLocks/>
          </p:cNvSpPr>
          <p:nvPr/>
        </p:nvSpPr>
        <p:spPr>
          <a:xfrm>
            <a:off x="457200" y="685800"/>
            <a:ext cx="8534400" cy="5448300"/>
          </a:xfrm>
          <a:prstGeom prst="rect">
            <a:avLst/>
          </a:prstGeom>
        </p:spPr>
        <p:txBody>
          <a:bodyPr>
            <a:noAutofit/>
          </a:bodyPr>
          <a:lstStyle/>
          <a:p>
            <a:pPr marL="457200" indent="-457200" algn="just">
              <a:spcBef>
                <a:spcPct val="50000"/>
              </a:spcBef>
              <a:buClr>
                <a:srgbClr val="FF0000"/>
              </a:buClr>
              <a:buSzPct val="75000"/>
              <a:buFont typeface="Wingdings" panose="05000000000000000000" pitchFamily="2" charset="2"/>
              <a:buChar char="q"/>
              <a:defRPr/>
            </a:pPr>
            <a:r>
              <a:rPr lang="en-US" altLang="ja-JP" sz="2800" dirty="0" smtClean="0">
                <a:latin typeface="Tahoma" panose="020B0604030504040204" pitchFamily="34" charset="0"/>
                <a:ea typeface="MS PGothic" panose="020B0600070205080204" pitchFamily="34" charset="-128"/>
              </a:rPr>
              <a:t>One </a:t>
            </a:r>
            <a:r>
              <a:rPr lang="en-US" altLang="ja-JP" sz="2800" dirty="0">
                <a:latin typeface="Tahoma" panose="020B0604030504040204" pitchFamily="34" charset="0"/>
                <a:ea typeface="MS PGothic" panose="020B0600070205080204" pitchFamily="34" charset="-128"/>
              </a:rPr>
              <a:t>of the greatest bottlenecks in building knowledge-rich systems is the acquisition and validation of the knowledge. </a:t>
            </a:r>
            <a:endParaRPr lang="en-US" altLang="ja-JP" sz="2800" dirty="0" smtClean="0">
              <a:latin typeface="Tahoma" panose="020B0604030504040204" pitchFamily="34" charset="0"/>
              <a:ea typeface="MS PGothic" panose="020B0600070205080204" pitchFamily="34" charset="-128"/>
            </a:endParaRPr>
          </a:p>
          <a:p>
            <a:pPr marL="457200" indent="-457200" algn="just">
              <a:spcBef>
                <a:spcPct val="50000"/>
              </a:spcBef>
              <a:buClr>
                <a:srgbClr val="FF0000"/>
              </a:buClr>
              <a:buSzPct val="75000"/>
              <a:buFont typeface="Wingdings" panose="05000000000000000000" pitchFamily="2" charset="2"/>
              <a:buChar char="q"/>
              <a:defRPr/>
            </a:pPr>
            <a:r>
              <a:rPr lang="en-US" altLang="ja-JP" sz="2800" dirty="0" smtClean="0">
                <a:latin typeface="Tahoma" panose="020B0604030504040204" pitchFamily="34" charset="0"/>
                <a:ea typeface="MS PGothic" panose="020B0600070205080204" pitchFamily="34" charset="-128"/>
              </a:rPr>
              <a:t>Knowledge </a:t>
            </a:r>
            <a:r>
              <a:rPr lang="en-US" altLang="ja-JP" sz="2800" dirty="0">
                <a:latin typeface="Tahoma" panose="020B0604030504040204" pitchFamily="34" charset="0"/>
                <a:ea typeface="MS PGothic" panose="020B0600070205080204" pitchFamily="34" charset="-128"/>
              </a:rPr>
              <a:t>can come from various sources, such as experts, textbooks, reports, technical articles, etc.</a:t>
            </a:r>
          </a:p>
        </p:txBody>
      </p:sp>
      <p:sp>
        <p:nvSpPr>
          <p:cNvPr id="5" name="TextBox 4"/>
          <p:cNvSpPr txBox="1"/>
          <p:nvPr/>
        </p:nvSpPr>
        <p:spPr>
          <a:xfrm>
            <a:off x="228600" y="152400"/>
            <a:ext cx="8686800" cy="646331"/>
          </a:xfrm>
          <a:prstGeom prst="rect">
            <a:avLst/>
          </a:prstGeom>
          <a:solidFill>
            <a:schemeClr val="tx2">
              <a:lumMod val="20000"/>
              <a:lumOff val="80000"/>
            </a:schemeClr>
          </a:solidFill>
        </p:spPr>
        <p:txBody>
          <a:bodyPr wrap="square" rtlCol="0">
            <a:spAutoFit/>
          </a:bodyPr>
          <a:lstStyle/>
          <a:p>
            <a:pPr algn="ctr">
              <a:spcBef>
                <a:spcPct val="0"/>
              </a:spcBef>
            </a:pPr>
            <a:r>
              <a:rPr lang="en-US" altLang="ja-JP" sz="3600" b="1" dirty="0">
                <a:solidFill>
                  <a:srgbClr val="FD1B03"/>
                </a:solidFill>
                <a:latin typeface="Tahoma" panose="020B0604030504040204" pitchFamily="34" charset="0"/>
                <a:ea typeface="MS PGothic" panose="020B0600070205080204" pitchFamily="34" charset="-128"/>
              </a:rPr>
              <a:t>Acquisition of Knowledge</a:t>
            </a:r>
          </a:p>
        </p:txBody>
      </p:sp>
    </p:spTree>
    <p:extLst>
      <p:ext uri="{BB962C8B-B14F-4D97-AF65-F5344CB8AC3E}">
        <p14:creationId xmlns:p14="http://schemas.microsoft.com/office/powerpoint/2010/main" val="169407720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29</a:t>
            </a:fld>
            <a:endParaRPr lang="en-US" dirty="0"/>
          </a:p>
        </p:txBody>
      </p:sp>
      <p:sp>
        <p:nvSpPr>
          <p:cNvPr id="5" name="TextBox 4"/>
          <p:cNvSpPr txBox="1"/>
          <p:nvPr/>
        </p:nvSpPr>
        <p:spPr>
          <a:xfrm>
            <a:off x="228600" y="152400"/>
            <a:ext cx="8686800" cy="707886"/>
          </a:xfrm>
          <a:prstGeom prst="rect">
            <a:avLst/>
          </a:prstGeom>
          <a:solidFill>
            <a:schemeClr val="tx2">
              <a:lumMod val="20000"/>
              <a:lumOff val="80000"/>
            </a:schemeClr>
          </a:solidFill>
        </p:spPr>
        <p:txBody>
          <a:bodyPr wrap="square" rtlCol="0">
            <a:spAutoFit/>
          </a:bodyPr>
          <a:lstStyle/>
          <a:p>
            <a:pPr algn="ctr"/>
            <a:r>
              <a:rPr lang="en-US" altLang="ja-JP" sz="40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altLang="ja-JP" sz="3600" b="1" dirty="0">
                <a:solidFill>
                  <a:srgbClr val="FF0000"/>
                </a:solidFill>
                <a:latin typeface="Tahoma" panose="020B0604030504040204" pitchFamily="34" charset="0"/>
                <a:ea typeface="Tahoma" panose="020B0604030504040204" pitchFamily="34" charset="0"/>
                <a:cs typeface="Tahoma" panose="020B0604030504040204" pitchFamily="34" charset="0"/>
              </a:rPr>
              <a:t>Knowledge Representation</a:t>
            </a:r>
          </a:p>
        </p:txBody>
      </p:sp>
      <p:sp>
        <p:nvSpPr>
          <p:cNvPr id="8" name="Text Box 29"/>
          <p:cNvSpPr txBox="1">
            <a:spLocks noChangeArrowheads="1"/>
          </p:cNvSpPr>
          <p:nvPr/>
        </p:nvSpPr>
        <p:spPr bwMode="auto">
          <a:xfrm>
            <a:off x="228600" y="1584325"/>
            <a:ext cx="6324600" cy="314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buFontTx/>
              <a:buChar char="•"/>
            </a:pPr>
            <a:r>
              <a:rPr kumimoji="0" lang="en-US" sz="4000" dirty="0">
                <a:latin typeface="Tahoma" panose="020B0604030504040204" pitchFamily="34" charset="0"/>
                <a:ea typeface="Tahoma" panose="020B0604030504040204" pitchFamily="34" charset="0"/>
                <a:cs typeface="Tahoma" panose="020B0604030504040204" pitchFamily="34" charset="0"/>
              </a:rPr>
              <a:t>Propositional Logic</a:t>
            </a:r>
          </a:p>
          <a:p>
            <a:pPr eaLnBrk="0" hangingPunct="0">
              <a:buFontTx/>
              <a:buChar char="•"/>
            </a:pPr>
            <a:r>
              <a:rPr kumimoji="0" lang="en-US" sz="4000" dirty="0">
                <a:latin typeface="Tahoma" panose="020B0604030504040204" pitchFamily="34" charset="0"/>
                <a:ea typeface="Tahoma" panose="020B0604030504040204" pitchFamily="34" charset="0"/>
                <a:cs typeface="Tahoma" panose="020B0604030504040204" pitchFamily="34" charset="0"/>
              </a:rPr>
              <a:t> Predicate Logic</a:t>
            </a:r>
          </a:p>
          <a:p>
            <a:pPr eaLnBrk="0" hangingPunct="0">
              <a:buFontTx/>
              <a:buChar char="•"/>
            </a:pPr>
            <a:r>
              <a:rPr kumimoji="0" lang="en-US" sz="4000" dirty="0">
                <a:latin typeface="Tahoma" panose="020B0604030504040204" pitchFamily="34" charset="0"/>
                <a:ea typeface="Tahoma" panose="020B0604030504040204" pitchFamily="34" charset="0"/>
                <a:cs typeface="Tahoma" panose="020B0604030504040204" pitchFamily="34" charset="0"/>
              </a:rPr>
              <a:t> Semantic Networks</a:t>
            </a:r>
          </a:p>
          <a:p>
            <a:pPr eaLnBrk="0" hangingPunct="0">
              <a:buFontTx/>
              <a:buChar char="•"/>
            </a:pPr>
            <a:r>
              <a:rPr kumimoji="0" lang="en-US" sz="4000" dirty="0">
                <a:latin typeface="Tahoma" panose="020B0604030504040204" pitchFamily="34" charset="0"/>
                <a:ea typeface="Tahoma" panose="020B0604030504040204" pitchFamily="34" charset="0"/>
                <a:cs typeface="Tahoma" panose="020B0604030504040204" pitchFamily="34" charset="0"/>
              </a:rPr>
              <a:t> Frames</a:t>
            </a:r>
          </a:p>
          <a:p>
            <a:pPr eaLnBrk="0" hangingPunct="0">
              <a:buFontTx/>
              <a:buChar char="•"/>
            </a:pPr>
            <a:r>
              <a:rPr kumimoji="0" lang="en-US" sz="4000" dirty="0">
                <a:latin typeface="Tahoma" panose="020B0604030504040204" pitchFamily="34" charset="0"/>
                <a:ea typeface="Tahoma" panose="020B0604030504040204" pitchFamily="34" charset="0"/>
                <a:cs typeface="Tahoma" panose="020B0604030504040204" pitchFamily="34" charset="0"/>
              </a:rPr>
              <a:t> Fuzzy Logic</a:t>
            </a:r>
          </a:p>
        </p:txBody>
      </p:sp>
      <p:graphicFrame>
        <p:nvGraphicFramePr>
          <p:cNvPr id="9" name="Object 30"/>
          <p:cNvGraphicFramePr>
            <a:graphicFrameLocks noChangeAspect="1"/>
          </p:cNvGraphicFramePr>
          <p:nvPr/>
        </p:nvGraphicFramePr>
        <p:xfrm>
          <a:off x="5029200" y="2057400"/>
          <a:ext cx="3657600" cy="2609850"/>
        </p:xfrm>
        <a:graphic>
          <a:graphicData uri="http://schemas.openxmlformats.org/presentationml/2006/ole">
            <mc:AlternateContent xmlns:mc="http://schemas.openxmlformats.org/markup-compatibility/2006">
              <mc:Choice xmlns:v="urn:schemas-microsoft-com:vml" Requires="v">
                <p:oleObj spid="_x0000_s1027" name="ClipArt" r:id="rId4" imgW="4006800" imgH="2856960" progId="MS_ClipArt_Gallery.2">
                  <p:embed/>
                </p:oleObj>
              </mc:Choice>
              <mc:Fallback>
                <p:oleObj name="ClipArt" r:id="rId4" imgW="4006800" imgH="2856960" progId="MS_ClipArt_Gallery.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2057400"/>
                        <a:ext cx="3657600" cy="2609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9174292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30</a:t>
            </a:fld>
            <a:endParaRPr lang="en-US" dirty="0"/>
          </a:p>
        </p:txBody>
      </p:sp>
      <p:sp>
        <p:nvSpPr>
          <p:cNvPr id="6" name="Content Placeholder 2"/>
          <p:cNvSpPr txBox="1">
            <a:spLocks/>
          </p:cNvSpPr>
          <p:nvPr/>
        </p:nvSpPr>
        <p:spPr>
          <a:xfrm>
            <a:off x="457200" y="685800"/>
            <a:ext cx="8458200" cy="5715000"/>
          </a:xfrm>
          <a:prstGeom prst="rect">
            <a:avLst/>
          </a:prstGeom>
        </p:spPr>
        <p:txBody>
          <a:bodyPr>
            <a:noAutofit/>
          </a:bodyPr>
          <a:lstStyle/>
          <a:p>
            <a:pPr marL="533400" indent="-533400" algn="just">
              <a:buClr>
                <a:srgbClr val="FF0000"/>
              </a:buClr>
              <a:buFont typeface="Wingdings" panose="05000000000000000000" pitchFamily="2" charset="2"/>
              <a:buChar char="q"/>
            </a:pPr>
            <a:r>
              <a:rPr lang="en-US" altLang="ja-JP" sz="2400" dirty="0" smtClean="0">
                <a:latin typeface="Tahoma" panose="020B0604030504040204" pitchFamily="34" charset="0"/>
                <a:ea typeface="Tahoma" panose="020B0604030504040204" pitchFamily="34" charset="0"/>
                <a:cs typeface="Tahoma" panose="020B0604030504040204" pitchFamily="34" charset="0"/>
              </a:rPr>
              <a:t>[</a:t>
            </a:r>
            <a:r>
              <a:rPr lang="en-US" altLang="ja-JP" sz="2400" dirty="0" err="1">
                <a:latin typeface="Tahoma" panose="020B0604030504040204" pitchFamily="34" charset="0"/>
                <a:ea typeface="Tahoma" panose="020B0604030504040204" pitchFamily="34" charset="0"/>
                <a:cs typeface="Tahoma" panose="020B0604030504040204" pitchFamily="34" charset="0"/>
              </a:rPr>
              <a:t>Negnevitsky</a:t>
            </a:r>
            <a:r>
              <a:rPr lang="en-US" altLang="ja-JP" sz="2400" dirty="0">
                <a:latin typeface="Tahoma" panose="020B0604030504040204" pitchFamily="34" charset="0"/>
                <a:ea typeface="Tahoma" panose="020B0604030504040204" pitchFamily="34" charset="0"/>
                <a:cs typeface="Tahoma" panose="020B0604030504040204" pitchFamily="34" charset="0"/>
              </a:rPr>
              <a:t>, 2001] M. </a:t>
            </a:r>
            <a:r>
              <a:rPr lang="en-US" altLang="ja-JP" sz="2400" dirty="0" err="1">
                <a:latin typeface="Tahoma" panose="020B0604030504040204" pitchFamily="34" charset="0"/>
                <a:ea typeface="Tahoma" panose="020B0604030504040204" pitchFamily="34" charset="0"/>
                <a:cs typeface="Tahoma" panose="020B0604030504040204" pitchFamily="34" charset="0"/>
              </a:rPr>
              <a:t>Negnevitsky</a:t>
            </a:r>
            <a:r>
              <a:rPr lang="en-US" altLang="ja-JP" sz="2400" dirty="0">
                <a:latin typeface="Tahoma" panose="020B0604030504040204" pitchFamily="34" charset="0"/>
                <a:ea typeface="Tahoma" panose="020B0604030504040204" pitchFamily="34" charset="0"/>
                <a:cs typeface="Tahoma" panose="020B0604030504040204" pitchFamily="34" charset="0"/>
              </a:rPr>
              <a:t> “ Artificial Intelligence: A guide to Intelligent Systems”, Pearson Education Limited, England, 2002.</a:t>
            </a:r>
          </a:p>
          <a:p>
            <a:pPr marL="533400" indent="-533400" algn="just">
              <a:buClr>
                <a:srgbClr val="FF0000"/>
              </a:buClr>
              <a:buFont typeface="Wingdings" panose="05000000000000000000" pitchFamily="2" charset="2"/>
              <a:buChar char="q"/>
            </a:pPr>
            <a:r>
              <a:rPr lang="en-US" sz="2400" dirty="0">
                <a:latin typeface="Tahoma" panose="020B0604030504040204" pitchFamily="34" charset="0"/>
                <a:ea typeface="Tahoma" panose="020B0604030504040204" pitchFamily="34" charset="0"/>
                <a:cs typeface="Tahoma" panose="020B0604030504040204" pitchFamily="34" charset="0"/>
              </a:rPr>
              <a:t>[</a:t>
            </a:r>
            <a:r>
              <a:rPr lang="en-US" sz="2400" dirty="0" err="1">
                <a:latin typeface="Tahoma" panose="020B0604030504040204" pitchFamily="34" charset="0"/>
                <a:ea typeface="Tahoma" panose="020B0604030504040204" pitchFamily="34" charset="0"/>
                <a:cs typeface="Tahoma" panose="020B0604030504040204" pitchFamily="34" charset="0"/>
              </a:rPr>
              <a:t>Russel</a:t>
            </a:r>
            <a:r>
              <a:rPr lang="en-US" sz="2400" dirty="0">
                <a:latin typeface="Tahoma" panose="020B0604030504040204" pitchFamily="34" charset="0"/>
                <a:ea typeface="Tahoma" panose="020B0604030504040204" pitchFamily="34" charset="0"/>
                <a:cs typeface="Tahoma" panose="020B0604030504040204" pitchFamily="34" charset="0"/>
              </a:rPr>
              <a:t>, 2003] S. Russell and P. </a:t>
            </a:r>
            <a:r>
              <a:rPr lang="en-US" sz="2400" dirty="0" err="1">
                <a:latin typeface="Tahoma" panose="020B0604030504040204" pitchFamily="34" charset="0"/>
                <a:ea typeface="Tahoma" panose="020B0604030504040204" pitchFamily="34" charset="0"/>
                <a:cs typeface="Tahoma" panose="020B0604030504040204" pitchFamily="34" charset="0"/>
              </a:rPr>
              <a:t>Norvig</a:t>
            </a:r>
            <a:r>
              <a:rPr lang="en-US" sz="2400" dirty="0">
                <a:latin typeface="Tahoma" panose="020B0604030504040204" pitchFamily="34" charset="0"/>
                <a:ea typeface="Tahoma" panose="020B0604030504040204" pitchFamily="34" charset="0"/>
                <a:cs typeface="Tahoma" panose="020B0604030504040204" pitchFamily="34" charset="0"/>
              </a:rPr>
              <a:t> Artificial Intelligence: A Modern Approach Prentice Hall, 2003, Second Edition</a:t>
            </a:r>
            <a:endParaRPr lang="en-US" altLang="ja-JP" sz="2400" dirty="0">
              <a:latin typeface="Tahoma" panose="020B0604030504040204" pitchFamily="34" charset="0"/>
              <a:ea typeface="Tahoma" panose="020B0604030504040204" pitchFamily="34" charset="0"/>
              <a:cs typeface="Tahoma" panose="020B0604030504040204" pitchFamily="34" charset="0"/>
            </a:endParaRPr>
          </a:p>
          <a:p>
            <a:pPr marL="533400" indent="-533400" algn="just">
              <a:buClr>
                <a:srgbClr val="FF0000"/>
              </a:buClr>
              <a:buFont typeface="Wingdings" panose="05000000000000000000" pitchFamily="2" charset="2"/>
              <a:buChar char="q"/>
            </a:pPr>
            <a:r>
              <a:rPr lang="en-US" altLang="ja-JP" sz="2400" dirty="0">
                <a:latin typeface="Tahoma" panose="020B0604030504040204" pitchFamily="34" charset="0"/>
                <a:ea typeface="Tahoma" panose="020B0604030504040204" pitchFamily="34" charset="0"/>
                <a:cs typeface="Tahoma" panose="020B0604030504040204" pitchFamily="34" charset="0"/>
              </a:rPr>
              <a:t>[Patterson, 1990] D. W. Patterson, “Introduction to Artificial Intelligence and Expert Systems”, Prentice-Hall Inc., Englewood Cliffs, N.J, USA, 1990.</a:t>
            </a:r>
          </a:p>
          <a:p>
            <a:pPr marL="533400" indent="-533400" algn="just">
              <a:buClr>
                <a:srgbClr val="FF0000"/>
              </a:buClr>
              <a:buFont typeface="Wingdings" panose="05000000000000000000" pitchFamily="2" charset="2"/>
              <a:buChar char="q"/>
            </a:pPr>
            <a:r>
              <a:rPr lang="en-US" altLang="ja-JP" sz="2400" dirty="0">
                <a:latin typeface="Tahoma" panose="020B0604030504040204" pitchFamily="34" charset="0"/>
                <a:ea typeface="Tahoma" panose="020B0604030504040204" pitchFamily="34" charset="0"/>
                <a:cs typeface="Tahoma" panose="020B0604030504040204" pitchFamily="34" charset="0"/>
              </a:rPr>
              <a:t>[</a:t>
            </a:r>
            <a:r>
              <a:rPr lang="en-US" altLang="ja-JP" sz="2400" dirty="0" err="1">
                <a:latin typeface="Tahoma" panose="020B0604030504040204" pitchFamily="34" charset="0"/>
                <a:ea typeface="Tahoma" panose="020B0604030504040204" pitchFamily="34" charset="0"/>
                <a:cs typeface="Tahoma" panose="020B0604030504040204" pitchFamily="34" charset="0"/>
              </a:rPr>
              <a:t>Minsky</a:t>
            </a:r>
            <a:r>
              <a:rPr lang="en-US" altLang="ja-JP" sz="2400" dirty="0">
                <a:latin typeface="Tahoma" panose="020B0604030504040204" pitchFamily="34" charset="0"/>
                <a:ea typeface="Tahoma" panose="020B0604030504040204" pitchFamily="34" charset="0"/>
                <a:cs typeface="Tahoma" panose="020B0604030504040204" pitchFamily="34" charset="0"/>
              </a:rPr>
              <a:t>, 1974] M. </a:t>
            </a:r>
            <a:r>
              <a:rPr lang="en-US" altLang="ja-JP" sz="2400" dirty="0" err="1">
                <a:latin typeface="Tahoma" panose="020B0604030504040204" pitchFamily="34" charset="0"/>
                <a:ea typeface="Tahoma" panose="020B0604030504040204" pitchFamily="34" charset="0"/>
                <a:cs typeface="Tahoma" panose="020B0604030504040204" pitchFamily="34" charset="0"/>
              </a:rPr>
              <a:t>Minsky</a:t>
            </a:r>
            <a:r>
              <a:rPr lang="en-US" altLang="ja-JP" sz="2400" dirty="0">
                <a:latin typeface="Tahoma" panose="020B0604030504040204" pitchFamily="34" charset="0"/>
                <a:ea typeface="Tahoma" panose="020B0604030504040204" pitchFamily="34" charset="0"/>
                <a:cs typeface="Tahoma" panose="020B0604030504040204" pitchFamily="34" charset="0"/>
              </a:rPr>
              <a:t> “A Framework for Representing Knowledge”, MIT-AI Laboratory Memo 306, 1974.</a:t>
            </a:r>
          </a:p>
          <a:p>
            <a:pPr marL="533400" indent="-533400" algn="just">
              <a:buClr>
                <a:srgbClr val="FF0000"/>
              </a:buClr>
              <a:buFont typeface="Wingdings" panose="05000000000000000000" pitchFamily="2" charset="2"/>
              <a:buChar char="q"/>
            </a:pPr>
            <a:r>
              <a:rPr lang="en-US" altLang="ja-JP" sz="2400" dirty="0">
                <a:latin typeface="Tahoma" panose="020B0604030504040204" pitchFamily="34" charset="0"/>
                <a:ea typeface="Tahoma" panose="020B0604030504040204" pitchFamily="34" charset="0"/>
                <a:cs typeface="Tahoma" panose="020B0604030504040204" pitchFamily="34" charset="0"/>
              </a:rPr>
              <a:t>[Hubel, 1995] David H. Hubel, “Eye, Brain, and Vision”</a:t>
            </a:r>
          </a:p>
          <a:p>
            <a:pPr marL="533400" indent="-533400" algn="just">
              <a:buClr>
                <a:srgbClr val="FF0000"/>
              </a:buClr>
              <a:buFont typeface="Wingdings" panose="05000000000000000000" pitchFamily="2" charset="2"/>
              <a:buChar char="q"/>
            </a:pPr>
            <a:r>
              <a:rPr lang="en-US" altLang="ja-JP" sz="2400" dirty="0">
                <a:latin typeface="Tahoma" panose="020B0604030504040204" pitchFamily="34" charset="0"/>
                <a:ea typeface="Tahoma" panose="020B0604030504040204" pitchFamily="34" charset="0"/>
                <a:cs typeface="Tahoma" panose="020B0604030504040204" pitchFamily="34" charset="0"/>
              </a:rPr>
              <a:t>[Horn, 1986] B. K. P. Horn, Robot Vision, MIT Press, 1986.</a:t>
            </a:r>
          </a:p>
          <a:p>
            <a:pPr marL="533400" indent="-533400" algn="just">
              <a:buClr>
                <a:srgbClr val="FF0000"/>
              </a:buClr>
              <a:buFont typeface="Wingdings" panose="05000000000000000000" pitchFamily="2" charset="2"/>
              <a:buChar char="q"/>
            </a:pPr>
            <a:r>
              <a:rPr lang="en-US" altLang="ja-JP" sz="2400" dirty="0">
                <a:latin typeface="Tahoma" panose="020B0604030504040204" pitchFamily="34" charset="0"/>
                <a:ea typeface="Tahoma" panose="020B0604030504040204" pitchFamily="34" charset="0"/>
                <a:cs typeface="Tahoma" panose="020B0604030504040204" pitchFamily="34" charset="0"/>
              </a:rPr>
              <a:t>[Ballard, 1982] D. H. Ballard and C. M. Brown, “Computer Vision”,        Prentice Hall, 1982.</a:t>
            </a:r>
          </a:p>
        </p:txBody>
      </p:sp>
      <p:sp>
        <p:nvSpPr>
          <p:cNvPr id="5" name="TextBox 4"/>
          <p:cNvSpPr txBox="1"/>
          <p:nvPr/>
        </p:nvSpPr>
        <p:spPr>
          <a:xfrm>
            <a:off x="228600" y="152400"/>
            <a:ext cx="8686800" cy="523220"/>
          </a:xfrm>
          <a:prstGeom prst="rect">
            <a:avLst/>
          </a:prstGeom>
          <a:solidFill>
            <a:schemeClr val="tx2">
              <a:lumMod val="20000"/>
              <a:lumOff val="80000"/>
            </a:schemeClr>
          </a:solidFill>
        </p:spPr>
        <p:txBody>
          <a:bodyPr wrap="square" rtlCol="0">
            <a:spAutoFit/>
          </a:bodyPr>
          <a:lstStyle/>
          <a:p>
            <a:pPr algn="ctr"/>
            <a:r>
              <a:rPr lang="en-US" altLang="ja-JP" sz="2800" b="1" dirty="0">
                <a:solidFill>
                  <a:srgbClr val="FF0000"/>
                </a:solidFill>
                <a:latin typeface="Tahoma" panose="020B0604030504040204" pitchFamily="34" charset="0"/>
                <a:ea typeface="Tahoma" panose="020B0604030504040204" pitchFamily="34" charset="0"/>
                <a:cs typeface="Tahoma" panose="020B0604030504040204" pitchFamily="34" charset="0"/>
              </a:rPr>
              <a:t>Recommended </a:t>
            </a:r>
            <a:r>
              <a:rPr lang="en-US" altLang="ja-JP" sz="2800" b="1" dirty="0" smtClean="0">
                <a:solidFill>
                  <a:srgbClr val="FF0000"/>
                </a:solidFill>
                <a:latin typeface="Tahoma" panose="020B0604030504040204" pitchFamily="34" charset="0"/>
                <a:ea typeface="Tahoma" panose="020B0604030504040204" pitchFamily="34" charset="0"/>
                <a:cs typeface="Tahoma" panose="020B0604030504040204" pitchFamily="34" charset="0"/>
              </a:rPr>
              <a:t>Textbooks</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66088850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20629</TotalTime>
  <Words>1666</Words>
  <Application>Microsoft Office PowerPoint</Application>
  <PresentationFormat>On-screen Show (4:3)</PresentationFormat>
  <Paragraphs>281</Paragraphs>
  <Slides>30</Slides>
  <Notes>30</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46" baseType="lpstr">
      <vt:lpstr>MS PGothic</vt:lpstr>
      <vt:lpstr>Arial</vt:lpstr>
      <vt:lpstr>Calibri</vt:lpstr>
      <vt:lpstr>Century</vt:lpstr>
      <vt:lpstr>Courier New</vt:lpstr>
      <vt:lpstr>Franklin Gothic Book</vt:lpstr>
      <vt:lpstr>Gulim</vt:lpstr>
      <vt:lpstr>Monotype Sorts</vt:lpstr>
      <vt:lpstr>Perpetua</vt:lpstr>
      <vt:lpstr>Tahoma</vt:lpstr>
      <vt:lpstr>Times New Roman</vt:lpstr>
      <vt:lpstr>Verdana</vt:lpstr>
      <vt:lpstr>Wingdings</vt:lpstr>
      <vt:lpstr>Wingdings 2</vt:lpstr>
      <vt:lpstr>Equity</vt:lpstr>
      <vt:lpstr>ClipArt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Pattern Recognition Algorithms to Extract Road Networks Automatically from Remotely Sensed Imagery for GIS Applications</dc:title>
  <dc:creator>User</dc:creator>
  <cp:lastModifiedBy>CSE-202</cp:lastModifiedBy>
  <cp:revision>1294</cp:revision>
  <cp:lastPrinted>2020-02-07T04:26:01Z</cp:lastPrinted>
  <dcterms:created xsi:type="dcterms:W3CDTF">2012-10-10T03:10:51Z</dcterms:created>
  <dcterms:modified xsi:type="dcterms:W3CDTF">2025-01-21T03:34:51Z</dcterms:modified>
</cp:coreProperties>
</file>