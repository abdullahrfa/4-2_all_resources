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9"/>
  </p:notesMasterIdLst>
  <p:handoutMasterIdLst>
    <p:handoutMasterId r:id="rId20"/>
  </p:handoutMasterIdLst>
  <p:sldIdLst>
    <p:sldId id="429" r:id="rId2"/>
    <p:sldId id="430" r:id="rId3"/>
    <p:sldId id="444" r:id="rId4"/>
    <p:sldId id="431" r:id="rId5"/>
    <p:sldId id="432" r:id="rId6"/>
    <p:sldId id="433" r:id="rId7"/>
    <p:sldId id="434" r:id="rId8"/>
    <p:sldId id="435" r:id="rId9"/>
    <p:sldId id="436" r:id="rId10"/>
    <p:sldId id="437" r:id="rId11"/>
    <p:sldId id="438" r:id="rId12"/>
    <p:sldId id="439" r:id="rId13"/>
    <p:sldId id="440" r:id="rId14"/>
    <p:sldId id="445" r:id="rId15"/>
    <p:sldId id="446" r:id="rId16"/>
    <p:sldId id="441" r:id="rId17"/>
    <p:sldId id="420" r:id="rId18"/>
  </p:sldIdLst>
  <p:sldSz cx="9144000" cy="6858000" type="screen4x3"/>
  <p:notesSz cx="6954838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 userDrawn="1">
          <p15:clr>
            <a:srgbClr val="A4A3A4"/>
          </p15:clr>
        </p15:guide>
        <p15:guide id="2" pos="219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94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17" autoAdjust="0"/>
    <p:restoredTop sz="94660"/>
  </p:normalViewPr>
  <p:slideViewPr>
    <p:cSldViewPr>
      <p:cViewPr varScale="1">
        <p:scale>
          <a:sx n="64" d="100"/>
          <a:sy n="64" d="100"/>
        </p:scale>
        <p:origin x="134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234"/>
    </p:cViewPr>
  </p:sorter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932"/>
        <p:guide pos="219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13763" cy="465455"/>
          </a:xfrm>
          <a:prstGeom prst="rect">
            <a:avLst/>
          </a:prstGeom>
        </p:spPr>
        <p:txBody>
          <a:bodyPr vert="horz" lIns="92051" tIns="46026" rIns="92051" bIns="4602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1"/>
            <a:ext cx="3013763" cy="465455"/>
          </a:xfrm>
          <a:prstGeom prst="rect">
            <a:avLst/>
          </a:prstGeom>
        </p:spPr>
        <p:txBody>
          <a:bodyPr vert="horz" lIns="92051" tIns="46026" rIns="92051" bIns="46026" rtlCol="0"/>
          <a:lstStyle>
            <a:lvl1pPr algn="r">
              <a:defRPr sz="1200"/>
            </a:lvl1pPr>
          </a:lstStyle>
          <a:p>
            <a:fld id="{54B406EC-866D-4AAA-84EE-9578059F5FFC}" type="datetimeFigureOut">
              <a:rPr lang="en-US" smtClean="0"/>
              <a:pPr/>
              <a:t>2/22/2020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13763" cy="465455"/>
          </a:xfrm>
          <a:prstGeom prst="rect">
            <a:avLst/>
          </a:prstGeom>
        </p:spPr>
        <p:txBody>
          <a:bodyPr vert="horz" lIns="92051" tIns="46026" rIns="92051" bIns="4602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842030"/>
            <a:ext cx="3013763" cy="465455"/>
          </a:xfrm>
          <a:prstGeom prst="rect">
            <a:avLst/>
          </a:prstGeom>
        </p:spPr>
        <p:txBody>
          <a:bodyPr vert="horz" lIns="92051" tIns="46026" rIns="92051" bIns="46026" rtlCol="0" anchor="b"/>
          <a:lstStyle>
            <a:lvl1pPr algn="r">
              <a:defRPr sz="1200"/>
            </a:lvl1pPr>
          </a:lstStyle>
          <a:p>
            <a:fld id="{538845BC-E5B8-4F76-AB4E-440694C632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211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13763" cy="465455"/>
          </a:xfrm>
          <a:prstGeom prst="rect">
            <a:avLst/>
          </a:prstGeom>
        </p:spPr>
        <p:txBody>
          <a:bodyPr vert="horz" lIns="92051" tIns="46026" rIns="92051" bIns="4602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1"/>
            <a:ext cx="3013763" cy="465455"/>
          </a:xfrm>
          <a:prstGeom prst="rect">
            <a:avLst/>
          </a:prstGeom>
        </p:spPr>
        <p:txBody>
          <a:bodyPr vert="horz" lIns="92051" tIns="46026" rIns="92051" bIns="46026" rtlCol="0"/>
          <a:lstStyle>
            <a:lvl1pPr algn="r">
              <a:defRPr sz="1200"/>
            </a:lvl1pPr>
          </a:lstStyle>
          <a:p>
            <a:fld id="{028DF241-7479-48D7-B926-3836CF66E8CA}" type="datetimeFigureOut">
              <a:rPr lang="en-US" smtClean="0"/>
              <a:pPr/>
              <a:t>2/22/2020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696913"/>
            <a:ext cx="4656138" cy="3492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051" tIns="46026" rIns="92051" bIns="4602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21822"/>
            <a:ext cx="5563870" cy="4189095"/>
          </a:xfrm>
          <a:prstGeom prst="rect">
            <a:avLst/>
          </a:prstGeom>
        </p:spPr>
        <p:txBody>
          <a:bodyPr vert="horz" lIns="92051" tIns="46026" rIns="92051" bIns="46026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13763" cy="465455"/>
          </a:xfrm>
          <a:prstGeom prst="rect">
            <a:avLst/>
          </a:prstGeom>
        </p:spPr>
        <p:txBody>
          <a:bodyPr vert="horz" lIns="92051" tIns="46026" rIns="92051" bIns="4602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30"/>
            <a:ext cx="3013763" cy="465455"/>
          </a:xfrm>
          <a:prstGeom prst="rect">
            <a:avLst/>
          </a:prstGeom>
        </p:spPr>
        <p:txBody>
          <a:bodyPr vert="horz" lIns="92051" tIns="46026" rIns="92051" bIns="46026" rtlCol="0" anchor="b"/>
          <a:lstStyle>
            <a:lvl1pPr algn="r">
              <a:defRPr sz="1200"/>
            </a:lvl1pPr>
          </a:lstStyle>
          <a:p>
            <a:fld id="{60658A72-D451-401C-9327-452145EF2A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058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705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10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2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704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582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439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49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046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95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130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119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83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727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271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6707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60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223C7-2BF4-4D75-9FB4-EEA42CE4254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25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130628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429000"/>
            <a:ext cx="6400800" cy="15240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10038-F89D-4298-8F1A-CB90076CC0D9}" type="datetime1">
              <a:rPr lang="en-US" smtClean="0"/>
              <a:t>2/22/2020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8BC87070-6711-4EB4-A1B9-86156EA2E1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03916" y="1219200"/>
            <a:ext cx="8763000" cy="19812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CF505-B873-45F3-A961-5C44A54FA86F}" type="datetime1">
              <a:rPr lang="en-US" smtClean="0"/>
              <a:t>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7070-6711-4EB4-A1B9-86156EA2E1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F34C-4D34-44D4-9F09-824BE64D3C56}" type="datetime1">
              <a:rPr lang="en-US" smtClean="0"/>
              <a:t>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8BC87070-6711-4EB4-A1B9-86156EA2E1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FC498-0383-4E59-859A-50702E616C94}" type="datetime1">
              <a:rPr lang="en-US" smtClean="0"/>
              <a:t>2/22/2020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7070-6711-4EB4-A1B9-86156EA2E1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628F8-7EAA-4180-B790-F3A66853457F}" type="datetime1">
              <a:rPr lang="en-US" smtClean="0"/>
              <a:t>2/22/2020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7070-6711-4EB4-A1B9-86156EA2E1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75EFA-E2DD-40E4-96F1-83E178E28AE5}" type="datetime1">
              <a:rPr lang="en-US" smtClean="0"/>
              <a:t>2/22/2020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7070-6711-4EB4-A1B9-86156EA2E1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AB465-91DA-4DC3-BDC5-F79C236E33B9}" type="datetime1">
              <a:rPr lang="en-US" smtClean="0"/>
              <a:t>2/22/2020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7070-6711-4EB4-A1B9-86156EA2E1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722B2-5E53-43B8-A348-3A3F8CE77189}" type="datetime1">
              <a:rPr lang="en-US" smtClean="0"/>
              <a:t>2/22/2020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7070-6711-4EB4-A1B9-86156EA2E1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537A4-EB99-40EA-A21B-5911A1D36898}" type="datetime1">
              <a:rPr lang="en-US" smtClean="0"/>
              <a:t>2/22/2020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8BC87070-6711-4EB4-A1B9-86156EA2E1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9BB3-5A52-4FDD-9065-9C5975AE9424}" type="datetime1">
              <a:rPr lang="en-US" smtClean="0"/>
              <a:t>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7070-6711-4EB4-A1B9-86156EA2E1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97BB2-3479-4D4B-A8C2-BF72D282B92E}" type="datetime1">
              <a:rPr lang="en-US" smtClean="0"/>
              <a:t>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87070-6711-4EB4-A1B9-86156EA2E1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1FD2047-22FC-4185-9F7A-91AD22B69600}" type="datetime1">
              <a:rPr lang="en-US" smtClean="0"/>
              <a:t>2/22/2020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8BC87070-6711-4EB4-A1B9-86156EA2E1B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6858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  <a:defRPr/>
            </a:pPr>
            <a:r>
              <a:rPr 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Expert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System: Introduction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Expert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System:Basic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Characteristics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Expert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System:Basic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Architecture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Structure of Rule-Based Expert System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Advantages &amp; Disadvantages of Rule-based Expert System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Recommended Text books</a:t>
            </a:r>
          </a:p>
          <a:p>
            <a:pPr marL="457200" indent="-457200" algn="just" eaLnBrk="0" hangingPunct="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</a:pPr>
            <a:endParaRPr lang="en-US" altLang="ja-JP" sz="2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22860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Contents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4451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3810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A set of programs that manipulate encoded knowledge to solve problems in a specialized manner.</a:t>
            </a:r>
          </a:p>
          <a:p>
            <a:pPr marL="914400" lvl="1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Knowledge is a theoretical or practical understanding of a subjects or    domain.</a:t>
            </a:r>
          </a:p>
          <a:p>
            <a:pPr marL="914400" lvl="1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Those who posses knowledge are called experts</a:t>
            </a:r>
          </a:p>
          <a:p>
            <a:pPr marL="914400" lvl="1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Knowledge is obtained from expert source</a:t>
            </a:r>
          </a:p>
          <a:p>
            <a:pPr marL="914400" lvl="1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Knowledge is Coded in a form that is suitable to use</a:t>
            </a:r>
          </a:p>
          <a:p>
            <a:pPr marL="914400" lvl="1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Anyone can be considered a domain expert if he or she has deep knowledge and strong practical experience in a particular domain</a:t>
            </a:r>
          </a:p>
          <a:p>
            <a:pPr marL="914400" lvl="1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An expert is a skilful person who can do things other people cannot.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Expert System:</a:t>
            </a:r>
            <a:r>
              <a:rPr lang="en-US" sz="2800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Introduction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59499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4572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A computer Program Capable of performing at a  human-expert level in a narrow problem domain   area is called an expert system. 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The most popular expert systems are rule-based    expert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620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Expert System:</a:t>
            </a:r>
            <a:r>
              <a:rPr lang="en-US" sz="2800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Introduction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1433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6858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533400" indent="-5334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Use knowledge rather than data</a:t>
            </a:r>
          </a:p>
          <a:p>
            <a:pPr marL="533400" indent="-5334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Knowledge is encoded and maintained as an entity   separate from the control program</a:t>
            </a:r>
          </a:p>
          <a:p>
            <a:pPr marL="533400" indent="-5334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Capable of explaining how a particular conclusion   is reached and why requested information is needed</a:t>
            </a:r>
          </a:p>
          <a:p>
            <a:pPr marL="533400" indent="-5334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Use symbolic representation and perform inference  through symbolic computation</a:t>
            </a:r>
          </a:p>
          <a:p>
            <a:pPr marL="533400" indent="-5334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Often reason with knowledge about themselves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28600"/>
            <a:ext cx="8686800" cy="9541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Expert System</a:t>
            </a:r>
            <a:b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</a:b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Basic Characteristics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796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28600" y="22860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Expert </a:t>
            </a:r>
            <a:r>
              <a:rPr lang="en-US" sz="2800" b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System:Basic</a:t>
            </a: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Architecture</a:t>
            </a:r>
          </a:p>
        </p:txBody>
      </p:sp>
      <p:grpSp>
        <p:nvGrpSpPr>
          <p:cNvPr id="8" name="Group 3"/>
          <p:cNvGrpSpPr>
            <a:grpSpLocks/>
          </p:cNvGrpSpPr>
          <p:nvPr/>
        </p:nvGrpSpPr>
        <p:grpSpPr bwMode="auto">
          <a:xfrm>
            <a:off x="1143000" y="914400"/>
            <a:ext cx="7589838" cy="5394325"/>
            <a:chOff x="2340" y="2880"/>
            <a:chExt cx="8490" cy="4860"/>
          </a:xfrm>
        </p:grpSpPr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3420" y="2880"/>
              <a:ext cx="162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9pPr>
            </a:lstStyle>
            <a:p>
              <a:pPr algn="ctr" eaLnBrk="1" hangingPunct="1"/>
              <a:r>
                <a:rPr kumimoji="0" lang="en-US" sz="1400">
                  <a:latin typeface="Arial" panose="020B0604020202020204" pitchFamily="34" charset="0"/>
                </a:rPr>
                <a:t>Explanation</a:t>
              </a:r>
            </a:p>
            <a:p>
              <a:pPr algn="ctr" eaLnBrk="1" hangingPunct="1"/>
              <a:r>
                <a:rPr kumimoji="0" lang="en-US" sz="1400">
                  <a:latin typeface="Arial" panose="020B0604020202020204" pitchFamily="34" charset="0"/>
                </a:rPr>
                <a:t>module</a:t>
              </a:r>
            </a:p>
          </p:txBody>
        </p:sp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3420" y="4140"/>
              <a:ext cx="162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9pPr>
            </a:lstStyle>
            <a:p>
              <a:pPr algn="ctr" eaLnBrk="1" hangingPunct="1"/>
              <a:r>
                <a:rPr kumimoji="0" lang="en-US" sz="1400">
                  <a:latin typeface="Arial" panose="020B0604020202020204" pitchFamily="34" charset="0"/>
                </a:rPr>
                <a:t>I/O Interface</a:t>
              </a:r>
            </a:p>
          </p:txBody>
        </p:sp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3420" y="5400"/>
              <a:ext cx="162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9pPr>
            </a:lstStyle>
            <a:p>
              <a:pPr algn="ctr" eaLnBrk="1" hangingPunct="1"/>
              <a:r>
                <a:rPr kumimoji="0" lang="en-US" sz="1400">
                  <a:latin typeface="Arial" panose="020B0604020202020204" pitchFamily="34" charset="0"/>
                </a:rPr>
                <a:t>Editor</a:t>
              </a:r>
            </a:p>
          </p:txBody>
        </p:sp>
        <p:sp>
          <p:nvSpPr>
            <p:cNvPr id="12" name="Text Box 7"/>
            <p:cNvSpPr txBox="1">
              <a:spLocks noChangeArrowheads="1"/>
            </p:cNvSpPr>
            <p:nvPr/>
          </p:nvSpPr>
          <p:spPr bwMode="auto">
            <a:xfrm>
              <a:off x="6120" y="4140"/>
              <a:ext cx="162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9pPr>
            </a:lstStyle>
            <a:p>
              <a:pPr algn="ctr" eaLnBrk="1" hangingPunct="1"/>
              <a:r>
                <a:rPr kumimoji="0" lang="en-US" sz="1400">
                  <a:latin typeface="Arial" panose="020B0604020202020204" pitchFamily="34" charset="0"/>
                </a:rPr>
                <a:t>Inference Engine</a:t>
              </a:r>
            </a:p>
          </p:txBody>
        </p:sp>
        <p:sp>
          <p:nvSpPr>
            <p:cNvPr id="13" name="Text Box 8"/>
            <p:cNvSpPr txBox="1">
              <a:spLocks noChangeArrowheads="1"/>
            </p:cNvSpPr>
            <p:nvPr/>
          </p:nvSpPr>
          <p:spPr bwMode="auto">
            <a:xfrm>
              <a:off x="6120" y="5580"/>
              <a:ext cx="162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9pPr>
            </a:lstStyle>
            <a:p>
              <a:pPr algn="ctr" eaLnBrk="1" hangingPunct="1"/>
              <a:r>
                <a:rPr kumimoji="0" lang="en-US" sz="1400">
                  <a:latin typeface="Arial" panose="020B0604020202020204" pitchFamily="34" charset="0"/>
                </a:rPr>
                <a:t>Knowledge</a:t>
              </a:r>
            </a:p>
            <a:p>
              <a:pPr algn="ctr" eaLnBrk="1" hangingPunct="1"/>
              <a:r>
                <a:rPr kumimoji="0" lang="en-US" sz="1400">
                  <a:latin typeface="Arial" panose="020B0604020202020204" pitchFamily="34" charset="0"/>
                </a:rPr>
                <a:t>Base</a:t>
              </a:r>
            </a:p>
          </p:txBody>
        </p: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6120" y="7020"/>
              <a:ext cx="162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9pPr>
            </a:lstStyle>
            <a:p>
              <a:pPr algn="ctr" eaLnBrk="1" hangingPunct="1"/>
              <a:r>
                <a:rPr kumimoji="0" lang="en-US" sz="1400">
                  <a:latin typeface="Arial" panose="020B0604020202020204" pitchFamily="34" charset="0"/>
                </a:rPr>
                <a:t>Learning</a:t>
              </a:r>
            </a:p>
            <a:p>
              <a:pPr algn="ctr" eaLnBrk="1" hangingPunct="1"/>
              <a:r>
                <a:rPr kumimoji="0" lang="en-US" sz="1400">
                  <a:latin typeface="Arial" panose="020B0604020202020204" pitchFamily="34" charset="0"/>
                </a:rPr>
                <a:t>module</a:t>
              </a:r>
            </a:p>
          </p:txBody>
        </p:sp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>
              <a:off x="8460" y="4140"/>
              <a:ext cx="162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9pPr>
            </a:lstStyle>
            <a:p>
              <a:pPr algn="ctr" eaLnBrk="1" hangingPunct="1"/>
              <a:r>
                <a:rPr kumimoji="0" lang="en-US" sz="1400">
                  <a:latin typeface="Arial" panose="020B0604020202020204" pitchFamily="34" charset="0"/>
                </a:rPr>
                <a:t>Case history</a:t>
              </a:r>
            </a:p>
          </p:txBody>
        </p:sp>
        <p:sp>
          <p:nvSpPr>
            <p:cNvPr id="16" name="Text Box 11"/>
            <p:cNvSpPr txBox="1">
              <a:spLocks noChangeArrowheads="1"/>
            </p:cNvSpPr>
            <p:nvPr/>
          </p:nvSpPr>
          <p:spPr bwMode="auto">
            <a:xfrm>
              <a:off x="8460" y="5580"/>
              <a:ext cx="162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9pPr>
            </a:lstStyle>
            <a:p>
              <a:pPr algn="ctr" eaLnBrk="1" hangingPunct="1"/>
              <a:r>
                <a:rPr kumimoji="0" lang="en-US" sz="1400">
                  <a:latin typeface="Arial" panose="020B0604020202020204" pitchFamily="34" charset="0"/>
                </a:rPr>
                <a:t>Working </a:t>
              </a:r>
            </a:p>
            <a:p>
              <a:pPr algn="ctr" eaLnBrk="1" hangingPunct="1"/>
              <a:r>
                <a:rPr kumimoji="0" lang="en-US" sz="1400">
                  <a:latin typeface="Arial" panose="020B0604020202020204" pitchFamily="34" charset="0"/>
                </a:rPr>
                <a:t>Memory</a:t>
              </a:r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 flipV="1">
              <a:off x="4140" y="3600"/>
              <a:ext cx="0" cy="540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 flipV="1">
              <a:off x="4140" y="4860"/>
              <a:ext cx="0" cy="540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 flipV="1">
              <a:off x="4140" y="6120"/>
              <a:ext cx="0" cy="720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5040" y="4320"/>
              <a:ext cx="1080" cy="0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 flipH="1">
              <a:off x="5040" y="4680"/>
              <a:ext cx="1080" cy="0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 flipV="1">
              <a:off x="7020" y="4860"/>
              <a:ext cx="0" cy="720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18"/>
            <p:cNvSpPr>
              <a:spLocks noChangeShapeType="1"/>
            </p:cNvSpPr>
            <p:nvPr/>
          </p:nvSpPr>
          <p:spPr bwMode="auto">
            <a:xfrm flipV="1">
              <a:off x="7020" y="6300"/>
              <a:ext cx="0" cy="720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>
              <a:off x="7740" y="4500"/>
              <a:ext cx="720" cy="0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>
              <a:off x="7740" y="4500"/>
              <a:ext cx="727" cy="1260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740" y="4500"/>
              <a:ext cx="3090" cy="2880"/>
            </a:xfrm>
            <a:custGeom>
              <a:avLst/>
              <a:gdLst>
                <a:gd name="T0" fmla="*/ 2340 w 3090"/>
                <a:gd name="T1" fmla="*/ 0 h 2880"/>
                <a:gd name="T2" fmla="*/ 2700 w 3090"/>
                <a:gd name="T3" fmla="*/ 2160 h 2880"/>
                <a:gd name="T4" fmla="*/ 0 w 3090"/>
                <a:gd name="T5" fmla="*/ 2880 h 28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90" h="2880">
                  <a:moveTo>
                    <a:pt x="2340" y="0"/>
                  </a:moveTo>
                  <a:cubicBezTo>
                    <a:pt x="2715" y="840"/>
                    <a:pt x="3090" y="1680"/>
                    <a:pt x="2700" y="2160"/>
                  </a:cubicBezTo>
                  <a:cubicBezTo>
                    <a:pt x="2310" y="2640"/>
                    <a:pt x="450" y="2760"/>
                    <a:pt x="0" y="2880"/>
                  </a:cubicBezTo>
                </a:path>
              </a:pathLst>
            </a:custGeom>
            <a:noFill/>
            <a:ln w="9525">
              <a:solidFill>
                <a:srgbClr val="00FF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2340" y="4320"/>
              <a:ext cx="1080" cy="0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 flipH="1">
              <a:off x="2340" y="4680"/>
              <a:ext cx="1080" cy="0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94493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6858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Contains the domain knowledge useful for problem      solving. In a rule-based expert system, the knowledge is represented as a set of rules. 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Any rule consists of two parts: IF (Antecedent/Condition)---------------THEN (Consequent/Action).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IF –the ‘traffic light’ is </a:t>
            </a:r>
            <a:r>
              <a:rPr lang="en-US" sz="2800" b="1" dirty="0">
                <a:solidFill>
                  <a:srgbClr val="33CC33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green</a:t>
            </a: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------THEN the action is ‘Go’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IF –the ‘traffic light’ is </a:t>
            </a:r>
            <a:r>
              <a:rPr lang="en-US" sz="2800" b="1" dirty="0">
                <a:solidFill>
                  <a:schemeClr val="hlink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red</a:t>
            </a: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------THEN the action is ‘Stop’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The Database includes a set of Facts used to match against          IF (condition) parts of rules stored in the knowledge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2860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knowledge Base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405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6858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The inference engine carries out the reasoning  whereby the expert system reaches a solution.</a:t>
            </a:r>
          </a:p>
          <a:p>
            <a:pPr marL="914400" lvl="1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It links the rules given in the knowledge-base with the facts  provided in the database</a:t>
            </a:r>
          </a:p>
          <a:p>
            <a:pPr marL="914400" lvl="1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Accepts user input query</a:t>
            </a:r>
          </a:p>
          <a:p>
            <a:pPr marL="914400" lvl="1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Responses to questions through the I/O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2860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Inference Engine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07432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6858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533400" indent="-533400"/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Done in three stages:</a:t>
            </a:r>
          </a:p>
          <a:p>
            <a:pPr marL="914400" lvl="1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match </a:t>
            </a: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  <a:sym typeface="Symbol" panose="05050102010706020507" pitchFamily="18" charset="2"/>
              </a:rPr>
              <a:t> select  execute</a:t>
            </a:r>
          </a:p>
          <a:p>
            <a:pPr marL="533400" indent="-53340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  <a:sym typeface="Symbol" panose="05050102010706020507" pitchFamily="18" charset="2"/>
              </a:rPr>
              <a:t>Match : contents of the working memory are compared to     the facts and rules contained in the knowledge base</a:t>
            </a:r>
          </a:p>
          <a:p>
            <a:pPr marL="533400" indent="-53340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  <a:sym typeface="Symbol" panose="05050102010706020507" pitchFamily="18" charset="2"/>
              </a:rPr>
              <a:t>Select: When consistent match found the corresponding        rules are placed in the conflict set.</a:t>
            </a:r>
          </a:p>
          <a:p>
            <a:pPr marL="533400" indent="-53340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  <a:sym typeface="Symbol" panose="05050102010706020507" pitchFamily="18" charset="2"/>
              </a:rPr>
              <a:t>Execute: When all matched rules are placed in the conflict   set one of the rules is selected for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2860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Inference Process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32764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6858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The Explanation facilities enable the user to ask the expert     system how particular conclusion is reached and why a          specific fact is needed.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Explanation module trace the chain of rules fired during a     consultation with the user (the sequence of rules that led to    the conclusion).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Explanation module must be able to explain why certain        information is needed by the inference engine to complete     a step in the reasoning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2860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Explanation 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2066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6858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Special editor used by the developers:</a:t>
            </a:r>
          </a:p>
          <a:p>
            <a:pPr marL="914400" lvl="1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to create new rules for addition to the knowledge base, </a:t>
            </a:r>
          </a:p>
          <a:p>
            <a:pPr marL="914400" lvl="1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to delete outmoded rules, or </a:t>
            </a:r>
          </a:p>
          <a:p>
            <a:pPr marL="914400" lvl="1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to modify existing rules in some way.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Editor of this type is designed to provide consistency test  for the newly created rules, to add missing condition to a   rule to reformat a newly created rule.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2860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Editor: Building knowledge base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4304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6858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 latinLnBrk="1">
              <a:spcBef>
                <a:spcPct val="200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The external interface allows an expert system to  work with external data files and programs written     in conventional programming language.</a:t>
            </a:r>
          </a:p>
          <a:p>
            <a:pPr marL="457200" indent="-457200" latinLnBrk="1">
              <a:spcBef>
                <a:spcPct val="200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User communicate with the system in a more natural way.</a:t>
            </a:r>
          </a:p>
          <a:p>
            <a:pPr marL="457200" indent="-457200" latinLnBrk="1">
              <a:spcBef>
                <a:spcPct val="200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The system must have special prompt and special      vocabulary which encompasses the </a:t>
            </a:r>
            <a:r>
              <a:rPr lang="en-US" sz="2800">
                <a:latin typeface="Tahoma" panose="020B0604030504040204" pitchFamily="34" charset="0"/>
                <a:cs typeface="Tahoma" panose="020B0604030504040204" pitchFamily="34" charset="0"/>
              </a:rPr>
              <a:t>terminology </a:t>
            </a:r>
            <a:r>
              <a:rPr lang="en-US" sz="2800" smtClean="0">
                <a:latin typeface="Tahoma" panose="020B0604030504040204" pitchFamily="34" charset="0"/>
                <a:cs typeface="Tahoma" panose="020B0604030504040204" pitchFamily="34" charset="0"/>
              </a:rPr>
              <a:t>of the </a:t>
            </a:r>
            <a:r>
              <a:rPr 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given domain of  expertise.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2860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The I/O interface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14734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28600" y="22860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Structure: Rule-Based Expert System</a:t>
            </a:r>
          </a:p>
        </p:txBody>
      </p:sp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1600200" y="1600200"/>
            <a:ext cx="5943600" cy="4297680"/>
            <a:chOff x="3066" y="2344"/>
            <a:chExt cx="6840" cy="5235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4416" y="4669"/>
              <a:ext cx="79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" name="Group 6"/>
            <p:cNvGrpSpPr>
              <a:grpSpLocks/>
            </p:cNvGrpSpPr>
            <p:nvPr/>
          </p:nvGrpSpPr>
          <p:grpSpPr bwMode="auto">
            <a:xfrm>
              <a:off x="3066" y="2344"/>
              <a:ext cx="6840" cy="5235"/>
              <a:chOff x="3066" y="6649"/>
              <a:chExt cx="6840" cy="5235"/>
            </a:xfrm>
          </p:grpSpPr>
          <p:sp>
            <p:nvSpPr>
              <p:cNvPr id="11" name="Text Box 7"/>
              <p:cNvSpPr txBox="1">
                <a:spLocks noChangeArrowheads="1"/>
              </p:cNvSpPr>
              <p:nvPr/>
            </p:nvSpPr>
            <p:spPr bwMode="auto">
              <a:xfrm>
                <a:off x="3066" y="6664"/>
                <a:ext cx="2700" cy="1605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9pPr>
              </a:lstStyle>
              <a:p>
                <a:r>
                  <a:rPr kumimoji="0" lang="en-US" altLang="ja-JP" sz="1200" b="0">
                    <a:ea typeface="MS PGothic" panose="020B0600070205080204" pitchFamily="34" charset="-128"/>
                  </a:rPr>
                  <a:t>Knowledge base</a:t>
                </a:r>
              </a:p>
            </p:txBody>
          </p:sp>
          <p:sp>
            <p:nvSpPr>
              <p:cNvPr id="12" name="Text Box 8"/>
              <p:cNvSpPr txBox="1">
                <a:spLocks noChangeArrowheads="1"/>
              </p:cNvSpPr>
              <p:nvPr/>
            </p:nvSpPr>
            <p:spPr bwMode="auto">
              <a:xfrm>
                <a:off x="3396" y="7067"/>
                <a:ext cx="1800" cy="60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9pPr>
              </a:lstStyle>
              <a:p>
                <a:endParaRPr kumimoji="0" lang="en-US" sz="1200" b="0"/>
              </a:p>
            </p:txBody>
          </p:sp>
          <p:sp>
            <p:nvSpPr>
              <p:cNvPr id="13" name="Text Box 9"/>
              <p:cNvSpPr txBox="1">
                <a:spLocks noChangeArrowheads="1"/>
              </p:cNvSpPr>
              <p:nvPr/>
            </p:nvSpPr>
            <p:spPr bwMode="auto">
              <a:xfrm>
                <a:off x="3561" y="7267"/>
                <a:ext cx="1800" cy="60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9pPr>
              </a:lstStyle>
              <a:p>
                <a:endParaRPr kumimoji="0" lang="en-US" sz="1200" b="0"/>
              </a:p>
            </p:txBody>
          </p:sp>
          <p:sp>
            <p:nvSpPr>
              <p:cNvPr id="14" name="Text Box 10"/>
              <p:cNvSpPr txBox="1">
                <a:spLocks noChangeArrowheads="1"/>
              </p:cNvSpPr>
              <p:nvPr/>
            </p:nvSpPr>
            <p:spPr bwMode="auto">
              <a:xfrm>
                <a:off x="3741" y="7449"/>
                <a:ext cx="1800" cy="60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18000" tIns="10800" rIns="180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9pPr>
              </a:lstStyle>
              <a:p>
                <a:pPr algn="ctr">
                  <a:spcBef>
                    <a:spcPts val="300"/>
                  </a:spcBef>
                </a:pPr>
                <a:r>
                  <a:rPr kumimoji="0" lang="en-US" altLang="ja-JP" sz="1200" b="0">
                    <a:ea typeface="MS PGothic" panose="020B0600070205080204" pitchFamily="34" charset="-128"/>
                  </a:rPr>
                  <a:t>Rule: IF…THEN</a:t>
                </a:r>
              </a:p>
            </p:txBody>
          </p:sp>
          <p:sp>
            <p:nvSpPr>
              <p:cNvPr id="15" name="Text Box 11"/>
              <p:cNvSpPr txBox="1">
                <a:spLocks noChangeArrowheads="1"/>
              </p:cNvSpPr>
              <p:nvPr/>
            </p:nvSpPr>
            <p:spPr bwMode="auto">
              <a:xfrm>
                <a:off x="7206" y="6649"/>
                <a:ext cx="2700" cy="1605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9pPr>
              </a:lstStyle>
              <a:p>
                <a:r>
                  <a:rPr kumimoji="0" lang="en-US" altLang="ja-JP" sz="1200" b="0">
                    <a:ea typeface="MS PGothic" panose="020B0600070205080204" pitchFamily="34" charset="-128"/>
                  </a:rPr>
                  <a:t>Database</a:t>
                </a:r>
              </a:p>
            </p:txBody>
          </p: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7656" y="7054"/>
                <a:ext cx="1440" cy="7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9pPr>
              </a:lstStyle>
              <a:p>
                <a:pPr algn="ctr" eaLnBrk="1" latinLnBrk="1" hangingPunct="1"/>
                <a:endParaRPr lang="en-US"/>
              </a:p>
            </p:txBody>
          </p:sp>
          <p:sp>
            <p:nvSpPr>
              <p:cNvPr id="17" name="Rectangle 13"/>
              <p:cNvSpPr>
                <a:spLocks noChangeArrowheads="1"/>
              </p:cNvSpPr>
              <p:nvPr/>
            </p:nvSpPr>
            <p:spPr bwMode="auto">
              <a:xfrm>
                <a:off x="7851" y="7234"/>
                <a:ext cx="1440" cy="7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9pPr>
              </a:lstStyle>
              <a:p>
                <a:pPr algn="ctr" eaLnBrk="1" latinLnBrk="1" hangingPunct="1"/>
                <a:endParaRPr lang="en-US"/>
              </a:p>
            </p:txBody>
          </p:sp>
          <p:sp>
            <p:nvSpPr>
              <p:cNvPr id="18" name="Rectangle 14"/>
              <p:cNvSpPr>
                <a:spLocks noChangeArrowheads="1"/>
              </p:cNvSpPr>
              <p:nvPr/>
            </p:nvSpPr>
            <p:spPr bwMode="auto">
              <a:xfrm>
                <a:off x="8031" y="7414"/>
                <a:ext cx="1440" cy="7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9pPr>
              </a:lstStyle>
              <a:p>
                <a:pPr algn="ctr">
                  <a:spcBef>
                    <a:spcPts val="300"/>
                  </a:spcBef>
                </a:pPr>
                <a:r>
                  <a:rPr kumimoji="0" lang="en-US" altLang="ja-JP" sz="1200" b="0">
                    <a:ea typeface="MS PGothic" panose="020B0600070205080204" pitchFamily="34" charset="-128"/>
                  </a:rPr>
                  <a:t>Fact</a:t>
                </a:r>
              </a:p>
            </p:txBody>
          </p:sp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5226" y="8674"/>
                <a:ext cx="2520" cy="5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9pPr>
              </a:lstStyle>
              <a:p>
                <a:pPr algn="ctr"/>
                <a:r>
                  <a:rPr kumimoji="0" lang="en-US" altLang="ja-JP" sz="1200" b="0">
                    <a:ea typeface="MS PGothic" panose="020B0600070205080204" pitchFamily="34" charset="-128"/>
                  </a:rPr>
                  <a:t>Inference engine</a:t>
                </a:r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>
                <a:off x="5226" y="9574"/>
                <a:ext cx="2520" cy="5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9pPr>
              </a:lstStyle>
              <a:p>
                <a:pPr algn="ctr"/>
                <a:r>
                  <a:rPr kumimoji="0" lang="en-US" altLang="ja-JP" sz="1200" b="0">
                    <a:ea typeface="MS PGothic" panose="020B0600070205080204" pitchFamily="34" charset="-128"/>
                  </a:rPr>
                  <a:t>Explanation facilities</a:t>
                </a:r>
              </a:p>
            </p:txBody>
          </p:sp>
          <p:sp>
            <p:nvSpPr>
              <p:cNvPr id="21" name="Rectangle 17"/>
              <p:cNvSpPr>
                <a:spLocks noChangeArrowheads="1"/>
              </p:cNvSpPr>
              <p:nvPr/>
            </p:nvSpPr>
            <p:spPr bwMode="auto">
              <a:xfrm>
                <a:off x="5241" y="10474"/>
                <a:ext cx="2520" cy="5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9pPr>
              </a:lstStyle>
              <a:p>
                <a:pPr algn="ctr"/>
                <a:r>
                  <a:rPr kumimoji="0" lang="en-US" altLang="ja-JP" sz="1200" b="0">
                    <a:ea typeface="MS PGothic" panose="020B0600070205080204" pitchFamily="34" charset="-128"/>
                  </a:rPr>
                  <a:t>User interface</a:t>
                </a:r>
              </a:p>
            </p:txBody>
          </p:sp>
          <p:sp>
            <p:nvSpPr>
              <p:cNvPr id="22" name="AutoShape 18"/>
              <p:cNvSpPr>
                <a:spLocks noChangeArrowheads="1"/>
              </p:cNvSpPr>
              <p:nvPr/>
            </p:nvSpPr>
            <p:spPr bwMode="auto">
              <a:xfrm>
                <a:off x="6396" y="9214"/>
                <a:ext cx="180" cy="360"/>
              </a:xfrm>
              <a:prstGeom prst="upDownArrow">
                <a:avLst>
                  <a:gd name="adj1" fmla="val 50000"/>
                  <a:gd name="adj2" fmla="val 40000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eaVert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9pPr>
              </a:lstStyle>
              <a:p>
                <a:pPr algn="ctr" eaLnBrk="1" latinLnBrk="1" hangingPunct="1"/>
                <a:endParaRPr lang="en-US"/>
              </a:p>
            </p:txBody>
          </p:sp>
          <p:sp>
            <p:nvSpPr>
              <p:cNvPr id="23" name="AutoShape 19"/>
              <p:cNvSpPr>
                <a:spLocks noChangeArrowheads="1"/>
              </p:cNvSpPr>
              <p:nvPr/>
            </p:nvSpPr>
            <p:spPr bwMode="auto">
              <a:xfrm>
                <a:off x="6396" y="10114"/>
                <a:ext cx="180" cy="360"/>
              </a:xfrm>
              <a:prstGeom prst="upDownArrow">
                <a:avLst>
                  <a:gd name="adj1" fmla="val 50000"/>
                  <a:gd name="adj2" fmla="val 40000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eaVert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9pPr>
              </a:lstStyle>
              <a:p>
                <a:pPr algn="ctr" eaLnBrk="1" latinLnBrk="1" hangingPunct="1"/>
                <a:endParaRPr lang="en-US"/>
              </a:p>
            </p:txBody>
          </p:sp>
          <p:sp>
            <p:nvSpPr>
              <p:cNvPr id="24" name="AutoShape 20"/>
              <p:cNvSpPr>
                <a:spLocks noChangeArrowheads="1"/>
              </p:cNvSpPr>
              <p:nvPr/>
            </p:nvSpPr>
            <p:spPr bwMode="auto">
              <a:xfrm>
                <a:off x="6381" y="10999"/>
                <a:ext cx="180" cy="360"/>
              </a:xfrm>
              <a:prstGeom prst="upDownArrow">
                <a:avLst>
                  <a:gd name="adj1" fmla="val 50000"/>
                  <a:gd name="adj2" fmla="val 40000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eaVert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9pPr>
              </a:lstStyle>
              <a:p>
                <a:pPr algn="ctr" eaLnBrk="1" latinLnBrk="1" hangingPunct="1"/>
                <a:endParaRPr lang="en-US"/>
              </a:p>
            </p:txBody>
          </p:sp>
          <p:sp>
            <p:nvSpPr>
              <p:cNvPr id="25" name="Oval 21"/>
              <p:cNvSpPr>
                <a:spLocks noChangeArrowheads="1"/>
              </p:cNvSpPr>
              <p:nvPr/>
            </p:nvSpPr>
            <p:spPr bwMode="auto">
              <a:xfrm>
                <a:off x="5841" y="11344"/>
                <a:ext cx="1260" cy="54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Gulim" pitchFamily="34" charset="-127"/>
                  </a:defRPr>
                </a:lvl9pPr>
              </a:lstStyle>
              <a:p>
                <a:pPr algn="ctr"/>
                <a:r>
                  <a:rPr kumimoji="0" lang="en-US" altLang="ja-JP" sz="1200" b="0">
                    <a:ea typeface="MS PGothic" panose="020B0600070205080204" pitchFamily="34" charset="-128"/>
                  </a:rPr>
                  <a:t>User</a:t>
                </a:r>
              </a:p>
            </p:txBody>
          </p:sp>
          <p:sp>
            <p:nvSpPr>
              <p:cNvPr id="26" name="Line 22"/>
              <p:cNvSpPr>
                <a:spLocks noChangeShapeType="1"/>
              </p:cNvSpPr>
              <p:nvPr/>
            </p:nvSpPr>
            <p:spPr bwMode="auto">
              <a:xfrm>
                <a:off x="7746" y="8974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Line 23"/>
              <p:cNvSpPr>
                <a:spLocks noChangeShapeType="1"/>
              </p:cNvSpPr>
              <p:nvPr/>
            </p:nvSpPr>
            <p:spPr bwMode="auto">
              <a:xfrm>
                <a:off x="8541" y="8254"/>
                <a:ext cx="0" cy="7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24"/>
              <p:cNvSpPr>
                <a:spLocks noChangeShapeType="1"/>
              </p:cNvSpPr>
              <p:nvPr/>
            </p:nvSpPr>
            <p:spPr bwMode="auto">
              <a:xfrm>
                <a:off x="4401" y="8254"/>
                <a:ext cx="0" cy="7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22571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2192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The system provides advices on how to select the     thermostat setting based on the season of the year,    the day of the week and time of the day.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It uses seven linguistic objects: month, day, time,      today, operation, season and  </a:t>
            </a:r>
            <a:r>
              <a:rPr lang="en-US" sz="2800" dirty="0" err="1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thermostat_setting</a:t>
            </a: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.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Example values : month- January….; day- Monday…; time-after 5 pm, before 9 am, between 9 am to 5 pm; today-workday, weekend; season-summer,        autumn, winter, spring; Operation-during business   hours, not during business hours;    </a:t>
            </a:r>
            <a:r>
              <a:rPr lang="en-US" sz="2800" dirty="0" err="1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Thermostat_setting</a:t>
            </a: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- “14 degrees”, “18 degrees”, etc.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28600"/>
            <a:ext cx="8686800" cy="9541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Thermostat: </a:t>
            </a:r>
            <a:b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</a:b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A rule-based Expert System (1 of 3)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80424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2192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Options: the final goal of a rule-based system is to    produce a solution to the problem based on input data</a:t>
            </a:r>
          </a:p>
          <a:p>
            <a:pPr marL="914400" lvl="1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In THERMOSTAT, the solution is a temperature selected from the list of 8 options: 20, 15, 24, 27, 20, 16, 18, 14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Dialogue: interaction with user</a:t>
            </a:r>
          </a:p>
          <a:p>
            <a:pPr marL="914400" lvl="1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What month is it? August</a:t>
            </a:r>
          </a:p>
          <a:p>
            <a:pPr lvl="1">
              <a:buClr>
                <a:srgbClr val="FF0000"/>
              </a:buClr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Rule 9:</a:t>
            </a:r>
          </a:p>
          <a:p>
            <a:pPr marL="914400" lvl="1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If month is ‘June’ or ‘July’ or ‘August’    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		Then the season is ‘winter’ (Australia)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28600"/>
            <a:ext cx="8686800" cy="9541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Thermostat: </a:t>
            </a:r>
            <a:b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</a:b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A rule-based Expert System </a:t>
            </a:r>
            <a:r>
              <a:rPr lang="en-US" sz="2800" b="1" dirty="0" smtClean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(2 </a:t>
            </a: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of 3)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16285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2192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6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What day is it? Friday</a:t>
            </a:r>
          </a:p>
          <a:p>
            <a:pPr>
              <a:buClr>
                <a:srgbClr val="FF0000"/>
              </a:buClr>
            </a:pPr>
            <a:r>
              <a:rPr lang="en-US" sz="2600" b="1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Rule 1:</a:t>
            </a:r>
          </a:p>
          <a:p>
            <a:pPr marL="914400" lvl="1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6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If the day is ‘Monday’, ‘Tuesday’, ‘Wednesday’, ‘Thursday’, ‘Friday,</a:t>
            </a:r>
          </a:p>
          <a:p>
            <a:pPr lvl="1">
              <a:buClr>
                <a:srgbClr val="FF0000"/>
              </a:buClr>
            </a:pPr>
            <a:r>
              <a:rPr lang="en-US" sz="26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	Then ‘Today’ is “Workday”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6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What time is it? Between 9 am and 5 pm</a:t>
            </a:r>
          </a:p>
          <a:p>
            <a:pPr>
              <a:buClr>
                <a:srgbClr val="FF0000"/>
              </a:buClr>
            </a:pPr>
            <a:r>
              <a:rPr lang="en-US" sz="2600" b="1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Rule 3:</a:t>
            </a:r>
          </a:p>
          <a:p>
            <a:pPr marL="914400" lvl="1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6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If today is ‘Workday’, and time is ‘between 9 am and 5 pm’,</a:t>
            </a:r>
          </a:p>
          <a:p>
            <a:pPr>
              <a:buClr>
                <a:srgbClr val="FF0000"/>
              </a:buClr>
            </a:pPr>
            <a:r>
              <a:rPr lang="en-US" sz="26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		Then ‘operation’ is “During business hours”</a:t>
            </a: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600" b="1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Rule 17:</a:t>
            </a:r>
          </a:p>
          <a:p>
            <a:pPr marL="914400" lvl="1" indent="-4572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6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If season is ‘Winter’, and ‘operation’ is “During business hours”,        Then ‘</a:t>
            </a:r>
            <a:r>
              <a:rPr lang="en-US" sz="2600" dirty="0" err="1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thermostat_setting</a:t>
            </a:r>
            <a:r>
              <a:rPr lang="en-US" sz="26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’ is “18 degrees”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28600"/>
            <a:ext cx="8686800" cy="9541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Thermostat: </a:t>
            </a:r>
            <a:b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</a:b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A rule-based Expert System </a:t>
            </a:r>
            <a:r>
              <a:rPr lang="en-US" sz="2800" b="1" dirty="0" smtClean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(3 </a:t>
            </a: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of 3)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13450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181100"/>
            <a:ext cx="8534400" cy="54483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>
              <a:buClr>
                <a:srgbClr val="FF0000"/>
              </a:buClr>
            </a:pPr>
            <a:r>
              <a:rPr lang="en-US" altLang="ja-JP" sz="2800" b="1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Advantages:</a:t>
            </a:r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altLang="ja-JP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 natural knowledge representation, </a:t>
            </a:r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altLang="ja-JP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uniform structure, </a:t>
            </a:r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altLang="ja-JP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separation of knowledge from its processing</a:t>
            </a:r>
          </a:p>
          <a:p>
            <a:pPr algn="just">
              <a:buClr>
                <a:srgbClr val="FF0000"/>
              </a:buClr>
            </a:pPr>
            <a:r>
              <a:rPr lang="en-US" altLang="ja-JP" sz="2800" b="1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Disadvantages:</a:t>
            </a:r>
            <a:r>
              <a:rPr lang="en-US" altLang="ja-JP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 </a:t>
            </a:r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altLang="ja-JP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especially opaque relations between rules, </a:t>
            </a:r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altLang="ja-JP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ineffective search strategy and </a:t>
            </a:r>
          </a:p>
          <a:p>
            <a:pPr marL="457200" indent="-4572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altLang="ja-JP" sz="2800" dirty="0"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inability to learn.</a:t>
            </a:r>
            <a:endParaRPr lang="en-US" sz="2800" dirty="0">
              <a:latin typeface="Tahoma" panose="020B0604030504040204" pitchFamily="34" charset="0"/>
              <a:ea typeface="맑은 고딕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228600"/>
            <a:ext cx="8686800" cy="9541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Rule-Based Expert Systems</a:t>
            </a:r>
            <a:b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</a:b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Advantages &amp; Disadvantages</a:t>
            </a:r>
            <a:r>
              <a:rPr lang="en-US" sz="2800" dirty="0">
                <a:solidFill>
                  <a:srgbClr val="FF0000"/>
                </a:solidFill>
                <a:latin typeface="Tahoma" panose="020B0604030504040204" pitchFamily="34" charset="0"/>
                <a:ea typeface="맑은 고딕" panose="020B0503020000020004" pitchFamily="34" charset="-127"/>
                <a:cs typeface="Tahoma" panose="020B0604030504040204" pitchFamily="34" charset="0"/>
              </a:rPr>
              <a:t> 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7866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EE3C8-7908-4EAE-ABD4-D7EEE8552864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685800"/>
            <a:ext cx="8458200" cy="5715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533400" indent="-5334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ja-JP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Negnevitsky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2001] M. </a:t>
            </a:r>
            <a:r>
              <a:rPr lang="en-US" altLang="ja-JP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Negnevitsky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 Artificial Intelligence: A guide to Intelligent Systems”, Pearson Education Limited, England, 2002.</a:t>
            </a:r>
          </a:p>
          <a:p>
            <a:pPr marL="533400" indent="-5334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[</a:t>
            </a:r>
            <a:r>
              <a:rPr lang="en-US" sz="2400" dirty="0" err="1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Russel</a:t>
            </a:r>
            <a:r>
              <a:rPr lang="en-US" sz="24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, 2003] S. Russell and P. </a:t>
            </a:r>
            <a:r>
              <a:rPr lang="en-US" sz="2400" dirty="0" err="1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Norvig</a:t>
            </a:r>
            <a:r>
              <a:rPr lang="en-US" sz="24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 Artificial Intelligence: A Modern Approach Prentice Hall, 2003, Second Edition</a:t>
            </a: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[Patterson, 1990] D. W. Patterson, “Introduction to Artificial Intelligence and Expert Systems”, Prentice-Hall Inc., Englewood Cliffs, N.J, USA, 1990.</a:t>
            </a:r>
          </a:p>
          <a:p>
            <a:pPr marL="533400" indent="-5334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ja-JP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Minsky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1974] M. </a:t>
            </a:r>
            <a:r>
              <a:rPr lang="en-US" altLang="ja-JP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Minsky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 Framework for Representing Knowledge”, MIT-AI Laboratory Memo 306, 1974.</a:t>
            </a:r>
          </a:p>
          <a:p>
            <a:pPr marL="533400" indent="-5334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[Hubel, 1995] David H. Hubel, “Eye, Brain, and Vision”</a:t>
            </a:r>
          </a:p>
          <a:p>
            <a:pPr marL="533400" indent="-5334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[Horn, 1986] B. K. P. Horn, Robot Vision, MIT Press, 1986.</a:t>
            </a:r>
          </a:p>
          <a:p>
            <a:pPr marL="533400" indent="-5334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[Ballard, 1982] D. H. Ballard</a:t>
            </a:r>
          </a:p>
          <a:p>
            <a:pPr marL="533400" indent="-533400" algn="just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C. M. Brown, “Computer Vision”,        Prentice Hall, 1982.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52400"/>
            <a:ext cx="86868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Recommended </a:t>
            </a:r>
            <a:r>
              <a:rPr lang="en-US" altLang="ja-JP" sz="28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Textbooks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888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20704</TotalTime>
  <Words>1108</Words>
  <Application>Microsoft Office PowerPoint</Application>
  <PresentationFormat>On-screen Show (4:3)</PresentationFormat>
  <Paragraphs>152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1" baseType="lpstr">
      <vt:lpstr>맑은 고딕</vt:lpstr>
      <vt:lpstr>MS PGothic</vt:lpstr>
      <vt:lpstr>Arial</vt:lpstr>
      <vt:lpstr>Calibri</vt:lpstr>
      <vt:lpstr>Franklin Gothic Book</vt:lpstr>
      <vt:lpstr>Gulim</vt:lpstr>
      <vt:lpstr>HG創英ﾌﾟﾚｾﾞﾝｽEB</vt:lpstr>
      <vt:lpstr>Perpetua</vt:lpstr>
      <vt:lpstr>Symbol</vt:lpstr>
      <vt:lpstr>Tahoma</vt:lpstr>
      <vt:lpstr>Times New Roman</vt:lpstr>
      <vt:lpstr>Wingdings</vt:lpstr>
      <vt:lpstr>Wingdings 2</vt:lpstr>
      <vt:lpstr>Equity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Pattern Recognition Algorithms to Extract Road Networks Automatically from Remotely Sensed Imagery for GIS Applications</dc:title>
  <dc:creator>User</dc:creator>
  <cp:lastModifiedBy>hp</cp:lastModifiedBy>
  <cp:revision>1313</cp:revision>
  <cp:lastPrinted>2020-02-14T04:18:25Z</cp:lastPrinted>
  <dcterms:created xsi:type="dcterms:W3CDTF">2012-10-10T03:10:51Z</dcterms:created>
  <dcterms:modified xsi:type="dcterms:W3CDTF">2020-02-22T06:34:37Z</dcterms:modified>
</cp:coreProperties>
</file>