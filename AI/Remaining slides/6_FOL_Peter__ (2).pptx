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23"/>
  </p:notesMasterIdLst>
  <p:handoutMasterIdLst>
    <p:handoutMasterId r:id="rId24"/>
  </p:handoutMasterIdLst>
  <p:sldIdLst>
    <p:sldId id="440" r:id="rId2"/>
    <p:sldId id="402" r:id="rId3"/>
    <p:sldId id="410" r:id="rId4"/>
    <p:sldId id="442" r:id="rId5"/>
    <p:sldId id="420" r:id="rId6"/>
    <p:sldId id="443" r:id="rId7"/>
    <p:sldId id="445" r:id="rId8"/>
    <p:sldId id="447" r:id="rId9"/>
    <p:sldId id="448" r:id="rId10"/>
    <p:sldId id="449" r:id="rId11"/>
    <p:sldId id="450" r:id="rId12"/>
    <p:sldId id="451" r:id="rId13"/>
    <p:sldId id="452" r:id="rId14"/>
    <p:sldId id="453" r:id="rId15"/>
    <p:sldId id="454" r:id="rId16"/>
    <p:sldId id="455" r:id="rId17"/>
    <p:sldId id="456" r:id="rId18"/>
    <p:sldId id="457" r:id="rId19"/>
    <p:sldId id="458" r:id="rId20"/>
    <p:sldId id="444" r:id="rId21"/>
    <p:sldId id="441" r:id="rId22"/>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userDrawn="1">
          <p15:clr>
            <a:srgbClr val="A4A3A4"/>
          </p15:clr>
        </p15:guide>
        <p15:guide id="2" pos="219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94F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7" autoAdjust="0"/>
    <p:restoredTop sz="94660"/>
  </p:normalViewPr>
  <p:slideViewPr>
    <p:cSldViewPr>
      <p:cViewPr varScale="1">
        <p:scale>
          <a:sx n="100" d="100"/>
          <a:sy n="100" d="100"/>
        </p:scale>
        <p:origin x="836" y="-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234"/>
    </p:cViewPr>
  </p:sorterViewPr>
  <p:notesViewPr>
    <p:cSldViewPr>
      <p:cViewPr varScale="1">
        <p:scale>
          <a:sx n="55" d="100"/>
          <a:sy n="55" d="100"/>
        </p:scale>
        <p:origin x="-2904" y="-102"/>
      </p:cViewPr>
      <p:guideLst>
        <p:guide orient="horz" pos="2932"/>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13763" cy="465455"/>
          </a:xfrm>
          <a:prstGeom prst="rect">
            <a:avLst/>
          </a:prstGeom>
        </p:spPr>
        <p:txBody>
          <a:bodyPr vert="horz" lIns="92051" tIns="46026" rIns="92051" bIns="46026" rtlCol="0"/>
          <a:lstStyle>
            <a:lvl1pPr algn="l">
              <a:defRPr sz="1200"/>
            </a:lvl1pPr>
          </a:lstStyle>
          <a:p>
            <a:endParaRPr lang="en-US"/>
          </a:p>
        </p:txBody>
      </p:sp>
      <p:sp>
        <p:nvSpPr>
          <p:cNvPr id="3" name="Date Placeholder 2"/>
          <p:cNvSpPr>
            <a:spLocks noGrp="1"/>
          </p:cNvSpPr>
          <p:nvPr>
            <p:ph type="dt" sz="quarter" idx="1"/>
          </p:nvPr>
        </p:nvSpPr>
        <p:spPr>
          <a:xfrm>
            <a:off x="3939466" y="1"/>
            <a:ext cx="3013763" cy="465455"/>
          </a:xfrm>
          <a:prstGeom prst="rect">
            <a:avLst/>
          </a:prstGeom>
        </p:spPr>
        <p:txBody>
          <a:bodyPr vert="horz" lIns="92051" tIns="46026" rIns="92051" bIns="46026" rtlCol="0"/>
          <a:lstStyle>
            <a:lvl1pPr algn="r">
              <a:defRPr sz="1200"/>
            </a:lvl1pPr>
          </a:lstStyle>
          <a:p>
            <a:fld id="{54B406EC-866D-4AAA-84EE-9578059F5FFC}" type="datetimeFigureOut">
              <a:rPr lang="en-US" smtClean="0"/>
              <a:pPr/>
              <a:t>5/7/2025</a:t>
            </a:fld>
            <a:endParaRPr lang="en-US"/>
          </a:p>
        </p:txBody>
      </p:sp>
      <p:sp>
        <p:nvSpPr>
          <p:cNvPr id="4" name="Footer Placeholder 3"/>
          <p:cNvSpPr>
            <a:spLocks noGrp="1"/>
          </p:cNvSpPr>
          <p:nvPr>
            <p:ph type="ftr" sz="quarter" idx="2"/>
          </p:nvPr>
        </p:nvSpPr>
        <p:spPr>
          <a:xfrm>
            <a:off x="0" y="8842030"/>
            <a:ext cx="3013763" cy="465455"/>
          </a:xfrm>
          <a:prstGeom prst="rect">
            <a:avLst/>
          </a:prstGeom>
        </p:spPr>
        <p:txBody>
          <a:bodyPr vert="horz" lIns="92051" tIns="46026" rIns="92051" bIns="46026" rtlCol="0" anchor="b"/>
          <a:lstStyle>
            <a:lvl1pPr algn="l">
              <a:defRPr sz="1200"/>
            </a:lvl1pPr>
          </a:lstStyle>
          <a:p>
            <a:endParaRPr lang="en-US"/>
          </a:p>
        </p:txBody>
      </p:sp>
      <p:sp>
        <p:nvSpPr>
          <p:cNvPr id="5" name="Slide Number Placeholder 4"/>
          <p:cNvSpPr>
            <a:spLocks noGrp="1"/>
          </p:cNvSpPr>
          <p:nvPr>
            <p:ph type="sldNum" sz="quarter" idx="3"/>
          </p:nvPr>
        </p:nvSpPr>
        <p:spPr>
          <a:xfrm>
            <a:off x="3939466" y="8842030"/>
            <a:ext cx="3013763" cy="465455"/>
          </a:xfrm>
          <a:prstGeom prst="rect">
            <a:avLst/>
          </a:prstGeom>
        </p:spPr>
        <p:txBody>
          <a:bodyPr vert="horz" lIns="92051" tIns="46026" rIns="92051" bIns="46026" rtlCol="0" anchor="b"/>
          <a:lstStyle>
            <a:lvl1pPr algn="r">
              <a:defRPr sz="1200"/>
            </a:lvl1pPr>
          </a:lstStyle>
          <a:p>
            <a:fld id="{538845BC-E5B8-4F76-AB4E-440694C63259}" type="slidenum">
              <a:rPr lang="en-US" smtClean="0"/>
              <a:pPr/>
              <a:t>‹#›</a:t>
            </a:fld>
            <a:endParaRPr lang="en-US"/>
          </a:p>
        </p:txBody>
      </p:sp>
    </p:spTree>
    <p:extLst>
      <p:ext uri="{BB962C8B-B14F-4D97-AF65-F5344CB8AC3E}">
        <p14:creationId xmlns:p14="http://schemas.microsoft.com/office/powerpoint/2010/main" val="2758211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13763" cy="465455"/>
          </a:xfrm>
          <a:prstGeom prst="rect">
            <a:avLst/>
          </a:prstGeom>
        </p:spPr>
        <p:txBody>
          <a:bodyPr vert="horz" lIns="92051" tIns="46026" rIns="92051" bIns="46026" rtlCol="0"/>
          <a:lstStyle>
            <a:lvl1pPr algn="l">
              <a:defRPr sz="1200"/>
            </a:lvl1pPr>
          </a:lstStyle>
          <a:p>
            <a:endParaRPr lang="en-US"/>
          </a:p>
        </p:txBody>
      </p:sp>
      <p:sp>
        <p:nvSpPr>
          <p:cNvPr id="3" name="Date Placeholder 2"/>
          <p:cNvSpPr>
            <a:spLocks noGrp="1"/>
          </p:cNvSpPr>
          <p:nvPr>
            <p:ph type="dt" idx="1"/>
          </p:nvPr>
        </p:nvSpPr>
        <p:spPr>
          <a:xfrm>
            <a:off x="3939466" y="1"/>
            <a:ext cx="3013763" cy="465455"/>
          </a:xfrm>
          <a:prstGeom prst="rect">
            <a:avLst/>
          </a:prstGeom>
        </p:spPr>
        <p:txBody>
          <a:bodyPr vert="horz" lIns="92051" tIns="46026" rIns="92051" bIns="46026" rtlCol="0"/>
          <a:lstStyle>
            <a:lvl1pPr algn="r">
              <a:defRPr sz="1200"/>
            </a:lvl1pPr>
          </a:lstStyle>
          <a:p>
            <a:fld id="{028DF241-7479-48D7-B926-3836CF66E8CA}" type="datetimeFigureOut">
              <a:rPr lang="en-US" smtClean="0"/>
              <a:pPr/>
              <a:t>5/7/2025</a:t>
            </a:fld>
            <a:endParaRPr lang="en-US"/>
          </a:p>
        </p:txBody>
      </p:sp>
      <p:sp>
        <p:nvSpPr>
          <p:cNvPr id="4" name="Slide Image Placeholder 3"/>
          <p:cNvSpPr>
            <a:spLocks noGrp="1" noRot="1" noChangeAspect="1"/>
          </p:cNvSpPr>
          <p:nvPr>
            <p:ph type="sldImg" idx="2"/>
          </p:nvPr>
        </p:nvSpPr>
        <p:spPr>
          <a:xfrm>
            <a:off x="1149350" y="696913"/>
            <a:ext cx="4656138" cy="3492500"/>
          </a:xfrm>
          <a:prstGeom prst="rect">
            <a:avLst/>
          </a:prstGeom>
          <a:noFill/>
          <a:ln w="12700">
            <a:solidFill>
              <a:prstClr val="black"/>
            </a:solidFill>
          </a:ln>
        </p:spPr>
        <p:txBody>
          <a:bodyPr vert="horz" lIns="92051" tIns="46026" rIns="92051" bIns="46026" rtlCol="0" anchor="ctr"/>
          <a:lstStyle/>
          <a:p>
            <a:endParaRPr lang="en-US"/>
          </a:p>
        </p:txBody>
      </p:sp>
      <p:sp>
        <p:nvSpPr>
          <p:cNvPr id="5" name="Notes Placeholder 4"/>
          <p:cNvSpPr>
            <a:spLocks noGrp="1"/>
          </p:cNvSpPr>
          <p:nvPr>
            <p:ph type="body" sz="quarter" idx="3"/>
          </p:nvPr>
        </p:nvSpPr>
        <p:spPr>
          <a:xfrm>
            <a:off x="695484" y="4421822"/>
            <a:ext cx="5563870" cy="4189095"/>
          </a:xfrm>
          <a:prstGeom prst="rect">
            <a:avLst/>
          </a:prstGeom>
        </p:spPr>
        <p:txBody>
          <a:bodyPr vert="horz" lIns="92051" tIns="46026" rIns="92051" bIns="460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5455"/>
          </a:xfrm>
          <a:prstGeom prst="rect">
            <a:avLst/>
          </a:prstGeom>
        </p:spPr>
        <p:txBody>
          <a:bodyPr vert="horz" lIns="92051" tIns="46026" rIns="92051" bIns="46026"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5455"/>
          </a:xfrm>
          <a:prstGeom prst="rect">
            <a:avLst/>
          </a:prstGeom>
        </p:spPr>
        <p:txBody>
          <a:bodyPr vert="horz" lIns="92051" tIns="46026" rIns="92051" bIns="46026" rtlCol="0" anchor="b"/>
          <a:lstStyle>
            <a:lvl1pPr algn="r">
              <a:defRPr sz="1200"/>
            </a:lvl1pPr>
          </a:lstStyle>
          <a:p>
            <a:fld id="{60658A72-D451-401C-9327-452145EF2A05}" type="slidenum">
              <a:rPr lang="en-US" smtClean="0"/>
              <a:pPr/>
              <a:t>‹#›</a:t>
            </a:fld>
            <a:endParaRPr lang="en-US"/>
          </a:p>
        </p:txBody>
      </p:sp>
    </p:spTree>
    <p:extLst>
      <p:ext uri="{BB962C8B-B14F-4D97-AF65-F5344CB8AC3E}">
        <p14:creationId xmlns:p14="http://schemas.microsoft.com/office/powerpoint/2010/main" val="4293058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1</a:t>
            </a:fld>
            <a:endParaRPr lang="en-US"/>
          </a:p>
        </p:txBody>
      </p:sp>
    </p:spTree>
    <p:extLst>
      <p:ext uri="{BB962C8B-B14F-4D97-AF65-F5344CB8AC3E}">
        <p14:creationId xmlns:p14="http://schemas.microsoft.com/office/powerpoint/2010/main" val="1755193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a:t>
            </a:fld>
            <a:endParaRPr lang="en-US"/>
          </a:p>
        </p:txBody>
      </p:sp>
    </p:spTree>
    <p:extLst>
      <p:ext uri="{BB962C8B-B14F-4D97-AF65-F5344CB8AC3E}">
        <p14:creationId xmlns:p14="http://schemas.microsoft.com/office/powerpoint/2010/main" val="412566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3</a:t>
            </a:fld>
            <a:endParaRPr lang="en-US"/>
          </a:p>
        </p:txBody>
      </p:sp>
    </p:spTree>
    <p:extLst>
      <p:ext uri="{BB962C8B-B14F-4D97-AF65-F5344CB8AC3E}">
        <p14:creationId xmlns:p14="http://schemas.microsoft.com/office/powerpoint/2010/main" val="128574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4</a:t>
            </a:fld>
            <a:endParaRPr lang="en-US"/>
          </a:p>
        </p:txBody>
      </p:sp>
    </p:spTree>
    <p:extLst>
      <p:ext uri="{BB962C8B-B14F-4D97-AF65-F5344CB8AC3E}">
        <p14:creationId xmlns:p14="http://schemas.microsoft.com/office/powerpoint/2010/main" val="4129808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5</a:t>
            </a:fld>
            <a:endParaRPr lang="en-US"/>
          </a:p>
        </p:txBody>
      </p:sp>
    </p:spTree>
    <p:extLst>
      <p:ext uri="{BB962C8B-B14F-4D97-AF65-F5344CB8AC3E}">
        <p14:creationId xmlns:p14="http://schemas.microsoft.com/office/powerpoint/2010/main" val="2453608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6</a:t>
            </a:fld>
            <a:endParaRPr lang="en-US"/>
          </a:p>
        </p:txBody>
      </p:sp>
    </p:spTree>
    <p:extLst>
      <p:ext uri="{BB962C8B-B14F-4D97-AF65-F5344CB8AC3E}">
        <p14:creationId xmlns:p14="http://schemas.microsoft.com/office/powerpoint/2010/main" val="4237278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7</a:t>
            </a:fld>
            <a:endParaRPr lang="en-US"/>
          </a:p>
        </p:txBody>
      </p:sp>
    </p:spTree>
    <p:extLst>
      <p:ext uri="{BB962C8B-B14F-4D97-AF65-F5344CB8AC3E}">
        <p14:creationId xmlns:p14="http://schemas.microsoft.com/office/powerpoint/2010/main" val="597676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FDCB0FE-BF8A-457C-807E-6081FC0E121A}" type="slidenum">
              <a:rPr lang="en-US" sz="1200" smtClean="0"/>
              <a:pPr/>
              <a:t>8</a:t>
            </a:fld>
            <a:endParaRPr lang="en-US" sz="1200"/>
          </a:p>
        </p:txBody>
      </p:sp>
      <p:sp>
        <p:nvSpPr>
          <p:cNvPr id="9219"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9220"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418223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290D407-0ECD-466D-926F-231E1BB59859}" type="slidenum">
              <a:rPr lang="en-US" sz="1200" smtClean="0"/>
              <a:pPr/>
              <a:t>9</a:t>
            </a:fld>
            <a:endParaRPr lang="en-US" sz="1200"/>
          </a:p>
        </p:txBody>
      </p:sp>
      <p:sp>
        <p:nvSpPr>
          <p:cNvPr id="11267"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1268"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2586210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B951CB9-C5B2-4E83-A952-EFEA69E8EE39}" type="slidenum">
              <a:rPr lang="en-US" sz="1200" smtClean="0"/>
              <a:pPr/>
              <a:t>10</a:t>
            </a:fld>
            <a:endParaRPr lang="en-US" sz="1200"/>
          </a:p>
        </p:txBody>
      </p:sp>
      <p:sp>
        <p:nvSpPr>
          <p:cNvPr id="13315"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3316"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3704308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11</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503021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12</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3822403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13</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2175632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14</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3953917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15</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904111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16</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875305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17</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3566605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18</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15853588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5CFBDA-4169-4354-B236-1682126071B8}" type="slidenum">
              <a:rPr lang="en-US" sz="1200" smtClean="0"/>
              <a:pPr/>
              <a:t>19</a:t>
            </a:fld>
            <a:endParaRPr lang="en-US" sz="1200"/>
          </a:p>
        </p:txBody>
      </p:sp>
      <p:sp>
        <p:nvSpPr>
          <p:cNvPr id="15363" name="Rectangle 2"/>
          <p:cNvSpPr>
            <a:spLocks noGrp="1" noRot="1" noChangeAspect="1" noChangeArrowheads="1" noTextEdit="1"/>
          </p:cNvSpPr>
          <p:nvPr>
            <p:ph type="sldImg"/>
          </p:nvPr>
        </p:nvSpPr>
        <p:spPr>
          <a:xfrm>
            <a:off x="1104900" y="652463"/>
            <a:ext cx="4646613" cy="3484562"/>
          </a:xfrm>
          <a:solidFill>
            <a:srgbClr val="FFFFFF"/>
          </a:solidFill>
          <a:ln/>
        </p:spPr>
      </p:sp>
      <p:sp>
        <p:nvSpPr>
          <p:cNvPr id="15364" name="Rectangle 3"/>
          <p:cNvSpPr>
            <a:spLocks noGrp="1" noChangeArrowheads="1"/>
          </p:cNvSpPr>
          <p:nvPr>
            <p:ph type="body" idx="1"/>
          </p:nvPr>
        </p:nvSpPr>
        <p:spPr>
          <a:xfrm>
            <a:off x="928688" y="4354513"/>
            <a:ext cx="5000625" cy="4137025"/>
          </a:xfrm>
          <a:solidFill>
            <a:srgbClr val="FFFFFF"/>
          </a:solidFill>
          <a:ln>
            <a:solidFill>
              <a:srgbClr val="000000"/>
            </a:solidFill>
            <a:miter lim="800000"/>
            <a:headEnd/>
            <a:tailEnd/>
          </a:ln>
        </p:spPr>
        <p:txBody>
          <a:bodyPr lIns="86493" tIns="43247" rIns="86493" bIns="43247"/>
          <a:lstStyle/>
          <a:p>
            <a:pPr eaLnBrk="1" hangingPunct="1"/>
            <a:endParaRPr lang="en-US"/>
          </a:p>
        </p:txBody>
      </p:sp>
    </p:spTree>
    <p:extLst>
      <p:ext uri="{BB962C8B-B14F-4D97-AF65-F5344CB8AC3E}">
        <p14:creationId xmlns:p14="http://schemas.microsoft.com/office/powerpoint/2010/main" val="7907611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20</a:t>
            </a:fld>
            <a:endParaRPr lang="en-US"/>
          </a:p>
        </p:txBody>
      </p:sp>
    </p:spTree>
    <p:extLst>
      <p:ext uri="{BB962C8B-B14F-4D97-AF65-F5344CB8AC3E}">
        <p14:creationId xmlns:p14="http://schemas.microsoft.com/office/powerpoint/2010/main" val="1280266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3223C7-2BF4-4D75-9FB4-EEA42CE4254C}" type="slidenum">
              <a:rPr lang="en-US" smtClean="0"/>
              <a:pPr/>
              <a:t>21</a:t>
            </a:fld>
            <a:endParaRPr lang="en-US"/>
          </a:p>
        </p:txBody>
      </p:sp>
    </p:spTree>
    <p:extLst>
      <p:ext uri="{BB962C8B-B14F-4D97-AF65-F5344CB8AC3E}">
        <p14:creationId xmlns:p14="http://schemas.microsoft.com/office/powerpoint/2010/main" val="699014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130628"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429000"/>
            <a:ext cx="6400800" cy="15240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46C224F-22AA-464D-9D6B-82387375AB56}" type="datetime1">
              <a:rPr lang="en-US" smtClean="0"/>
              <a:pPr/>
              <a:t>5/7/2025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8BC87070-6711-4EB4-A1B9-86156EA2E1B1}" type="slidenum">
              <a:rPr lang="en-US" smtClean="0"/>
              <a:pPr/>
              <a:t>‹#›</a:t>
            </a:fld>
            <a:endParaRPr lang="en-US"/>
          </a:p>
        </p:txBody>
      </p:sp>
      <p:sp>
        <p:nvSpPr>
          <p:cNvPr id="7" name="Rectangle 6"/>
          <p:cNvSpPr/>
          <p:nvPr/>
        </p:nvSpPr>
        <p:spPr>
          <a:xfrm>
            <a:off x="203916" y="1219200"/>
            <a:ext cx="8763000" cy="198120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dirty="0"/>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543B13-D621-43D6-8A44-567A24D308B9}" type="datetime1">
              <a:rPr lang="en-US" smtClean="0"/>
              <a:pPr/>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A2F9F3A-277B-4432-8D9C-A78B7671D956}" type="datetime1">
              <a:rPr lang="en-US" smtClean="0"/>
              <a:pPr/>
              <a:t>5/7/2025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8BC87070-6711-4EB4-A1B9-86156EA2E1B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595490E3-9BB1-4F1D-B691-1BF7E79620EF}" type="datetime1">
              <a:rPr lang="en-US" smtClean="0"/>
              <a:pPr/>
              <a:t>5/7/2025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C87070-6711-4EB4-A1B9-86156EA2E1B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75D37DB-896F-4C65-A5B5-B44E21786C88}" type="datetime1">
              <a:rPr lang="en-US" smtClean="0"/>
              <a:pPr/>
              <a:t>5/7/2025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C87070-6711-4EB4-A1B9-86156EA2E1B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93FDC23-0211-4255-B3A4-760081F9FD6B}" type="datetime1">
              <a:rPr lang="en-US" smtClean="0"/>
              <a:pPr/>
              <a:t>5/7/2025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A71686-D103-41ED-8332-FA00BBB98AE5}" type="datetime1">
              <a:rPr lang="en-US" smtClean="0"/>
              <a:pPr/>
              <a:t>5/7/2025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E3612F5-CB3C-4C6C-B78E-39A16EEBE0CB}" type="datetime1">
              <a:rPr lang="en-US" smtClean="0"/>
              <a:pPr/>
              <a:t>5/7/2025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C87070-6711-4EB4-A1B9-86156EA2E1B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79DED59-A3C0-4E5F-937A-EA7F14F52187}" type="datetime1">
              <a:rPr lang="en-US" smtClean="0"/>
              <a:pPr/>
              <a:t>5/7/2025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8BC87070-6711-4EB4-A1B9-86156EA2E1B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BB51F96-FB14-4BB6-B276-458C50C7BFF7}" type="datetime1">
              <a:rPr lang="en-US" smtClean="0"/>
              <a:pPr/>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6EB1BE8-70BC-4AE4-BC95-11AFECB2F7C7}" type="datetime1">
              <a:rPr lang="en-US" smtClean="0"/>
              <a:pPr/>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C87070-6711-4EB4-A1B9-86156EA2E1B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FEA95E35-1BFE-4795-9122-FFE57EB9EC10}" type="datetime1">
              <a:rPr lang="en-US" smtClean="0"/>
              <a:pPr/>
              <a:t>5/7/2025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8BC87070-6711-4EB4-A1B9-86156EA2E1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14400"/>
            <a:ext cx="8686800" cy="707886"/>
          </a:xfrm>
          <a:prstGeom prst="rect">
            <a:avLst/>
          </a:prstGeom>
          <a:solidFill>
            <a:schemeClr val="tx2">
              <a:lumMod val="20000"/>
              <a:lumOff val="80000"/>
            </a:schemeClr>
          </a:solidFill>
        </p:spPr>
        <p:txBody>
          <a:bodyPr wrap="square" rtlCol="0">
            <a:spAutoFit/>
          </a:bodyPr>
          <a:lstStyle/>
          <a:p>
            <a:pPr algn="ctr"/>
            <a:r>
              <a:rPr lang="en-US" sz="4000" b="1" dirty="0">
                <a:solidFill>
                  <a:srgbClr val="FF0000"/>
                </a:solidFill>
                <a:latin typeface="Tahoma" panose="020B0604030504040204" pitchFamily="34" charset="0"/>
                <a:ea typeface="Tahoma" panose="020B0604030504040204" pitchFamily="34" charset="0"/>
                <a:cs typeface="Tahoma" panose="020B0604030504040204" pitchFamily="34" charset="0"/>
              </a:rPr>
              <a:t>Artificial </a:t>
            </a:r>
            <a:r>
              <a:rPr lang="en-US" sz="4000" b="1" dirty="0" err="1">
                <a:solidFill>
                  <a:srgbClr val="FF0000"/>
                </a:solidFill>
                <a:latin typeface="Tahoma" panose="020B0604030504040204" pitchFamily="34" charset="0"/>
                <a:ea typeface="Tahoma" panose="020B0604030504040204" pitchFamily="34" charset="0"/>
                <a:cs typeface="Tahoma" panose="020B0604030504040204" pitchFamily="34" charset="0"/>
              </a:rPr>
              <a:t>Inteligence</a:t>
            </a:r>
            <a:endParaRPr lang="en-US" sz="4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7" name="Slide Number Placeholder 6"/>
          <p:cNvSpPr>
            <a:spLocks noGrp="1"/>
          </p:cNvSpPr>
          <p:nvPr>
            <p:ph type="sldNum" sz="quarter" idx="12"/>
          </p:nvPr>
        </p:nvSpPr>
        <p:spPr/>
        <p:txBody>
          <a:bodyPr/>
          <a:lstStyle/>
          <a:p>
            <a:fld id="{EE8EE3C8-7908-4EAE-ABD4-D7EEE8552864}" type="slidenum">
              <a:rPr lang="en-US" smtClean="0"/>
              <a:pPr/>
              <a:t>1</a:t>
            </a:fld>
            <a:endParaRPr lang="en-US" dirty="0"/>
          </a:p>
        </p:txBody>
      </p:sp>
      <p:sp>
        <p:nvSpPr>
          <p:cNvPr id="5" name="Rectangle 4"/>
          <p:cNvSpPr/>
          <p:nvPr/>
        </p:nvSpPr>
        <p:spPr>
          <a:xfrm>
            <a:off x="2743200" y="2057400"/>
            <a:ext cx="2286000" cy="461665"/>
          </a:xfrm>
          <a:prstGeom prst="rect">
            <a:avLst/>
          </a:prstGeom>
        </p:spPr>
        <p:txBody>
          <a:bodyPr wrap="square">
            <a:spAutoFit/>
          </a:bodyPr>
          <a:lstStyle/>
          <a:p>
            <a:pPr algn="just" eaLnBrk="0" hangingPunct="0">
              <a:spcBef>
                <a:spcPct val="20000"/>
              </a:spcBef>
              <a:buClr>
                <a:srgbClr val="FF0000"/>
              </a:buClr>
            </a:pPr>
            <a:r>
              <a:rPr lang="en-US" sz="2400" b="1" dirty="0">
                <a:solidFill>
                  <a:srgbClr val="000099"/>
                </a:solidFill>
                <a:latin typeface="Tahoma" pitchFamily="34" charset="0"/>
                <a:ea typeface="Tahoma" pitchFamily="34" charset="0"/>
                <a:cs typeface="Tahoma" pitchFamily="34" charset="0"/>
              </a:rPr>
              <a:t>CSE 453</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9468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09600"/>
            <a:ext cx="8686800" cy="707886"/>
          </a:xfrm>
          <a:prstGeom prst="rect">
            <a:avLst/>
          </a:prstGeom>
          <a:solidFill>
            <a:schemeClr val="tx2">
              <a:lumMod val="20000"/>
              <a:lumOff val="80000"/>
            </a:schemeClr>
          </a:solidFill>
        </p:spPr>
        <p:txBody>
          <a:bodyPr wrap="square" rtlCol="0">
            <a:spAutoFit/>
          </a:bodyPr>
          <a:lstStyle/>
          <a:p>
            <a:pPr algn="ctr"/>
            <a:r>
              <a:rPr lang="en-US" sz="4000" b="1" spc="-35" dirty="0">
                <a:solidFill>
                  <a:srgbClr val="FF0000"/>
                </a:solidFill>
                <a:latin typeface="Tahoma" panose="020B0604030504040204" pitchFamily="34" charset="0"/>
                <a:ea typeface="Tahoma" panose="020B0604030504040204" pitchFamily="34" charset="0"/>
                <a:cs typeface="Tahoma" panose="020B0604030504040204" pitchFamily="34" charset="0"/>
              </a:rPr>
              <a:t>Outlines</a:t>
            </a:r>
            <a:endParaRPr lang="en-US" sz="4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7" name="Slide Number Placeholder 6"/>
          <p:cNvSpPr>
            <a:spLocks noGrp="1"/>
          </p:cNvSpPr>
          <p:nvPr>
            <p:ph type="sldNum" sz="quarter" idx="12"/>
          </p:nvPr>
        </p:nvSpPr>
        <p:spPr/>
        <p:txBody>
          <a:bodyPr/>
          <a:lstStyle/>
          <a:p>
            <a:fld id="{EE8EE3C8-7908-4EAE-ABD4-D7EEE8552864}" type="slidenum">
              <a:rPr lang="en-US" smtClean="0"/>
              <a:pPr/>
              <a:t>2</a:t>
            </a:fld>
            <a:endParaRPr lang="en-US" dirty="0"/>
          </a:p>
        </p:txBody>
      </p:sp>
      <p:sp>
        <p:nvSpPr>
          <p:cNvPr id="4" name="Content Placeholder 2"/>
          <p:cNvSpPr txBox="1">
            <a:spLocks/>
          </p:cNvSpPr>
          <p:nvPr/>
        </p:nvSpPr>
        <p:spPr>
          <a:xfrm>
            <a:off x="990600" y="1630680"/>
            <a:ext cx="7498080" cy="4480560"/>
          </a:xfrm>
          <a:prstGeom prst="rect">
            <a:avLst/>
          </a:prstGeom>
        </p:spPr>
        <p:txBody>
          <a:bodyPr>
            <a:noAutofit/>
          </a:bodyPr>
          <a:lstStyle/>
          <a:p>
            <a:pPr marL="342900" indent="-342900" algn="just" eaLnBrk="0" hangingPunct="0">
              <a:spcBef>
                <a:spcPct val="20000"/>
              </a:spcBef>
              <a:buClr>
                <a:srgbClr val="FF0000"/>
              </a:buClr>
              <a:buFont typeface="Wingdings" pitchFamily="2" charset="2"/>
              <a:buChar char="q"/>
            </a:pPr>
            <a:r>
              <a:rPr lang="en-GB" sz="2200" b="1" dirty="0">
                <a:solidFill>
                  <a:srgbClr val="0070C0"/>
                </a:solidFill>
                <a:latin typeface="Tahoma" panose="020B0604030504040204" pitchFamily="34" charset="0"/>
              </a:rPr>
              <a:t>What is logic?</a:t>
            </a:r>
            <a:endParaRPr lang="en-US" sz="2200" dirty="0">
              <a:solidFill>
                <a:srgbClr val="0070C0"/>
              </a:solidFill>
              <a:latin typeface="Tahoma" panose="020B0604030504040204" pitchFamily="34" charset="0"/>
              <a:ea typeface="Tahoma" panose="020B0604030504040204" pitchFamily="34" charset="0"/>
              <a:cs typeface="Tahoma" panose="020B0604030504040204" pitchFamily="34" charset="0"/>
            </a:endParaRPr>
          </a:p>
          <a:p>
            <a:pPr marL="342900" indent="-342900" algn="just" eaLnBrk="0" hangingPunct="0">
              <a:spcBef>
                <a:spcPct val="20000"/>
              </a:spcBef>
              <a:buClr>
                <a:srgbClr val="FF0000"/>
              </a:buClr>
              <a:buFont typeface="Wingdings" pitchFamily="2" charset="2"/>
              <a:buChar char="q"/>
            </a:pPr>
            <a:r>
              <a:rPr lang="en-GB" sz="2200" b="1" dirty="0">
                <a:solidFill>
                  <a:srgbClr val="0070C0"/>
                </a:solidFill>
                <a:latin typeface="Tahoma" panose="020B0604030504040204" pitchFamily="34" charset="0"/>
              </a:rPr>
              <a:t>Why is logic important?</a:t>
            </a:r>
            <a:endParaRPr lang="en-US" sz="2200" dirty="0">
              <a:solidFill>
                <a:srgbClr val="0070C0"/>
              </a:solidFill>
              <a:latin typeface="Tahoma" panose="020B0604030504040204" pitchFamily="34" charset="0"/>
              <a:ea typeface="Tahoma" panose="020B0604030504040204" pitchFamily="34" charset="0"/>
              <a:cs typeface="Tahoma" panose="020B0604030504040204" pitchFamily="34" charset="0"/>
            </a:endParaRPr>
          </a:p>
          <a:p>
            <a:pPr eaLnBrk="0" hangingPunct="0">
              <a:spcBef>
                <a:spcPct val="0"/>
              </a:spcBef>
              <a:buClr>
                <a:srgbClr val="FF9900"/>
              </a:buClr>
              <a:buFont typeface="Wingdings" panose="05000000000000000000" pitchFamily="2" charset="2"/>
              <a:buChar char="v"/>
            </a:pPr>
            <a:r>
              <a:rPr lang="en-US" altLang="ko-KR" sz="2400" dirty="0">
                <a:latin typeface="Times New Roman" panose="02020603050405020304" pitchFamily="18" charset="0"/>
                <a:cs typeface="Times New Roman" panose="02020603050405020304" pitchFamily="18" charset="0"/>
              </a:rPr>
              <a:t>First Order Predicate Logic (FOPL)</a:t>
            </a:r>
          </a:p>
          <a:p>
            <a:pPr eaLnBrk="0" hangingPunct="0">
              <a:spcBef>
                <a:spcPct val="0"/>
              </a:spcBef>
              <a:buClr>
                <a:srgbClr val="FF9900"/>
              </a:buClr>
              <a:buFont typeface="Wingdings" panose="05000000000000000000" pitchFamily="2" charset="2"/>
              <a:buChar char="v"/>
            </a:pPr>
            <a:r>
              <a:rPr lang="en-US" altLang="ko-KR" sz="2400" dirty="0">
                <a:latin typeface="Times New Roman" panose="02020603050405020304" pitchFamily="18" charset="0"/>
                <a:cs typeface="Times New Roman" panose="02020603050405020304" pitchFamily="18" charset="0"/>
              </a:rPr>
              <a:t>Syntax and Semantics for FOPL</a:t>
            </a:r>
          </a:p>
          <a:p>
            <a:r>
              <a:rPr lang="en-US" sz="2400" dirty="0">
                <a:latin typeface="Tahoma" panose="020B0604030504040204" pitchFamily="34" charset="0"/>
                <a:cs typeface="Tahoma" panose="020B0604030504040204" pitchFamily="34" charset="0"/>
              </a:rPr>
              <a:t>First-order inference rules: Modus Ponens, Modus </a:t>
            </a:r>
            <a:r>
              <a:rPr lang="en-US" sz="2400" dirty="0" err="1">
                <a:latin typeface="Tahoma" panose="020B0604030504040204" pitchFamily="34" charset="0"/>
                <a:cs typeface="Tahoma" panose="020B0604030504040204" pitchFamily="34" charset="0"/>
              </a:rPr>
              <a:t>Tollens</a:t>
            </a:r>
            <a:r>
              <a:rPr lang="en-US" sz="2400" dirty="0">
                <a:latin typeface="Tahoma" panose="020B0604030504040204" pitchFamily="34" charset="0"/>
                <a:cs typeface="Tahoma" panose="020B0604030504040204" pitchFamily="34" charset="0"/>
              </a:rPr>
              <a:t> </a:t>
            </a:r>
          </a:p>
          <a:p>
            <a:r>
              <a:rPr lang="en-US" sz="2400" dirty="0">
                <a:latin typeface="Tahoma" panose="020B0604030504040204" pitchFamily="34" charset="0"/>
                <a:cs typeface="Tahoma" panose="020B0604030504040204" pitchFamily="34" charset="0"/>
              </a:rPr>
              <a:t>Resolution</a:t>
            </a:r>
          </a:p>
          <a:p>
            <a:pPr eaLnBrk="0" hangingPunct="0">
              <a:spcBef>
                <a:spcPct val="0"/>
              </a:spcBef>
              <a:buClr>
                <a:srgbClr val="FF9900"/>
              </a:buClr>
              <a:buFont typeface="Wingdings" panose="05000000000000000000" pitchFamily="2" charset="2"/>
              <a:buChar char="v"/>
            </a:pPr>
            <a:endParaRPr lang="en-US" altLang="ko-KR" sz="2400" dirty="0">
              <a:latin typeface="Times New Roman" panose="02020603050405020304" pitchFamily="18" charset="0"/>
              <a:cs typeface="Times New Roman" panose="02020603050405020304" pitchFamily="18" charset="0"/>
            </a:endParaRPr>
          </a:p>
          <a:p>
            <a:pPr eaLnBrk="0" hangingPunct="0">
              <a:spcBef>
                <a:spcPct val="0"/>
              </a:spcBef>
              <a:buClr>
                <a:srgbClr val="FF9900"/>
              </a:buClr>
              <a:buFont typeface="Wingdings" panose="05000000000000000000" pitchFamily="2" charset="2"/>
              <a:buChar char="v"/>
            </a:pPr>
            <a:r>
              <a:rPr lang="en-US" altLang="ko-KR" sz="2400" dirty="0">
                <a:latin typeface="Times New Roman" panose="02020603050405020304" pitchFamily="18" charset="0"/>
                <a:cs typeface="Times New Roman" panose="02020603050405020304" pitchFamily="18" charset="0"/>
              </a:rPr>
              <a:t>Properties of WFFS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3</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buFont typeface="Wingdings" panose="05000000000000000000" pitchFamily="2" charset="2"/>
              <a:buChar char="v"/>
            </a:pPr>
            <a:r>
              <a:rPr lang="en-US" sz="2800" dirty="0">
                <a:solidFill>
                  <a:srgbClr val="000099"/>
                </a:solidFill>
                <a:latin typeface="Times New Roman" panose="02020603050405020304" pitchFamily="18" charset="0"/>
              </a:rPr>
              <a:t>Logic is a formal method for reasoning.</a:t>
            </a:r>
          </a:p>
          <a:p>
            <a:pPr algn="just">
              <a:buFont typeface="Wingdings" panose="05000000000000000000" pitchFamily="2" charset="2"/>
              <a:buChar char="v"/>
            </a:pPr>
            <a:r>
              <a:rPr lang="en-US" sz="2800" dirty="0">
                <a:solidFill>
                  <a:srgbClr val="000099"/>
                </a:solidFill>
                <a:latin typeface="Times New Roman" panose="02020603050405020304" pitchFamily="18" charset="0"/>
              </a:rPr>
              <a:t>Many concepts which can be verbalized can  be translated into symbolic representations   which closely approximate the meaning of      these concepts.</a:t>
            </a:r>
          </a:p>
          <a:p>
            <a:pPr algn="just">
              <a:buFont typeface="Wingdings" panose="05000000000000000000" pitchFamily="2" charset="2"/>
              <a:buChar char="v"/>
            </a:pPr>
            <a:r>
              <a:rPr lang="en-US" sz="2800" dirty="0">
                <a:solidFill>
                  <a:srgbClr val="000099"/>
                </a:solidFill>
                <a:latin typeface="Times New Roman" panose="02020603050405020304" pitchFamily="18" charset="0"/>
              </a:rPr>
              <a:t>The symbolic structures can then manipulated in programs to deduce various facts, to carry out a form of automated </a:t>
            </a:r>
            <a:r>
              <a:rPr lang="en-US" sz="2800">
                <a:solidFill>
                  <a:srgbClr val="000099"/>
                </a:solidFill>
                <a:latin typeface="Times New Roman" panose="02020603050405020304" pitchFamily="18" charset="0"/>
              </a:rPr>
              <a:t>reasoning.</a:t>
            </a:r>
            <a:endParaRPr lang="en-US" sz="2800" dirty="0">
              <a:solidFill>
                <a:srgbClr val="000099"/>
              </a:solidFill>
              <a:latin typeface="Times New Roman" panose="02020603050405020304" pitchFamily="18" charset="0"/>
            </a:endParaRPr>
          </a:p>
          <a:p>
            <a:pPr algn="just">
              <a:buFont typeface="Wingdings" panose="05000000000000000000" pitchFamily="2" charset="2"/>
              <a:buChar char="v"/>
            </a:pPr>
            <a:r>
              <a:rPr lang="en-US" sz="2800" dirty="0">
                <a:solidFill>
                  <a:srgbClr val="000099"/>
                </a:solidFill>
                <a:latin typeface="Times New Roman" panose="02020603050405020304" pitchFamily="18" charset="0"/>
              </a:rPr>
              <a:t>First-Order Predicate Logic (FOPL) is a formal system for reasoning that can represent complex logical expressions and evaluate their truthfulness. It's used in artificial intelligence (AI) to represent knowledge and associations between objects. FOPL is more expressive than propositional logic and can represent almost any English sentence. </a:t>
            </a: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Georgia" panose="02040502050405020303" pitchFamily="18" charset="0"/>
              </a:rPr>
              <a:t>FOPL: Introduction</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35717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4</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lnSpc>
                <a:spcPct val="90000"/>
              </a:lnSpc>
              <a:buFont typeface="Wingdings" panose="05000000000000000000" pitchFamily="2" charset="2"/>
              <a:buChar char="v"/>
            </a:pPr>
            <a:r>
              <a:rPr lang="en-US" sz="2800" dirty="0">
                <a:latin typeface="Times New Roman" panose="02020603050405020304" pitchFamily="18" charset="0"/>
              </a:rPr>
              <a:t>In FOPL, statements from a natural language like          English are translated into symbolic structures               comprised of predicates, functions, variables, constants, quantifiers, and logical connectives</a:t>
            </a:r>
          </a:p>
          <a:p>
            <a:pPr algn="just">
              <a:lnSpc>
                <a:spcPct val="90000"/>
              </a:lnSpc>
              <a:buFont typeface="Wingdings" panose="05000000000000000000" pitchFamily="2" charset="2"/>
              <a:buChar char="v"/>
            </a:pPr>
            <a:r>
              <a:rPr lang="en-US" sz="2800" dirty="0">
                <a:latin typeface="Times New Roman" panose="02020603050405020304" pitchFamily="18" charset="0"/>
              </a:rPr>
              <a:t>The symbols form the basic building blocks for the       knowledge, and their combination into valid structures  is accomplished using the syntax for FOPL.</a:t>
            </a:r>
          </a:p>
          <a:p>
            <a:pPr algn="just">
              <a:lnSpc>
                <a:spcPct val="90000"/>
              </a:lnSpc>
              <a:buFont typeface="Wingdings" panose="05000000000000000000" pitchFamily="2" charset="2"/>
              <a:buChar char="v"/>
            </a:pPr>
            <a:r>
              <a:rPr lang="en-US" sz="2800" dirty="0">
                <a:latin typeface="Times New Roman" panose="02020603050405020304" pitchFamily="18" charset="0"/>
              </a:rPr>
              <a:t>Once structures have been created to represent basic      facts or procedures or other types of knowledge,            inference rule may then be applied to compare, combine and transform these “assumed” structure into new         “deduced” structure.</a:t>
            </a:r>
          </a:p>
          <a:p>
            <a:pPr algn="just">
              <a:buFont typeface="Wingdings" panose="05000000000000000000" pitchFamily="2" charset="2"/>
              <a:buChar char="v"/>
            </a:pPr>
            <a:endParaRPr lang="en-US" sz="2800" dirty="0">
              <a:latin typeface="Times New Roman" panose="02020603050405020304" pitchFamily="18"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Georgia" panose="02040502050405020303" pitchFamily="18" charset="0"/>
              </a:rPr>
              <a:t>FOPL: Introduction</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36744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5</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buFont typeface="Wingdings" panose="05000000000000000000" pitchFamily="2" charset="2"/>
              <a:buChar char="v"/>
            </a:pPr>
            <a:r>
              <a:rPr lang="en-US" sz="2800" dirty="0">
                <a:latin typeface="Times New Roman" panose="02020603050405020304" pitchFamily="18" charset="0"/>
              </a:rPr>
              <a:t>All employees of the AI-Software Company are Programmers” might be written in FOPL as,</a:t>
            </a:r>
          </a:p>
          <a:p>
            <a:pPr algn="just">
              <a:buFont typeface="Wingdings" panose="05000000000000000000" pitchFamily="2" charset="2"/>
              <a:buChar char="v"/>
            </a:pPr>
            <a:r>
              <a:rPr lang="en-US" sz="2800" dirty="0">
                <a:latin typeface="Times New Roman" panose="02020603050405020304" pitchFamily="18" charset="0"/>
              </a:rPr>
              <a:t>(∀Ⅹ) (AI-SOFTWARE-CO-EMPLOYEE(x)→PROGRAMMER(X))</a:t>
            </a:r>
          </a:p>
          <a:p>
            <a:pPr algn="just">
              <a:buFont typeface="Wingdings" panose="05000000000000000000" pitchFamily="2" charset="2"/>
              <a:buChar char="v"/>
            </a:pPr>
            <a:r>
              <a:rPr lang="en-US" sz="2800" dirty="0">
                <a:latin typeface="Times New Roman" panose="02020603050405020304" pitchFamily="18" charset="0"/>
              </a:rPr>
              <a:t>(∀Ⅹ)  is  “for all x”</a:t>
            </a:r>
          </a:p>
          <a:p>
            <a:pPr algn="just">
              <a:buFont typeface="Wingdings" panose="05000000000000000000" pitchFamily="2" charset="2"/>
              <a:buChar char="v"/>
            </a:pPr>
            <a:r>
              <a:rPr lang="en-US" sz="2800" dirty="0">
                <a:latin typeface="Times New Roman" panose="02020603050405020304" pitchFamily="18" charset="0"/>
              </a:rPr>
              <a:t>→ is “implies” or “then”</a:t>
            </a:r>
          </a:p>
          <a:p>
            <a:pPr algn="just">
              <a:buFont typeface="Wingdings" panose="05000000000000000000" pitchFamily="2" charset="2"/>
              <a:buChar char="v"/>
            </a:pPr>
            <a:r>
              <a:rPr lang="en-US" sz="2800" dirty="0">
                <a:latin typeface="Times New Roman" panose="02020603050405020304" pitchFamily="18" charset="0"/>
              </a:rPr>
              <a:t>The predicate “AI-SOFTWARE-CO-EMPLOYEE(x)” and “PROGRAMMER(X)” are read as “if x is an AI software company employee” then x is              programmer.</a:t>
            </a:r>
          </a:p>
          <a:p>
            <a:pPr algn="just">
              <a:buFont typeface="Wingdings" panose="05000000000000000000" pitchFamily="2" charset="2"/>
              <a:buChar char="v"/>
            </a:pPr>
            <a:r>
              <a:rPr lang="en-US" sz="2800" dirty="0">
                <a:latin typeface="Times New Roman" panose="02020603050405020304" pitchFamily="18" charset="0"/>
              </a:rPr>
              <a:t>The symbol x is variable which can assume a person’s name </a:t>
            </a: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Georgia" panose="02040502050405020303" pitchFamily="18" charset="0"/>
              </a:rPr>
              <a:t>FOPL: Example</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4613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6</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gn="just">
              <a:buFont typeface="Wingdings" panose="05000000000000000000" pitchFamily="2" charset="2"/>
              <a:buChar char="v"/>
            </a:pPr>
            <a:r>
              <a:rPr lang="en-US" sz="2800" dirty="0">
                <a:latin typeface="Times New Roman" panose="02020603050405020304" pitchFamily="18" charset="0"/>
              </a:rPr>
              <a:t>If it is also known that Jim is an employee of AI software Company,</a:t>
            </a:r>
          </a:p>
          <a:p>
            <a:pPr lvl="1" algn="just">
              <a:buFont typeface="Wingdings" panose="05000000000000000000" pitchFamily="2" charset="2"/>
              <a:buChar char="v"/>
            </a:pPr>
            <a:r>
              <a:rPr lang="en-US" sz="2800" dirty="0">
                <a:latin typeface="Times New Roman" panose="02020603050405020304" pitchFamily="18" charset="0"/>
              </a:rPr>
              <a:t>AI-SOFTWARE-CO-EMPLOYEE(Jim)</a:t>
            </a:r>
          </a:p>
          <a:p>
            <a:pPr algn="just">
              <a:buFont typeface="Wingdings" panose="05000000000000000000" pitchFamily="2" charset="2"/>
              <a:buChar char="v"/>
            </a:pPr>
            <a:r>
              <a:rPr lang="en-US" sz="2800" dirty="0">
                <a:latin typeface="Times New Roman" panose="02020603050405020304" pitchFamily="18" charset="0"/>
              </a:rPr>
              <a:t>One can draw the conclusion that Jim is a       programmer.</a:t>
            </a:r>
          </a:p>
          <a:p>
            <a:pPr lvl="1" algn="just">
              <a:buFont typeface="Wingdings" panose="05000000000000000000" pitchFamily="2" charset="2"/>
              <a:buChar char="v"/>
            </a:pPr>
            <a:r>
              <a:rPr lang="en-US" sz="2800" dirty="0">
                <a:latin typeface="Times New Roman" panose="02020603050405020304" pitchFamily="18" charset="0"/>
              </a:rPr>
              <a:t>Programmer (Jim)</a:t>
            </a: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Georgia" panose="02040502050405020303" pitchFamily="18" charset="0"/>
              </a:rPr>
              <a:t>FOPL: Example</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85733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7</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a:lnSpc>
                <a:spcPct val="90000"/>
              </a:lnSpc>
            </a:pPr>
            <a:r>
              <a:rPr lang="en-US" sz="2800" dirty="0">
                <a:latin typeface="Tahoma" panose="020B0604030504040204" pitchFamily="34" charset="0"/>
                <a:cs typeface="Tahoma" panose="020B0604030504040204" pitchFamily="34" charset="0"/>
              </a:rPr>
              <a:t>Assume you are given the following two statements:</a:t>
            </a:r>
          </a:p>
          <a:p>
            <a:pPr lvl="1">
              <a:lnSpc>
                <a:spcPct val="90000"/>
              </a:lnSpc>
            </a:pPr>
            <a:r>
              <a:rPr lang="en-US" dirty="0">
                <a:latin typeface="Tahoma" panose="020B0604030504040204" pitchFamily="34" charset="0"/>
                <a:cs typeface="Tahoma" panose="020B0604030504040204" pitchFamily="34" charset="0"/>
              </a:rPr>
              <a:t>“you are in this class”</a:t>
            </a:r>
          </a:p>
          <a:p>
            <a:pPr lvl="1">
              <a:lnSpc>
                <a:spcPct val="90000"/>
              </a:lnSpc>
            </a:pPr>
            <a:r>
              <a:rPr lang="en-US" dirty="0">
                <a:latin typeface="Tahoma" panose="020B0604030504040204" pitchFamily="34" charset="0"/>
                <a:cs typeface="Tahoma" panose="020B0604030504040204" pitchFamily="34" charset="0"/>
              </a:rPr>
              <a:t>“if you are in this class, you will get a grade”</a:t>
            </a:r>
          </a:p>
          <a:p>
            <a:pPr>
              <a:lnSpc>
                <a:spcPct val="90000"/>
              </a:lnSpc>
            </a:pPr>
            <a:endParaRPr lang="en-US" sz="2800" dirty="0">
              <a:latin typeface="Tahoma" panose="020B0604030504040204" pitchFamily="34" charset="0"/>
              <a:cs typeface="Tahoma" panose="020B0604030504040204" pitchFamily="34" charset="0"/>
            </a:endParaRPr>
          </a:p>
          <a:p>
            <a:pPr>
              <a:lnSpc>
                <a:spcPct val="90000"/>
              </a:lnSpc>
            </a:pPr>
            <a:r>
              <a:rPr lang="en-US" sz="2800" dirty="0">
                <a:latin typeface="Tahoma" panose="020B0604030504040204" pitchFamily="34" charset="0"/>
                <a:cs typeface="Tahoma" panose="020B0604030504040204" pitchFamily="34" charset="0"/>
              </a:rPr>
              <a:t>Let p = “you are in this class”</a:t>
            </a:r>
          </a:p>
          <a:p>
            <a:pPr>
              <a:lnSpc>
                <a:spcPct val="90000"/>
              </a:lnSpc>
            </a:pPr>
            <a:r>
              <a:rPr lang="en-US" sz="2800" dirty="0">
                <a:latin typeface="Tahoma" panose="020B0604030504040204" pitchFamily="34" charset="0"/>
                <a:cs typeface="Tahoma" panose="020B0604030504040204" pitchFamily="34" charset="0"/>
              </a:rPr>
              <a:t>Let q = “you will get a grade”</a:t>
            </a:r>
          </a:p>
          <a:p>
            <a:pPr>
              <a:lnSpc>
                <a:spcPct val="90000"/>
              </a:lnSpc>
            </a:pPr>
            <a:endParaRPr lang="en-US" sz="2800" dirty="0">
              <a:latin typeface="Tahoma" panose="020B0604030504040204" pitchFamily="34" charset="0"/>
              <a:cs typeface="Tahoma" panose="020B0604030504040204" pitchFamily="34" charset="0"/>
            </a:endParaRPr>
          </a:p>
          <a:p>
            <a:pPr>
              <a:lnSpc>
                <a:spcPct val="90000"/>
              </a:lnSpc>
            </a:pPr>
            <a:r>
              <a:rPr lang="en-US" sz="2800" dirty="0">
                <a:latin typeface="Tahoma" panose="020B0604030504040204" pitchFamily="34" charset="0"/>
                <a:cs typeface="Tahoma" panose="020B0604030504040204" pitchFamily="34" charset="0"/>
              </a:rPr>
              <a:t>By Modus Ponens, you can conclude that you will get a grade</a:t>
            </a:r>
          </a:p>
          <a:p>
            <a:pPr>
              <a:lnSpc>
                <a:spcPct val="90000"/>
              </a:lnSpc>
            </a:pPr>
            <a:endParaRPr lang="en-US" sz="2800" dirty="0">
              <a:latin typeface="Tahoma" panose="020B0604030504040204" pitchFamily="34" charset="0"/>
              <a:cs typeface="Tahoma" panose="020B0604030504040204" pitchFamily="34" charset="0"/>
            </a:endParaRPr>
          </a:p>
          <a:p>
            <a:pPr algn="just">
              <a:buFont typeface="Wingdings" panose="05000000000000000000" pitchFamily="2" charset="2"/>
              <a:buChar char="v"/>
            </a:pPr>
            <a:endParaRPr lang="en-US" dirty="0">
              <a:latin typeface="Times New Roman" panose="02020603050405020304" pitchFamily="18"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dirty="0">
                <a:solidFill>
                  <a:srgbClr val="FF0000"/>
                </a:solidFill>
                <a:latin typeface="Tahoma" panose="020B0604030504040204" pitchFamily="34" charset="0"/>
                <a:ea typeface="Tahoma" panose="020B0604030504040204" pitchFamily="34" charset="0"/>
                <a:cs typeface="Tahoma" panose="020B0604030504040204" pitchFamily="34" charset="0"/>
              </a:rPr>
              <a:t>Modus Ponens</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Rectangle 4"/>
          <p:cNvSpPr>
            <a:spLocks noChangeArrowheads="1"/>
          </p:cNvSpPr>
          <p:nvPr/>
        </p:nvSpPr>
        <p:spPr bwMode="auto">
          <a:xfrm>
            <a:off x="2971800" y="4724400"/>
            <a:ext cx="2286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dirty="0">
                <a:sym typeface="Symbol" panose="05050102010706020507" pitchFamily="18" charset="2"/>
              </a:rPr>
              <a:t>		p</a:t>
            </a:r>
          </a:p>
          <a:p>
            <a:pPr eaLnBrk="1" hangingPunct="1">
              <a:buFontTx/>
              <a:buNone/>
            </a:pPr>
            <a:r>
              <a:rPr lang="en-US" dirty="0">
                <a:sym typeface="Symbol" panose="05050102010706020507" pitchFamily="18" charset="2"/>
              </a:rPr>
              <a:t>		</a:t>
            </a:r>
            <a:r>
              <a:rPr lang="en-US" u="sng" dirty="0">
                <a:sym typeface="Symbol" panose="05050102010706020507" pitchFamily="18" charset="2"/>
              </a:rPr>
              <a:t>p </a:t>
            </a:r>
            <a:r>
              <a:rPr lang="en-US" u="sng" dirty="0">
                <a:latin typeface="Symbol" panose="05050102010706020507" pitchFamily="18" charset="2"/>
                <a:sym typeface="Symbol" panose="05050102010706020507" pitchFamily="18" charset="2"/>
              </a:rPr>
              <a:t></a:t>
            </a:r>
            <a:r>
              <a:rPr lang="en-US" u="sng" dirty="0">
                <a:sym typeface="Symbol" panose="05050102010706020507" pitchFamily="18" charset="2"/>
              </a:rPr>
              <a:t> q</a:t>
            </a:r>
            <a:endParaRPr lang="en-US" dirty="0">
              <a:sym typeface="Symbol" panose="05050102010706020507" pitchFamily="18" charset="2"/>
            </a:endParaRPr>
          </a:p>
          <a:p>
            <a:pPr eaLnBrk="1" hangingPunct="1">
              <a:buFontTx/>
              <a:buNone/>
            </a:pPr>
            <a:r>
              <a:rPr lang="en-US" dirty="0">
                <a:sym typeface="Symbol" panose="05050102010706020507" pitchFamily="18" charset="2"/>
              </a:rPr>
              <a:t>	 </a:t>
            </a:r>
            <a:r>
              <a:rPr lang="en-US" dirty="0">
                <a:latin typeface="Symbol" panose="05050102010706020507" pitchFamily="18" charset="2"/>
                <a:sym typeface="Symbol" panose="05050102010706020507" pitchFamily="18" charset="2"/>
              </a:rPr>
              <a:t></a:t>
            </a:r>
            <a:r>
              <a:rPr lang="en-US" dirty="0">
                <a:sym typeface="Symbol" panose="05050102010706020507" pitchFamily="18" charset="2"/>
              </a:rPr>
              <a:t> q</a:t>
            </a:r>
          </a:p>
        </p:txBody>
      </p:sp>
    </p:spTree>
    <p:extLst>
      <p:ext uri="{BB962C8B-B14F-4D97-AF65-F5344CB8AC3E}">
        <p14:creationId xmlns:p14="http://schemas.microsoft.com/office/powerpoint/2010/main" val="1352173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D3F0A13-23CE-4504-B14D-24004393837E}" type="slidenum">
              <a:rPr lang="en-US" sz="1400" smtClean="0"/>
              <a:pPr>
                <a:spcBef>
                  <a:spcPct val="0"/>
                </a:spcBef>
                <a:buFontTx/>
                <a:buNone/>
              </a:pPr>
              <a:t>8</a:t>
            </a:fld>
            <a:endParaRPr lang="en-US" sz="1400" dirty="0"/>
          </a:p>
        </p:txBody>
      </p:sp>
      <p:sp>
        <p:nvSpPr>
          <p:cNvPr id="8196" name="Rectangle 2"/>
          <p:cNvSpPr>
            <a:spLocks noChangeArrowheads="1"/>
          </p:cNvSpPr>
          <p:nvPr/>
        </p:nvSpPr>
        <p:spPr bwMode="auto">
          <a:xfrm>
            <a:off x="609600" y="4495800"/>
            <a:ext cx="1981200" cy="18288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sz="2400"/>
          </a:p>
        </p:txBody>
      </p:sp>
      <p:sp>
        <p:nvSpPr>
          <p:cNvPr id="387075" name="Rectangle 3"/>
          <p:cNvSpPr>
            <a:spLocks noChangeArrowheads="1"/>
          </p:cNvSpPr>
          <p:nvPr/>
        </p:nvSpPr>
        <p:spPr bwMode="auto">
          <a:xfrm>
            <a:off x="533400" y="2286000"/>
            <a:ext cx="685800" cy="533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sz="2400"/>
          </a:p>
        </p:txBody>
      </p:sp>
      <p:sp>
        <p:nvSpPr>
          <p:cNvPr id="387076" name="Rectangle 4"/>
          <p:cNvSpPr>
            <a:spLocks noChangeArrowheads="1"/>
          </p:cNvSpPr>
          <p:nvPr/>
        </p:nvSpPr>
        <p:spPr bwMode="auto">
          <a:xfrm>
            <a:off x="1981200" y="2286000"/>
            <a:ext cx="914400" cy="533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sz="2400"/>
          </a:p>
        </p:txBody>
      </p:sp>
      <p:sp>
        <p:nvSpPr>
          <p:cNvPr id="387077" name="Rectangle 5"/>
          <p:cNvSpPr>
            <a:spLocks noChangeArrowheads="1"/>
          </p:cNvSpPr>
          <p:nvPr/>
        </p:nvSpPr>
        <p:spPr bwMode="auto">
          <a:xfrm>
            <a:off x="1219200" y="2286000"/>
            <a:ext cx="762000" cy="533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sz="2400"/>
          </a:p>
        </p:txBody>
      </p:sp>
      <p:sp>
        <p:nvSpPr>
          <p:cNvPr id="387078" name="Rectangle 6"/>
          <p:cNvSpPr>
            <a:spLocks noChangeArrowheads="1"/>
          </p:cNvSpPr>
          <p:nvPr/>
        </p:nvSpPr>
        <p:spPr bwMode="auto">
          <a:xfrm>
            <a:off x="4648200" y="2286000"/>
            <a:ext cx="2667000" cy="2133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sz="2400"/>
          </a:p>
        </p:txBody>
      </p:sp>
      <p:sp>
        <p:nvSpPr>
          <p:cNvPr id="8202" name="Rectangle 8"/>
          <p:cNvSpPr>
            <a:spLocks noGrp="1" noChangeArrowheads="1"/>
          </p:cNvSpPr>
          <p:nvPr>
            <p:ph type="body" idx="1"/>
          </p:nvPr>
        </p:nvSpPr>
        <p:spPr>
          <a:xfrm>
            <a:off x="304800" y="990600"/>
            <a:ext cx="7620000" cy="5410200"/>
          </a:xfrm>
        </p:spPr>
        <p:txBody>
          <a:bodyPr/>
          <a:lstStyle/>
          <a:p>
            <a:pPr eaLnBrk="1" hangingPunct="1"/>
            <a:r>
              <a:rPr lang="en-US" dirty="0"/>
              <a:t>Consider (p </a:t>
            </a:r>
            <a:r>
              <a:rPr lang="en-US" dirty="0">
                <a:sym typeface="Symbol" panose="05050102010706020507" pitchFamily="18" charset="2"/>
              </a:rPr>
              <a:t> (</a:t>
            </a:r>
            <a:r>
              <a:rPr lang="en-US" dirty="0" err="1">
                <a:sym typeface="Symbol" panose="05050102010706020507" pitchFamily="18" charset="2"/>
              </a:rPr>
              <a:t>p</a:t>
            </a:r>
            <a:r>
              <a:rPr lang="en-US" dirty="0" err="1">
                <a:ea typeface="Lucida Grande" pitchFamily="1" charset="0"/>
                <a:cs typeface="Lucida Grande" pitchFamily="1" charset="0"/>
                <a:sym typeface="Symbol" panose="05050102010706020507" pitchFamily="18" charset="2"/>
              </a:rPr>
              <a:t>→</a:t>
            </a:r>
            <a:r>
              <a:rPr lang="en-US" dirty="0" err="1">
                <a:sym typeface="Symbol" panose="05050102010706020507" pitchFamily="18" charset="2"/>
              </a:rPr>
              <a:t>q</a:t>
            </a:r>
            <a:r>
              <a:rPr lang="en-US" dirty="0">
                <a:sym typeface="Symbol" panose="05050102010706020507" pitchFamily="18" charset="2"/>
              </a:rPr>
              <a:t>)) </a:t>
            </a:r>
            <a:r>
              <a:rPr lang="en-US" dirty="0">
                <a:ea typeface="Lucida Grande" pitchFamily="1" charset="0"/>
                <a:cs typeface="Lucida Grande" pitchFamily="1" charset="0"/>
                <a:sym typeface="Symbol" panose="05050102010706020507" pitchFamily="18" charset="2"/>
              </a:rPr>
              <a:t>→</a:t>
            </a:r>
            <a:r>
              <a:rPr lang="en-US" dirty="0">
                <a:sym typeface="Symbol" panose="05050102010706020507" pitchFamily="18" charset="2"/>
              </a:rPr>
              <a:t> q</a:t>
            </a:r>
          </a:p>
          <a:p>
            <a:pPr eaLnBrk="1" hangingPunct="1"/>
            <a:endParaRPr lang="en-US" dirty="0">
              <a:sym typeface="Symbol" panose="05050102010706020507" pitchFamily="18" charset="2"/>
            </a:endParaRPr>
          </a:p>
          <a:p>
            <a:pPr eaLnBrk="1" hangingPunct="1"/>
            <a:endParaRPr lang="en-US" dirty="0">
              <a:sym typeface="Symbol" panose="05050102010706020507" pitchFamily="18" charset="2"/>
            </a:endParaRPr>
          </a:p>
          <a:p>
            <a:pPr eaLnBrk="1" hangingPunct="1"/>
            <a:endParaRPr lang="en-US" dirty="0">
              <a:sym typeface="Symbol" panose="05050102010706020507" pitchFamily="18" charset="2"/>
            </a:endParaRPr>
          </a:p>
          <a:p>
            <a:pPr eaLnBrk="1" hangingPunct="1"/>
            <a:endParaRPr lang="en-US" dirty="0">
              <a:sym typeface="Symbol" panose="05050102010706020507" pitchFamily="18" charset="2"/>
            </a:endParaRPr>
          </a:p>
          <a:p>
            <a:pPr eaLnBrk="1" hangingPunct="1"/>
            <a:endParaRPr lang="en-US" dirty="0">
              <a:sym typeface="Symbol" panose="05050102010706020507" pitchFamily="18" charset="2"/>
            </a:endParaRPr>
          </a:p>
          <a:p>
            <a:pPr eaLnBrk="1" hangingPunct="1">
              <a:buFontTx/>
              <a:buNone/>
            </a:pPr>
            <a:r>
              <a:rPr lang="en-US" dirty="0">
                <a:sym typeface="Symbol" panose="05050102010706020507" pitchFamily="18" charset="2"/>
              </a:rPr>
              <a:t>		p</a:t>
            </a:r>
          </a:p>
          <a:p>
            <a:pPr eaLnBrk="1" hangingPunct="1">
              <a:buFontTx/>
              <a:buNone/>
            </a:pPr>
            <a:r>
              <a:rPr lang="en-US" dirty="0">
                <a:sym typeface="Symbol" panose="05050102010706020507" pitchFamily="18" charset="2"/>
              </a:rPr>
              <a:t>		</a:t>
            </a:r>
            <a:r>
              <a:rPr lang="en-US" u="sng" dirty="0">
                <a:sym typeface="Symbol" panose="05050102010706020507" pitchFamily="18" charset="2"/>
              </a:rPr>
              <a:t>p </a:t>
            </a:r>
            <a:r>
              <a:rPr lang="en-US" u="sng" dirty="0">
                <a:latin typeface="Symbol" panose="05050102010706020507" pitchFamily="18" charset="2"/>
                <a:sym typeface="Symbol" panose="05050102010706020507" pitchFamily="18" charset="2"/>
              </a:rPr>
              <a:t></a:t>
            </a:r>
            <a:r>
              <a:rPr lang="en-US" u="sng" dirty="0">
                <a:sym typeface="Symbol" panose="05050102010706020507" pitchFamily="18" charset="2"/>
              </a:rPr>
              <a:t> q</a:t>
            </a:r>
            <a:endParaRPr lang="en-US" dirty="0">
              <a:sym typeface="Symbol" panose="05050102010706020507" pitchFamily="18" charset="2"/>
            </a:endParaRPr>
          </a:p>
          <a:p>
            <a:pPr eaLnBrk="1" hangingPunct="1">
              <a:buFontTx/>
              <a:buNone/>
            </a:pPr>
            <a:r>
              <a:rPr lang="en-US" dirty="0">
                <a:sym typeface="Symbol" panose="05050102010706020507" pitchFamily="18" charset="2"/>
              </a:rPr>
              <a:t>	 </a:t>
            </a:r>
            <a:r>
              <a:rPr lang="en-US" dirty="0">
                <a:latin typeface="Symbol" panose="05050102010706020507" pitchFamily="18" charset="2"/>
                <a:sym typeface="Symbol" panose="05050102010706020507" pitchFamily="18" charset="2"/>
              </a:rPr>
              <a:t></a:t>
            </a:r>
            <a:r>
              <a:rPr lang="en-US" dirty="0">
                <a:sym typeface="Symbol" panose="05050102010706020507" pitchFamily="18" charset="2"/>
              </a:rPr>
              <a:t> q</a:t>
            </a:r>
          </a:p>
        </p:txBody>
      </p:sp>
      <p:graphicFrame>
        <p:nvGraphicFramePr>
          <p:cNvPr id="387081" name="Group 9"/>
          <p:cNvGraphicFramePr>
            <a:graphicFrameLocks noGrp="1"/>
          </p:cNvGraphicFramePr>
          <p:nvPr/>
        </p:nvGraphicFramePr>
        <p:xfrm>
          <a:off x="533400" y="1676400"/>
          <a:ext cx="6746875" cy="2749233"/>
        </p:xfrm>
        <a:graphic>
          <a:graphicData uri="http://schemas.openxmlformats.org/drawingml/2006/table">
            <a:tbl>
              <a:tblPr/>
              <a:tblGrid>
                <a:gridCol w="679450">
                  <a:extLst>
                    <a:ext uri="{9D8B030D-6E8A-4147-A177-3AD203B41FA5}">
                      <a16:colId xmlns:a16="http://schemas.microsoft.com/office/drawing/2014/main" val="20000"/>
                    </a:ext>
                  </a:extLst>
                </a:gridCol>
                <a:gridCol w="774700">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1747838">
                  <a:extLst>
                    <a:ext uri="{9D8B030D-6E8A-4147-A177-3AD203B41FA5}">
                      <a16:colId xmlns:a16="http://schemas.microsoft.com/office/drawing/2014/main" val="20003"/>
                    </a:ext>
                  </a:extLst>
                </a:gridCol>
                <a:gridCol w="2608262">
                  <a:extLst>
                    <a:ext uri="{9D8B030D-6E8A-4147-A177-3AD203B41FA5}">
                      <a16:colId xmlns:a16="http://schemas.microsoft.com/office/drawing/2014/main" val="20004"/>
                    </a:ext>
                  </a:extLst>
                </a:gridCol>
              </a:tblGrid>
              <a:tr h="60960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rPr>
                        <a: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p</a:t>
                      </a:r>
                      <a:r>
                        <a:rPr kumimoji="0" lang="en-US" sz="2800" b="0" i="0" u="none" strike="noStrike" cap="none" normalizeH="0" baseline="0">
                          <a:ln>
                            <a:noFill/>
                          </a:ln>
                          <a:solidFill>
                            <a:schemeClr val="tx1"/>
                          </a:solidFill>
                          <a:effectLst/>
                          <a:latin typeface="Times New Roman" panose="02020603050405020304" pitchFamily="18" charset="0"/>
                          <a:ea typeface="Lucida Grande" pitchFamily="1" charset="0"/>
                          <a:cs typeface="Lucida Grande" pitchFamily="1" charset="0"/>
                          <a:sym typeface="Symbol" panose="05050102010706020507" pitchFamily="18" charset="2"/>
                        </a:rPr>
                        <a:t>→</a:t>
                      </a:r>
                      <a:r>
                        <a:rPr kumimoji="0" 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p</a:t>
                      </a:r>
                      <a:r>
                        <a:rPr kumimoji="0" 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(p</a:t>
                      </a:r>
                      <a:r>
                        <a:rPr kumimoji="0" lang="en-US" sz="2800" b="0" i="0" u="none" strike="noStrike" cap="none" normalizeH="0" baseline="0">
                          <a:ln>
                            <a:noFill/>
                          </a:ln>
                          <a:solidFill>
                            <a:schemeClr val="tx1"/>
                          </a:solidFill>
                          <a:effectLst/>
                          <a:latin typeface="Times New Roman" panose="02020603050405020304" pitchFamily="18" charset="0"/>
                          <a:ea typeface="Lucida Grande" pitchFamily="1" charset="0"/>
                          <a:cs typeface="Lucida Grande" pitchFamily="1" charset="0"/>
                          <a:sym typeface="Symbol" panose="05050102010706020507" pitchFamily="18" charset="2"/>
                        </a:rPr>
                        <a:t>→</a:t>
                      </a:r>
                      <a:r>
                        <a:rPr kumimoji="0" 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(p</a:t>
                      </a:r>
                      <a:r>
                        <a:rPr kumimoji="0" 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(p</a:t>
                      </a:r>
                      <a:r>
                        <a:rPr kumimoji="0" lang="en-US" sz="2800" b="0" i="0" u="none" strike="noStrike" cap="none" normalizeH="0" baseline="0">
                          <a:ln>
                            <a:noFill/>
                          </a:ln>
                          <a:solidFill>
                            <a:schemeClr val="tx1"/>
                          </a:solidFill>
                          <a:effectLst/>
                          <a:latin typeface="Times New Roman" panose="02020603050405020304" pitchFamily="18" charset="0"/>
                          <a:ea typeface="Lucida Grande" pitchFamily="1" charset="0"/>
                          <a:cs typeface="Lucida Grande" pitchFamily="1" charset="0"/>
                          <a:sym typeface="Symbol" panose="05050102010706020507" pitchFamily="18" charset="2"/>
                        </a:rPr>
                        <a:t>→</a:t>
                      </a:r>
                      <a:r>
                        <a:rPr kumimoji="0" 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q)) </a:t>
                      </a:r>
                      <a:r>
                        <a:rPr kumimoji="0" lang="en-US" sz="2800" b="0" i="0" u="none" strike="noStrike" cap="none" normalizeH="0" baseline="0">
                          <a:ln>
                            <a:noFill/>
                          </a:ln>
                          <a:solidFill>
                            <a:schemeClr val="tx1"/>
                          </a:solidFill>
                          <a:effectLst/>
                          <a:latin typeface="Times New Roman" panose="02020603050405020304" pitchFamily="18" charset="0"/>
                          <a:ea typeface="Lucida Grande" pitchFamily="1" charset="0"/>
                          <a:cs typeface="Lucida Grande" pitchFamily="1" charset="0"/>
                          <a:sym typeface="Symbol" panose="05050102010706020507" pitchFamily="18" charset="2"/>
                        </a:rPr>
                        <a:t>→</a:t>
                      </a:r>
                      <a:r>
                        <a:rPr kumimoji="0" 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q</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086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5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dirty="0">
                <a:solidFill>
                  <a:srgbClr val="FF0000"/>
                </a:solidFill>
              </a:rPr>
              <a:t>Modus Ponens</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4" name="Slide Number Placeholder 6"/>
          <p:cNvSpPr txBox="1">
            <a:spLocks/>
          </p:cNvSpPr>
          <p:nvPr/>
        </p:nvSpPr>
        <p:spPr>
          <a:xfrm>
            <a:off x="298704" y="6362700"/>
            <a:ext cx="457200" cy="457200"/>
          </a:xfrm>
          <a:prstGeom prst="ellipse">
            <a:avLst/>
          </a:prstGeom>
          <a:solidFill>
            <a:schemeClr val="accent1"/>
          </a:solidFill>
        </p:spPr>
        <p:txBody>
          <a:bodyPr wrap="none" lIns="0" tIns="0" rIns="0" bIns="0" anchor="ctr" anchorCtr="1">
            <a:noAutofit/>
          </a:bodyPr>
          <a:lstStyle>
            <a:defPPr>
              <a:defRPr lang="en-US"/>
            </a:defPPr>
            <a:lvl1pPr marL="0" algn="ctr" defTabSz="914400" rtl="0" eaLnBrk="1" latinLnBrk="0" hangingPunct="1">
              <a:defRPr kumimoji="0" sz="1400" kern="1200">
                <a:solidFill>
                  <a:srgbClr val="FFFFFF"/>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8</a:t>
            </a:r>
          </a:p>
        </p:txBody>
      </p:sp>
    </p:spTree>
    <p:extLst>
      <p:ext uri="{BB962C8B-B14F-4D97-AF65-F5344CB8AC3E}">
        <p14:creationId xmlns:p14="http://schemas.microsoft.com/office/powerpoint/2010/main" val="42163664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70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707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8707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8707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87078"/>
                                        </p:tgtEl>
                                        <p:attrNameLst>
                                          <p:attrName>style.visibility</p:attrName>
                                        </p:attrNameLst>
                                      </p:cBhvr>
                                      <p:to>
                                        <p:strVal val="visible"/>
                                      </p:to>
                                    </p:set>
                                    <p:animEffect transition="in" filter="dissolve">
                                      <p:cBhvr>
                                        <p:cTn id="23" dur="500"/>
                                        <p:tgtEl>
                                          <p:spTgt spid="387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5" grpId="0" animBg="1"/>
      <p:bldP spid="387076" grpId="0" animBg="1"/>
      <p:bldP spid="387077" grpId="0" animBg="1"/>
      <p:bldP spid="38707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6211" name="Rectangle 3"/>
          <p:cNvSpPr>
            <a:spLocks noGrp="1" noChangeArrowheads="1"/>
          </p:cNvSpPr>
          <p:nvPr>
            <p:ph type="body" idx="1"/>
          </p:nvPr>
        </p:nvSpPr>
        <p:spPr>
          <a:xfrm>
            <a:off x="1066800" y="1524000"/>
            <a:ext cx="7620000" cy="838200"/>
          </a:xfrm>
        </p:spPr>
        <p:txBody>
          <a:bodyPr/>
          <a:lstStyle/>
          <a:p>
            <a:pPr eaLnBrk="1" hangingPunct="1">
              <a:lnSpc>
                <a:spcPct val="90000"/>
              </a:lnSpc>
              <a:buFontTx/>
              <a:buNone/>
            </a:pPr>
            <a:r>
              <a:rPr lang="en-US" sz="2400" dirty="0"/>
              <a:t>From </a:t>
            </a:r>
            <a:r>
              <a:rPr lang="en-US" dirty="0">
                <a:sym typeface="Symbol" panose="05050102010706020507" pitchFamily="18" charset="2"/>
              </a:rPr>
              <a:t>p </a:t>
            </a:r>
            <a:r>
              <a:rPr lang="en-US" dirty="0">
                <a:latin typeface="Symbol" panose="05050102010706020507" pitchFamily="18" charset="2"/>
                <a:sym typeface="Symbol" panose="05050102010706020507" pitchFamily="18" charset="2"/>
              </a:rPr>
              <a:t></a:t>
            </a:r>
            <a:r>
              <a:rPr lang="en-US" dirty="0">
                <a:sym typeface="Symbol" panose="05050102010706020507" pitchFamily="18" charset="2"/>
              </a:rPr>
              <a:t> q, and q </a:t>
            </a:r>
            <a:r>
              <a:rPr lang="en-US" dirty="0">
                <a:latin typeface="Symbol" panose="05050102010706020507" pitchFamily="18" charset="2"/>
                <a:sym typeface="Symbol" panose="05050102010706020507" pitchFamily="18" charset="2"/>
              </a:rPr>
              <a:t></a:t>
            </a:r>
            <a:r>
              <a:rPr lang="en-US" dirty="0">
                <a:sym typeface="Symbol" panose="05050102010706020507" pitchFamily="18" charset="2"/>
              </a:rPr>
              <a:t> r, we can infer p </a:t>
            </a:r>
            <a:r>
              <a:rPr lang="en-US" dirty="0">
                <a:latin typeface="Symbol" panose="05050102010706020507" pitchFamily="18" charset="2"/>
                <a:sym typeface="Symbol" panose="05050102010706020507" pitchFamily="18" charset="2"/>
              </a:rPr>
              <a:t></a:t>
            </a:r>
            <a:r>
              <a:rPr lang="en-US" dirty="0">
                <a:sym typeface="Symbol" panose="05050102010706020507" pitchFamily="18" charset="2"/>
              </a:rPr>
              <a:t> r</a:t>
            </a:r>
          </a:p>
        </p:txBody>
      </p:sp>
      <p:sp>
        <p:nvSpPr>
          <p:cNvPr id="10246" name="Rectangle 4"/>
          <p:cNvSpPr>
            <a:spLocks noChangeArrowheads="1"/>
          </p:cNvSpPr>
          <p:nvPr/>
        </p:nvSpPr>
        <p:spPr bwMode="auto">
          <a:xfrm>
            <a:off x="2438400" y="2590800"/>
            <a:ext cx="2286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sym typeface="Symbol" panose="05050102010706020507" pitchFamily="18" charset="2"/>
              </a:rPr>
              <a:t>		p </a:t>
            </a:r>
            <a:r>
              <a:rPr lang="en-US">
                <a:latin typeface="Symbol" panose="05050102010706020507" pitchFamily="18" charset="2"/>
                <a:sym typeface="Symbol" panose="05050102010706020507" pitchFamily="18" charset="2"/>
              </a:rPr>
              <a:t></a:t>
            </a:r>
            <a:r>
              <a:rPr lang="en-US">
                <a:sym typeface="Symbol" panose="05050102010706020507" pitchFamily="18" charset="2"/>
              </a:rPr>
              <a:t> q</a:t>
            </a:r>
          </a:p>
          <a:p>
            <a:pPr eaLnBrk="1" hangingPunct="1">
              <a:buFontTx/>
              <a:buNone/>
            </a:pPr>
            <a:r>
              <a:rPr lang="en-US">
                <a:sym typeface="Symbol" panose="05050102010706020507" pitchFamily="18" charset="2"/>
              </a:rPr>
              <a:t>		</a:t>
            </a:r>
            <a:r>
              <a:rPr lang="en-US" u="sng">
                <a:sym typeface="Symbol" panose="05050102010706020507" pitchFamily="18" charset="2"/>
              </a:rPr>
              <a:t>q </a:t>
            </a:r>
            <a:r>
              <a:rPr lang="en-US" u="sng">
                <a:latin typeface="Symbol" panose="05050102010706020507" pitchFamily="18" charset="2"/>
                <a:sym typeface="Symbol" panose="05050102010706020507" pitchFamily="18" charset="2"/>
              </a:rPr>
              <a:t></a:t>
            </a:r>
            <a:r>
              <a:rPr lang="en-US" u="sng">
                <a:sym typeface="Symbol" panose="05050102010706020507" pitchFamily="18" charset="2"/>
              </a:rPr>
              <a:t> r</a:t>
            </a:r>
            <a:endParaRPr lang="en-US">
              <a:sym typeface="Symbol" panose="05050102010706020507" pitchFamily="18" charset="2"/>
            </a:endParaRPr>
          </a:p>
          <a:p>
            <a:pPr eaLnBrk="1" hangingPunct="1">
              <a:buFontTx/>
              <a:buNone/>
            </a:pPr>
            <a:r>
              <a:rPr lang="en-US">
                <a:sym typeface="Symbol" panose="05050102010706020507" pitchFamily="18" charset="2"/>
              </a:rPr>
              <a:t>	 </a:t>
            </a:r>
            <a:r>
              <a:rPr lang="en-US">
                <a:latin typeface="Symbol" panose="05050102010706020507" pitchFamily="18" charset="2"/>
                <a:sym typeface="Symbol" panose="05050102010706020507" pitchFamily="18" charset="2"/>
              </a:rPr>
              <a:t></a:t>
            </a:r>
            <a:r>
              <a:rPr lang="en-US">
                <a:sym typeface="Symbol" panose="05050102010706020507" pitchFamily="18" charset="2"/>
              </a:rPr>
              <a:t> p </a:t>
            </a:r>
            <a:r>
              <a:rPr lang="en-US">
                <a:latin typeface="Symbol" panose="05050102010706020507" pitchFamily="18" charset="2"/>
                <a:sym typeface="Symbol" panose="05050102010706020507" pitchFamily="18" charset="2"/>
              </a:rPr>
              <a:t></a:t>
            </a:r>
            <a:r>
              <a:rPr lang="en-US">
                <a:sym typeface="Symbol" panose="05050102010706020507" pitchFamily="18" charset="2"/>
              </a:rPr>
              <a:t> r</a:t>
            </a:r>
          </a:p>
        </p:txBody>
      </p:sp>
      <p:sp>
        <p:nvSpPr>
          <p:cNvPr id="8" name="TextBox 7"/>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dirty="0">
                <a:solidFill>
                  <a:srgbClr val="FF0000"/>
                </a:solidFill>
                <a:latin typeface="Tahoma" panose="020B0604030504040204" pitchFamily="34" charset="0"/>
                <a:ea typeface="Tahoma" panose="020B0604030504040204" pitchFamily="34" charset="0"/>
                <a:cs typeface="Tahoma" panose="020B0604030504040204" pitchFamily="34" charset="0"/>
              </a:rPr>
              <a:t>Chain Rule</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0" name="Slide Number Placeholder 6"/>
          <p:cNvSpPr>
            <a:spLocks noGrp="1"/>
          </p:cNvSpPr>
          <p:nvPr>
            <p:ph type="sldNum" sz="quarter" idx="12"/>
          </p:nvPr>
        </p:nvSpPr>
        <p:spPr>
          <a:xfrm>
            <a:off x="146304" y="6210300"/>
            <a:ext cx="457200" cy="457200"/>
          </a:xfrm>
        </p:spPr>
        <p:txBody>
          <a:bodyPr/>
          <a:lstStyle/>
          <a:p>
            <a:r>
              <a:rPr lang="en-US" dirty="0"/>
              <a:t>9</a:t>
            </a:r>
          </a:p>
        </p:txBody>
      </p:sp>
    </p:spTree>
    <p:extLst>
      <p:ext uri="{BB962C8B-B14F-4D97-AF65-F5344CB8AC3E}">
        <p14:creationId xmlns:p14="http://schemas.microsoft.com/office/powerpoint/2010/main" val="1675993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06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1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1171" name="Rectangle 3"/>
          <p:cNvSpPr>
            <a:spLocks noGrp="1" noChangeArrowheads="1"/>
          </p:cNvSpPr>
          <p:nvPr>
            <p:ph type="body" idx="1"/>
          </p:nvPr>
        </p:nvSpPr>
        <p:spPr/>
        <p:txBody>
          <a:bodyPr/>
          <a:lstStyle/>
          <a:p>
            <a:pPr eaLnBrk="1" hangingPunct="1"/>
            <a:r>
              <a:rPr lang="en-US" sz="2800"/>
              <a:t>Assume that we know: </a:t>
            </a:r>
            <a:r>
              <a:rPr lang="en-US" sz="2800">
                <a:cs typeface="Tahoma" panose="020B0604030504040204" pitchFamily="34" charset="0"/>
                <a:sym typeface="Symbol" panose="05050102010706020507" pitchFamily="18" charset="2"/>
              </a:rPr>
              <a:t>¬</a:t>
            </a:r>
            <a:r>
              <a:rPr lang="en-US" sz="2800"/>
              <a:t>q and p </a:t>
            </a:r>
            <a:r>
              <a:rPr lang="en-US" sz="2800">
                <a:ea typeface="Lucida Grande" pitchFamily="1" charset="0"/>
                <a:cs typeface="Lucida Grande" pitchFamily="1" charset="0"/>
                <a:sym typeface="Symbol" panose="05050102010706020507" pitchFamily="18" charset="2"/>
              </a:rPr>
              <a:t>→</a:t>
            </a:r>
            <a:r>
              <a:rPr lang="en-US" sz="2800"/>
              <a:t> q</a:t>
            </a:r>
          </a:p>
          <a:p>
            <a:pPr lvl="1" eaLnBrk="1" hangingPunct="1"/>
            <a:r>
              <a:rPr lang="en-US"/>
              <a:t>Recall that p </a:t>
            </a:r>
            <a:r>
              <a:rPr lang="en-US">
                <a:ea typeface="Lucida Grande" pitchFamily="1" charset="0"/>
                <a:cs typeface="Lucida Grande" pitchFamily="1" charset="0"/>
                <a:sym typeface="Symbol" panose="05050102010706020507" pitchFamily="18" charset="2"/>
              </a:rPr>
              <a:t>→</a:t>
            </a:r>
            <a:r>
              <a:rPr lang="en-US"/>
              <a:t> q = </a:t>
            </a:r>
            <a:r>
              <a:rPr lang="en-US">
                <a:cs typeface="Tahoma" panose="020B0604030504040204" pitchFamily="34" charset="0"/>
                <a:sym typeface="Symbol" panose="05050102010706020507" pitchFamily="18" charset="2"/>
              </a:rPr>
              <a:t>¬</a:t>
            </a:r>
            <a:r>
              <a:rPr lang="en-US"/>
              <a:t>q </a:t>
            </a:r>
            <a:r>
              <a:rPr lang="en-US">
                <a:ea typeface="Lucida Grande" pitchFamily="1" charset="0"/>
                <a:cs typeface="Lucida Grande" pitchFamily="1" charset="0"/>
                <a:sym typeface="Symbol" panose="05050102010706020507" pitchFamily="18" charset="2"/>
              </a:rPr>
              <a:t>→</a:t>
            </a:r>
            <a:r>
              <a:rPr lang="en-US"/>
              <a:t> </a:t>
            </a:r>
            <a:r>
              <a:rPr lang="en-US">
                <a:cs typeface="Tahoma" panose="020B0604030504040204" pitchFamily="34" charset="0"/>
                <a:sym typeface="Symbol" panose="05050102010706020507" pitchFamily="18" charset="2"/>
              </a:rPr>
              <a:t>¬</a:t>
            </a:r>
            <a:r>
              <a:rPr lang="en-US"/>
              <a:t>p</a:t>
            </a:r>
          </a:p>
          <a:p>
            <a:pPr eaLnBrk="1" hangingPunct="1"/>
            <a:r>
              <a:rPr lang="en-US" sz="2800"/>
              <a:t>Thus, we know </a:t>
            </a:r>
            <a:r>
              <a:rPr lang="en-US" sz="2800">
                <a:cs typeface="Tahoma" panose="020B0604030504040204" pitchFamily="34" charset="0"/>
                <a:sym typeface="Symbol" panose="05050102010706020507" pitchFamily="18" charset="2"/>
              </a:rPr>
              <a:t>¬</a:t>
            </a:r>
            <a:r>
              <a:rPr lang="en-US" sz="2800"/>
              <a:t>q and </a:t>
            </a:r>
            <a:r>
              <a:rPr lang="en-US" sz="2800">
                <a:cs typeface="Tahoma" panose="020B0604030504040204" pitchFamily="34" charset="0"/>
                <a:sym typeface="Symbol" panose="05050102010706020507" pitchFamily="18" charset="2"/>
              </a:rPr>
              <a:t>¬</a:t>
            </a:r>
            <a:r>
              <a:rPr lang="en-US" sz="2800"/>
              <a:t>q </a:t>
            </a:r>
            <a:r>
              <a:rPr lang="en-US" sz="2800">
                <a:ea typeface="Lucida Grande" pitchFamily="1" charset="0"/>
                <a:cs typeface="Lucida Grande" pitchFamily="1" charset="0"/>
                <a:sym typeface="Symbol" panose="05050102010706020507" pitchFamily="18" charset="2"/>
              </a:rPr>
              <a:t>→</a:t>
            </a:r>
            <a:r>
              <a:rPr lang="en-US" sz="2800"/>
              <a:t> </a:t>
            </a:r>
            <a:r>
              <a:rPr lang="en-US" sz="2800">
                <a:cs typeface="Tahoma" panose="020B0604030504040204" pitchFamily="34" charset="0"/>
                <a:sym typeface="Symbol" panose="05050102010706020507" pitchFamily="18" charset="2"/>
              </a:rPr>
              <a:t>¬</a:t>
            </a:r>
            <a:r>
              <a:rPr lang="en-US" sz="2800"/>
              <a:t>p</a:t>
            </a:r>
          </a:p>
          <a:p>
            <a:pPr eaLnBrk="1" hangingPunct="1"/>
            <a:r>
              <a:rPr lang="en-US" sz="2800"/>
              <a:t>We can conclude </a:t>
            </a:r>
            <a:r>
              <a:rPr lang="en-US" sz="2800">
                <a:cs typeface="Tahoma" panose="020B0604030504040204" pitchFamily="34" charset="0"/>
                <a:sym typeface="Symbol" panose="05050102010706020507" pitchFamily="18" charset="2"/>
              </a:rPr>
              <a:t>¬</a:t>
            </a:r>
            <a:r>
              <a:rPr lang="en-US" sz="2800"/>
              <a:t>p</a:t>
            </a:r>
          </a:p>
          <a:p>
            <a:pPr eaLnBrk="1" hangingPunct="1"/>
            <a:endParaRPr lang="en-US" sz="2800"/>
          </a:p>
          <a:p>
            <a:pPr eaLnBrk="1" hangingPunct="1">
              <a:buFontTx/>
              <a:buNone/>
            </a:pPr>
            <a:r>
              <a:rPr lang="en-US" sz="2800">
                <a:sym typeface="Symbol" panose="05050102010706020507" pitchFamily="18" charset="2"/>
              </a:rPr>
              <a:t>		</a:t>
            </a:r>
            <a:r>
              <a:rPr lang="en-US" sz="2800">
                <a:latin typeface="Symbol" panose="05050102010706020507" pitchFamily="18" charset="2"/>
                <a:sym typeface="Symbol" panose="05050102010706020507" pitchFamily="18" charset="2"/>
              </a:rPr>
              <a:t></a:t>
            </a:r>
            <a:r>
              <a:rPr lang="en-US" sz="2800">
                <a:sym typeface="Symbol" panose="05050102010706020507" pitchFamily="18" charset="2"/>
              </a:rPr>
              <a:t> q</a:t>
            </a:r>
          </a:p>
          <a:p>
            <a:pPr eaLnBrk="1" hangingPunct="1">
              <a:buFontTx/>
              <a:buNone/>
            </a:pPr>
            <a:r>
              <a:rPr lang="en-US" sz="2800">
                <a:sym typeface="Symbol" panose="05050102010706020507" pitchFamily="18" charset="2"/>
              </a:rPr>
              <a:t>		</a:t>
            </a:r>
            <a:r>
              <a:rPr lang="en-US" sz="2800" u="sng">
                <a:sym typeface="Symbol" panose="05050102010706020507" pitchFamily="18" charset="2"/>
              </a:rPr>
              <a:t>p </a:t>
            </a:r>
            <a:r>
              <a:rPr lang="en-US" sz="2800" u="sng">
                <a:latin typeface="Symbol" panose="05050102010706020507" pitchFamily="18" charset="2"/>
                <a:sym typeface="Symbol" panose="05050102010706020507" pitchFamily="18" charset="2"/>
              </a:rPr>
              <a:t></a:t>
            </a:r>
            <a:r>
              <a:rPr lang="en-US" sz="2800" u="sng">
                <a:sym typeface="Symbol" panose="05050102010706020507" pitchFamily="18" charset="2"/>
              </a:rPr>
              <a:t> q</a:t>
            </a:r>
            <a:endParaRPr lang="en-US" sz="2800">
              <a:sym typeface="Symbol" panose="05050102010706020507" pitchFamily="18" charset="2"/>
            </a:endParaRPr>
          </a:p>
          <a:p>
            <a:pPr eaLnBrk="1" hangingPunct="1">
              <a:buFontTx/>
              <a:buNone/>
            </a:pPr>
            <a:r>
              <a:rPr lang="en-US" sz="2800">
                <a:sym typeface="Symbol" panose="05050102010706020507" pitchFamily="18" charset="2"/>
              </a:rPr>
              <a:t>	 </a:t>
            </a:r>
            <a:r>
              <a:rPr lang="en-US" sz="2800">
                <a:latin typeface="Symbol" panose="05050102010706020507" pitchFamily="18" charset="2"/>
                <a:sym typeface="Symbol" panose="05050102010706020507" pitchFamily="18" charset="2"/>
              </a:rPr>
              <a:t></a:t>
            </a:r>
            <a:r>
              <a:rPr lang="en-US" sz="2800">
                <a:sym typeface="Symbol" panose="05050102010706020507" pitchFamily="18" charset="2"/>
              </a:rPr>
              <a:t> </a:t>
            </a:r>
            <a:r>
              <a:rPr lang="en-US" sz="2800">
                <a:latin typeface="Symbol" panose="05050102010706020507" pitchFamily="18" charset="2"/>
                <a:sym typeface="Symbol" panose="05050102010706020507" pitchFamily="18" charset="2"/>
              </a:rPr>
              <a:t></a:t>
            </a:r>
            <a:r>
              <a:rPr lang="en-US" sz="2800">
                <a:sym typeface="Symbol" panose="05050102010706020507" pitchFamily="18" charset="2"/>
              </a:rPr>
              <a:t> p</a:t>
            </a:r>
          </a:p>
          <a:p>
            <a:pPr eaLnBrk="1" hangingPunct="1"/>
            <a:endParaRPr lang="en-US" sz="2800"/>
          </a:p>
        </p:txBody>
      </p:sp>
      <p:sp>
        <p:nvSpPr>
          <p:cNvPr id="7" name="TextBox 6"/>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rPr>
              <a:t>Modus </a:t>
            </a:r>
            <a:r>
              <a:rPr lang="en-US" sz="3200" b="1" dirty="0" err="1">
                <a:solidFill>
                  <a:srgbClr val="FF0000"/>
                </a:solidFill>
                <a:latin typeface="Tahoma" panose="020B0604030504040204" pitchFamily="34" charset="0"/>
                <a:ea typeface="Tahoma" panose="020B0604030504040204" pitchFamily="34" charset="0"/>
                <a:cs typeface="Tahoma" panose="020B0604030504040204" pitchFamily="34" charset="0"/>
              </a:rPr>
              <a:t>Tollens</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Slide Number Placeholder 6"/>
          <p:cNvSpPr>
            <a:spLocks noGrp="1"/>
          </p:cNvSpPr>
          <p:nvPr>
            <p:ph type="sldNum" sz="quarter" idx="12"/>
          </p:nvPr>
        </p:nvSpPr>
        <p:spPr>
          <a:xfrm>
            <a:off x="189186" y="6172200"/>
            <a:ext cx="457200" cy="457200"/>
          </a:xfrm>
        </p:spPr>
        <p:txBody>
          <a:bodyPr/>
          <a:lstStyle/>
          <a:p>
            <a:r>
              <a:rPr lang="en-US" dirty="0"/>
              <a:t>10</a:t>
            </a:r>
          </a:p>
        </p:txBody>
      </p:sp>
    </p:spTree>
    <p:extLst>
      <p:ext uri="{BB962C8B-B14F-4D97-AF65-F5344CB8AC3E}">
        <p14:creationId xmlns:p14="http://schemas.microsoft.com/office/powerpoint/2010/main" val="32224396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1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3219" name="Rectangle 3"/>
          <p:cNvSpPr>
            <a:spLocks noGrp="1" noChangeArrowheads="1"/>
          </p:cNvSpPr>
          <p:nvPr>
            <p:ph type="body" idx="1"/>
          </p:nvPr>
        </p:nvSpPr>
        <p:spPr>
          <a:xfrm>
            <a:off x="609600" y="1447800"/>
            <a:ext cx="8047038" cy="4754563"/>
          </a:xfrm>
        </p:spPr>
        <p:txBody>
          <a:bodyPr/>
          <a:lstStyle/>
          <a:p>
            <a:r>
              <a:rPr lang="en-US" sz="2800" dirty="0">
                <a:latin typeface="Tahoma" panose="020B0604030504040204" pitchFamily="34" charset="0"/>
                <a:cs typeface="Tahoma" panose="020B0604030504040204" pitchFamily="34" charset="0"/>
              </a:rPr>
              <a:t>Addition: If you know that p is true, then p </a:t>
            </a:r>
            <a:r>
              <a:rPr lang="en-US" sz="2800" dirty="0">
                <a:latin typeface="Tahoma" panose="020B0604030504040204" pitchFamily="34" charset="0"/>
                <a:cs typeface="Tahoma" panose="020B0604030504040204" pitchFamily="34" charset="0"/>
                <a:sym typeface="Symbol" panose="05050102010706020507" pitchFamily="18" charset="2"/>
              </a:rPr>
              <a:t></a:t>
            </a:r>
            <a:r>
              <a:rPr lang="en-US" sz="2800" dirty="0">
                <a:latin typeface="Tahoma" panose="020B0604030504040204" pitchFamily="34" charset="0"/>
                <a:cs typeface="Tahoma" panose="020B0604030504040204" pitchFamily="34" charset="0"/>
              </a:rPr>
              <a:t> q will ALWAYS be true</a:t>
            </a:r>
          </a:p>
          <a:p>
            <a:pPr>
              <a:buNone/>
            </a:pPr>
            <a:r>
              <a:rPr lang="en-US" sz="2800" dirty="0">
                <a:latin typeface="Tahoma" panose="020B0604030504040204" pitchFamily="34" charset="0"/>
                <a:cs typeface="Tahoma" panose="020B0604030504040204" pitchFamily="34" charset="0"/>
              </a:rPr>
              <a:t>	    </a:t>
            </a:r>
            <a:r>
              <a:rPr lang="en-US" sz="2800" u="sng" dirty="0">
                <a:latin typeface="Tahoma" panose="020B0604030504040204" pitchFamily="34" charset="0"/>
                <a:cs typeface="Tahoma" panose="020B0604030504040204" pitchFamily="34" charset="0"/>
              </a:rPr>
              <a:t>p</a:t>
            </a:r>
          </a:p>
          <a:p>
            <a:pPr>
              <a:buNone/>
            </a:pPr>
            <a:r>
              <a:rPr lang="en-US" sz="2800" dirty="0">
                <a:latin typeface="Tahoma" panose="020B0604030504040204" pitchFamily="34" charset="0"/>
                <a:cs typeface="Tahoma" panose="020B0604030504040204" pitchFamily="34" charset="0"/>
                <a:sym typeface="Symbol" panose="05050102010706020507" pitchFamily="18" charset="2"/>
              </a:rPr>
              <a:t>	</a:t>
            </a:r>
            <a:r>
              <a:rPr lang="en-US" sz="2800" dirty="0">
                <a:latin typeface="Tahoma" panose="020B0604030504040204" pitchFamily="34" charset="0"/>
                <a:cs typeface="Tahoma" panose="020B0604030504040204" pitchFamily="34" charset="0"/>
              </a:rPr>
              <a:t> p </a:t>
            </a:r>
            <a:r>
              <a:rPr lang="en-US" sz="2800" dirty="0">
                <a:latin typeface="Tahoma" panose="020B0604030504040204" pitchFamily="34" charset="0"/>
                <a:cs typeface="Tahoma" panose="020B0604030504040204" pitchFamily="34" charset="0"/>
                <a:sym typeface="Symbol" panose="05050102010706020507" pitchFamily="18" charset="2"/>
              </a:rPr>
              <a:t></a:t>
            </a:r>
            <a:r>
              <a:rPr lang="en-US" sz="2800" dirty="0">
                <a:latin typeface="Tahoma" panose="020B0604030504040204" pitchFamily="34" charset="0"/>
                <a:cs typeface="Tahoma" panose="020B0604030504040204" pitchFamily="34" charset="0"/>
              </a:rPr>
              <a:t> q</a:t>
            </a:r>
          </a:p>
          <a:p>
            <a:r>
              <a:rPr lang="en-US" sz="2800" dirty="0">
                <a:latin typeface="Tahoma" panose="020B0604030504040204" pitchFamily="34" charset="0"/>
                <a:cs typeface="Tahoma" panose="020B0604030504040204" pitchFamily="34" charset="0"/>
              </a:rPr>
              <a:t>Simplification: If p </a:t>
            </a:r>
            <a:r>
              <a:rPr lang="en-US" sz="2800" dirty="0">
                <a:latin typeface="Tahoma" panose="020B0604030504040204" pitchFamily="34" charset="0"/>
                <a:cs typeface="Tahoma" panose="020B0604030504040204" pitchFamily="34" charset="0"/>
                <a:sym typeface="Symbol" panose="05050102010706020507" pitchFamily="18" charset="2"/>
              </a:rPr>
              <a:t></a:t>
            </a:r>
            <a:r>
              <a:rPr lang="en-US" sz="2800" dirty="0">
                <a:latin typeface="Tahoma" panose="020B0604030504040204" pitchFamily="34" charset="0"/>
                <a:cs typeface="Tahoma" panose="020B0604030504040204" pitchFamily="34" charset="0"/>
              </a:rPr>
              <a:t> q is true, then p will ALWAYS be true</a:t>
            </a:r>
          </a:p>
          <a:p>
            <a:pPr>
              <a:buNone/>
            </a:pPr>
            <a:r>
              <a:rPr lang="en-US" sz="2800" dirty="0">
                <a:latin typeface="Tahoma" panose="020B0604030504040204" pitchFamily="34" charset="0"/>
                <a:cs typeface="Tahoma" panose="020B0604030504040204" pitchFamily="34" charset="0"/>
              </a:rPr>
              <a:t>		</a:t>
            </a:r>
            <a:r>
              <a:rPr lang="en-US" sz="2800" u="sng" dirty="0">
                <a:latin typeface="Tahoma" panose="020B0604030504040204" pitchFamily="34" charset="0"/>
                <a:cs typeface="Tahoma" panose="020B0604030504040204" pitchFamily="34" charset="0"/>
              </a:rPr>
              <a:t>p </a:t>
            </a:r>
            <a:r>
              <a:rPr lang="en-US" sz="2800" u="sng" dirty="0">
                <a:latin typeface="Tahoma" panose="020B0604030504040204" pitchFamily="34" charset="0"/>
                <a:cs typeface="Tahoma" panose="020B0604030504040204" pitchFamily="34" charset="0"/>
                <a:sym typeface="Symbol" panose="05050102010706020507" pitchFamily="18" charset="2"/>
              </a:rPr>
              <a:t></a:t>
            </a:r>
            <a:r>
              <a:rPr lang="en-US" sz="2800" u="sng" dirty="0">
                <a:latin typeface="Tahoma" panose="020B0604030504040204" pitchFamily="34" charset="0"/>
                <a:cs typeface="Tahoma" panose="020B0604030504040204" pitchFamily="34" charset="0"/>
              </a:rPr>
              <a:t> q</a:t>
            </a:r>
            <a:endParaRPr lang="en-US" sz="2800" dirty="0">
              <a:latin typeface="Tahoma" panose="020B0604030504040204" pitchFamily="34" charset="0"/>
              <a:cs typeface="Tahoma" panose="020B0604030504040204" pitchFamily="34" charset="0"/>
            </a:endParaRPr>
          </a:p>
          <a:p>
            <a:pPr>
              <a:buNone/>
            </a:pPr>
            <a:r>
              <a:rPr lang="en-US" sz="2800" dirty="0">
                <a:latin typeface="Tahoma" panose="020B0604030504040204" pitchFamily="34" charset="0"/>
                <a:cs typeface="Tahoma" panose="020B0604030504040204" pitchFamily="34" charset="0"/>
                <a:sym typeface="Symbol" panose="05050102010706020507" pitchFamily="18" charset="2"/>
              </a:rPr>
              <a:t>	</a:t>
            </a:r>
            <a:r>
              <a:rPr lang="en-US" sz="2800" dirty="0">
                <a:latin typeface="Tahoma" panose="020B0604030504040204" pitchFamily="34" charset="0"/>
                <a:cs typeface="Tahoma" panose="020B0604030504040204" pitchFamily="34" charset="0"/>
              </a:rPr>
              <a:t> p</a:t>
            </a:r>
            <a:endParaRPr lang="en-US" sz="2800" dirty="0">
              <a:latin typeface="Tahoma" panose="020B0604030504040204" pitchFamily="34" charset="0"/>
              <a:cs typeface="Tahoma" panose="020B0604030504040204" pitchFamily="34" charset="0"/>
              <a:sym typeface="Symbol" panose="05050102010706020507" pitchFamily="18" charset="2"/>
            </a:endParaRPr>
          </a:p>
          <a:p>
            <a:pPr eaLnBrk="1" hangingPunct="1">
              <a:lnSpc>
                <a:spcPct val="90000"/>
              </a:lnSpc>
            </a:pPr>
            <a:endParaRPr lang="en-US" sz="2800" dirty="0">
              <a:latin typeface="Tahoma" panose="020B0604030504040204" pitchFamily="34" charset="0"/>
              <a:cs typeface="Tahoma" panose="020B0604030504040204" pitchFamily="34" charset="0"/>
            </a:endParaRPr>
          </a:p>
        </p:txBody>
      </p:sp>
      <p:sp>
        <p:nvSpPr>
          <p:cNvPr id="7" name="TextBox 6"/>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rPr>
              <a:t>Modus </a:t>
            </a:r>
            <a:r>
              <a:rPr lang="en-US" sz="3200" b="1" dirty="0" err="1">
                <a:solidFill>
                  <a:srgbClr val="FF0000"/>
                </a:solidFill>
                <a:latin typeface="Tahoma" panose="020B0604030504040204" pitchFamily="34" charset="0"/>
                <a:ea typeface="Tahoma" panose="020B0604030504040204" pitchFamily="34" charset="0"/>
                <a:cs typeface="Tahoma" panose="020B0604030504040204" pitchFamily="34" charset="0"/>
              </a:rPr>
              <a:t>Tollens</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Tree>
    <p:extLst>
      <p:ext uri="{BB962C8B-B14F-4D97-AF65-F5344CB8AC3E}">
        <p14:creationId xmlns:p14="http://schemas.microsoft.com/office/powerpoint/2010/main" val="7990628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3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3219" name="Rectangle 3"/>
          <p:cNvSpPr>
            <a:spLocks noGrp="1" noChangeArrowheads="1"/>
          </p:cNvSpPr>
          <p:nvPr>
            <p:ph type="body" idx="1"/>
          </p:nvPr>
        </p:nvSpPr>
        <p:spPr>
          <a:xfrm>
            <a:off x="609600" y="1447800"/>
            <a:ext cx="8047038" cy="4754563"/>
          </a:xfrm>
        </p:spPr>
        <p:txBody>
          <a:bodyPr/>
          <a:lstStyle/>
          <a:p>
            <a:r>
              <a:rPr lang="en-US" sz="2800" dirty="0">
                <a:latin typeface="Tahoma" panose="020B0604030504040204" pitchFamily="34" charset="0"/>
                <a:cs typeface="Tahoma" panose="020B0604030504040204" pitchFamily="34" charset="0"/>
              </a:rPr>
              <a:t>Addition: If you know that p is true, then p </a:t>
            </a:r>
            <a:r>
              <a:rPr lang="en-US" sz="2800" dirty="0">
                <a:latin typeface="Tahoma" panose="020B0604030504040204" pitchFamily="34" charset="0"/>
                <a:cs typeface="Tahoma" panose="020B0604030504040204" pitchFamily="34" charset="0"/>
                <a:sym typeface="Symbol" panose="05050102010706020507" pitchFamily="18" charset="2"/>
              </a:rPr>
              <a:t></a:t>
            </a:r>
            <a:r>
              <a:rPr lang="en-US" sz="2800" dirty="0">
                <a:latin typeface="Tahoma" panose="020B0604030504040204" pitchFamily="34" charset="0"/>
                <a:cs typeface="Tahoma" panose="020B0604030504040204" pitchFamily="34" charset="0"/>
              </a:rPr>
              <a:t> q will ALWAYS be true</a:t>
            </a:r>
          </a:p>
          <a:p>
            <a:pPr>
              <a:buNone/>
            </a:pPr>
            <a:r>
              <a:rPr lang="en-US" sz="2800" dirty="0">
                <a:latin typeface="Tahoma" panose="020B0604030504040204" pitchFamily="34" charset="0"/>
                <a:cs typeface="Tahoma" panose="020B0604030504040204" pitchFamily="34" charset="0"/>
              </a:rPr>
              <a:t>	    </a:t>
            </a:r>
            <a:r>
              <a:rPr lang="en-US" sz="2800" u="sng" dirty="0">
                <a:latin typeface="Tahoma" panose="020B0604030504040204" pitchFamily="34" charset="0"/>
                <a:cs typeface="Tahoma" panose="020B0604030504040204" pitchFamily="34" charset="0"/>
              </a:rPr>
              <a:t>p</a:t>
            </a:r>
          </a:p>
          <a:p>
            <a:pPr>
              <a:buNone/>
            </a:pPr>
            <a:r>
              <a:rPr lang="en-US" sz="2800" dirty="0">
                <a:latin typeface="Tahoma" panose="020B0604030504040204" pitchFamily="34" charset="0"/>
                <a:cs typeface="Tahoma" panose="020B0604030504040204" pitchFamily="34" charset="0"/>
                <a:sym typeface="Symbol" panose="05050102010706020507" pitchFamily="18" charset="2"/>
              </a:rPr>
              <a:t>	</a:t>
            </a:r>
            <a:r>
              <a:rPr lang="en-US" sz="2800" dirty="0">
                <a:latin typeface="Tahoma" panose="020B0604030504040204" pitchFamily="34" charset="0"/>
                <a:cs typeface="Tahoma" panose="020B0604030504040204" pitchFamily="34" charset="0"/>
              </a:rPr>
              <a:t> p </a:t>
            </a:r>
            <a:r>
              <a:rPr lang="en-US" sz="2800" dirty="0">
                <a:latin typeface="Tahoma" panose="020B0604030504040204" pitchFamily="34" charset="0"/>
                <a:cs typeface="Tahoma" panose="020B0604030504040204" pitchFamily="34" charset="0"/>
                <a:sym typeface="Symbol" panose="05050102010706020507" pitchFamily="18" charset="2"/>
              </a:rPr>
              <a:t></a:t>
            </a:r>
            <a:r>
              <a:rPr lang="en-US" sz="2800" dirty="0">
                <a:latin typeface="Tahoma" panose="020B0604030504040204" pitchFamily="34" charset="0"/>
                <a:cs typeface="Tahoma" panose="020B0604030504040204" pitchFamily="34" charset="0"/>
              </a:rPr>
              <a:t> q</a:t>
            </a:r>
          </a:p>
          <a:p>
            <a:r>
              <a:rPr lang="en-US" sz="2800" dirty="0">
                <a:latin typeface="Tahoma" panose="020B0604030504040204" pitchFamily="34" charset="0"/>
                <a:cs typeface="Tahoma" panose="020B0604030504040204" pitchFamily="34" charset="0"/>
              </a:rPr>
              <a:t>Simplification: If p </a:t>
            </a:r>
            <a:r>
              <a:rPr lang="en-US" sz="2800" dirty="0">
                <a:latin typeface="Tahoma" panose="020B0604030504040204" pitchFamily="34" charset="0"/>
                <a:cs typeface="Tahoma" panose="020B0604030504040204" pitchFamily="34" charset="0"/>
                <a:sym typeface="Symbol" panose="05050102010706020507" pitchFamily="18" charset="2"/>
              </a:rPr>
              <a:t></a:t>
            </a:r>
            <a:r>
              <a:rPr lang="en-US" sz="2800" dirty="0">
                <a:latin typeface="Tahoma" panose="020B0604030504040204" pitchFamily="34" charset="0"/>
                <a:cs typeface="Tahoma" panose="020B0604030504040204" pitchFamily="34" charset="0"/>
              </a:rPr>
              <a:t> q is true, then p will ALWAYS be true</a:t>
            </a:r>
          </a:p>
          <a:p>
            <a:pPr>
              <a:buNone/>
            </a:pPr>
            <a:r>
              <a:rPr lang="en-US" sz="2800" dirty="0">
                <a:latin typeface="Tahoma" panose="020B0604030504040204" pitchFamily="34" charset="0"/>
                <a:cs typeface="Tahoma" panose="020B0604030504040204" pitchFamily="34" charset="0"/>
              </a:rPr>
              <a:t>		</a:t>
            </a:r>
            <a:r>
              <a:rPr lang="en-US" sz="2800" u="sng" dirty="0">
                <a:latin typeface="Tahoma" panose="020B0604030504040204" pitchFamily="34" charset="0"/>
                <a:cs typeface="Tahoma" panose="020B0604030504040204" pitchFamily="34" charset="0"/>
              </a:rPr>
              <a:t>p </a:t>
            </a:r>
            <a:r>
              <a:rPr lang="en-US" sz="2800" u="sng" dirty="0">
                <a:latin typeface="Tahoma" panose="020B0604030504040204" pitchFamily="34" charset="0"/>
                <a:cs typeface="Tahoma" panose="020B0604030504040204" pitchFamily="34" charset="0"/>
                <a:sym typeface="Symbol" panose="05050102010706020507" pitchFamily="18" charset="2"/>
              </a:rPr>
              <a:t></a:t>
            </a:r>
            <a:r>
              <a:rPr lang="en-US" sz="2800" u="sng" dirty="0">
                <a:latin typeface="Tahoma" panose="020B0604030504040204" pitchFamily="34" charset="0"/>
                <a:cs typeface="Tahoma" panose="020B0604030504040204" pitchFamily="34" charset="0"/>
              </a:rPr>
              <a:t> q</a:t>
            </a:r>
            <a:endParaRPr lang="en-US" sz="2800" dirty="0">
              <a:latin typeface="Tahoma" panose="020B0604030504040204" pitchFamily="34" charset="0"/>
              <a:cs typeface="Tahoma" panose="020B0604030504040204" pitchFamily="34" charset="0"/>
            </a:endParaRPr>
          </a:p>
          <a:p>
            <a:pPr>
              <a:buNone/>
            </a:pPr>
            <a:r>
              <a:rPr lang="en-US" sz="2800" dirty="0">
                <a:latin typeface="Tahoma" panose="020B0604030504040204" pitchFamily="34" charset="0"/>
                <a:cs typeface="Tahoma" panose="020B0604030504040204" pitchFamily="34" charset="0"/>
                <a:sym typeface="Symbol" panose="05050102010706020507" pitchFamily="18" charset="2"/>
              </a:rPr>
              <a:t>	</a:t>
            </a:r>
            <a:r>
              <a:rPr lang="en-US" sz="2800" dirty="0">
                <a:latin typeface="Tahoma" panose="020B0604030504040204" pitchFamily="34" charset="0"/>
                <a:cs typeface="Tahoma" panose="020B0604030504040204" pitchFamily="34" charset="0"/>
              </a:rPr>
              <a:t> p</a:t>
            </a:r>
            <a:endParaRPr lang="en-US" sz="2800" dirty="0">
              <a:latin typeface="Tahoma" panose="020B0604030504040204" pitchFamily="34" charset="0"/>
              <a:cs typeface="Tahoma" panose="020B0604030504040204" pitchFamily="34" charset="0"/>
              <a:sym typeface="Symbol" panose="05050102010706020507" pitchFamily="18" charset="2"/>
            </a:endParaRPr>
          </a:p>
          <a:p>
            <a:pPr eaLnBrk="1" hangingPunct="1">
              <a:lnSpc>
                <a:spcPct val="90000"/>
              </a:lnSpc>
            </a:pPr>
            <a:endParaRPr lang="en-US" sz="2800" dirty="0">
              <a:latin typeface="Tahoma" panose="020B0604030504040204" pitchFamily="34" charset="0"/>
              <a:cs typeface="Tahoma" panose="020B0604030504040204" pitchFamily="34" charset="0"/>
            </a:endParaRPr>
          </a:p>
        </p:txBody>
      </p:sp>
      <p:sp>
        <p:nvSpPr>
          <p:cNvPr id="7" name="TextBox 6"/>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rPr>
              <a:t>Addition and Simplification</a:t>
            </a: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Tree>
    <p:extLst>
      <p:ext uri="{BB962C8B-B14F-4D97-AF65-F5344CB8AC3E}">
        <p14:creationId xmlns:p14="http://schemas.microsoft.com/office/powerpoint/2010/main" val="29536012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3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3219" name="Rectangle 3"/>
          <p:cNvSpPr>
            <a:spLocks noGrp="1" noChangeArrowheads="1"/>
          </p:cNvSpPr>
          <p:nvPr>
            <p:ph type="body" idx="1"/>
          </p:nvPr>
        </p:nvSpPr>
        <p:spPr>
          <a:xfrm>
            <a:off x="609600" y="1447800"/>
            <a:ext cx="8047038" cy="4754563"/>
          </a:xfrm>
        </p:spPr>
        <p:txBody>
          <a:bodyPr/>
          <a:lstStyle/>
          <a:p>
            <a:r>
              <a:rPr lang="en-US" dirty="0">
                <a:latin typeface="Tahoma" panose="020B0604030504040204" pitchFamily="34" charset="0"/>
                <a:cs typeface="Tahoma" panose="020B0604030504040204" pitchFamily="34" charset="0"/>
              </a:rPr>
              <a:t>Assume that we know that </a:t>
            </a:r>
            <a:r>
              <a:rPr lang="en-US" dirty="0">
                <a:latin typeface="Tahoma" panose="020B0604030504040204" pitchFamily="34" charset="0"/>
                <a:cs typeface="Tahoma" panose="020B0604030504040204" pitchFamily="34" charset="0"/>
                <a:sym typeface="Symbol" panose="05050102010706020507" pitchFamily="18" charset="2"/>
              </a:rPr>
              <a:t>x P(x) is true</a:t>
            </a:r>
          </a:p>
          <a:p>
            <a:pPr lvl="1"/>
            <a:r>
              <a:rPr lang="en-US" dirty="0">
                <a:latin typeface="Tahoma" panose="020B0604030504040204" pitchFamily="34" charset="0"/>
                <a:cs typeface="Tahoma" panose="020B0604030504040204" pitchFamily="34" charset="0"/>
                <a:sym typeface="Symbol" panose="05050102010706020507" pitchFamily="18" charset="2"/>
              </a:rPr>
              <a:t>Then we can conclude that P(c) is true</a:t>
            </a:r>
          </a:p>
          <a:p>
            <a:pPr lvl="2"/>
            <a:r>
              <a:rPr lang="en-US" dirty="0">
                <a:latin typeface="Tahoma" panose="020B0604030504040204" pitchFamily="34" charset="0"/>
                <a:cs typeface="Tahoma" panose="020B0604030504040204" pitchFamily="34" charset="0"/>
                <a:sym typeface="Symbol" panose="05050102010706020507" pitchFamily="18" charset="2"/>
              </a:rPr>
              <a:t>Here c stands for some specific constant</a:t>
            </a:r>
          </a:p>
          <a:p>
            <a:pPr lvl="1"/>
            <a:r>
              <a:rPr lang="en-US" dirty="0">
                <a:latin typeface="Tahoma" panose="020B0604030504040204" pitchFamily="34" charset="0"/>
                <a:cs typeface="Tahoma" panose="020B0604030504040204" pitchFamily="34" charset="0"/>
                <a:sym typeface="Symbol" panose="05050102010706020507" pitchFamily="18" charset="2"/>
              </a:rPr>
              <a:t>This is called “universal instantiation”</a:t>
            </a:r>
          </a:p>
          <a:p>
            <a:pPr lvl="1"/>
            <a:endParaRPr lang="en-US" dirty="0">
              <a:latin typeface="Tahoma" panose="020B0604030504040204" pitchFamily="34" charset="0"/>
              <a:cs typeface="Tahoma" panose="020B0604030504040204" pitchFamily="34" charset="0"/>
              <a:sym typeface="Symbol" panose="05050102010706020507" pitchFamily="18" charset="2"/>
            </a:endParaRPr>
          </a:p>
          <a:p>
            <a:r>
              <a:rPr lang="en-US" dirty="0">
                <a:latin typeface="Tahoma" panose="020B0604030504040204" pitchFamily="34" charset="0"/>
                <a:cs typeface="Tahoma" panose="020B0604030504040204" pitchFamily="34" charset="0"/>
                <a:sym typeface="Symbol" panose="05050102010706020507" pitchFamily="18" charset="2"/>
              </a:rPr>
              <a:t>Assume that we know that P(c) is true for any value of c</a:t>
            </a:r>
          </a:p>
          <a:p>
            <a:pPr lvl="1"/>
            <a:r>
              <a:rPr lang="en-US" dirty="0">
                <a:latin typeface="Tahoma" panose="020B0604030504040204" pitchFamily="34" charset="0"/>
                <a:cs typeface="Tahoma" panose="020B0604030504040204" pitchFamily="34" charset="0"/>
                <a:sym typeface="Symbol" panose="05050102010706020507" pitchFamily="18" charset="2"/>
              </a:rPr>
              <a:t>Then we can conclude that x P(x) is true</a:t>
            </a:r>
          </a:p>
          <a:p>
            <a:pPr lvl="1"/>
            <a:r>
              <a:rPr lang="en-US" dirty="0">
                <a:latin typeface="Tahoma" panose="020B0604030504040204" pitchFamily="34" charset="0"/>
                <a:cs typeface="Tahoma" panose="020B0604030504040204" pitchFamily="34" charset="0"/>
                <a:sym typeface="Symbol" panose="05050102010706020507" pitchFamily="18" charset="2"/>
              </a:rPr>
              <a:t>This is called “universal generalization”</a:t>
            </a:r>
          </a:p>
          <a:p>
            <a:pPr eaLnBrk="1" hangingPunct="1">
              <a:lnSpc>
                <a:spcPct val="90000"/>
              </a:lnSpc>
            </a:pPr>
            <a:endParaRPr lang="en-US" sz="2800" dirty="0">
              <a:latin typeface="Tahoma" panose="020B0604030504040204" pitchFamily="34" charset="0"/>
              <a:cs typeface="Tahoma" panose="020B0604030504040204" pitchFamily="34" charset="0"/>
            </a:endParaRPr>
          </a:p>
        </p:txBody>
      </p:sp>
      <p:sp>
        <p:nvSpPr>
          <p:cNvPr id="7" name="TextBox 6"/>
          <p:cNvSpPr txBox="1"/>
          <p:nvPr/>
        </p:nvSpPr>
        <p:spPr>
          <a:xfrm>
            <a:off x="228600" y="228600"/>
            <a:ext cx="8686800" cy="1015663"/>
          </a:xfrm>
          <a:prstGeom prst="rect">
            <a:avLst/>
          </a:prstGeom>
          <a:solidFill>
            <a:schemeClr val="tx2">
              <a:lumMod val="20000"/>
              <a:lumOff val="80000"/>
            </a:schemeClr>
          </a:solidFill>
        </p:spPr>
        <p:txBody>
          <a:bodyPr wrap="square" rtlCol="0">
            <a:spAutoFit/>
          </a:bodyPr>
          <a:lstStyle/>
          <a:p>
            <a:pPr algn="ctr"/>
            <a:r>
              <a:rPr lang="en-US" sz="3000" b="1" dirty="0">
                <a:solidFill>
                  <a:srgbClr val="FF0000"/>
                </a:solidFill>
                <a:latin typeface="Tahoma" panose="020B0604030504040204" pitchFamily="34" charset="0"/>
                <a:cs typeface="Tahoma" panose="020B0604030504040204" pitchFamily="34" charset="0"/>
              </a:rPr>
              <a:t>Rules of inference for the universal quantifier</a:t>
            </a:r>
            <a:endParaRPr lang="en-US"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Tree>
    <p:extLst>
      <p:ext uri="{BB962C8B-B14F-4D97-AF65-F5344CB8AC3E}">
        <p14:creationId xmlns:p14="http://schemas.microsoft.com/office/powerpoint/2010/main" val="2386454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3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3219" name="Rectangle 3"/>
          <p:cNvSpPr>
            <a:spLocks noGrp="1" noChangeArrowheads="1"/>
          </p:cNvSpPr>
          <p:nvPr>
            <p:ph type="body" idx="1"/>
          </p:nvPr>
        </p:nvSpPr>
        <p:spPr>
          <a:xfrm>
            <a:off x="609600" y="1447800"/>
            <a:ext cx="8047038" cy="4754563"/>
          </a:xfrm>
        </p:spPr>
        <p:txBody>
          <a:bodyPr/>
          <a:lstStyle/>
          <a:p>
            <a:r>
              <a:rPr lang="en-US" sz="2800" dirty="0">
                <a:latin typeface="Tahoma" panose="020B0604030504040204" pitchFamily="34" charset="0"/>
                <a:cs typeface="Tahoma" panose="020B0604030504040204" pitchFamily="34" charset="0"/>
              </a:rPr>
              <a:t>Assume that we know that </a:t>
            </a:r>
            <a:r>
              <a:rPr lang="en-US" sz="2800" dirty="0">
                <a:latin typeface="Tahoma" panose="020B0604030504040204" pitchFamily="34" charset="0"/>
                <a:cs typeface="Tahoma" panose="020B0604030504040204" pitchFamily="34" charset="0"/>
                <a:sym typeface="Symbol" panose="05050102010706020507" pitchFamily="18" charset="2"/>
              </a:rPr>
              <a:t>x P(x) is true</a:t>
            </a:r>
          </a:p>
          <a:p>
            <a:pPr lvl="1"/>
            <a:r>
              <a:rPr lang="en-US" sz="2600" dirty="0">
                <a:latin typeface="Tahoma" panose="020B0604030504040204" pitchFamily="34" charset="0"/>
                <a:cs typeface="Tahoma" panose="020B0604030504040204" pitchFamily="34" charset="0"/>
                <a:sym typeface="Symbol" panose="05050102010706020507" pitchFamily="18" charset="2"/>
              </a:rPr>
              <a:t>Then we can conclude that P(c) is true for some value of c</a:t>
            </a:r>
          </a:p>
          <a:p>
            <a:pPr lvl="1"/>
            <a:r>
              <a:rPr lang="en-US" sz="2600" dirty="0">
                <a:latin typeface="Tahoma" panose="020B0604030504040204" pitchFamily="34" charset="0"/>
                <a:cs typeface="Tahoma" panose="020B0604030504040204" pitchFamily="34" charset="0"/>
                <a:sym typeface="Symbol" panose="05050102010706020507" pitchFamily="18" charset="2"/>
              </a:rPr>
              <a:t>This is called “existential instantiation”</a:t>
            </a:r>
          </a:p>
          <a:p>
            <a:pPr lvl="1"/>
            <a:endParaRPr lang="en-US" dirty="0">
              <a:latin typeface="Tahoma" panose="020B0604030504040204" pitchFamily="34" charset="0"/>
              <a:cs typeface="Tahoma" panose="020B0604030504040204" pitchFamily="34" charset="0"/>
              <a:sym typeface="Symbol" panose="05050102010706020507" pitchFamily="18" charset="2"/>
            </a:endParaRPr>
          </a:p>
          <a:p>
            <a:r>
              <a:rPr lang="en-US" sz="2800" dirty="0">
                <a:latin typeface="Tahoma" panose="020B0604030504040204" pitchFamily="34" charset="0"/>
                <a:cs typeface="Tahoma" panose="020B0604030504040204" pitchFamily="34" charset="0"/>
                <a:sym typeface="Symbol" panose="05050102010706020507" pitchFamily="18" charset="2"/>
              </a:rPr>
              <a:t>Assume that we know that P(c) is true for some value of c</a:t>
            </a:r>
          </a:p>
          <a:p>
            <a:pPr lvl="1"/>
            <a:r>
              <a:rPr lang="en-US" sz="2600" dirty="0">
                <a:latin typeface="Tahoma" panose="020B0604030504040204" pitchFamily="34" charset="0"/>
                <a:cs typeface="Tahoma" panose="020B0604030504040204" pitchFamily="34" charset="0"/>
                <a:sym typeface="Symbol" panose="05050102010706020507" pitchFamily="18" charset="2"/>
              </a:rPr>
              <a:t>Then we can conclude that x P(x) is true</a:t>
            </a:r>
          </a:p>
          <a:p>
            <a:pPr lvl="1"/>
            <a:r>
              <a:rPr lang="en-US" sz="2600" dirty="0">
                <a:latin typeface="Tahoma" panose="020B0604030504040204" pitchFamily="34" charset="0"/>
                <a:cs typeface="Tahoma" panose="020B0604030504040204" pitchFamily="34" charset="0"/>
                <a:sym typeface="Symbol" panose="05050102010706020507" pitchFamily="18" charset="2"/>
              </a:rPr>
              <a:t>This is called “existential generalization”</a:t>
            </a:r>
          </a:p>
        </p:txBody>
      </p:sp>
      <p:sp>
        <p:nvSpPr>
          <p:cNvPr id="7" name="TextBox 6"/>
          <p:cNvSpPr txBox="1"/>
          <p:nvPr/>
        </p:nvSpPr>
        <p:spPr>
          <a:xfrm>
            <a:off x="228600" y="228600"/>
            <a:ext cx="8686800" cy="1077218"/>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cs typeface="Tahoma" panose="020B0604030504040204" pitchFamily="34" charset="0"/>
              </a:rPr>
              <a:t>Rules of inference for the existential  quantifier</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Tree>
    <p:extLst>
      <p:ext uri="{BB962C8B-B14F-4D97-AF65-F5344CB8AC3E}">
        <p14:creationId xmlns:p14="http://schemas.microsoft.com/office/powerpoint/2010/main" val="17345071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3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extBox 6"/>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rPr>
              <a:t>Anatomy of a propositional function</a:t>
            </a: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
        <p:nvSpPr>
          <p:cNvPr id="6" name="Rectangle 3"/>
          <p:cNvSpPr txBox="1">
            <a:spLocks noChangeArrowheads="1"/>
          </p:cNvSpPr>
          <p:nvPr/>
        </p:nvSpPr>
        <p:spPr>
          <a:xfrm>
            <a:off x="1066800" y="1752600"/>
            <a:ext cx="7620000" cy="41148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endParaRPr lang="en-US" dirty="0"/>
          </a:p>
          <a:p>
            <a:pPr>
              <a:buFontTx/>
              <a:buNone/>
            </a:pPr>
            <a:r>
              <a:rPr lang="en-US" dirty="0"/>
              <a:t>				</a:t>
            </a:r>
            <a:r>
              <a:rPr lang="en-US" sz="3000" dirty="0"/>
              <a:t>P(x) = x + 5 &gt; x</a:t>
            </a:r>
          </a:p>
        </p:txBody>
      </p:sp>
      <p:sp>
        <p:nvSpPr>
          <p:cNvPr id="9" name="Text Box 5"/>
          <p:cNvSpPr txBox="1">
            <a:spLocks noChangeArrowheads="1"/>
          </p:cNvSpPr>
          <p:nvPr/>
        </p:nvSpPr>
        <p:spPr bwMode="auto">
          <a:xfrm>
            <a:off x="2737940" y="3505200"/>
            <a:ext cx="984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1800" dirty="0">
                <a:latin typeface="Arial" panose="020B0604020202020204" pitchFamily="34" charset="0"/>
              </a:rPr>
              <a:t>variable</a:t>
            </a:r>
          </a:p>
        </p:txBody>
      </p:sp>
      <p:sp>
        <p:nvSpPr>
          <p:cNvPr id="10" name="Line 7"/>
          <p:cNvSpPr>
            <a:spLocks noChangeShapeType="1"/>
          </p:cNvSpPr>
          <p:nvPr/>
        </p:nvSpPr>
        <p:spPr bwMode="auto">
          <a:xfrm flipV="1">
            <a:off x="3347540" y="2819400"/>
            <a:ext cx="838200" cy="60960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AutoShape 4"/>
          <p:cNvSpPr>
            <a:spLocks/>
          </p:cNvSpPr>
          <p:nvPr/>
        </p:nvSpPr>
        <p:spPr bwMode="auto">
          <a:xfrm rot="16200000">
            <a:off x="5368162" y="2133601"/>
            <a:ext cx="533400" cy="1600200"/>
          </a:xfrm>
          <a:prstGeom prst="leftBrace">
            <a:avLst>
              <a:gd name="adj1" fmla="val 25000"/>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sz="2400"/>
          </a:p>
        </p:txBody>
      </p:sp>
      <p:sp>
        <p:nvSpPr>
          <p:cNvPr id="12" name="Text Box 6"/>
          <p:cNvSpPr txBox="1">
            <a:spLocks noChangeArrowheads="1"/>
          </p:cNvSpPr>
          <p:nvPr/>
        </p:nvSpPr>
        <p:spPr bwMode="auto">
          <a:xfrm>
            <a:off x="4834762" y="3352801"/>
            <a:ext cx="1123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1800">
                <a:latin typeface="Arial" panose="020B0604020202020204" pitchFamily="34" charset="0"/>
              </a:rPr>
              <a:t>predicate</a:t>
            </a:r>
          </a:p>
        </p:txBody>
      </p:sp>
    </p:spTree>
    <p:extLst>
      <p:ext uri="{BB962C8B-B14F-4D97-AF65-F5344CB8AC3E}">
        <p14:creationId xmlns:p14="http://schemas.microsoft.com/office/powerpoint/2010/main" val="2678021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extBox 6"/>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cs typeface="Tahoma" panose="020B0604030504040204" pitchFamily="34" charset="0"/>
              </a:rPr>
              <a:t>Universal instantiation (UI)</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
        <p:nvSpPr>
          <p:cNvPr id="6" name="Rectangle 3"/>
          <p:cNvSpPr txBox="1">
            <a:spLocks noChangeArrowheads="1"/>
          </p:cNvSpPr>
          <p:nvPr/>
        </p:nvSpPr>
        <p:spPr>
          <a:xfrm>
            <a:off x="685800" y="1371600"/>
            <a:ext cx="8001000" cy="4876800"/>
          </a:xfrm>
          <a:prstGeom prst="rect">
            <a:avLst/>
          </a:prstGeom>
        </p:spPr>
        <p:txBody>
          <a:bodyPr vert="horz">
            <a:normAutofit lnSpcReduction="1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90000"/>
              </a:lnSpc>
            </a:pPr>
            <a:r>
              <a:rPr lang="en-US" sz="2000" dirty="0">
                <a:latin typeface="Tahoma" panose="020B0604030504040204" pitchFamily="34" charset="0"/>
                <a:ea typeface="Tahoma" panose="020B0604030504040204" pitchFamily="34" charset="0"/>
                <a:cs typeface="Tahoma" panose="020B0604030504040204" pitchFamily="34" charset="0"/>
              </a:rPr>
              <a:t>A predicate that has no variables is called a ground atom.</a:t>
            </a:r>
          </a:p>
          <a:p>
            <a:pPr>
              <a:lnSpc>
                <a:spcPct val="90000"/>
              </a:lnSpc>
            </a:pPr>
            <a:r>
              <a:rPr lang="en-US" sz="2000" dirty="0">
                <a:latin typeface="Tahoma" panose="020B0604030504040204" pitchFamily="34" charset="0"/>
                <a:ea typeface="Tahoma" panose="020B0604030504040204" pitchFamily="34" charset="0"/>
                <a:cs typeface="Tahoma" panose="020B0604030504040204" pitchFamily="34" charset="0"/>
              </a:rPr>
              <a:t>Every instantiation of a universally quantified sentence is entailed by it:</a:t>
            </a:r>
          </a:p>
          <a:p>
            <a:pPr algn="ctr">
              <a:lnSpc>
                <a:spcPct val="90000"/>
              </a:lnSpc>
              <a:buFontTx/>
              <a:buNone/>
            </a:pP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i="1" dirty="0">
                <a:latin typeface="Tahoma" panose="020B0604030504040204" pitchFamily="34" charset="0"/>
                <a:ea typeface="Tahoma" panose="020B0604030504040204" pitchFamily="34" charset="0"/>
                <a:cs typeface="Tahoma" panose="020B0604030504040204" pitchFamily="34" charset="0"/>
              </a:rPr>
              <a:t>v</a:t>
            </a:r>
            <a:r>
              <a:rPr lang="en-US" sz="2000" dirty="0">
                <a:latin typeface="Tahoma" panose="020B0604030504040204" pitchFamily="34" charset="0"/>
                <a:ea typeface="Tahoma" panose="020B0604030504040204" pitchFamily="34" charset="0"/>
                <a:cs typeface="Tahoma" panose="020B0604030504040204" pitchFamily="34" charset="0"/>
              </a:rPr>
              <a:t> </a:t>
            </a:r>
            <a:r>
              <a:rPr lang="el-GR"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b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br>
            <a:endPar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endParaRPr>
          </a:p>
          <a:p>
            <a:pPr algn="ctr">
              <a:lnSpc>
                <a:spcPct val="90000"/>
              </a:lnSpc>
              <a:buFontTx/>
              <a:buNone/>
            </a:pPr>
            <a:r>
              <a:rPr lang="en-US" sz="2000" dirty="0" err="1">
                <a:latin typeface="Tahoma" panose="020B0604030504040204" pitchFamily="34" charset="0"/>
                <a:ea typeface="Tahoma" panose="020B0604030504040204" pitchFamily="34" charset="0"/>
                <a:cs typeface="Tahoma" panose="020B0604030504040204" pitchFamily="34" charset="0"/>
              </a:rPr>
              <a:t>Subst</a:t>
            </a:r>
            <a:r>
              <a:rPr lang="en-US" sz="2000" dirty="0">
                <a:latin typeface="Tahoma" panose="020B0604030504040204" pitchFamily="34" charset="0"/>
                <a:ea typeface="Tahoma" panose="020B0604030504040204" pitchFamily="34" charset="0"/>
                <a:cs typeface="Tahoma" panose="020B0604030504040204" pitchFamily="34" charset="0"/>
              </a:rPr>
              <a:t>({v/g}, </a:t>
            </a:r>
            <a:r>
              <a:rPr lang="el-GR"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a:t>
            </a:r>
          </a:p>
          <a:p>
            <a:pPr>
              <a:lnSpc>
                <a:spcPct val="90000"/>
              </a:lnSpc>
              <a:buFontTx/>
              <a:buNone/>
            </a:pPr>
            <a:r>
              <a:rPr lang="en-US" sz="2000" dirty="0">
                <a:latin typeface="Tahoma" panose="020B0604030504040204" pitchFamily="34" charset="0"/>
                <a:ea typeface="Tahoma" panose="020B0604030504040204" pitchFamily="34" charset="0"/>
                <a:cs typeface="Tahoma" panose="020B0604030504040204" pitchFamily="34" charset="0"/>
              </a:rPr>
              <a:t>	for any variable </a:t>
            </a:r>
            <a:r>
              <a:rPr lang="en-US" sz="2000" i="1" dirty="0">
                <a:latin typeface="Tahoma" panose="020B0604030504040204" pitchFamily="34" charset="0"/>
                <a:ea typeface="Tahoma" panose="020B0604030504040204" pitchFamily="34" charset="0"/>
                <a:cs typeface="Tahoma" panose="020B0604030504040204" pitchFamily="34" charset="0"/>
              </a:rPr>
              <a:t>v</a:t>
            </a:r>
            <a:r>
              <a:rPr lang="en-US" sz="2000" dirty="0">
                <a:latin typeface="Tahoma" panose="020B0604030504040204" pitchFamily="34" charset="0"/>
                <a:ea typeface="Tahoma" panose="020B0604030504040204" pitchFamily="34" charset="0"/>
                <a:cs typeface="Tahoma" panose="020B0604030504040204" pitchFamily="34" charset="0"/>
              </a:rPr>
              <a:t> and ground term </a:t>
            </a:r>
            <a:r>
              <a:rPr lang="en-US" sz="2000" i="1" dirty="0">
                <a:latin typeface="Tahoma" panose="020B0604030504040204" pitchFamily="34" charset="0"/>
                <a:ea typeface="Tahoma" panose="020B0604030504040204" pitchFamily="34" charset="0"/>
                <a:cs typeface="Tahoma" panose="020B0604030504040204" pitchFamily="34" charset="0"/>
              </a:rPr>
              <a:t>g (</a:t>
            </a:r>
            <a:r>
              <a:rPr lang="en-US" sz="2000" i="1" dirty="0" err="1">
                <a:solidFill>
                  <a:srgbClr val="FF0000"/>
                </a:solidFill>
                <a:latin typeface="Tahoma" panose="020B0604030504040204" pitchFamily="34" charset="0"/>
                <a:ea typeface="Tahoma" panose="020B0604030504040204" pitchFamily="34" charset="0"/>
                <a:cs typeface="Tahoma" panose="020B0604030504040204" pitchFamily="34" charset="0"/>
              </a:rPr>
              <a:t>Subst</a:t>
            </a:r>
            <a:r>
              <a:rPr lang="en-US" sz="2000" i="1" dirty="0">
                <a:solidFill>
                  <a:srgbClr val="FF0000"/>
                </a:solidFill>
                <a:latin typeface="Tahoma" panose="020B0604030504040204" pitchFamily="34" charset="0"/>
                <a:ea typeface="Tahoma" panose="020B0604030504040204" pitchFamily="34" charset="0"/>
                <a:cs typeface="Tahoma" panose="020B0604030504040204" pitchFamily="34" charset="0"/>
              </a:rPr>
              <a:t>(</a:t>
            </a:r>
            <a:r>
              <a:rPr lang="en-US" sz="2000" i="1" dirty="0" err="1">
                <a:solidFill>
                  <a:srgbClr val="FF0000"/>
                </a:solidFill>
                <a:latin typeface="Tahoma" panose="020B0604030504040204" pitchFamily="34" charset="0"/>
                <a:ea typeface="Tahoma" panose="020B0604030504040204" pitchFamily="34" charset="0"/>
                <a:cs typeface="Tahoma" panose="020B0604030504040204" pitchFamily="34" charset="0"/>
              </a:rPr>
              <a:t>x,y</a:t>
            </a:r>
            <a:r>
              <a:rPr lang="en-US" sz="2000" i="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2000" i="1" dirty="0">
                <a:latin typeface="Tahoma" panose="020B0604030504040204" pitchFamily="34" charset="0"/>
                <a:ea typeface="Tahoma" panose="020B0604030504040204" pitchFamily="34" charset="0"/>
                <a:cs typeface="Tahoma" panose="020B0604030504040204" pitchFamily="34" charset="0"/>
              </a:rPr>
              <a:t> </a:t>
            </a:r>
            <a:r>
              <a:rPr lang="en-US" sz="2000" i="1" dirty="0">
                <a:solidFill>
                  <a:srgbClr val="FF0000"/>
                </a:solidFill>
                <a:latin typeface="Tahoma" panose="020B0604030504040204" pitchFamily="34" charset="0"/>
                <a:ea typeface="Tahoma" panose="020B0604030504040204" pitchFamily="34" charset="0"/>
                <a:cs typeface="Tahoma" panose="020B0604030504040204" pitchFamily="34" charset="0"/>
              </a:rPr>
              <a:t>substitution of y by x</a:t>
            </a:r>
            <a:r>
              <a:rPr lang="en-US" sz="2000" i="1" dirty="0">
                <a:latin typeface="Tahoma" panose="020B0604030504040204" pitchFamily="34" charset="0"/>
                <a:ea typeface="Tahoma" panose="020B0604030504040204" pitchFamily="34" charset="0"/>
                <a:cs typeface="Tahoma" panose="020B0604030504040204" pitchFamily="34" charset="0"/>
              </a:rPr>
              <a:t>)</a:t>
            </a:r>
            <a:endParaRPr lang="en-US" sz="2000" dirty="0">
              <a:latin typeface="Tahoma" panose="020B0604030504040204" pitchFamily="34" charset="0"/>
              <a:ea typeface="Tahoma" panose="020B0604030504040204" pitchFamily="34" charset="0"/>
              <a:cs typeface="Tahoma" panose="020B0604030504040204" pitchFamily="34" charset="0"/>
            </a:endParaRPr>
          </a:p>
          <a:p>
            <a:pPr>
              <a:lnSpc>
                <a:spcPct val="90000"/>
              </a:lnSpc>
              <a:buFontTx/>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a:lnSpc>
                <a:spcPct val="90000"/>
              </a:lnSpc>
            </a:pPr>
            <a:r>
              <a:rPr lang="en-US" sz="2000" dirty="0">
                <a:latin typeface="Tahoma" panose="020B0604030504040204" pitchFamily="34" charset="0"/>
                <a:ea typeface="Tahoma" panose="020B0604030504040204" pitchFamily="34" charset="0"/>
                <a:cs typeface="Tahoma" panose="020B0604030504040204" pitchFamily="34" charset="0"/>
              </a:rPr>
              <a:t>E.g.,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x </a:t>
            </a:r>
            <a:r>
              <a:rPr lang="en-US" sz="2000" i="1" dirty="0">
                <a:latin typeface="Tahoma" panose="020B0604030504040204" pitchFamily="34" charset="0"/>
                <a:ea typeface="Tahoma" panose="020B0604030504040204" pitchFamily="34" charset="0"/>
                <a:cs typeface="Tahoma" panose="020B0604030504040204" pitchFamily="34" charset="0"/>
              </a:rPr>
              <a:t>King</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x</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i="1" dirty="0">
                <a:latin typeface="Tahoma" panose="020B0604030504040204" pitchFamily="34" charset="0"/>
                <a:ea typeface="Tahoma" panose="020B0604030504040204" pitchFamily="34" charset="0"/>
                <a:cs typeface="Tahoma" panose="020B0604030504040204" pitchFamily="34" charset="0"/>
              </a:rPr>
              <a:t>Greedy</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x</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 </a:t>
            </a:r>
            <a:r>
              <a:rPr lang="en-US" sz="2000" i="1" dirty="0">
                <a:latin typeface="Tahoma" panose="020B0604030504040204" pitchFamily="34" charset="0"/>
                <a:ea typeface="Tahoma" panose="020B0604030504040204" pitchFamily="34" charset="0"/>
                <a:cs typeface="Tahoma" panose="020B0604030504040204" pitchFamily="34" charset="0"/>
              </a:rPr>
              <a:t>Evil</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x</a:t>
            </a:r>
            <a:r>
              <a:rPr lang="en-US" sz="2000" dirty="0">
                <a:latin typeface="Tahoma" panose="020B0604030504040204" pitchFamily="34" charset="0"/>
                <a:ea typeface="Tahoma" panose="020B0604030504040204" pitchFamily="34" charset="0"/>
                <a:cs typeface="Tahoma" panose="020B0604030504040204" pitchFamily="34" charset="0"/>
              </a:rPr>
              <a:t>) yields:</a:t>
            </a:r>
          </a:p>
          <a:p>
            <a:pPr lvl="1">
              <a:lnSpc>
                <a:spcPct val="90000"/>
              </a:lnSpc>
              <a:buFontTx/>
              <a:buNone/>
            </a:pPr>
            <a:r>
              <a:rPr lang="en-US" sz="2000" i="1" dirty="0">
                <a:latin typeface="Tahoma" panose="020B0604030504040204" pitchFamily="34" charset="0"/>
                <a:ea typeface="Tahoma" panose="020B0604030504040204" pitchFamily="34" charset="0"/>
                <a:cs typeface="Tahoma" panose="020B0604030504040204" pitchFamily="34" charset="0"/>
              </a:rPr>
              <a:t>King</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John</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i="1" dirty="0">
                <a:latin typeface="Tahoma" panose="020B0604030504040204" pitchFamily="34" charset="0"/>
                <a:ea typeface="Tahoma" panose="020B0604030504040204" pitchFamily="34" charset="0"/>
                <a:cs typeface="Tahoma" panose="020B0604030504040204" pitchFamily="34" charset="0"/>
              </a:rPr>
              <a:t>Greedy</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John</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i="1" dirty="0">
                <a:latin typeface="Tahoma" panose="020B0604030504040204" pitchFamily="34" charset="0"/>
                <a:ea typeface="Tahoma" panose="020B0604030504040204" pitchFamily="34" charset="0"/>
                <a:cs typeface="Tahoma" panose="020B0604030504040204" pitchFamily="34" charset="0"/>
              </a:rPr>
              <a:t>Evil</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John</a:t>
            </a:r>
            <a:r>
              <a:rPr lang="en-US" sz="2000" dirty="0">
                <a:latin typeface="Tahoma" panose="020B0604030504040204" pitchFamily="34" charset="0"/>
                <a:ea typeface="Tahoma" panose="020B0604030504040204" pitchFamily="34" charset="0"/>
                <a:cs typeface="Tahoma" panose="020B0604030504040204" pitchFamily="34" charset="0"/>
              </a:rPr>
              <a:t>)</a:t>
            </a:r>
          </a:p>
          <a:p>
            <a:pPr lvl="1">
              <a:lnSpc>
                <a:spcPct val="90000"/>
              </a:lnSpc>
              <a:buFontTx/>
              <a:buNone/>
            </a:pPr>
            <a:r>
              <a:rPr lang="en-US" sz="2000" i="1" dirty="0">
                <a:latin typeface="Tahoma" panose="020B0604030504040204" pitchFamily="34" charset="0"/>
                <a:ea typeface="Tahoma" panose="020B0604030504040204" pitchFamily="34" charset="0"/>
                <a:cs typeface="Tahoma" panose="020B0604030504040204" pitchFamily="34" charset="0"/>
              </a:rPr>
              <a:t>King</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Richard</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i="1" dirty="0">
                <a:latin typeface="Tahoma" panose="020B0604030504040204" pitchFamily="34" charset="0"/>
                <a:ea typeface="Tahoma" panose="020B0604030504040204" pitchFamily="34" charset="0"/>
                <a:cs typeface="Tahoma" panose="020B0604030504040204" pitchFamily="34" charset="0"/>
              </a:rPr>
              <a:t>Greedy</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Richard</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i="1" dirty="0">
                <a:latin typeface="Tahoma" panose="020B0604030504040204" pitchFamily="34" charset="0"/>
                <a:ea typeface="Tahoma" panose="020B0604030504040204" pitchFamily="34" charset="0"/>
                <a:cs typeface="Tahoma" panose="020B0604030504040204" pitchFamily="34" charset="0"/>
              </a:rPr>
              <a:t>Evil</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Richard</a:t>
            </a:r>
            <a:r>
              <a:rPr lang="en-US" sz="2000" dirty="0">
                <a:latin typeface="Tahoma" panose="020B0604030504040204" pitchFamily="34" charset="0"/>
                <a:ea typeface="Tahoma" panose="020B0604030504040204" pitchFamily="34" charset="0"/>
                <a:cs typeface="Tahoma" panose="020B0604030504040204" pitchFamily="34" charset="0"/>
              </a:rPr>
              <a:t>)</a:t>
            </a:r>
          </a:p>
          <a:p>
            <a:pPr lvl="1">
              <a:lnSpc>
                <a:spcPct val="90000"/>
              </a:lnSpc>
              <a:buFontTx/>
              <a:buNone/>
            </a:pPr>
            <a:r>
              <a:rPr lang="en-US" sz="2000" i="1" dirty="0">
                <a:latin typeface="Tahoma" panose="020B0604030504040204" pitchFamily="34" charset="0"/>
                <a:ea typeface="Tahoma" panose="020B0604030504040204" pitchFamily="34" charset="0"/>
                <a:cs typeface="Tahoma" panose="020B0604030504040204" pitchFamily="34" charset="0"/>
              </a:rPr>
              <a:t>King</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Father</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John</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i="1" dirty="0">
                <a:latin typeface="Tahoma" panose="020B0604030504040204" pitchFamily="34" charset="0"/>
                <a:ea typeface="Tahoma" panose="020B0604030504040204" pitchFamily="34" charset="0"/>
                <a:cs typeface="Tahoma" panose="020B0604030504040204" pitchFamily="34" charset="0"/>
              </a:rPr>
              <a:t>Greedy</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Father</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John</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i="1" dirty="0">
                <a:latin typeface="Tahoma" panose="020B0604030504040204" pitchFamily="34" charset="0"/>
                <a:ea typeface="Tahoma" panose="020B0604030504040204" pitchFamily="34" charset="0"/>
                <a:cs typeface="Tahoma" panose="020B0604030504040204" pitchFamily="34" charset="0"/>
              </a:rPr>
              <a:t>Evil</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Father</a:t>
            </a:r>
            <a:r>
              <a:rPr lang="en-US" sz="2000" dirty="0">
                <a:latin typeface="Tahoma" panose="020B0604030504040204" pitchFamily="34" charset="0"/>
                <a:ea typeface="Tahoma" panose="020B0604030504040204" pitchFamily="34" charset="0"/>
                <a:cs typeface="Tahoma" panose="020B0604030504040204" pitchFamily="34" charset="0"/>
              </a:rPr>
              <a:t>(</a:t>
            </a:r>
            <a:r>
              <a:rPr lang="en-US" sz="2000" i="1" dirty="0">
                <a:latin typeface="Tahoma" panose="020B0604030504040204" pitchFamily="34" charset="0"/>
                <a:ea typeface="Tahoma" panose="020B0604030504040204" pitchFamily="34" charset="0"/>
                <a:cs typeface="Tahoma" panose="020B0604030504040204" pitchFamily="34" charset="0"/>
              </a:rPr>
              <a:t>John</a:t>
            </a:r>
            <a:r>
              <a:rPr lang="en-US" sz="2000" dirty="0">
                <a:latin typeface="Tahoma" panose="020B0604030504040204" pitchFamily="34" charset="0"/>
                <a:ea typeface="Tahoma" panose="020B0604030504040204" pitchFamily="34" charset="0"/>
                <a:cs typeface="Tahoma" panose="020B0604030504040204" pitchFamily="34" charset="0"/>
              </a:rPr>
              <a:t>))</a:t>
            </a:r>
          </a:p>
          <a:p>
            <a:pPr lvl="1">
              <a:lnSpc>
                <a:spcPct val="90000"/>
              </a:lnSpc>
              <a:buFontTx/>
              <a:buNone/>
            </a:pPr>
            <a:r>
              <a:rPr lang="en-US" sz="2000" dirty="0">
                <a:latin typeface="Tahoma" panose="020B0604030504040204" pitchFamily="34" charset="0"/>
                <a:ea typeface="Tahoma" panose="020B0604030504040204" pitchFamily="34" charset="0"/>
                <a:cs typeface="Tahoma" panose="020B0604030504040204" pitchFamily="34" charset="0"/>
              </a:rPr>
              <a:t>.</a:t>
            </a:r>
          </a:p>
          <a:p>
            <a:pPr lvl="1">
              <a:lnSpc>
                <a:spcPct val="90000"/>
              </a:lnSpc>
              <a:buFontTx/>
              <a:buNone/>
            </a:pPr>
            <a:r>
              <a:rPr lang="en-US" sz="2000" dirty="0"/>
              <a:t>.</a:t>
            </a:r>
          </a:p>
          <a:p>
            <a:pPr lvl="1">
              <a:lnSpc>
                <a:spcPct val="90000"/>
              </a:lnSpc>
              <a:buFontTx/>
              <a:buNone/>
            </a:pPr>
            <a:r>
              <a:rPr lang="en-US" sz="1500" dirty="0"/>
              <a:t>.</a:t>
            </a:r>
          </a:p>
        </p:txBody>
      </p:sp>
      <p:sp>
        <p:nvSpPr>
          <p:cNvPr id="9" name="Line 4"/>
          <p:cNvSpPr>
            <a:spLocks noChangeShapeType="1"/>
          </p:cNvSpPr>
          <p:nvPr/>
        </p:nvSpPr>
        <p:spPr bwMode="auto">
          <a:xfrm>
            <a:off x="3657600" y="2514600"/>
            <a:ext cx="1905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6178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extBox 6"/>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rPr>
              <a:t>Existential instantiation (EI)</a:t>
            </a: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
        <p:nvSpPr>
          <p:cNvPr id="10" name="Rectangle 3"/>
          <p:cNvSpPr txBox="1">
            <a:spLocks noChangeArrowheads="1"/>
          </p:cNvSpPr>
          <p:nvPr/>
        </p:nvSpPr>
        <p:spPr>
          <a:xfrm>
            <a:off x="1066800" y="1752600"/>
            <a:ext cx="7620000" cy="35052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80000"/>
              </a:lnSpc>
            </a:pPr>
            <a:r>
              <a:rPr lang="en-US" sz="2000" dirty="0"/>
              <a:t>For any sentence </a:t>
            </a:r>
            <a:r>
              <a:rPr lang="el-GR" sz="2000" dirty="0">
                <a:cs typeface="Arial" panose="020B0604020202020204" pitchFamily="34" charset="0"/>
                <a:sym typeface="Symbol" panose="05050102010706020507" pitchFamily="18" charset="2"/>
              </a:rPr>
              <a:t></a:t>
            </a:r>
            <a:r>
              <a:rPr lang="en-US" sz="2000" dirty="0"/>
              <a:t>, variable </a:t>
            </a:r>
            <a:r>
              <a:rPr lang="en-US" sz="2000" i="1" dirty="0"/>
              <a:t>v</a:t>
            </a:r>
            <a:r>
              <a:rPr lang="en-US" sz="2000" dirty="0"/>
              <a:t>, and constant symbol </a:t>
            </a:r>
            <a:r>
              <a:rPr lang="en-US" sz="2000" i="1" dirty="0"/>
              <a:t>k that does </a:t>
            </a:r>
            <a:r>
              <a:rPr lang="en-US" sz="2000" i="1" dirty="0">
                <a:solidFill>
                  <a:srgbClr val="FF0000"/>
                </a:solidFill>
              </a:rPr>
              <a:t>not</a:t>
            </a:r>
            <a:r>
              <a:rPr lang="en-US" sz="2000" i="1" dirty="0"/>
              <a:t> appear elsewhere in the knowledge base</a:t>
            </a:r>
            <a:r>
              <a:rPr lang="en-US" sz="2000" dirty="0"/>
              <a:t>:</a:t>
            </a:r>
          </a:p>
          <a:p>
            <a:pPr algn="ctr">
              <a:lnSpc>
                <a:spcPct val="80000"/>
              </a:lnSpc>
              <a:buFontTx/>
              <a:buNone/>
            </a:pPr>
            <a:r>
              <a:rPr lang="el-GR" sz="2000" dirty="0">
                <a:cs typeface="Arial" panose="020B0604020202020204" pitchFamily="34" charset="0"/>
                <a:sym typeface="Symbol" panose="05050102010706020507" pitchFamily="18" charset="2"/>
              </a:rPr>
              <a:t></a:t>
            </a:r>
            <a:r>
              <a:rPr lang="en-US" sz="2000" i="1" dirty="0"/>
              <a:t>v</a:t>
            </a:r>
            <a:r>
              <a:rPr lang="en-US" sz="2000" dirty="0"/>
              <a:t> </a:t>
            </a:r>
            <a:r>
              <a:rPr lang="el-GR" sz="2000" dirty="0">
                <a:cs typeface="Arial" panose="020B0604020202020204" pitchFamily="34" charset="0"/>
                <a:sym typeface="Symbol" panose="05050102010706020507" pitchFamily="18" charset="2"/>
              </a:rPr>
              <a:t></a:t>
            </a:r>
            <a:endParaRPr lang="en-US" sz="2000" dirty="0">
              <a:cs typeface="Arial" panose="020B0604020202020204" pitchFamily="34" charset="0"/>
              <a:sym typeface="Symbol" panose="05050102010706020507" pitchFamily="18" charset="2"/>
            </a:endParaRPr>
          </a:p>
          <a:p>
            <a:pPr algn="ctr">
              <a:lnSpc>
                <a:spcPct val="80000"/>
              </a:lnSpc>
              <a:buFontTx/>
              <a:buNone/>
            </a:pPr>
            <a:endParaRPr lang="en-US" sz="2000" dirty="0">
              <a:cs typeface="Arial" panose="020B0604020202020204" pitchFamily="34" charset="0"/>
              <a:sym typeface="Symbol" panose="05050102010706020507" pitchFamily="18" charset="2"/>
            </a:endParaRPr>
          </a:p>
          <a:p>
            <a:pPr algn="ctr">
              <a:lnSpc>
                <a:spcPct val="80000"/>
              </a:lnSpc>
              <a:buFontTx/>
              <a:buNone/>
            </a:pPr>
            <a:r>
              <a:rPr lang="en-US" sz="2000" dirty="0" err="1"/>
              <a:t>Subst</a:t>
            </a:r>
            <a:r>
              <a:rPr lang="en-US" sz="2000" dirty="0"/>
              <a:t>({v/k}, </a:t>
            </a:r>
            <a:r>
              <a:rPr lang="el-GR" sz="2000" dirty="0">
                <a:cs typeface="Arial" panose="020B0604020202020204" pitchFamily="34" charset="0"/>
                <a:sym typeface="Symbol" panose="05050102010706020507" pitchFamily="18" charset="2"/>
              </a:rPr>
              <a:t></a:t>
            </a:r>
            <a:r>
              <a:rPr lang="en-US" sz="2000" dirty="0"/>
              <a:t>)</a:t>
            </a:r>
          </a:p>
          <a:p>
            <a:pPr lvl="4">
              <a:lnSpc>
                <a:spcPct val="80000"/>
              </a:lnSpc>
            </a:pPr>
            <a:endParaRPr lang="en-US" dirty="0"/>
          </a:p>
          <a:p>
            <a:pPr>
              <a:lnSpc>
                <a:spcPct val="80000"/>
              </a:lnSpc>
            </a:pPr>
            <a:r>
              <a:rPr lang="en-US" sz="2000" dirty="0"/>
              <a:t>E.g., </a:t>
            </a:r>
            <a:r>
              <a:rPr lang="el-GR" sz="2000" dirty="0">
                <a:cs typeface="Arial" panose="020B0604020202020204" pitchFamily="34" charset="0"/>
                <a:sym typeface="Symbol" panose="05050102010706020507" pitchFamily="18" charset="2"/>
              </a:rPr>
              <a:t></a:t>
            </a:r>
            <a:r>
              <a:rPr lang="en-US" sz="2000" i="1" dirty="0"/>
              <a:t>x</a:t>
            </a:r>
            <a:r>
              <a:rPr lang="en-US" sz="2000" dirty="0"/>
              <a:t> </a:t>
            </a:r>
            <a:r>
              <a:rPr lang="en-US" sz="2000" i="1" dirty="0"/>
              <a:t>Crown</a:t>
            </a:r>
            <a:r>
              <a:rPr lang="en-US" sz="2000" dirty="0"/>
              <a:t>(</a:t>
            </a:r>
            <a:r>
              <a:rPr lang="en-US" sz="2000" i="1" dirty="0"/>
              <a:t>x</a:t>
            </a:r>
            <a:r>
              <a:rPr lang="en-US" sz="2000" dirty="0"/>
              <a:t>) </a:t>
            </a:r>
            <a:r>
              <a:rPr lang="en-US" sz="2000" dirty="0">
                <a:sym typeface="Symbol" panose="05050102010706020507" pitchFamily="18" charset="2"/>
              </a:rPr>
              <a:t></a:t>
            </a:r>
            <a:r>
              <a:rPr lang="en-US" sz="2000" dirty="0"/>
              <a:t> </a:t>
            </a:r>
            <a:r>
              <a:rPr lang="en-US" sz="2000" i="1" dirty="0" err="1"/>
              <a:t>OnHead</a:t>
            </a:r>
            <a:r>
              <a:rPr lang="en-US" sz="2000" dirty="0"/>
              <a:t>(</a:t>
            </a:r>
            <a:r>
              <a:rPr lang="en-US" sz="2000" i="1" dirty="0" err="1"/>
              <a:t>x,John</a:t>
            </a:r>
            <a:r>
              <a:rPr lang="en-US" sz="2000" dirty="0"/>
              <a:t>) yields:</a:t>
            </a:r>
          </a:p>
          <a:p>
            <a:pPr lvl="4">
              <a:lnSpc>
                <a:spcPct val="80000"/>
              </a:lnSpc>
            </a:pPr>
            <a:endParaRPr lang="en-US" dirty="0"/>
          </a:p>
          <a:p>
            <a:pPr algn="ctr">
              <a:lnSpc>
                <a:spcPct val="80000"/>
              </a:lnSpc>
              <a:buFontTx/>
              <a:buNone/>
            </a:pPr>
            <a:r>
              <a:rPr lang="en-US" sz="2000" i="1" dirty="0"/>
              <a:t>Crown</a:t>
            </a:r>
            <a:r>
              <a:rPr lang="en-US" sz="2000" dirty="0"/>
              <a:t>(</a:t>
            </a:r>
            <a:r>
              <a:rPr lang="en-US" sz="2000" i="1" dirty="0"/>
              <a:t>C</a:t>
            </a:r>
            <a:r>
              <a:rPr lang="en-US" sz="2000" i="1" baseline="-25000" dirty="0"/>
              <a:t>1</a:t>
            </a:r>
            <a:r>
              <a:rPr lang="en-US" sz="2000" dirty="0"/>
              <a:t>) </a:t>
            </a:r>
            <a:r>
              <a:rPr lang="en-US" sz="2000" dirty="0">
                <a:sym typeface="Symbol" panose="05050102010706020507" pitchFamily="18" charset="2"/>
              </a:rPr>
              <a:t></a:t>
            </a:r>
            <a:r>
              <a:rPr lang="en-US" sz="2000" dirty="0"/>
              <a:t> </a:t>
            </a:r>
            <a:r>
              <a:rPr lang="en-US" sz="2000" i="1" dirty="0" err="1"/>
              <a:t>OnHead</a:t>
            </a:r>
            <a:r>
              <a:rPr lang="en-US" sz="2000" dirty="0"/>
              <a:t>(</a:t>
            </a:r>
            <a:r>
              <a:rPr lang="en-US" sz="2000" i="1" dirty="0"/>
              <a:t>C</a:t>
            </a:r>
            <a:r>
              <a:rPr lang="en-US" sz="2000" i="1" baseline="-25000" dirty="0"/>
              <a:t>1</a:t>
            </a:r>
            <a:r>
              <a:rPr lang="en-US" sz="2000" i="1" dirty="0"/>
              <a:t>,John</a:t>
            </a:r>
            <a:r>
              <a:rPr lang="en-US" sz="2000" dirty="0"/>
              <a:t>)</a:t>
            </a:r>
          </a:p>
          <a:p>
            <a:pPr lvl="4">
              <a:lnSpc>
                <a:spcPct val="80000"/>
              </a:lnSpc>
            </a:pPr>
            <a:endParaRPr lang="en-US" dirty="0"/>
          </a:p>
          <a:p>
            <a:pPr>
              <a:lnSpc>
                <a:spcPct val="80000"/>
              </a:lnSpc>
              <a:buFontTx/>
              <a:buNone/>
            </a:pPr>
            <a:r>
              <a:rPr lang="en-US" sz="2000" dirty="0"/>
              <a:t>	provided </a:t>
            </a:r>
            <a:r>
              <a:rPr lang="en-US" sz="2000" i="1" dirty="0"/>
              <a:t>C</a:t>
            </a:r>
            <a:r>
              <a:rPr lang="en-US" sz="2000" i="1" baseline="-25000" dirty="0"/>
              <a:t>1</a:t>
            </a:r>
            <a:r>
              <a:rPr lang="en-US" sz="2000" dirty="0"/>
              <a:t> is a new constant symbol, called a </a:t>
            </a:r>
            <a:r>
              <a:rPr lang="en-US" sz="2000" dirty="0" err="1">
                <a:solidFill>
                  <a:schemeClr val="accent2"/>
                </a:solidFill>
              </a:rPr>
              <a:t>Skolem</a:t>
            </a:r>
            <a:r>
              <a:rPr lang="en-US" sz="2000" dirty="0">
                <a:solidFill>
                  <a:schemeClr val="accent2"/>
                </a:solidFill>
              </a:rPr>
              <a:t> constant</a:t>
            </a:r>
            <a:endParaRPr lang="en-US" sz="2000" dirty="0"/>
          </a:p>
        </p:txBody>
      </p:sp>
      <p:sp>
        <p:nvSpPr>
          <p:cNvPr id="11" name="Line 4"/>
          <p:cNvSpPr>
            <a:spLocks noChangeShapeType="1"/>
          </p:cNvSpPr>
          <p:nvPr/>
        </p:nvSpPr>
        <p:spPr bwMode="auto">
          <a:xfrm>
            <a:off x="3581400" y="2743200"/>
            <a:ext cx="2209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0379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extBox 6"/>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cs typeface="Tahoma" panose="020B0604030504040204" pitchFamily="34" charset="0"/>
              </a:rPr>
              <a:t>EI versus UI</a:t>
            </a:r>
            <a:endPar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
        <p:nvSpPr>
          <p:cNvPr id="6" name="Rectangle 3"/>
          <p:cNvSpPr txBox="1">
            <a:spLocks noChangeArrowheads="1"/>
          </p:cNvSpPr>
          <p:nvPr/>
        </p:nvSpPr>
        <p:spPr>
          <a:xfrm>
            <a:off x="1066800" y="1752600"/>
            <a:ext cx="7620000" cy="41148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sz="2800">
                <a:latin typeface="Tahoma" panose="020B0604030504040204" pitchFamily="34" charset="0"/>
                <a:cs typeface="Tahoma" panose="020B0604030504040204" pitchFamily="34" charset="0"/>
              </a:rPr>
              <a:t>UI can be applied several times to </a:t>
            </a:r>
            <a:r>
              <a:rPr lang="en-US" sz="2800" i="1">
                <a:latin typeface="Tahoma" panose="020B0604030504040204" pitchFamily="34" charset="0"/>
                <a:cs typeface="Tahoma" panose="020B0604030504040204" pitchFamily="34" charset="0"/>
              </a:rPr>
              <a:t>add</a:t>
            </a:r>
            <a:r>
              <a:rPr lang="en-US" sz="2800">
                <a:latin typeface="Tahoma" panose="020B0604030504040204" pitchFamily="34" charset="0"/>
                <a:cs typeface="Tahoma" panose="020B0604030504040204" pitchFamily="34" charset="0"/>
              </a:rPr>
              <a:t> new sentences; the new KB is logically equivalent to the old.</a:t>
            </a:r>
          </a:p>
          <a:p>
            <a:r>
              <a:rPr lang="en-US" sz="2800">
                <a:latin typeface="Tahoma" panose="020B0604030504040204" pitchFamily="34" charset="0"/>
                <a:cs typeface="Tahoma" panose="020B0604030504040204" pitchFamily="34" charset="0"/>
              </a:rPr>
              <a:t>EI can be applied once to replace the existential sentence; the new KB is not equivalent to the old but is satisfiable if the old KB was satisfiable.</a:t>
            </a:r>
            <a:endParaRPr lang="en-US" sz="2800" dirty="0">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12960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extBox 6"/>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rPr>
              <a:t>Reduction to propositional inference</a:t>
            </a:r>
          </a:p>
        </p:txBody>
      </p:sp>
      <p:sp>
        <p:nvSpPr>
          <p:cNvPr id="8" name="Slide Number Placeholder 6"/>
          <p:cNvSpPr>
            <a:spLocks noGrp="1"/>
          </p:cNvSpPr>
          <p:nvPr>
            <p:ph type="sldNum" sz="quarter" idx="12"/>
          </p:nvPr>
        </p:nvSpPr>
        <p:spPr>
          <a:xfrm>
            <a:off x="146304" y="6210300"/>
            <a:ext cx="457200" cy="457200"/>
          </a:xfrm>
        </p:spPr>
        <p:txBody>
          <a:bodyPr/>
          <a:lstStyle/>
          <a:p>
            <a:r>
              <a:rPr lang="en-US" dirty="0"/>
              <a:t>11</a:t>
            </a:r>
          </a:p>
        </p:txBody>
      </p:sp>
      <p:sp>
        <p:nvSpPr>
          <p:cNvPr id="9" name="Rectangle 3"/>
          <p:cNvSpPr txBox="1">
            <a:spLocks noChangeArrowheads="1"/>
          </p:cNvSpPr>
          <p:nvPr/>
        </p:nvSpPr>
        <p:spPr>
          <a:xfrm>
            <a:off x="1066800" y="838200"/>
            <a:ext cx="7620000" cy="48768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80000"/>
              </a:lnSpc>
            </a:pPr>
            <a:r>
              <a:rPr lang="en-US" sz="2400"/>
              <a:t>Suppose the KB contains just the following:</a:t>
            </a:r>
          </a:p>
          <a:p>
            <a:pPr lvl="2">
              <a:lnSpc>
                <a:spcPct val="80000"/>
              </a:lnSpc>
              <a:buFontTx/>
              <a:buNone/>
            </a:pPr>
            <a:r>
              <a:rPr lang="en-US">
                <a:sym typeface="Symbol" panose="05050102010706020507" pitchFamily="18" charset="2"/>
              </a:rPr>
              <a:t></a:t>
            </a:r>
            <a:r>
              <a:rPr lang="en-US"/>
              <a:t>x King(x) </a:t>
            </a:r>
            <a:r>
              <a:rPr lang="en-US">
                <a:sym typeface="Symbol" panose="05050102010706020507" pitchFamily="18" charset="2"/>
              </a:rPr>
              <a:t></a:t>
            </a:r>
            <a:r>
              <a:rPr lang="en-US"/>
              <a:t> Greedy(x) </a:t>
            </a:r>
            <a:r>
              <a:rPr lang="en-US">
                <a:sym typeface="Symbol" panose="05050102010706020507" pitchFamily="18" charset="2"/>
              </a:rPr>
              <a:t></a:t>
            </a:r>
            <a:r>
              <a:rPr lang="en-US"/>
              <a:t> Evil(x)</a:t>
            </a:r>
          </a:p>
          <a:p>
            <a:pPr lvl="2">
              <a:lnSpc>
                <a:spcPct val="80000"/>
              </a:lnSpc>
              <a:buFontTx/>
              <a:buNone/>
            </a:pPr>
            <a:r>
              <a:rPr lang="en-US"/>
              <a:t>King(John)</a:t>
            </a:r>
          </a:p>
          <a:p>
            <a:pPr lvl="2">
              <a:lnSpc>
                <a:spcPct val="80000"/>
              </a:lnSpc>
              <a:buFontTx/>
              <a:buNone/>
            </a:pPr>
            <a:r>
              <a:rPr lang="en-US"/>
              <a:t>Greedy(John)</a:t>
            </a:r>
          </a:p>
          <a:p>
            <a:pPr lvl="2">
              <a:lnSpc>
                <a:spcPct val="80000"/>
              </a:lnSpc>
              <a:buFontTx/>
              <a:buNone/>
            </a:pPr>
            <a:r>
              <a:rPr lang="en-US"/>
              <a:t>Brother(Richard,John)</a:t>
            </a:r>
          </a:p>
          <a:p>
            <a:pPr>
              <a:lnSpc>
                <a:spcPct val="80000"/>
              </a:lnSpc>
            </a:pPr>
            <a:r>
              <a:rPr lang="en-US" sz="2400"/>
              <a:t>Instantiating the universal sentence in </a:t>
            </a:r>
            <a:r>
              <a:rPr lang="en-US" sz="2400">
                <a:solidFill>
                  <a:srgbClr val="FF0000"/>
                </a:solidFill>
              </a:rPr>
              <a:t>all possible</a:t>
            </a:r>
            <a:r>
              <a:rPr lang="en-US" sz="2400"/>
              <a:t> ways, we have:</a:t>
            </a:r>
          </a:p>
          <a:p>
            <a:pPr lvl="2">
              <a:lnSpc>
                <a:spcPct val="80000"/>
              </a:lnSpc>
              <a:buFontTx/>
              <a:buNone/>
            </a:pPr>
            <a:r>
              <a:rPr lang="en-US"/>
              <a:t>King(John) </a:t>
            </a:r>
            <a:r>
              <a:rPr lang="en-US">
                <a:sym typeface="Symbol" panose="05050102010706020507" pitchFamily="18" charset="2"/>
              </a:rPr>
              <a:t></a:t>
            </a:r>
            <a:r>
              <a:rPr lang="en-US"/>
              <a:t> Greedy(John) </a:t>
            </a:r>
            <a:r>
              <a:rPr lang="en-US">
                <a:sym typeface="Symbol" panose="05050102010706020507" pitchFamily="18" charset="2"/>
              </a:rPr>
              <a:t></a:t>
            </a:r>
            <a:r>
              <a:rPr lang="en-US"/>
              <a:t> Evil(John)</a:t>
            </a:r>
          </a:p>
          <a:p>
            <a:pPr lvl="2">
              <a:lnSpc>
                <a:spcPct val="80000"/>
              </a:lnSpc>
              <a:buFontTx/>
              <a:buNone/>
            </a:pPr>
            <a:r>
              <a:rPr lang="en-US"/>
              <a:t>King(Richard) </a:t>
            </a:r>
            <a:r>
              <a:rPr lang="en-US">
                <a:sym typeface="Symbol" panose="05050102010706020507" pitchFamily="18" charset="2"/>
              </a:rPr>
              <a:t></a:t>
            </a:r>
            <a:r>
              <a:rPr lang="en-US"/>
              <a:t> Greedy(Richard) </a:t>
            </a:r>
            <a:r>
              <a:rPr lang="en-US">
                <a:sym typeface="Symbol" panose="05050102010706020507" pitchFamily="18" charset="2"/>
              </a:rPr>
              <a:t></a:t>
            </a:r>
            <a:r>
              <a:rPr lang="en-US"/>
              <a:t> Evil(Richard)</a:t>
            </a:r>
          </a:p>
          <a:p>
            <a:pPr lvl="2">
              <a:lnSpc>
                <a:spcPct val="80000"/>
              </a:lnSpc>
              <a:buFontTx/>
              <a:buNone/>
            </a:pPr>
            <a:r>
              <a:rPr lang="en-US"/>
              <a:t>King(John)</a:t>
            </a:r>
          </a:p>
          <a:p>
            <a:pPr lvl="2">
              <a:lnSpc>
                <a:spcPct val="80000"/>
              </a:lnSpc>
              <a:buFontTx/>
              <a:buNone/>
            </a:pPr>
            <a:r>
              <a:rPr lang="en-US"/>
              <a:t>Greedy(John)</a:t>
            </a:r>
          </a:p>
          <a:p>
            <a:pPr lvl="2">
              <a:lnSpc>
                <a:spcPct val="80000"/>
              </a:lnSpc>
              <a:buFontTx/>
              <a:buNone/>
            </a:pPr>
            <a:r>
              <a:rPr lang="en-US"/>
              <a:t>Brother(Richard,John)</a:t>
            </a:r>
          </a:p>
          <a:p>
            <a:pPr>
              <a:lnSpc>
                <a:spcPct val="80000"/>
              </a:lnSpc>
            </a:pPr>
            <a:r>
              <a:rPr lang="en-US" sz="2400"/>
              <a:t>The new KB is </a:t>
            </a:r>
            <a:r>
              <a:rPr lang="en-US" sz="2400">
                <a:solidFill>
                  <a:schemeClr val="accent2"/>
                </a:solidFill>
              </a:rPr>
              <a:t>propositionalized</a:t>
            </a:r>
            <a:r>
              <a:rPr lang="en-US" sz="2400"/>
              <a:t>: proposition symbols are</a:t>
            </a:r>
          </a:p>
          <a:p>
            <a:pPr>
              <a:lnSpc>
                <a:spcPct val="80000"/>
              </a:lnSpc>
              <a:buFontTx/>
              <a:buNone/>
            </a:pPr>
            <a:r>
              <a:rPr lang="en-US" sz="2400"/>
              <a:t>		 John, Richard and also King(John), Greedy(John), Evil(John), King(Richard), etc.</a:t>
            </a:r>
            <a:endParaRPr lang="en-US" sz="2400" dirty="0"/>
          </a:p>
        </p:txBody>
      </p:sp>
    </p:spTree>
    <p:extLst>
      <p:ext uri="{BB962C8B-B14F-4D97-AF65-F5344CB8AC3E}">
        <p14:creationId xmlns:p14="http://schemas.microsoft.com/office/powerpoint/2010/main" val="597237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20</a:t>
            </a:fld>
            <a:endParaRPr lang="en-US" dirty="0"/>
          </a:p>
        </p:txBody>
      </p:sp>
      <p:sp>
        <p:nvSpPr>
          <p:cNvPr id="6" name="Content Placeholder 2"/>
          <p:cNvSpPr txBox="1">
            <a:spLocks/>
          </p:cNvSpPr>
          <p:nvPr/>
        </p:nvSpPr>
        <p:spPr>
          <a:xfrm>
            <a:off x="457200" y="838200"/>
            <a:ext cx="8229600" cy="5212080"/>
          </a:xfrm>
          <a:prstGeom prst="rect">
            <a:avLst/>
          </a:prstGeom>
        </p:spPr>
        <p:txBody>
          <a:bodyPr>
            <a:noAutofit/>
          </a:bodyPr>
          <a:lstStyle/>
          <a:p>
            <a:pPr marL="609600" indent="-609600">
              <a:lnSpc>
                <a:spcPct val="90000"/>
              </a:lnSpc>
              <a:buFont typeface="Wingdings" panose="05000000000000000000" pitchFamily="2" charset="2"/>
              <a:buNone/>
            </a:pPr>
            <a:r>
              <a:rPr lang="en-US" dirty="0"/>
              <a:t>A substitution </a:t>
            </a:r>
            <a:r>
              <a:rPr lang="en-US" dirty="0">
                <a:sym typeface="Symbol" panose="05050102010706020507" pitchFamily="18" charset="2"/>
              </a:rPr>
              <a:t> is a finite set of the form</a:t>
            </a:r>
          </a:p>
          <a:p>
            <a:pPr marL="609600" indent="-609600">
              <a:lnSpc>
                <a:spcPct val="90000"/>
              </a:lnSpc>
              <a:buFont typeface="Wingdings" panose="05000000000000000000" pitchFamily="2" charset="2"/>
              <a:buNone/>
            </a:pPr>
            <a:r>
              <a:rPr lang="en-US" dirty="0">
                <a:sym typeface="Symbol" panose="05050102010706020507" pitchFamily="18" charset="2"/>
              </a:rPr>
              <a:t>   {v</a:t>
            </a:r>
            <a:r>
              <a:rPr lang="en-US" baseline="-25000" dirty="0">
                <a:sym typeface="Symbol" panose="05050102010706020507" pitchFamily="18" charset="2"/>
              </a:rPr>
              <a:t>1</a:t>
            </a:r>
            <a:r>
              <a:rPr lang="en-US" dirty="0">
                <a:sym typeface="Symbol" panose="05050102010706020507" pitchFamily="18" charset="2"/>
              </a:rPr>
              <a:t>/t</a:t>
            </a:r>
            <a:r>
              <a:rPr lang="en-US" baseline="-25000" dirty="0">
                <a:sym typeface="Symbol" panose="05050102010706020507" pitchFamily="18" charset="2"/>
              </a:rPr>
              <a:t>1</a:t>
            </a:r>
            <a:r>
              <a:rPr lang="en-US" dirty="0">
                <a:sym typeface="Symbol" panose="05050102010706020507" pitchFamily="18" charset="2"/>
              </a:rPr>
              <a:t>, v</a:t>
            </a:r>
            <a:r>
              <a:rPr lang="en-US" baseline="-25000" dirty="0">
                <a:sym typeface="Symbol" panose="05050102010706020507" pitchFamily="18" charset="2"/>
              </a:rPr>
              <a:t>2</a:t>
            </a:r>
            <a:r>
              <a:rPr lang="en-US" dirty="0">
                <a:sym typeface="Symbol" panose="05050102010706020507" pitchFamily="18" charset="2"/>
              </a:rPr>
              <a:t>/t</a:t>
            </a:r>
            <a:r>
              <a:rPr lang="en-US" baseline="-25000" dirty="0">
                <a:sym typeface="Symbol" panose="05050102010706020507" pitchFamily="18" charset="2"/>
              </a:rPr>
              <a:t>2</a:t>
            </a:r>
            <a:r>
              <a:rPr lang="en-US" dirty="0">
                <a:sym typeface="Symbol" panose="05050102010706020507" pitchFamily="18" charset="2"/>
              </a:rPr>
              <a:t>, v</a:t>
            </a:r>
            <a:r>
              <a:rPr lang="en-US" baseline="-25000" dirty="0">
                <a:sym typeface="Symbol" panose="05050102010706020507" pitchFamily="18" charset="2"/>
              </a:rPr>
              <a:t>3</a:t>
            </a:r>
            <a:r>
              <a:rPr lang="en-US" dirty="0">
                <a:sym typeface="Symbol" panose="05050102010706020507" pitchFamily="18" charset="2"/>
              </a:rPr>
              <a:t>/t</a:t>
            </a:r>
            <a:r>
              <a:rPr lang="en-US" baseline="-25000" dirty="0">
                <a:sym typeface="Symbol" panose="05050102010706020507" pitchFamily="18" charset="2"/>
              </a:rPr>
              <a:t>3</a:t>
            </a:r>
            <a:r>
              <a:rPr lang="en-US" dirty="0">
                <a:sym typeface="Symbol" panose="05050102010706020507" pitchFamily="18" charset="2"/>
              </a:rPr>
              <a:t>, </a:t>
            </a:r>
            <a:r>
              <a:rPr lang="en-US" dirty="0">
                <a:latin typeface="Arial" panose="020B0604020202020204" pitchFamily="34" charset="0"/>
                <a:sym typeface="Symbol" panose="05050102010706020507" pitchFamily="18" charset="2"/>
              </a:rPr>
              <a:t>……………</a:t>
            </a:r>
            <a:r>
              <a:rPr lang="en-US" dirty="0">
                <a:sym typeface="Symbol" panose="05050102010706020507" pitchFamily="18" charset="2"/>
              </a:rPr>
              <a:t>..</a:t>
            </a:r>
            <a:r>
              <a:rPr lang="en-US" dirty="0" err="1">
                <a:sym typeface="Symbol" panose="05050102010706020507" pitchFamily="18" charset="2"/>
              </a:rPr>
              <a:t>v</a:t>
            </a:r>
            <a:r>
              <a:rPr lang="en-US" baseline="-25000" dirty="0" err="1">
                <a:sym typeface="Symbol" panose="05050102010706020507" pitchFamily="18" charset="2"/>
              </a:rPr>
              <a:t>n</a:t>
            </a:r>
            <a:r>
              <a:rPr lang="en-US" dirty="0">
                <a:sym typeface="Symbol" panose="05050102010706020507" pitchFamily="18" charset="2"/>
              </a:rPr>
              <a:t>/</a:t>
            </a:r>
            <a:r>
              <a:rPr lang="en-US" dirty="0" err="1">
                <a:sym typeface="Symbol" panose="05050102010706020507" pitchFamily="18" charset="2"/>
              </a:rPr>
              <a:t>t</a:t>
            </a:r>
            <a:r>
              <a:rPr lang="en-US" baseline="-25000" dirty="0" err="1">
                <a:sym typeface="Symbol" panose="05050102010706020507" pitchFamily="18" charset="2"/>
              </a:rPr>
              <a:t>n</a:t>
            </a:r>
            <a:r>
              <a:rPr lang="en-US" dirty="0">
                <a:sym typeface="Symbol" panose="05050102010706020507" pitchFamily="18" charset="2"/>
              </a:rPr>
              <a:t>, }</a:t>
            </a:r>
          </a:p>
          <a:p>
            <a:pPr marL="609600" indent="-609600">
              <a:lnSpc>
                <a:spcPct val="90000"/>
              </a:lnSpc>
              <a:buFont typeface="Wingdings" panose="05000000000000000000" pitchFamily="2" charset="2"/>
              <a:buNone/>
            </a:pPr>
            <a:endParaRPr lang="en-US" dirty="0">
              <a:sym typeface="Symbol" panose="05050102010706020507" pitchFamily="18" charset="2"/>
            </a:endParaRPr>
          </a:p>
          <a:p>
            <a:pPr marL="609600" indent="-609600">
              <a:lnSpc>
                <a:spcPct val="90000"/>
              </a:lnSpc>
              <a:buFont typeface="Wingdings" panose="05000000000000000000" pitchFamily="2" charset="2"/>
              <a:buNone/>
            </a:pPr>
            <a:r>
              <a:rPr lang="en-US" dirty="0">
                <a:sym typeface="Symbol" panose="05050102010706020507" pitchFamily="18" charset="2"/>
              </a:rPr>
              <a:t>Where</a:t>
            </a:r>
          </a:p>
          <a:p>
            <a:pPr marL="609600" indent="-609600">
              <a:lnSpc>
                <a:spcPct val="90000"/>
              </a:lnSpc>
              <a:buFont typeface="Wingdings" panose="05000000000000000000" pitchFamily="2" charset="2"/>
              <a:buNone/>
            </a:pPr>
            <a:r>
              <a:rPr lang="en-US" dirty="0">
                <a:sym typeface="Symbol" panose="05050102010706020507" pitchFamily="18" charset="2"/>
              </a:rPr>
              <a:t>V</a:t>
            </a:r>
            <a:r>
              <a:rPr lang="en-US" baseline="-25000" dirty="0">
                <a:sym typeface="Symbol" panose="05050102010706020507" pitchFamily="18" charset="2"/>
              </a:rPr>
              <a:t>i</a:t>
            </a:r>
            <a:r>
              <a:rPr lang="en-US" dirty="0">
                <a:sym typeface="Symbol" panose="05050102010706020507" pitchFamily="18" charset="2"/>
              </a:rPr>
              <a:t> is a variable   and </a:t>
            </a:r>
            <a:r>
              <a:rPr lang="en-US" dirty="0" err="1">
                <a:sym typeface="Symbol" panose="05050102010706020507" pitchFamily="18" charset="2"/>
              </a:rPr>
              <a:t>t</a:t>
            </a:r>
            <a:r>
              <a:rPr lang="en-US" baseline="-25000" dirty="0" err="1">
                <a:sym typeface="Symbol" panose="05050102010706020507" pitchFamily="18" charset="2"/>
              </a:rPr>
              <a:t>i</a:t>
            </a:r>
            <a:r>
              <a:rPr lang="en-US" baseline="-25000" dirty="0">
                <a:sym typeface="Symbol" panose="05050102010706020507" pitchFamily="18" charset="2"/>
              </a:rPr>
              <a:t> </a:t>
            </a:r>
            <a:r>
              <a:rPr lang="en-US" dirty="0">
                <a:sym typeface="Symbol" panose="05050102010706020507" pitchFamily="18" charset="2"/>
              </a:rPr>
              <a:t>is a term ( v</a:t>
            </a:r>
            <a:r>
              <a:rPr lang="en-US" baseline="-25000" dirty="0">
                <a:sym typeface="Symbol" panose="05050102010706020507" pitchFamily="18" charset="2"/>
              </a:rPr>
              <a:t>i </a:t>
            </a:r>
            <a:r>
              <a:rPr lang="en-US" dirty="0">
                <a:sym typeface="Symbol" panose="05050102010706020507" pitchFamily="18" charset="2"/>
              </a:rPr>
              <a:t>!= </a:t>
            </a:r>
            <a:r>
              <a:rPr lang="en-US" dirty="0" err="1">
                <a:sym typeface="Symbol" panose="05050102010706020507" pitchFamily="18" charset="2"/>
              </a:rPr>
              <a:t>t</a:t>
            </a:r>
            <a:r>
              <a:rPr lang="en-US" baseline="-25000" dirty="0" err="1">
                <a:sym typeface="Symbol" panose="05050102010706020507" pitchFamily="18" charset="2"/>
              </a:rPr>
              <a:t>i</a:t>
            </a:r>
            <a:r>
              <a:rPr lang="en-US" dirty="0">
                <a:sym typeface="Symbol" panose="05050102010706020507" pitchFamily="18" charset="2"/>
              </a:rPr>
              <a:t>)      AND</a:t>
            </a:r>
          </a:p>
          <a:p>
            <a:pPr marL="609600" indent="-609600">
              <a:lnSpc>
                <a:spcPct val="90000"/>
              </a:lnSpc>
              <a:buFont typeface="Wingdings" panose="05000000000000000000" pitchFamily="2" charset="2"/>
              <a:buNone/>
            </a:pPr>
            <a:r>
              <a:rPr lang="en-US" dirty="0">
                <a:sym typeface="Symbol" panose="05050102010706020507" pitchFamily="18" charset="2"/>
              </a:rPr>
              <a:t>v</a:t>
            </a:r>
            <a:r>
              <a:rPr lang="en-US" baseline="-25000" dirty="0">
                <a:sym typeface="Symbol" panose="05050102010706020507" pitchFamily="18" charset="2"/>
              </a:rPr>
              <a:t>1</a:t>
            </a:r>
            <a:r>
              <a:rPr lang="en-US" dirty="0">
                <a:sym typeface="Symbol" panose="05050102010706020507" pitchFamily="18" charset="2"/>
              </a:rPr>
              <a:t>, v</a:t>
            </a:r>
            <a:r>
              <a:rPr lang="en-US" baseline="-25000" dirty="0">
                <a:sym typeface="Symbol" panose="05050102010706020507" pitchFamily="18" charset="2"/>
              </a:rPr>
              <a:t>2</a:t>
            </a:r>
            <a:r>
              <a:rPr lang="en-US" dirty="0">
                <a:sym typeface="Symbol" panose="05050102010706020507" pitchFamily="18" charset="2"/>
              </a:rPr>
              <a:t>, v</a:t>
            </a:r>
            <a:r>
              <a:rPr lang="en-US" baseline="-25000" dirty="0">
                <a:sym typeface="Symbol" panose="05050102010706020507" pitchFamily="18" charset="2"/>
              </a:rPr>
              <a:t>3</a:t>
            </a:r>
            <a:r>
              <a:rPr lang="en-US" dirty="0">
                <a:sym typeface="Symbol" panose="05050102010706020507" pitchFamily="18" charset="2"/>
              </a:rPr>
              <a:t>, </a:t>
            </a:r>
            <a:r>
              <a:rPr lang="en-US" dirty="0">
                <a:latin typeface="Arial" panose="020B0604020202020204" pitchFamily="34" charset="0"/>
                <a:sym typeface="Symbol" panose="05050102010706020507" pitchFamily="18" charset="2"/>
              </a:rPr>
              <a:t>……………</a:t>
            </a:r>
            <a:r>
              <a:rPr lang="en-US" dirty="0">
                <a:sym typeface="Symbol" panose="05050102010706020507" pitchFamily="18" charset="2"/>
              </a:rPr>
              <a:t>..</a:t>
            </a:r>
            <a:r>
              <a:rPr lang="en-US" dirty="0" err="1">
                <a:sym typeface="Symbol" panose="05050102010706020507" pitchFamily="18" charset="2"/>
              </a:rPr>
              <a:t>v</a:t>
            </a:r>
            <a:r>
              <a:rPr lang="en-US" baseline="-25000" dirty="0" err="1">
                <a:sym typeface="Symbol" panose="05050102010706020507" pitchFamily="18" charset="2"/>
              </a:rPr>
              <a:t>n</a:t>
            </a:r>
            <a:r>
              <a:rPr lang="en-US" dirty="0">
                <a:sym typeface="Symbol" panose="05050102010706020507" pitchFamily="18" charset="2"/>
              </a:rPr>
              <a:t> are distinct </a:t>
            </a:r>
          </a:p>
          <a:p>
            <a:pPr marL="609600" indent="-609600">
              <a:lnSpc>
                <a:spcPct val="90000"/>
              </a:lnSpc>
              <a:buFont typeface="Wingdings" panose="05000000000000000000" pitchFamily="2" charset="2"/>
              <a:buNone/>
            </a:pPr>
            <a:endParaRPr lang="en-US" dirty="0">
              <a:sym typeface="Symbol" panose="05050102010706020507" pitchFamily="18" charset="2"/>
            </a:endParaRPr>
          </a:p>
          <a:p>
            <a:pPr marL="609600" indent="-609600">
              <a:lnSpc>
                <a:spcPct val="90000"/>
              </a:lnSpc>
              <a:buFont typeface="Wingdings" panose="05000000000000000000" pitchFamily="2" charset="2"/>
              <a:buNone/>
            </a:pPr>
            <a:r>
              <a:rPr lang="en-US" dirty="0">
                <a:sym typeface="Symbol" panose="05050102010706020507" pitchFamily="18" charset="2"/>
              </a:rPr>
              <a:t>v</a:t>
            </a:r>
            <a:r>
              <a:rPr lang="en-US" baseline="-25000" dirty="0">
                <a:sym typeface="Symbol" panose="05050102010706020507" pitchFamily="18" charset="2"/>
              </a:rPr>
              <a:t>i </a:t>
            </a:r>
            <a:r>
              <a:rPr lang="en-US" dirty="0">
                <a:sym typeface="Symbol" panose="05050102010706020507" pitchFamily="18" charset="2"/>
              </a:rPr>
              <a:t>/</a:t>
            </a:r>
            <a:r>
              <a:rPr lang="en-US" dirty="0" err="1">
                <a:sym typeface="Symbol" panose="05050102010706020507" pitchFamily="18" charset="2"/>
              </a:rPr>
              <a:t>t</a:t>
            </a:r>
            <a:r>
              <a:rPr lang="en-US" baseline="-25000" dirty="0" err="1">
                <a:sym typeface="Symbol" panose="05050102010706020507" pitchFamily="18" charset="2"/>
              </a:rPr>
              <a:t>i</a:t>
            </a:r>
            <a:r>
              <a:rPr lang="en-US" baseline="-25000" dirty="0">
                <a:sym typeface="Symbol" panose="05050102010706020507" pitchFamily="18" charset="2"/>
              </a:rPr>
              <a:t> </a:t>
            </a:r>
            <a:r>
              <a:rPr lang="en-US" dirty="0">
                <a:sym typeface="Symbol" panose="05050102010706020507" pitchFamily="18" charset="2"/>
              </a:rPr>
              <a:t>is called binding</a:t>
            </a:r>
          </a:p>
          <a:p>
            <a:pPr marL="609600" indent="-609600">
              <a:lnSpc>
                <a:spcPct val="90000"/>
              </a:lnSpc>
              <a:buFont typeface="Wingdings" panose="05000000000000000000" pitchFamily="2" charset="2"/>
              <a:buNone/>
            </a:pPr>
            <a:r>
              <a:rPr lang="en-US" dirty="0">
                <a:sym typeface="Symbol" panose="05050102010706020507" pitchFamily="18" charset="2"/>
              </a:rPr>
              <a:t>If both are variable then it is called variable pure</a:t>
            </a:r>
          </a:p>
          <a:p>
            <a:pPr marL="609600" indent="-609600">
              <a:lnSpc>
                <a:spcPct val="90000"/>
              </a:lnSpc>
              <a:buFont typeface="Wingdings" panose="05000000000000000000" pitchFamily="2" charset="2"/>
              <a:buNone/>
            </a:pPr>
            <a:r>
              <a:rPr lang="en-US" dirty="0">
                <a:sym typeface="Symbol" panose="05050102010706020507" pitchFamily="18" charset="2"/>
              </a:rPr>
              <a:t>If </a:t>
            </a:r>
            <a:r>
              <a:rPr lang="en-US" dirty="0" err="1">
                <a:sym typeface="Symbol" panose="05050102010706020507" pitchFamily="18" charset="2"/>
              </a:rPr>
              <a:t>t</a:t>
            </a:r>
            <a:r>
              <a:rPr lang="en-US" baseline="-25000" dirty="0" err="1">
                <a:sym typeface="Symbol" panose="05050102010706020507" pitchFamily="18" charset="2"/>
              </a:rPr>
              <a:t>i</a:t>
            </a:r>
            <a:r>
              <a:rPr lang="en-US" baseline="-25000" dirty="0">
                <a:sym typeface="Symbol" panose="05050102010706020507" pitchFamily="18" charset="2"/>
              </a:rPr>
              <a:t> </a:t>
            </a:r>
            <a:r>
              <a:rPr lang="en-US" dirty="0">
                <a:sym typeface="Symbol" panose="05050102010706020507" pitchFamily="18" charset="2"/>
              </a:rPr>
              <a:t>is ground then it is called ground substitution</a:t>
            </a:r>
          </a:p>
          <a:p>
            <a:pPr algn="just">
              <a:buFont typeface="Wingdings" panose="05000000000000000000" pitchFamily="2" charset="2"/>
              <a:buChar char="v"/>
            </a:pPr>
            <a:endParaRPr lang="en-US" dirty="0">
              <a:latin typeface="Times New Roman" panose="02020603050405020304" pitchFamily="18" charset="0"/>
            </a:endParaRPr>
          </a:p>
        </p:txBody>
      </p:sp>
      <p:sp>
        <p:nvSpPr>
          <p:cNvPr id="5" name="TextBox 4"/>
          <p:cNvSpPr txBox="1"/>
          <p:nvPr/>
        </p:nvSpPr>
        <p:spPr>
          <a:xfrm>
            <a:off x="228600" y="228600"/>
            <a:ext cx="8686800" cy="584775"/>
          </a:xfrm>
          <a:prstGeom prst="rect">
            <a:avLst/>
          </a:prstGeom>
          <a:solidFill>
            <a:schemeClr val="tx2">
              <a:lumMod val="20000"/>
              <a:lumOff val="80000"/>
            </a:schemeClr>
          </a:solidFill>
        </p:spPr>
        <p:txBody>
          <a:bodyPr wrap="square" rtlCol="0">
            <a:spAutoFit/>
          </a:bodyPr>
          <a:lstStyle/>
          <a:p>
            <a:pPr algn="ctr"/>
            <a:r>
              <a:rPr lang="en-US" sz="3200" b="1" dirty="0">
                <a:solidFill>
                  <a:srgbClr val="FF0000"/>
                </a:solidFill>
                <a:latin typeface="Tahoma" panose="020B0604030504040204" pitchFamily="34" charset="0"/>
                <a:ea typeface="Tahoma" panose="020B0604030504040204" pitchFamily="34" charset="0"/>
                <a:cs typeface="Tahoma" panose="020B0604030504040204" pitchFamily="34" charset="0"/>
              </a:rPr>
              <a:t>Substitution and unification</a:t>
            </a:r>
          </a:p>
        </p:txBody>
      </p:sp>
    </p:spTree>
    <p:extLst>
      <p:ext uri="{BB962C8B-B14F-4D97-AF65-F5344CB8AC3E}">
        <p14:creationId xmlns:p14="http://schemas.microsoft.com/office/powerpoint/2010/main" val="333490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8EE3C8-7908-4EAE-ABD4-D7EEE8552864}" type="slidenum">
              <a:rPr lang="en-US" smtClean="0"/>
              <a:pPr/>
              <a:t>21</a:t>
            </a:fld>
            <a:endParaRPr lang="en-US" dirty="0"/>
          </a:p>
        </p:txBody>
      </p:sp>
      <p:sp>
        <p:nvSpPr>
          <p:cNvPr id="6" name="Content Placeholder 2"/>
          <p:cNvSpPr txBox="1">
            <a:spLocks/>
          </p:cNvSpPr>
          <p:nvPr/>
        </p:nvSpPr>
        <p:spPr>
          <a:xfrm>
            <a:off x="457200" y="685800"/>
            <a:ext cx="8458200" cy="5715000"/>
          </a:xfrm>
          <a:prstGeom prst="rect">
            <a:avLst/>
          </a:prstGeom>
        </p:spPr>
        <p:txBody>
          <a:bodyPr>
            <a:noAutofit/>
          </a:bodyPr>
          <a:lstStyle/>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a:t>
            </a:r>
            <a:r>
              <a:rPr lang="en-US" altLang="ja-JP" sz="2400" dirty="0" err="1">
                <a:latin typeface="Tahoma" panose="020B0604030504040204" pitchFamily="34" charset="0"/>
                <a:ea typeface="Tahoma" panose="020B0604030504040204" pitchFamily="34" charset="0"/>
                <a:cs typeface="Tahoma" panose="020B0604030504040204" pitchFamily="34" charset="0"/>
              </a:rPr>
              <a:t>Negnevitsky</a:t>
            </a:r>
            <a:r>
              <a:rPr lang="en-US" altLang="ja-JP" sz="2400" dirty="0">
                <a:latin typeface="Tahoma" panose="020B0604030504040204" pitchFamily="34" charset="0"/>
                <a:ea typeface="Tahoma" panose="020B0604030504040204" pitchFamily="34" charset="0"/>
                <a:cs typeface="Tahoma" panose="020B0604030504040204" pitchFamily="34" charset="0"/>
              </a:rPr>
              <a:t>, 2001] M. </a:t>
            </a:r>
            <a:r>
              <a:rPr lang="en-US" altLang="ja-JP" sz="2400" dirty="0" err="1">
                <a:latin typeface="Tahoma" panose="020B0604030504040204" pitchFamily="34" charset="0"/>
                <a:ea typeface="Tahoma" panose="020B0604030504040204" pitchFamily="34" charset="0"/>
                <a:cs typeface="Tahoma" panose="020B0604030504040204" pitchFamily="34" charset="0"/>
              </a:rPr>
              <a:t>Negnevitsky</a:t>
            </a:r>
            <a:r>
              <a:rPr lang="en-US" altLang="ja-JP" sz="2400" dirty="0">
                <a:latin typeface="Tahoma" panose="020B0604030504040204" pitchFamily="34" charset="0"/>
                <a:ea typeface="Tahoma" panose="020B0604030504040204" pitchFamily="34" charset="0"/>
                <a:cs typeface="Tahoma" panose="020B0604030504040204" pitchFamily="34" charset="0"/>
              </a:rPr>
              <a:t> “ Artificial Intelligence: A guide to Intelligent Systems”, Pearson Education Limited, England, 2002.</a:t>
            </a:r>
          </a:p>
          <a:p>
            <a:pPr marL="533400" indent="-533400" algn="just">
              <a:buClr>
                <a:srgbClr val="FF0000"/>
              </a:buClr>
              <a:buFont typeface="Wingdings" panose="05000000000000000000" pitchFamily="2" charset="2"/>
              <a:buChar char="q"/>
            </a:pPr>
            <a:r>
              <a:rPr lang="en-US" sz="2400" dirty="0">
                <a:latin typeface="Tahoma" panose="020B0604030504040204" pitchFamily="34" charset="0"/>
                <a:ea typeface="Tahoma" panose="020B0604030504040204" pitchFamily="34" charset="0"/>
                <a:cs typeface="Tahoma" panose="020B0604030504040204" pitchFamily="34" charset="0"/>
              </a:rPr>
              <a:t>[</a:t>
            </a:r>
            <a:r>
              <a:rPr lang="en-US" sz="2400" dirty="0" err="1">
                <a:latin typeface="Tahoma" panose="020B0604030504040204" pitchFamily="34" charset="0"/>
                <a:ea typeface="Tahoma" panose="020B0604030504040204" pitchFamily="34" charset="0"/>
                <a:cs typeface="Tahoma" panose="020B0604030504040204" pitchFamily="34" charset="0"/>
              </a:rPr>
              <a:t>Russel</a:t>
            </a:r>
            <a:r>
              <a:rPr lang="en-US" sz="2400" dirty="0">
                <a:latin typeface="Tahoma" panose="020B0604030504040204" pitchFamily="34" charset="0"/>
                <a:ea typeface="Tahoma" panose="020B0604030504040204" pitchFamily="34" charset="0"/>
                <a:cs typeface="Tahoma" panose="020B0604030504040204" pitchFamily="34" charset="0"/>
              </a:rPr>
              <a:t>, 2003] S. Russell and P. </a:t>
            </a:r>
            <a:r>
              <a:rPr lang="en-US" sz="2400" dirty="0" err="1">
                <a:latin typeface="Tahoma" panose="020B0604030504040204" pitchFamily="34" charset="0"/>
                <a:ea typeface="Tahoma" panose="020B0604030504040204" pitchFamily="34" charset="0"/>
                <a:cs typeface="Tahoma" panose="020B0604030504040204" pitchFamily="34" charset="0"/>
              </a:rPr>
              <a:t>Norvig</a:t>
            </a:r>
            <a:r>
              <a:rPr lang="en-US" sz="2400" dirty="0">
                <a:latin typeface="Tahoma" panose="020B0604030504040204" pitchFamily="34" charset="0"/>
                <a:ea typeface="Tahoma" panose="020B0604030504040204" pitchFamily="34" charset="0"/>
                <a:cs typeface="Tahoma" panose="020B0604030504040204" pitchFamily="34" charset="0"/>
              </a:rPr>
              <a:t> Artificial Intelligence: A Modern Approach Prentice Hall, 2003, Second Edition</a:t>
            </a:r>
            <a:endParaRPr lang="en-US" altLang="ja-JP" sz="2400" dirty="0">
              <a:latin typeface="Tahoma" panose="020B0604030504040204" pitchFamily="34" charset="0"/>
              <a:ea typeface="Tahoma" panose="020B0604030504040204" pitchFamily="34" charset="0"/>
              <a:cs typeface="Tahoma" panose="020B0604030504040204" pitchFamily="34" charset="0"/>
            </a:endParaRP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[Patterson, 1990] D. W. Patterson, “Introduction to Artificial Intelligence and Expert Systems”, Prentice-Hall Inc., Englewood Cliffs, N.J, USA, 1990.</a:t>
            </a: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a:t>
            </a:r>
            <a:r>
              <a:rPr lang="en-US" altLang="ja-JP" sz="2400" dirty="0" err="1">
                <a:latin typeface="Tahoma" panose="020B0604030504040204" pitchFamily="34" charset="0"/>
                <a:ea typeface="Tahoma" panose="020B0604030504040204" pitchFamily="34" charset="0"/>
                <a:cs typeface="Tahoma" panose="020B0604030504040204" pitchFamily="34" charset="0"/>
              </a:rPr>
              <a:t>Minsky</a:t>
            </a:r>
            <a:r>
              <a:rPr lang="en-US" altLang="ja-JP" sz="2400" dirty="0">
                <a:latin typeface="Tahoma" panose="020B0604030504040204" pitchFamily="34" charset="0"/>
                <a:ea typeface="Tahoma" panose="020B0604030504040204" pitchFamily="34" charset="0"/>
                <a:cs typeface="Tahoma" panose="020B0604030504040204" pitchFamily="34" charset="0"/>
              </a:rPr>
              <a:t>, 1974] M. </a:t>
            </a:r>
            <a:r>
              <a:rPr lang="en-US" altLang="ja-JP" sz="2400" dirty="0" err="1">
                <a:latin typeface="Tahoma" panose="020B0604030504040204" pitchFamily="34" charset="0"/>
                <a:ea typeface="Tahoma" panose="020B0604030504040204" pitchFamily="34" charset="0"/>
                <a:cs typeface="Tahoma" panose="020B0604030504040204" pitchFamily="34" charset="0"/>
              </a:rPr>
              <a:t>Minsky</a:t>
            </a:r>
            <a:r>
              <a:rPr lang="en-US" altLang="ja-JP" sz="2400" dirty="0">
                <a:latin typeface="Tahoma" panose="020B0604030504040204" pitchFamily="34" charset="0"/>
                <a:ea typeface="Tahoma" panose="020B0604030504040204" pitchFamily="34" charset="0"/>
                <a:cs typeface="Tahoma" panose="020B0604030504040204" pitchFamily="34" charset="0"/>
              </a:rPr>
              <a:t> “A Framework for Representing Knowledge”, MIT-AI Laboratory Memo 306, 1974.</a:t>
            </a: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[Hubel, 1995] David H. Hubel, “Eye, Brain, and Vision”</a:t>
            </a: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[Horn, 1986] B. K. P. Horn, Robot Vision, MIT Press, 1986.</a:t>
            </a:r>
          </a:p>
          <a:p>
            <a:pPr marL="533400" indent="-533400" algn="just">
              <a:buClr>
                <a:srgbClr val="FF0000"/>
              </a:buClr>
              <a:buFont typeface="Wingdings" panose="05000000000000000000" pitchFamily="2" charset="2"/>
              <a:buChar char="q"/>
            </a:pPr>
            <a:r>
              <a:rPr lang="en-US" altLang="ja-JP" sz="2400" dirty="0">
                <a:latin typeface="Tahoma" panose="020B0604030504040204" pitchFamily="34" charset="0"/>
                <a:ea typeface="Tahoma" panose="020B0604030504040204" pitchFamily="34" charset="0"/>
                <a:cs typeface="Tahoma" panose="020B0604030504040204" pitchFamily="34" charset="0"/>
              </a:rPr>
              <a:t>[Ballard, 1982] D. H. Ballard and C. M. Brown, “Computer Vision”,        Prentice Hall, 1982.</a:t>
            </a:r>
          </a:p>
        </p:txBody>
      </p:sp>
      <p:sp>
        <p:nvSpPr>
          <p:cNvPr id="5" name="TextBox 4"/>
          <p:cNvSpPr txBox="1"/>
          <p:nvPr/>
        </p:nvSpPr>
        <p:spPr>
          <a:xfrm>
            <a:off x="228600" y="152400"/>
            <a:ext cx="8686800" cy="523220"/>
          </a:xfrm>
          <a:prstGeom prst="rect">
            <a:avLst/>
          </a:prstGeom>
          <a:solidFill>
            <a:schemeClr val="tx2">
              <a:lumMod val="20000"/>
              <a:lumOff val="80000"/>
            </a:schemeClr>
          </a:solidFill>
        </p:spPr>
        <p:txBody>
          <a:bodyPr wrap="square" rtlCol="0">
            <a:spAutoFit/>
          </a:bodyPr>
          <a:lstStyle/>
          <a:p>
            <a:pPr algn="ctr"/>
            <a:r>
              <a:rPr lang="en-US" altLang="ja-JP" sz="2800" b="1" dirty="0">
                <a:solidFill>
                  <a:srgbClr val="FF0000"/>
                </a:solidFill>
                <a:latin typeface="Tahoma" panose="020B0604030504040204" pitchFamily="34" charset="0"/>
                <a:ea typeface="Tahoma" panose="020B0604030504040204" pitchFamily="34" charset="0"/>
                <a:cs typeface="Tahoma" panose="020B0604030504040204" pitchFamily="34" charset="0"/>
              </a:rPr>
              <a:t>Recommended Textbooks</a:t>
            </a:r>
            <a:endParaRPr lang="en-US" sz="2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327503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11678</TotalTime>
  <Words>1599</Words>
  <Application>Microsoft Office PowerPoint</Application>
  <PresentationFormat>On-screen Show (4:3)</PresentationFormat>
  <Paragraphs>233</Paragraphs>
  <Slides>21</Slides>
  <Notes>21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vt:i4>
      </vt:variant>
    </vt:vector>
  </HeadingPairs>
  <TitlesOfParts>
    <vt:vector size="33" baseType="lpstr">
      <vt:lpstr>Arial</vt:lpstr>
      <vt:lpstr>Calibri</vt:lpstr>
      <vt:lpstr>Franklin Gothic Book</vt:lpstr>
      <vt:lpstr>Georgia</vt:lpstr>
      <vt:lpstr>Lucida Grande</vt:lpstr>
      <vt:lpstr>Perpetua</vt:lpstr>
      <vt:lpstr>Symbol</vt:lpstr>
      <vt:lpstr>Tahoma</vt:lpstr>
      <vt:lpstr>Times New Roman</vt:lpstr>
      <vt:lpstr>Wingdings</vt:lpstr>
      <vt:lpstr>Wingdings 2</vt:lpstr>
      <vt:lpstr>Equity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Recognition Algorithms to Extract Road Networks Automatically from Remotely Sensed Imagery for GIS Applications</dc:title>
  <dc:creator>User</dc:creator>
  <cp:lastModifiedBy>Snigdha Rahaman</cp:lastModifiedBy>
  <cp:revision>1245</cp:revision>
  <cp:lastPrinted>2018-11-02T10:41:56Z</cp:lastPrinted>
  <dcterms:created xsi:type="dcterms:W3CDTF">2012-10-10T03:10:51Z</dcterms:created>
  <dcterms:modified xsi:type="dcterms:W3CDTF">2025-05-07T14:58:18Z</dcterms:modified>
</cp:coreProperties>
</file>