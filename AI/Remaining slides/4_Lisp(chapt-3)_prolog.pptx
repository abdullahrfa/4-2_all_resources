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41"/>
  </p:notesMasterIdLst>
  <p:handoutMasterIdLst>
    <p:handoutMasterId r:id="rId42"/>
  </p:handoutMasterIdLst>
  <p:sldIdLst>
    <p:sldId id="429" r:id="rId2"/>
    <p:sldId id="430" r:id="rId3"/>
    <p:sldId id="431" r:id="rId4"/>
    <p:sldId id="432" r:id="rId5"/>
    <p:sldId id="433" r:id="rId6"/>
    <p:sldId id="434" r:id="rId7"/>
    <p:sldId id="446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7" r:id="rId18"/>
    <p:sldId id="448" r:id="rId19"/>
    <p:sldId id="444" r:id="rId20"/>
    <p:sldId id="449" r:id="rId21"/>
    <p:sldId id="450" r:id="rId22"/>
    <p:sldId id="451" r:id="rId23"/>
    <p:sldId id="460" r:id="rId24"/>
    <p:sldId id="461" r:id="rId25"/>
    <p:sldId id="462" r:id="rId26"/>
    <p:sldId id="463" r:id="rId27"/>
    <p:sldId id="464" r:id="rId28"/>
    <p:sldId id="465" r:id="rId29"/>
    <p:sldId id="445" r:id="rId30"/>
    <p:sldId id="452" r:id="rId31"/>
    <p:sldId id="453" r:id="rId32"/>
    <p:sldId id="466" r:id="rId33"/>
    <p:sldId id="454" r:id="rId34"/>
    <p:sldId id="455" r:id="rId35"/>
    <p:sldId id="456" r:id="rId36"/>
    <p:sldId id="467" r:id="rId37"/>
    <p:sldId id="457" r:id="rId38"/>
    <p:sldId id="458" r:id="rId39"/>
    <p:sldId id="468" r:id="rId40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19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94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94660"/>
  </p:normalViewPr>
  <p:slideViewPr>
    <p:cSldViewPr>
      <p:cViewPr varScale="1">
        <p:scale>
          <a:sx n="100" d="100"/>
          <a:sy n="100" d="100"/>
        </p:scale>
        <p:origin x="8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234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932"/>
        <p:guide pos="21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r">
              <a:defRPr sz="1200"/>
            </a:lvl1pPr>
          </a:lstStyle>
          <a:p>
            <a:fld id="{54B406EC-866D-4AAA-84EE-9578059F5FFC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r">
              <a:defRPr sz="1200"/>
            </a:lvl1pPr>
          </a:lstStyle>
          <a:p>
            <a:fld id="{538845BC-E5B8-4F76-AB4E-440694C632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11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r">
              <a:defRPr sz="1200"/>
            </a:lvl1pPr>
          </a:lstStyle>
          <a:p>
            <a:fld id="{028DF241-7479-48D7-B926-3836CF66E8CA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696913"/>
            <a:ext cx="4656138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51" tIns="46026" rIns="92051" bIns="460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2"/>
            <a:ext cx="5563870" cy="4189095"/>
          </a:xfrm>
          <a:prstGeom prst="rect">
            <a:avLst/>
          </a:prstGeom>
        </p:spPr>
        <p:txBody>
          <a:bodyPr vert="horz" lIns="92051" tIns="46026" rIns="92051" bIns="460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r">
              <a:defRPr sz="1200"/>
            </a:lvl1pPr>
          </a:lstStyle>
          <a:p>
            <a:fld id="{60658A72-D451-401C-9327-452145EF2A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5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0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0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55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18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3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14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9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39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5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57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85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43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79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39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94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239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69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77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47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23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44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521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76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32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061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894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882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564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621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032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51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638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456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993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207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750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701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66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130628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429000"/>
            <a:ext cx="6400800" cy="15240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10038-F89D-4298-8F1A-CB90076CC0D9}" type="datetime1">
              <a:rPr lang="en-US" smtClean="0"/>
              <a:t>5/5/2025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3916" y="1219200"/>
            <a:ext cx="8763000" cy="19812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CF505-B873-45F3-A961-5C44A54FA86F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34C-4D34-44D4-9F09-824BE64D3C56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FC498-0383-4E59-859A-50702E616C94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628F8-7EAA-4180-B790-F3A66853457F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5EFA-E2DD-40E4-96F1-83E178E28AE5}" type="datetime1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AB465-91DA-4DC3-BDC5-F79C236E33B9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22B2-5E53-43B8-A348-3A3F8CE77189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37A4-EB99-40EA-A21B-5911A1D36898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9BB3-5A52-4FDD-9065-9C5975AE9424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7BB2-3479-4D4B-A8C2-BF72D282B92E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FD2047-22FC-4185-9F7A-91AD22B69600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ahoma" panose="020B0604030504040204" pitchFamily="34" charset="0"/>
                <a:cs typeface="Tahoma" panose="020B0604030504040204" pitchFamily="34" charset="0"/>
              </a:rPr>
              <a:t>LISP and Other AI programming Language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ahoma" panose="020B0604030504040204" pitchFamily="34" charset="0"/>
                <a:cs typeface="Tahoma" panose="020B0604030504040204" pitchFamily="34" charset="0"/>
              </a:rPr>
              <a:t>Introduction to LISP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ahoma" panose="020B0604030504040204" pitchFamily="34" charset="0"/>
                <a:cs typeface="Tahoma" panose="020B0604030504040204" pitchFamily="34" charset="0"/>
              </a:rPr>
              <a:t>LISP: Syntax and Numeric Functions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ahoma" panose="020B0604030504040204" pitchFamily="34" charset="0"/>
                <a:cs typeface="Tahoma" panose="020B0604030504040204" pitchFamily="34" charset="0"/>
              </a:rPr>
              <a:t>List Manipulation function in LISP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Contents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445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8001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LISP 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LISt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processing) is invented by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Jhon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McCarthy during the late 1950.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The basic building blocks of LISP are the 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atom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list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,    and the 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string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An 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atom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is a number of string of contiguous characters, including numbers and special characters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List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is a sequence of atoms and/or other lists enclosed within parentheses.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String is a group of characters enclosed in double quotation 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2387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Introduction to LISP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949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001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latin typeface="Tahoma" panose="020B0604030504040204" pitchFamily="34" charset="0"/>
                <a:cs typeface="Tahoma" panose="020B0604030504040204" pitchFamily="34" charset="0"/>
              </a:rPr>
              <a:t>Atom: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sat,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week_day</a:t>
            </a:r>
            <a:endParaRPr 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800" b="1" dirty="0">
                <a:latin typeface="Tahoma" panose="020B0604030504040204" pitchFamily="34" charset="0"/>
                <a:cs typeface="Tahoma" panose="020B0604030504040204" pitchFamily="34" charset="0"/>
              </a:rPr>
              <a:t>List: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mon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tue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, wed,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thur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fri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, sat, sun)</a:t>
            </a:r>
          </a:p>
          <a:p>
            <a:pPr algn="just"/>
            <a:r>
              <a:rPr lang="en-US" sz="2800" b="1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String: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“please enter your name”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Atom, List and String are the only valid objects in LISP and they are called Symbolic expression.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Any s-expression is potentially a valid program.</a:t>
            </a:r>
            <a:endParaRPr 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2387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Example of Atom, List &amp; String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239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763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LISP programs run either on an interpreter or as compiled code.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The interpreter examines source programs in a repeated loop, called read-evaluate-print loop.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For example: sum of 3 numbers</a:t>
            </a:r>
          </a:p>
          <a:p>
            <a:pPr algn="just">
              <a:buClr>
                <a:srgbClr val="FF0000"/>
              </a:buClr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	-&gt; (+ 5 6 9)</a:t>
            </a:r>
          </a:p>
          <a:p>
            <a:pPr algn="just">
              <a:buClr>
                <a:srgbClr val="FF0000"/>
              </a:buClr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	20</a:t>
            </a:r>
          </a:p>
          <a:p>
            <a:pPr algn="just">
              <a:buClr>
                <a:srgbClr val="FF0000"/>
              </a:buClr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	-&gt;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LISP uses prefix notation.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Introduction: LISP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304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001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Convert Fahrenheit to Centigrade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C/5=(F-32)/9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or, F=C(9/5)+32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For C=50,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LISP program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-&gt;(+(*(/ 9 5)50)32)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122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-&gt;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Numerical functions: +, -, *,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Example of LISP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829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001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Clr>
                <a:srgbClr val="FF0000"/>
              </a:buClr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625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List Manipulation Functions </a:t>
            </a:r>
          </a:p>
        </p:txBody>
      </p:sp>
      <p:graphicFrame>
        <p:nvGraphicFramePr>
          <p:cNvPr id="8" name="Group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239651"/>
              </p:ext>
            </p:extLst>
          </p:nvPr>
        </p:nvGraphicFramePr>
        <p:xfrm>
          <a:off x="762000" y="1066800"/>
          <a:ext cx="7848600" cy="4144966"/>
        </p:xfrm>
        <a:graphic>
          <a:graphicData uri="http://schemas.openxmlformats.org/drawingml/2006/table">
            <a:tbl>
              <a:tblPr/>
              <a:tblGrid>
                <a:gridCol w="213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Function call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Value     returned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Remarks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(car `(a b c))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a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Car takes one argument, a list, and returns the first element.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(cdr `(a b c))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(b c)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Cdr takes one argument, a list, and returns a list with the first element removed.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(cons `a`(b c))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(a b c)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Cons takes two arguments, an element and a list and returns a list with the element inserted at the beginning.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(list `a`(b c))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(a (b c))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List takes any number arguments and returns a list with the arguments as elements.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748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001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Clr>
                <a:srgbClr val="FF0000"/>
              </a:buClr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625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List Manipulation Functions </a:t>
            </a:r>
          </a:p>
        </p:txBody>
      </p:sp>
      <p:graphicFrame>
        <p:nvGraphicFramePr>
          <p:cNvPr id="9" name="Group 10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811249"/>
              </p:ext>
            </p:extLst>
          </p:nvPr>
        </p:nvGraphicFramePr>
        <p:xfrm>
          <a:off x="533400" y="1066800"/>
          <a:ext cx="8153400" cy="4144966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Function call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Value      returned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Remarks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(append `(a) `(b c))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(a b c)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Merge two or more lists into a single list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(last `(a b c d))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(d)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return a list containing the last element.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(member `b `( a b d))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(b d)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Returns remainder of second argument list starting with element matching first argument.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(reverse `(a (b c) d))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(d (b c) a)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returns a list with top elements in reverse order.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87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3400" y="10287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setq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x `(a b c))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-&gt;x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A B C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-&gt;`x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X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setq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x (+ 3 5))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Example of (</a:t>
            </a:r>
            <a:r>
              <a:rPr lang="en-US" sz="28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setq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()) function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540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10287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800" b="1" dirty="0" err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defun</a:t>
            </a:r>
            <a:r>
              <a:rPr lang="en-US" sz="28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name (parm1 parm2 …) body)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Example: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defun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avgthree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(n1 n2 n3) (/(+n1 n2 n3) 3))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AVGTHREE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Note: its return the function name. If you call this function it will return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911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How to Define Function?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983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8763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Clr>
                <a:srgbClr val="FF0000"/>
              </a:buClr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2387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Most Common Predicate calls</a:t>
            </a:r>
          </a:p>
        </p:txBody>
      </p:sp>
      <p:graphicFrame>
        <p:nvGraphicFramePr>
          <p:cNvPr id="8" name="Group 93"/>
          <p:cNvGraphicFramePr>
            <a:graphicFrameLocks noGrp="1"/>
          </p:cNvGraphicFramePr>
          <p:nvPr/>
        </p:nvGraphicFramePr>
        <p:xfrm>
          <a:off x="1066800" y="1371600"/>
          <a:ext cx="7239000" cy="4754589"/>
        </p:xfrm>
        <a:graphic>
          <a:graphicData uri="http://schemas.openxmlformats.org/drawingml/2006/table">
            <a:tbl>
              <a:tblPr/>
              <a:tblGrid>
                <a:gridCol w="262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Function call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Value       returned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Remarks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(atom `aabb)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aabb is a valid atom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(equal `a (car `(a b))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Gulim" pitchFamily="34" charset="-127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(evenp 3)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nil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Gulim" pitchFamily="34" charset="-127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8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(oddp 3)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Gulim" pitchFamily="34" charset="-127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(numberp 10ab)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nil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Gulim" pitchFamily="34" charset="-127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9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(greaterp 2 4 27)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Arguments are successively larger 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(lessp 5 3 12)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nil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Arguments are not successively smaller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(listp `(a))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Valid list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(zerop .0001)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nil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Gulim" pitchFamily="34" charset="-127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9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(null nil)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Gulim" pitchFamily="34" charset="-127"/>
                        </a:rPr>
                        <a:t>Nil is an empty set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908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6477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Clr>
                <a:srgbClr val="FF0000"/>
              </a:buClr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2585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Conditional Statement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28600" y="1169230"/>
            <a:ext cx="4038600" cy="43434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</a:rPr>
              <a:t>The syntax for condition is,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</a:rPr>
              <a:t>cond</a:t>
            </a:r>
            <a:r>
              <a:rPr lang="en-US" sz="2400" dirty="0">
                <a:latin typeface="Times New Roman" panose="02020603050405020304" pitchFamily="18" charset="0"/>
              </a:rPr>
              <a:t>  (&lt;test</a:t>
            </a:r>
            <a:r>
              <a:rPr lang="en-US" sz="2400" baseline="-25000" dirty="0">
                <a:latin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</a:rPr>
              <a:t>&gt; &lt;action</a:t>
            </a:r>
            <a:r>
              <a:rPr lang="en-US" sz="2400" baseline="-25000" dirty="0">
                <a:latin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</a:rPr>
              <a:t>&gt;)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Times New Roman" panose="02020603050405020304" pitchFamily="18" charset="0"/>
              </a:rPr>
              <a:t>		   (&lt;test</a:t>
            </a:r>
            <a:r>
              <a:rPr 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</a:rPr>
              <a:t>&gt; &lt;action</a:t>
            </a:r>
            <a:r>
              <a:rPr 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</a:rPr>
              <a:t>&gt;)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Times New Roman" panose="02020603050405020304" pitchFamily="18" charset="0"/>
              </a:rPr>
              <a:t>			.	 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Times New Roman" panose="02020603050405020304" pitchFamily="18" charset="0"/>
              </a:rPr>
              <a:t>			.	 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Times New Roman" panose="02020603050405020304" pitchFamily="18" charset="0"/>
              </a:rPr>
              <a:t>			.           .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Times New Roman" panose="02020603050405020304" pitchFamily="18" charset="0"/>
              </a:rPr>
              <a:t>		   (&lt;</a:t>
            </a:r>
            <a:r>
              <a:rPr lang="en-US" sz="2400" dirty="0" err="1">
                <a:latin typeface="Times New Roman" panose="02020603050405020304" pitchFamily="18" charset="0"/>
              </a:rPr>
              <a:t>test</a:t>
            </a:r>
            <a:r>
              <a:rPr lang="en-US" sz="2400" baseline="-25000" dirty="0" err="1">
                <a:latin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</a:rPr>
              <a:t>&gt; &lt;</a:t>
            </a:r>
            <a:r>
              <a:rPr lang="en-US" sz="2400" dirty="0" err="1">
                <a:latin typeface="Times New Roman" panose="02020603050405020304" pitchFamily="18" charset="0"/>
              </a:rPr>
              <a:t>action</a:t>
            </a:r>
            <a:r>
              <a:rPr lang="en-US" sz="2400" baseline="-25000" dirty="0" err="1">
                <a:latin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</a:rPr>
              <a:t>&gt;))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419600" y="1169230"/>
            <a:ext cx="42672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Example: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-&gt;(</a:t>
            </a:r>
            <a:r>
              <a:rPr lang="en-US" sz="2000" b="0" dirty="0" err="1">
                <a:solidFill>
                  <a:srgbClr val="000099"/>
                </a:solidFill>
              </a:rPr>
              <a:t>defun</a:t>
            </a:r>
            <a:r>
              <a:rPr lang="en-US" sz="2000" b="0" dirty="0">
                <a:solidFill>
                  <a:srgbClr val="000099"/>
                </a:solidFill>
              </a:rPr>
              <a:t> </a:t>
            </a:r>
            <a:r>
              <a:rPr lang="en-US" sz="2000" b="0" dirty="0" err="1">
                <a:solidFill>
                  <a:srgbClr val="000099"/>
                </a:solidFill>
              </a:rPr>
              <a:t>maxthree</a:t>
            </a:r>
            <a:r>
              <a:rPr lang="en-US" sz="2000" b="0" dirty="0">
                <a:solidFill>
                  <a:srgbClr val="000099"/>
                </a:solidFill>
              </a:rPr>
              <a:t>(a b c)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	(</a:t>
            </a:r>
            <a:r>
              <a:rPr lang="en-US" sz="2000" b="0" dirty="0" err="1">
                <a:solidFill>
                  <a:srgbClr val="000099"/>
                </a:solidFill>
              </a:rPr>
              <a:t>cond</a:t>
            </a:r>
            <a:r>
              <a:rPr lang="en-US" sz="2000" b="0" dirty="0">
                <a:solidFill>
                  <a:srgbClr val="000099"/>
                </a:solidFill>
              </a:rPr>
              <a:t> ((&gt;a b) (</a:t>
            </a:r>
            <a:r>
              <a:rPr lang="en-US" sz="2000" b="0" dirty="0" err="1">
                <a:solidFill>
                  <a:srgbClr val="000099"/>
                </a:solidFill>
              </a:rPr>
              <a:t>cond</a:t>
            </a:r>
            <a:r>
              <a:rPr lang="en-US" sz="2000" b="0" dirty="0">
                <a:solidFill>
                  <a:srgbClr val="000099"/>
                </a:solidFill>
              </a:rPr>
              <a:t> ((&gt;a c) a) 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		   (t c)))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((&gt; b c) b)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(t c)))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	MAXTHREE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-&gt;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-&gt;(</a:t>
            </a:r>
            <a:r>
              <a:rPr lang="en-US" sz="2000" b="0" dirty="0" err="1">
                <a:solidFill>
                  <a:srgbClr val="000099"/>
                </a:solidFill>
              </a:rPr>
              <a:t>maxthree</a:t>
            </a:r>
            <a:r>
              <a:rPr lang="en-US" sz="2000" b="0" dirty="0">
                <a:solidFill>
                  <a:srgbClr val="000099"/>
                </a:solidFill>
              </a:rPr>
              <a:t> 20 30 10)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30</a:t>
            </a:r>
          </a:p>
          <a:p>
            <a:pPr eaLnBrk="1" latin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-&gt;</a:t>
            </a:r>
          </a:p>
        </p:txBody>
      </p:sp>
    </p:spTree>
    <p:extLst>
      <p:ext uri="{BB962C8B-B14F-4D97-AF65-F5344CB8AC3E}">
        <p14:creationId xmlns:p14="http://schemas.microsoft.com/office/powerpoint/2010/main" val="3816900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Clr>
                <a:srgbClr val="FF0000"/>
              </a:buClr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Input, Output Variables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09600" y="2057400"/>
            <a:ext cx="3352800" cy="4114800"/>
          </a:xfrm>
          <a:prstGeom prst="rect">
            <a:avLst/>
          </a:prstGeom>
        </p:spPr>
        <p:txBody>
          <a:bodyPr rtlCol="0">
            <a:normAutofit lnSpcReduction="100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read: 	-&gt;(+ 5 (read))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6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11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-&gt;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print:  -&gt;(print`(a b c))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 (A B C)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 (A B C)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-&gt;(print “hello”)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“hello”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400">
                <a:latin typeface="Times New Roman" panose="02020603050405020304" pitchFamily="18" charset="0"/>
              </a:rPr>
              <a:t>		“hello”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962400" y="1447800"/>
            <a:ext cx="4800600" cy="464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 err="1"/>
              <a:t>prinl</a:t>
            </a:r>
            <a:r>
              <a:rPr lang="en-US" sz="2000" b="0" dirty="0"/>
              <a:t>: print without new line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 err="1"/>
              <a:t>princ</a:t>
            </a:r>
            <a:r>
              <a:rPr lang="en-US" sz="2000" b="0" dirty="0"/>
              <a:t>: remove double quotation marks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 err="1"/>
              <a:t>terpri</a:t>
            </a:r>
            <a:r>
              <a:rPr lang="en-US" sz="2000" b="0" dirty="0"/>
              <a:t>: it does not take arguments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/>
              <a:t>It introduces a new line whenever it appears and then returns nil.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-&gt;(</a:t>
            </a:r>
            <a:r>
              <a:rPr lang="en-US" sz="2000" b="0" dirty="0" err="1">
                <a:solidFill>
                  <a:srgbClr val="000099"/>
                </a:solidFill>
              </a:rPr>
              <a:t>defun</a:t>
            </a:r>
            <a:r>
              <a:rPr lang="en-US" sz="2000" b="0" dirty="0">
                <a:solidFill>
                  <a:srgbClr val="000099"/>
                </a:solidFill>
              </a:rPr>
              <a:t> circle-area()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</a:t>
            </a:r>
            <a:r>
              <a:rPr lang="en-US" sz="2000" b="0" dirty="0" err="1">
                <a:solidFill>
                  <a:srgbClr val="000099"/>
                </a:solidFill>
              </a:rPr>
              <a:t>terpri</a:t>
            </a:r>
            <a:r>
              <a:rPr lang="en-US" sz="2000" b="0" dirty="0">
                <a:solidFill>
                  <a:srgbClr val="000099"/>
                </a:solidFill>
              </a:rPr>
              <a:t>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</a:t>
            </a:r>
            <a:r>
              <a:rPr lang="en-US" sz="2000" b="0" dirty="0" err="1">
                <a:solidFill>
                  <a:srgbClr val="000099"/>
                </a:solidFill>
              </a:rPr>
              <a:t>princ</a:t>
            </a:r>
            <a:r>
              <a:rPr lang="en-US" sz="2000" b="0" dirty="0">
                <a:solidFill>
                  <a:srgbClr val="000099"/>
                </a:solidFill>
              </a:rPr>
              <a:t> “Please enter the radius:”)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</a:t>
            </a:r>
            <a:r>
              <a:rPr lang="en-US" sz="2000" b="0" dirty="0" err="1">
                <a:solidFill>
                  <a:srgbClr val="000099"/>
                </a:solidFill>
              </a:rPr>
              <a:t>setq</a:t>
            </a:r>
            <a:r>
              <a:rPr lang="en-US" sz="2000" b="0" dirty="0">
                <a:solidFill>
                  <a:srgbClr val="000099"/>
                </a:solidFill>
              </a:rPr>
              <a:t> radius (read))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</a:t>
            </a:r>
            <a:r>
              <a:rPr lang="en-US" sz="2000" b="0" dirty="0" err="1">
                <a:solidFill>
                  <a:srgbClr val="000099"/>
                </a:solidFill>
              </a:rPr>
              <a:t>princ</a:t>
            </a:r>
            <a:r>
              <a:rPr lang="en-US" sz="2000" b="0" dirty="0">
                <a:solidFill>
                  <a:srgbClr val="000099"/>
                </a:solidFill>
              </a:rPr>
              <a:t> “ The area of the circle is:”)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</a:t>
            </a:r>
            <a:r>
              <a:rPr lang="en-US" sz="2000" b="0" dirty="0" err="1">
                <a:solidFill>
                  <a:srgbClr val="000099"/>
                </a:solidFill>
              </a:rPr>
              <a:t>princ</a:t>
            </a:r>
            <a:r>
              <a:rPr lang="en-US" sz="2000" b="0" dirty="0">
                <a:solidFill>
                  <a:srgbClr val="000099"/>
                </a:solidFill>
              </a:rPr>
              <a:t> (* 3.1416 radius radius))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(</a:t>
            </a:r>
            <a:r>
              <a:rPr lang="en-US" sz="2000" b="0" dirty="0" err="1">
                <a:solidFill>
                  <a:srgbClr val="000099"/>
                </a:solidFill>
              </a:rPr>
              <a:t>terpri</a:t>
            </a:r>
            <a:r>
              <a:rPr lang="en-US" sz="2000" b="0" dirty="0">
                <a:solidFill>
                  <a:srgbClr val="000099"/>
                </a:solidFill>
              </a:rPr>
              <a:t>))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 dirty="0">
                <a:solidFill>
                  <a:srgbClr val="000099"/>
                </a:solidFill>
              </a:rPr>
              <a:t>CIRCLE-AREA</a:t>
            </a:r>
          </a:p>
        </p:txBody>
      </p:sp>
    </p:spTree>
    <p:extLst>
      <p:ext uri="{BB962C8B-B14F-4D97-AF65-F5344CB8AC3E}">
        <p14:creationId xmlns:p14="http://schemas.microsoft.com/office/powerpoint/2010/main" val="774355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Clr>
                <a:srgbClr val="FF0000"/>
              </a:buClr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Input, Output Variables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85800" y="1066800"/>
            <a:ext cx="4419600" cy="41148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-&gt;(</a:t>
            </a:r>
            <a:r>
              <a:rPr 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defun</a:t>
            </a: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circle-area()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terpri</a:t>
            </a: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princ</a:t>
            </a: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“Please enter the radius:”)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setq</a:t>
            </a: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radius (read))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princ</a:t>
            </a: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“ The area of the circle is:”)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princ</a:t>
            </a: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(* 3.1416 radius radius))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terpri</a:t>
            </a: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CIRCLE-AREA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105400" y="1143000"/>
            <a:ext cx="37338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b="0"/>
              <a:t>-&gt;(circle-area)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endParaRPr lang="en-US" b="0"/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b="0"/>
              <a:t>Please enter the radius: 4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sz="2000" b="0"/>
              <a:t>The area of the circle is: 50.2656</a:t>
            </a:r>
          </a:p>
          <a:p>
            <a:pPr eaLnBrk="1" latin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en-US" b="0"/>
              <a:t>-&gt;</a:t>
            </a:r>
          </a:p>
        </p:txBody>
      </p:sp>
    </p:spTree>
    <p:extLst>
      <p:ext uri="{BB962C8B-B14F-4D97-AF65-F5344CB8AC3E}">
        <p14:creationId xmlns:p14="http://schemas.microsoft.com/office/powerpoint/2010/main" val="1859408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 </a:t>
            </a: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defun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factorial(n)</a:t>
            </a:r>
          </a:p>
          <a:p>
            <a:r>
              <a:rPr lang="en-US" sz="2800" dirty="0">
                <a:solidFill>
                  <a:schemeClr val="hlink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	</a:t>
            </a:r>
            <a:r>
              <a:rPr lang="en-US" sz="28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800" b="1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do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(count n (-count 1))</a:t>
            </a:r>
          </a:p>
          <a:p>
            <a:r>
              <a:rPr lang="en-US" sz="2800" dirty="0">
                <a:solidFill>
                  <a:schemeClr val="hlink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	</a:t>
            </a: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product n (* product (-count 1))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	((equal 0 count) </a:t>
            </a: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product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2800" dirty="0">
                <a:solidFill>
                  <a:schemeClr val="tx2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	FACTORIAL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-&gt;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Iteration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9613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763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One of the unique and most useful features of LISP as an AI language is the ability to assign properties to atoms.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Example: properties of a car are make, year, color, style, etc.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Property Lists and Arrays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3938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The function </a:t>
            </a:r>
            <a:r>
              <a:rPr lang="en-US" sz="2800" b="1" dirty="0" err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putprop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assign properties to an atom or objects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800" dirty="0" err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purtop</a:t>
            </a: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object value attribute)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putprop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`car `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toyota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`make)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TOYOTA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putprop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`car 1998 `year)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1998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putprop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`car `red `color)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RED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putprop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`car `four-door `style)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	FOUR-DOOR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Property Lists and Arrays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3901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remprop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: remove properties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get: retrieve property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Example: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 (get `car `color)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RED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 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remprop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`car `color)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RED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-&gt;(get `car `color)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Property Lists and Arrays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5151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Arrays: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setf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myarray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(make-array `(10)))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#A(NIL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NIL)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To access array: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aref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myarray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9)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NIL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Store: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setf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aref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myarray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0) 25)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25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-&gt;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Property Lists and Arrays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1313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PROLOG 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PROgramming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LOGic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Invented by Alain 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Colmerauer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, 1970.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Programming in PROLOG is accomplished by creating a data base of facts and rules about objects, their properties, and their relationships to other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PROLOG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8569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sister(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sue,bill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parent(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ann,sam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parent(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joe,ann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male(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joe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female(</a:t>
            </a:r>
            <a:r>
              <a:rPr lang="en-US" sz="2800" dirty="0" err="1">
                <a:latin typeface="Tahoma" panose="020B0604030504040204" pitchFamily="34" charset="0"/>
                <a:cs typeface="Tahoma" panose="020B0604030504040204" pitchFamily="34" charset="0"/>
              </a:rPr>
              <a:t>ann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grandfather(X,Z):-parent(X,Y), parent(Y,Z), male(X)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PROLOG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051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For all X,Y, and Z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X is the grandfather of Z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If X is the parent of Y, and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Y is the parent of Z, and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X is male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PROLOG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7200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PROLOG means </a:t>
            </a:r>
            <a:r>
              <a:rPr lang="en-US" sz="2800" dirty="0" err="1">
                <a:latin typeface="Tahoma" panose="020B0604030504040204" pitchFamily="34" charset="0"/>
              </a:rPr>
              <a:t>PROgramming</a:t>
            </a:r>
            <a:r>
              <a:rPr lang="en-US" sz="2800" dirty="0">
                <a:latin typeface="Tahoma" panose="020B0604030504040204" pitchFamily="34" charset="0"/>
              </a:rPr>
              <a:t> in </a:t>
            </a:r>
            <a:r>
              <a:rPr lang="en-US" sz="2800" dirty="0" err="1">
                <a:latin typeface="Tahoma" panose="020B0604030504040204" pitchFamily="34" charset="0"/>
              </a:rPr>
              <a:t>LOGic</a:t>
            </a:r>
            <a:endParaRPr lang="en-US" sz="2800" dirty="0">
              <a:latin typeface="Tahoma" panose="020B0604030504040204" pitchFamily="34" charset="0"/>
            </a:endParaRP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</a:rPr>
              <a:t>The programmer uses the system to draw inferences from facts and rules</a:t>
            </a:r>
          </a:p>
          <a:p>
            <a:pPr marL="457200" indent="-457200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PROLOG is 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</a:rPr>
              <a:t>declarative - specify facts and logical relationships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</a:rPr>
              <a:t>symbolic - symbols are used to represent objects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</a:rPr>
              <a:t>high level - contains a built-in problem solving mechanism</a:t>
            </a:r>
          </a:p>
          <a:p>
            <a:pPr marL="457200" indent="-457200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PROLOG Programs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</a:rPr>
              <a:t>solve problems by declaring objects and their relationships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PROLOG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177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14730" y="7620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PROLOG Programmer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Loads facts and rules into the database.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Makes queries to the database to see if a fact is: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database or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implied from the facts and rules therein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524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PROLOG Paradigm</a:t>
            </a:r>
          </a:p>
        </p:txBody>
      </p:sp>
      <p:sp>
        <p:nvSpPr>
          <p:cNvPr id="8" name="Rectangle 73"/>
          <p:cNvSpPr>
            <a:spLocks noChangeArrowheads="1"/>
          </p:cNvSpPr>
          <p:nvPr/>
        </p:nvSpPr>
        <p:spPr bwMode="auto">
          <a:xfrm>
            <a:off x="304800" y="3048000"/>
            <a:ext cx="5410200" cy="2362200"/>
          </a:xfrm>
          <a:prstGeom prst="rect">
            <a:avLst/>
          </a:prstGeom>
          <a:solidFill>
            <a:srgbClr val="00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dirty="0">
                <a:latin typeface="Tahoma" panose="020B0604030504040204" pitchFamily="34" charset="0"/>
              </a:rPr>
              <a:t>Facts: 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dirty="0">
                <a:latin typeface="Tahoma" panose="020B0604030504040204" pitchFamily="34" charset="0"/>
              </a:rPr>
              <a:t>		</a:t>
            </a:r>
            <a:r>
              <a:rPr lang="en-US" dirty="0" err="1">
                <a:latin typeface="Tahoma" panose="020B0604030504040204" pitchFamily="34" charset="0"/>
              </a:rPr>
              <a:t>isa</a:t>
            </a:r>
            <a:r>
              <a:rPr lang="en-US" dirty="0">
                <a:latin typeface="Tahoma" panose="020B0604030504040204" pitchFamily="34" charset="0"/>
              </a:rPr>
              <a:t>(dog, mammal).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dirty="0" err="1">
                <a:latin typeface="Tahoma" panose="020B0604030504040204" pitchFamily="34" charset="0"/>
              </a:rPr>
              <a:t>isa</a:t>
            </a:r>
            <a:r>
              <a:rPr lang="en-US" dirty="0">
                <a:latin typeface="Tahoma" panose="020B0604030504040204" pitchFamily="34" charset="0"/>
              </a:rPr>
              <a:t>		     </a:t>
            </a:r>
            <a:r>
              <a:rPr lang="en-US" b="1" dirty="0">
                <a:latin typeface="Tahoma" panose="020B0604030504040204" pitchFamily="34" charset="0"/>
              </a:rPr>
              <a:t>= predicate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dirty="0">
                <a:latin typeface="Tahoma" panose="020B0604030504040204" pitchFamily="34" charset="0"/>
              </a:rPr>
              <a:t>(dog, mammal) </a:t>
            </a:r>
            <a:r>
              <a:rPr lang="en-US" b="1" dirty="0">
                <a:latin typeface="Tahoma" panose="020B0604030504040204" pitchFamily="34" charset="0"/>
              </a:rPr>
              <a:t>= argument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dirty="0">
                <a:latin typeface="Tahoma" panose="020B0604030504040204" pitchFamily="34" charset="0"/>
              </a:rPr>
              <a:t>2 			     </a:t>
            </a:r>
            <a:r>
              <a:rPr lang="en-US" b="1" dirty="0">
                <a:latin typeface="Tahoma" panose="020B0604030504040204" pitchFamily="34" charset="0"/>
              </a:rPr>
              <a:t>= binary</a:t>
            </a:r>
            <a:r>
              <a:rPr lang="en-US" sz="32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9" name="Rectangle 60"/>
          <p:cNvSpPr>
            <a:spLocks noChangeArrowheads="1"/>
          </p:cNvSpPr>
          <p:nvPr/>
        </p:nvSpPr>
        <p:spPr bwMode="auto">
          <a:xfrm>
            <a:off x="6153150" y="4089503"/>
            <a:ext cx="2576513" cy="1235075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endParaRPr kumimoji="0" lang="en-US"/>
          </a:p>
          <a:p>
            <a:pPr eaLnBrk="0" hangingPunct="0"/>
            <a:r>
              <a:rPr kumimoji="0" lang="en-US"/>
              <a:t>PROLOG database</a:t>
            </a:r>
          </a:p>
          <a:p>
            <a:pPr eaLnBrk="0" hangingPunct="0"/>
            <a:endParaRPr kumimoji="0" lang="en-US"/>
          </a:p>
        </p:txBody>
      </p:sp>
      <p:sp>
        <p:nvSpPr>
          <p:cNvPr id="10" name="Rectangle 61"/>
          <p:cNvSpPr>
            <a:spLocks noChangeArrowheads="1"/>
          </p:cNvSpPr>
          <p:nvPr/>
        </p:nvSpPr>
        <p:spPr bwMode="auto">
          <a:xfrm>
            <a:off x="6629400" y="2508353"/>
            <a:ext cx="1320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kumimoji="0" lang="en-US"/>
              <a:t>Queries</a:t>
            </a:r>
          </a:p>
        </p:txBody>
      </p:sp>
      <p:sp>
        <p:nvSpPr>
          <p:cNvPr id="11" name="Rectangle 62"/>
          <p:cNvSpPr>
            <a:spLocks noChangeArrowheads="1"/>
          </p:cNvSpPr>
          <p:nvPr/>
        </p:nvSpPr>
        <p:spPr bwMode="auto">
          <a:xfrm>
            <a:off x="5943600" y="6242153"/>
            <a:ext cx="939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kumimoji="0" lang="en-US"/>
              <a:t>Facts</a:t>
            </a:r>
          </a:p>
        </p:txBody>
      </p:sp>
      <p:sp>
        <p:nvSpPr>
          <p:cNvPr id="12" name="Rectangle 63"/>
          <p:cNvSpPr>
            <a:spLocks noChangeArrowheads="1"/>
          </p:cNvSpPr>
          <p:nvPr/>
        </p:nvSpPr>
        <p:spPr bwMode="auto">
          <a:xfrm>
            <a:off x="7696200" y="6242153"/>
            <a:ext cx="939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kumimoji="0" lang="en-US"/>
              <a:t>Rules</a:t>
            </a:r>
          </a:p>
        </p:txBody>
      </p:sp>
      <p:sp>
        <p:nvSpPr>
          <p:cNvPr id="13" name="Line 66"/>
          <p:cNvSpPr>
            <a:spLocks noChangeShapeType="1"/>
          </p:cNvSpPr>
          <p:nvPr/>
        </p:nvSpPr>
        <p:spPr bwMode="auto">
          <a:xfrm>
            <a:off x="7183438" y="2916341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69"/>
          <p:cNvSpPr>
            <a:spLocks noChangeShapeType="1"/>
          </p:cNvSpPr>
          <p:nvPr/>
        </p:nvSpPr>
        <p:spPr bwMode="auto">
          <a:xfrm flipV="1">
            <a:off x="6400800" y="5345216"/>
            <a:ext cx="609600" cy="914400"/>
          </a:xfrm>
          <a:prstGeom prst="line">
            <a:avLst/>
          </a:prstGeom>
          <a:noFill/>
          <a:ln w="9525">
            <a:solidFill>
              <a:srgbClr val="00FF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70"/>
          <p:cNvSpPr>
            <a:spLocks noChangeShapeType="1"/>
          </p:cNvSpPr>
          <p:nvPr/>
        </p:nvSpPr>
        <p:spPr bwMode="auto">
          <a:xfrm flipH="1" flipV="1">
            <a:off x="7467600" y="5345216"/>
            <a:ext cx="609600" cy="914400"/>
          </a:xfrm>
          <a:prstGeom prst="line">
            <a:avLst/>
          </a:prstGeom>
          <a:noFill/>
          <a:ln w="9525">
            <a:solidFill>
              <a:srgbClr val="00FF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3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</a:rPr>
              <a:t>Predicates (clauses)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dirty="0">
                <a:latin typeface="Tahoma" panose="020B0604030504040204" pitchFamily="34" charset="0"/>
              </a:rPr>
              <a:t>    In this example, both “</a:t>
            </a:r>
            <a:r>
              <a:rPr lang="en-US" dirty="0" err="1">
                <a:latin typeface="Tahoma" panose="020B0604030504040204" pitchFamily="34" charset="0"/>
              </a:rPr>
              <a:t>isa</a:t>
            </a:r>
            <a:r>
              <a:rPr lang="en-US" dirty="0">
                <a:latin typeface="Tahoma" panose="020B0604030504040204" pitchFamily="34" charset="0"/>
              </a:rPr>
              <a:t>” and “animal” are examples of predicates.</a:t>
            </a:r>
          </a:p>
          <a:p>
            <a:pPr marL="285750" indent="-285750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</a:rPr>
              <a:t>Predicates are used to indicate relations between objects and hence can represent FACTS and RULES.</a:t>
            </a:r>
          </a:p>
          <a:p>
            <a:pPr marL="285750" indent="-285750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</a:rPr>
              <a:t>Two ways to use predicates in a query: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200" dirty="0">
                <a:latin typeface="Tahoma" panose="020B0604030504040204" pitchFamily="34" charset="0"/>
              </a:rPr>
              <a:t>1. As a TRUE/FALSE test: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200" dirty="0">
                <a:latin typeface="Tahoma" panose="020B0604030504040204" pitchFamily="34" charset="0"/>
              </a:rPr>
              <a:t>?- </a:t>
            </a:r>
            <a:r>
              <a:rPr lang="en-US" sz="2200" dirty="0" err="1">
                <a:latin typeface="Tahoma" panose="020B0604030504040204" pitchFamily="34" charset="0"/>
              </a:rPr>
              <a:t>isa</a:t>
            </a:r>
            <a:r>
              <a:rPr lang="en-US" sz="2200" dirty="0">
                <a:latin typeface="Tahoma" panose="020B0604030504040204" pitchFamily="34" charset="0"/>
              </a:rPr>
              <a:t>(dog, mammal).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200" dirty="0">
                <a:latin typeface="Tahoma" panose="020B0604030504040204" pitchFamily="34" charset="0"/>
              </a:rPr>
              <a:t>yes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200" dirty="0">
                <a:latin typeface="Tahoma" panose="020B0604030504040204" pitchFamily="34" charset="0"/>
              </a:rPr>
              <a:t>2. For DATA RETRIEVAL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200" dirty="0">
                <a:latin typeface="Tahoma" panose="020B0604030504040204" pitchFamily="34" charset="0"/>
              </a:rPr>
              <a:t>?- </a:t>
            </a:r>
            <a:r>
              <a:rPr lang="en-US" sz="2200" dirty="0" err="1">
                <a:latin typeface="Tahoma" panose="020B0604030504040204" pitchFamily="34" charset="0"/>
              </a:rPr>
              <a:t>isa</a:t>
            </a:r>
            <a:r>
              <a:rPr lang="en-US" sz="2200" dirty="0">
                <a:latin typeface="Tahoma" panose="020B0604030504040204" pitchFamily="34" charset="0"/>
              </a:rPr>
              <a:t>(dog, X).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200" dirty="0">
                <a:latin typeface="Tahoma" panose="020B0604030504040204" pitchFamily="34" charset="0"/>
              </a:rPr>
              <a:t>X = mammal</a:t>
            </a:r>
          </a:p>
          <a:p>
            <a:endParaRPr 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PROLOG Paradigm</a:t>
            </a:r>
          </a:p>
        </p:txBody>
      </p:sp>
      <p:sp>
        <p:nvSpPr>
          <p:cNvPr id="14" name="Rectangle 1054"/>
          <p:cNvSpPr>
            <a:spLocks noChangeArrowheads="1"/>
          </p:cNvSpPr>
          <p:nvPr/>
        </p:nvSpPr>
        <p:spPr bwMode="auto">
          <a:xfrm>
            <a:off x="6138160" y="3684769"/>
            <a:ext cx="2576513" cy="1235075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endParaRPr kumimoji="0" lang="en-US"/>
          </a:p>
          <a:p>
            <a:pPr eaLnBrk="0" hangingPunct="0"/>
            <a:r>
              <a:rPr kumimoji="0" lang="en-US"/>
              <a:t>PROLOG database</a:t>
            </a:r>
          </a:p>
          <a:p>
            <a:pPr eaLnBrk="0" hangingPunct="0"/>
            <a:endParaRPr kumimoji="0" lang="en-US"/>
          </a:p>
        </p:txBody>
      </p:sp>
      <p:sp>
        <p:nvSpPr>
          <p:cNvPr id="15" name="Rectangle 1055"/>
          <p:cNvSpPr>
            <a:spLocks noChangeArrowheads="1"/>
          </p:cNvSpPr>
          <p:nvPr/>
        </p:nvSpPr>
        <p:spPr bwMode="auto">
          <a:xfrm>
            <a:off x="6614410" y="2103619"/>
            <a:ext cx="1320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kumimoji="0" lang="en-US"/>
              <a:t>Queries</a:t>
            </a:r>
          </a:p>
        </p:txBody>
      </p:sp>
      <p:sp>
        <p:nvSpPr>
          <p:cNvPr id="16" name="Rectangle 1056"/>
          <p:cNvSpPr>
            <a:spLocks noChangeArrowheads="1"/>
          </p:cNvSpPr>
          <p:nvPr/>
        </p:nvSpPr>
        <p:spPr bwMode="auto">
          <a:xfrm>
            <a:off x="5928610" y="5837419"/>
            <a:ext cx="939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kumimoji="0" lang="en-US"/>
              <a:t>Facts</a:t>
            </a:r>
          </a:p>
        </p:txBody>
      </p:sp>
      <p:sp>
        <p:nvSpPr>
          <p:cNvPr id="17" name="Rectangle 1057"/>
          <p:cNvSpPr>
            <a:spLocks noChangeArrowheads="1"/>
          </p:cNvSpPr>
          <p:nvPr/>
        </p:nvSpPr>
        <p:spPr bwMode="auto">
          <a:xfrm>
            <a:off x="7681210" y="5837419"/>
            <a:ext cx="939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kumimoji="0" lang="en-US"/>
              <a:t>Rules</a:t>
            </a:r>
          </a:p>
        </p:txBody>
      </p:sp>
      <p:sp>
        <p:nvSpPr>
          <p:cNvPr id="18" name="Line 1058"/>
          <p:cNvSpPr>
            <a:spLocks noChangeShapeType="1"/>
          </p:cNvSpPr>
          <p:nvPr/>
        </p:nvSpPr>
        <p:spPr bwMode="auto">
          <a:xfrm>
            <a:off x="7168448" y="2511607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059"/>
          <p:cNvSpPr>
            <a:spLocks noChangeShapeType="1"/>
          </p:cNvSpPr>
          <p:nvPr/>
        </p:nvSpPr>
        <p:spPr bwMode="auto">
          <a:xfrm flipV="1">
            <a:off x="6385810" y="4940482"/>
            <a:ext cx="609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060"/>
          <p:cNvSpPr>
            <a:spLocks noChangeShapeType="1"/>
          </p:cNvSpPr>
          <p:nvPr/>
        </p:nvSpPr>
        <p:spPr bwMode="auto">
          <a:xfrm flipH="1" flipV="1">
            <a:off x="7452610" y="4940482"/>
            <a:ext cx="609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41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Constants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Atoms</a:t>
            </a:r>
          </a:p>
          <a:p>
            <a:pPr marL="1371600" lvl="2" indent="-4572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Alphanumeric atoms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alphabetic character sequence starting with a lower case letter</a:t>
            </a:r>
          </a:p>
          <a:p>
            <a:pPr lvl="2">
              <a:lnSpc>
                <a:spcPct val="90000"/>
              </a:lnSpc>
              <a:buFont typeface="Monotype Sorts" pitchFamily="2" charset="2"/>
              <a:buNone/>
            </a:pP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 apple a1  </a:t>
            </a:r>
            <a:r>
              <a:rPr lang="en-US" sz="2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apple_cart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71600" lvl="2" indent="-4572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Quoted atoms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sequence of characters surrounded by single quotes</a:t>
            </a:r>
          </a:p>
          <a:p>
            <a:pPr lvl="2">
              <a:lnSpc>
                <a:spcPct val="90000"/>
              </a:lnSpc>
              <a:buFont typeface="Monotype Sorts" pitchFamily="2" charset="2"/>
              <a:buNone/>
            </a:pP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 ‘Apple’  ‘hello world’</a:t>
            </a:r>
          </a:p>
          <a:p>
            <a:pPr marL="1371600" lvl="2" indent="-4572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Symbolic atoms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sequence of symbolic characters</a:t>
            </a:r>
          </a:p>
          <a:p>
            <a:pPr lvl="2">
              <a:lnSpc>
                <a:spcPct val="90000"/>
              </a:lnSpc>
              <a:buFont typeface="Monotype Sorts" pitchFamily="2" charset="2"/>
              <a:buNone/>
            </a:pP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 &amp;  &lt;  &gt;  *  -  +  &gt;&gt;</a:t>
            </a:r>
          </a:p>
          <a:p>
            <a:pPr marL="1371600" lvl="2" indent="-457200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atoms</a:t>
            </a:r>
          </a:p>
          <a:p>
            <a:pPr lvl="2">
              <a:lnSpc>
                <a:spcPct val="90000"/>
              </a:lnSpc>
              <a:buFont typeface="Monotype Sorts" pitchFamily="2" charset="2"/>
              <a:buNone/>
            </a:pP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 !  ;  [ ] {}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Numbers</a:t>
            </a:r>
          </a:p>
          <a:p>
            <a:pPr lvl="2">
              <a:lnSpc>
                <a:spcPct val="90000"/>
              </a:lnSpc>
            </a:pP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Integers and Floating Point numbers</a:t>
            </a:r>
          </a:p>
          <a:p>
            <a:pPr lvl="2">
              <a:lnSpc>
                <a:spcPct val="90000"/>
              </a:lnSpc>
              <a:buFont typeface="Monotype Sorts" pitchFamily="2" charset="2"/>
              <a:buNone/>
            </a:pP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 0  1  9821  -10  1.3   -1.3E102</a:t>
            </a:r>
          </a:p>
          <a:p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PROLOG syntax</a:t>
            </a:r>
          </a:p>
        </p:txBody>
      </p:sp>
    </p:spTree>
    <p:extLst>
      <p:ext uri="{BB962C8B-B14F-4D97-AF65-F5344CB8AC3E}">
        <p14:creationId xmlns:p14="http://schemas.microsoft.com/office/powerpoint/2010/main" val="3213615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Names</a:t>
            </a:r>
          </a:p>
          <a:p>
            <a:pPr lvl="1">
              <a:buFontTx/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sequence of alphanumeric characters beginning with an upper case letter or an underscore</a:t>
            </a:r>
          </a:p>
          <a:p>
            <a:pPr lvl="2"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 Anything   _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X </a:t>
            </a:r>
          </a:p>
          <a:p>
            <a:pPr lvl="2">
              <a:buFont typeface="Monotype Sorts" pitchFamily="2" charset="2"/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Compound Terms (structures)</a:t>
            </a:r>
          </a:p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atom followed by an argument list containing terms. The arguments are enclosed within brackets and separated by commas</a:t>
            </a:r>
          </a:p>
          <a:p>
            <a:pPr lvl="2"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(dog, mammal)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PROLOG syntax</a:t>
            </a:r>
          </a:p>
        </p:txBody>
      </p:sp>
    </p:spTree>
    <p:extLst>
      <p:ext uri="{BB962C8B-B14F-4D97-AF65-F5344CB8AC3E}">
        <p14:creationId xmlns:p14="http://schemas.microsoft.com/office/powerpoint/2010/main" val="638828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7620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Monotype Sorts" pitchFamily="2" charset="2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Reminder: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solving in PROLOG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insert facts and rules into the database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ask questions (queries) based on the contents of the database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Facts</a:t>
            </a:r>
          </a:p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to represent unchanging information about objects and their relationships.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facts in the PROLOG database can be used for problem solving.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 facts into the database by,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typing the facts into a file and loading (consulting) the file into a running PROLOG system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Interaction</a:t>
            </a:r>
          </a:p>
        </p:txBody>
      </p:sp>
    </p:spTree>
    <p:extLst>
      <p:ext uri="{BB962C8B-B14F-4D97-AF65-F5344CB8AC3E}">
        <p14:creationId xmlns:p14="http://schemas.microsoft.com/office/powerpoint/2010/main" val="3136551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Queries</a:t>
            </a:r>
          </a:p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Retrieve information from the database by entering QUERIES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query,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pattern that PROLOG is asked to </a:t>
            </a:r>
            <a:r>
              <a:rPr lang="en-US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against the database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 the syntax of a compound query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contain variables</a:t>
            </a:r>
          </a:p>
          <a:p>
            <a:pPr lvl="2">
              <a:buFont typeface="Monotype Sorts" pitchFamily="2" charset="2"/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query will cause PROLOG to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at the database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to find a match for the query pattern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execute the body of the matching head</a:t>
            </a:r>
          </a:p>
          <a:p>
            <a:pPr marL="1371600" lvl="2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Interaction</a:t>
            </a:r>
          </a:p>
        </p:txBody>
      </p:sp>
    </p:spTree>
    <p:extLst>
      <p:ext uri="{BB962C8B-B14F-4D97-AF65-F5344CB8AC3E}">
        <p14:creationId xmlns:p14="http://schemas.microsoft.com/office/powerpoint/2010/main" val="3024280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3810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Assume that the database contains: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likes(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hasan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likes(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belal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likes(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mohsin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actual system interaction looks like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?- likes(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hasan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yes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?- likes(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mohsin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?- likes(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mohsin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X).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=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Interaction</a:t>
            </a:r>
          </a:p>
        </p:txBody>
      </p:sp>
    </p:spTree>
    <p:extLst>
      <p:ext uri="{BB962C8B-B14F-4D97-AF65-F5344CB8AC3E}">
        <p14:creationId xmlns:p14="http://schemas.microsoft.com/office/powerpoint/2010/main" val="1843758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763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3200" dirty="0">
                <a:latin typeface="Tahoma" panose="020B0604030504040204" pitchFamily="34" charset="0"/>
              </a:rPr>
              <a:t>Reminder: a variable starts with a capital letter or underscore.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3200" dirty="0">
                <a:latin typeface="Tahoma" panose="020B0604030504040204" pitchFamily="34" charset="0"/>
              </a:rPr>
              <a:t>When a variable is used, PROLOG tries to find a match (</a:t>
            </a:r>
            <a:r>
              <a:rPr lang="en-US" sz="3200" i="1" dirty="0">
                <a:latin typeface="Tahoma" panose="020B0604030504040204" pitchFamily="34" charset="0"/>
              </a:rPr>
              <a:t>instantiation</a:t>
            </a:r>
            <a:r>
              <a:rPr lang="en-US" sz="3200" dirty="0">
                <a:latin typeface="Tahoma" panose="020B0604030504040204" pitchFamily="34" charset="0"/>
              </a:rPr>
              <a:t>) for it.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</a:rPr>
              <a:t>?-likes(Who, </a:t>
            </a:r>
            <a:r>
              <a:rPr lang="en-US" sz="2800" dirty="0" err="1">
                <a:latin typeface="Tahoma" panose="020B0604030504040204" pitchFamily="34" charset="0"/>
              </a:rPr>
              <a:t>rita</a:t>
            </a:r>
            <a:r>
              <a:rPr lang="en-US" sz="2800" dirty="0">
                <a:latin typeface="Tahoma" panose="020B0604030504040204" pitchFamily="34" charset="0"/>
              </a:rPr>
              <a:t>).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</a:rPr>
              <a:t>Who = </a:t>
            </a:r>
            <a:r>
              <a:rPr lang="en-US" sz="2800" dirty="0" err="1">
                <a:latin typeface="Tahoma" panose="020B0604030504040204" pitchFamily="34" charset="0"/>
              </a:rPr>
              <a:t>hasan</a:t>
            </a:r>
            <a:r>
              <a:rPr lang="en-US" sz="2800" dirty="0">
                <a:latin typeface="Tahoma" panose="020B0604030504040204" pitchFamily="34" charset="0"/>
              </a:rPr>
              <a:t>;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</a:rPr>
              <a:t>Who = </a:t>
            </a:r>
            <a:r>
              <a:rPr lang="en-US" sz="2800" dirty="0" err="1">
                <a:latin typeface="Tahoma" panose="020B0604030504040204" pitchFamily="34" charset="0"/>
              </a:rPr>
              <a:t>belal</a:t>
            </a:r>
            <a:r>
              <a:rPr lang="en-US" sz="2800" dirty="0">
                <a:latin typeface="Tahoma" panose="020B0604030504040204" pitchFamily="34" charset="0"/>
              </a:rPr>
              <a:t>;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</a:pPr>
            <a:r>
              <a:rPr lang="en-US" sz="2800" dirty="0">
                <a:latin typeface="Tahoma" panose="020B0604030504040204" pitchFamily="34" charset="0"/>
              </a:rPr>
              <a:t>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Variables in Prolog</a:t>
            </a:r>
          </a:p>
        </p:txBody>
      </p:sp>
    </p:spTree>
    <p:extLst>
      <p:ext uri="{BB962C8B-B14F-4D97-AF65-F5344CB8AC3E}">
        <p14:creationId xmlns:p14="http://schemas.microsoft.com/office/powerpoint/2010/main" val="2427143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76300"/>
            <a:ext cx="8382000" cy="5666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400" dirty="0">
                <a:latin typeface="Tahoma" panose="020B0604030504040204" pitchFamily="34" charset="0"/>
              </a:rPr>
              <a:t>PROLOG searches its database attempting to satisfy a query (goal), stopping at the first success or returning no for failure.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400" dirty="0">
                <a:latin typeface="Tahoma" panose="020B0604030504040204" pitchFamily="34" charset="0"/>
              </a:rPr>
              <a:t>Often, there will be more than one successful match and the programmer would like to tell the PROLOG system to try again and search for other successful matches.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400" b="1" dirty="0"/>
              <a:t>Prolog tries to find all possible solutions by checking each rule one by one.</a:t>
            </a:r>
            <a:br>
              <a:rPr lang="en-US" sz="2400" b="1" dirty="0"/>
            </a:br>
            <a:r>
              <a:rPr lang="en-US" sz="2400" b="1" dirty="0"/>
              <a:t>If one fails, it goes back and tries another. This is called backtracking.</a:t>
            </a:r>
            <a:endParaRPr lang="en-US" sz="2400" b="1" dirty="0">
              <a:latin typeface="Tahoma" panose="020B0604030504040204" pitchFamily="34" charset="0"/>
            </a:endParaRP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400" dirty="0">
                <a:latin typeface="Tahoma" panose="020B0604030504040204" pitchFamily="34" charset="0"/>
              </a:rPr>
              <a:t>When PROLOG retries a goal, it is called backtracking.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400" dirty="0">
                <a:latin typeface="Tahoma" panose="020B0604030504040204" pitchFamily="34" charset="0"/>
              </a:rPr>
              <a:t>Backtracking may be forced by typing a 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Simple Backtracking</a:t>
            </a:r>
          </a:p>
        </p:txBody>
      </p:sp>
    </p:spTree>
    <p:extLst>
      <p:ext uri="{BB962C8B-B14F-4D97-AF65-F5344CB8AC3E}">
        <p14:creationId xmlns:p14="http://schemas.microsoft.com/office/powerpoint/2010/main" val="1046689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8763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PROLOG searches its database attempting to satisfy a query (goal), stopping at the first success or returning no for failure.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Often, there will be more than one successful match and the programmer would like to tell the PROLOG system to try again and search for other successful matches.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When PROLOG retries a goal, it is called backtracking.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Backtracking may be forced by typing a 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Simple Backtracking</a:t>
            </a:r>
          </a:p>
        </p:txBody>
      </p:sp>
    </p:spTree>
    <p:extLst>
      <p:ext uri="{BB962C8B-B14F-4D97-AF65-F5344CB8AC3E}">
        <p14:creationId xmlns:p14="http://schemas.microsoft.com/office/powerpoint/2010/main" val="3224925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Examples:  Backtracking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256080" y="1066800"/>
            <a:ext cx="3962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dirty="0">
                <a:latin typeface="Tahoma" panose="020B0604030504040204" pitchFamily="34" charset="0"/>
              </a:rPr>
              <a:t>    ?- likes(Who, </a:t>
            </a:r>
            <a:r>
              <a:rPr lang="en-US" dirty="0" err="1">
                <a:latin typeface="Tahoma" panose="020B0604030504040204" pitchFamily="34" charset="0"/>
              </a:rPr>
              <a:t>rita</a:t>
            </a:r>
            <a:r>
              <a:rPr lang="en-US" dirty="0">
                <a:latin typeface="Tahoma" panose="020B0604030504040204" pitchFamily="34" charset="0"/>
              </a:rPr>
              <a:t>).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 = </a:t>
            </a:r>
            <a:r>
              <a:rPr lang="en-US" dirty="0" err="1">
                <a:latin typeface="Tahoma" panose="020B0604030504040204" pitchFamily="34" charset="0"/>
              </a:rPr>
              <a:t>hasan</a:t>
            </a:r>
            <a:r>
              <a:rPr lang="en-US" dirty="0">
                <a:latin typeface="Tahoma" panose="020B0604030504040204" pitchFamily="34" charset="0"/>
              </a:rPr>
              <a:t> ;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 = </a:t>
            </a:r>
            <a:r>
              <a:rPr lang="en-US" dirty="0" err="1">
                <a:latin typeface="Tahoma" panose="020B0604030504040204" pitchFamily="34" charset="0"/>
              </a:rPr>
              <a:t>belal</a:t>
            </a:r>
            <a:r>
              <a:rPr lang="en-US" dirty="0">
                <a:latin typeface="Tahoma" panose="020B0604030504040204" pitchFamily="34" charset="0"/>
              </a:rPr>
              <a:t> ;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no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endParaRPr lang="en-US" dirty="0">
              <a:latin typeface="Tahoma" panose="020B0604030504040204" pitchFamily="34" charset="0"/>
            </a:endParaRP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?- likes(Who, </a:t>
            </a:r>
            <a:r>
              <a:rPr lang="en-US" dirty="0" err="1">
                <a:latin typeface="Tahoma" panose="020B0604030504040204" pitchFamily="34" charset="0"/>
              </a:rPr>
              <a:t>Whoelse</a:t>
            </a:r>
            <a:r>
              <a:rPr lang="en-US" dirty="0">
                <a:latin typeface="Tahoma" panose="020B0604030504040204" pitchFamily="34" charset="0"/>
              </a:rPr>
              <a:t>).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 = </a:t>
            </a:r>
            <a:r>
              <a:rPr lang="en-US" dirty="0" err="1">
                <a:latin typeface="Tahoma" panose="020B0604030504040204" pitchFamily="34" charset="0"/>
              </a:rPr>
              <a:t>hasan</a:t>
            </a:r>
            <a:endParaRPr lang="en-US" dirty="0">
              <a:latin typeface="Tahoma" panose="020B0604030504040204" pitchFamily="34" charset="0"/>
            </a:endParaRP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 err="1">
                <a:latin typeface="Tahoma" panose="020B0604030504040204" pitchFamily="34" charset="0"/>
              </a:rPr>
              <a:t>Whoelse</a:t>
            </a:r>
            <a:r>
              <a:rPr lang="en-US" dirty="0">
                <a:latin typeface="Tahoma" panose="020B0604030504040204" pitchFamily="34" charset="0"/>
              </a:rPr>
              <a:t> = </a:t>
            </a:r>
            <a:r>
              <a:rPr lang="en-US" dirty="0" err="1">
                <a:latin typeface="Tahoma" panose="020B0604030504040204" pitchFamily="34" charset="0"/>
              </a:rPr>
              <a:t>rita</a:t>
            </a:r>
            <a:r>
              <a:rPr lang="en-US" dirty="0">
                <a:latin typeface="Tahoma" panose="020B0604030504040204" pitchFamily="34" charset="0"/>
              </a:rPr>
              <a:t> ;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 = </a:t>
            </a:r>
            <a:r>
              <a:rPr lang="en-US" dirty="0" err="1">
                <a:latin typeface="Tahoma" panose="020B0604030504040204" pitchFamily="34" charset="0"/>
              </a:rPr>
              <a:t>belal</a:t>
            </a:r>
            <a:endParaRPr lang="en-US" dirty="0">
              <a:latin typeface="Tahoma" panose="020B0604030504040204" pitchFamily="34" charset="0"/>
            </a:endParaRP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 err="1">
                <a:latin typeface="Tahoma" panose="020B0604030504040204" pitchFamily="34" charset="0"/>
              </a:rPr>
              <a:t>Whoelse</a:t>
            </a:r>
            <a:r>
              <a:rPr lang="en-US" dirty="0">
                <a:latin typeface="Tahoma" panose="020B0604030504040204" pitchFamily="34" charset="0"/>
              </a:rPr>
              <a:t> = </a:t>
            </a:r>
            <a:r>
              <a:rPr lang="en-US" dirty="0" err="1">
                <a:latin typeface="Tahoma" panose="020B0604030504040204" pitchFamily="34" charset="0"/>
              </a:rPr>
              <a:t>rita</a:t>
            </a:r>
            <a:r>
              <a:rPr lang="en-US" dirty="0">
                <a:latin typeface="Tahoma" panose="020B0604030504040204" pitchFamily="34" charset="0"/>
              </a:rPr>
              <a:t> ;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 = </a:t>
            </a:r>
            <a:r>
              <a:rPr lang="en-US" dirty="0" err="1">
                <a:latin typeface="Tahoma" panose="020B0604030504040204" pitchFamily="34" charset="0"/>
              </a:rPr>
              <a:t>mohsin</a:t>
            </a:r>
            <a:endParaRPr lang="en-US" dirty="0">
              <a:latin typeface="Tahoma" panose="020B0604030504040204" pitchFamily="34" charset="0"/>
            </a:endParaRP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 err="1">
                <a:latin typeface="Tahoma" panose="020B0604030504040204" pitchFamily="34" charset="0"/>
              </a:rPr>
              <a:t>Whoelse</a:t>
            </a:r>
            <a:r>
              <a:rPr lang="en-US" dirty="0">
                <a:latin typeface="Tahoma" panose="020B0604030504040204" pitchFamily="34" charset="0"/>
              </a:rPr>
              <a:t> = </a:t>
            </a:r>
            <a:r>
              <a:rPr lang="en-US" dirty="0" err="1">
                <a:latin typeface="Tahoma" panose="020B0604030504040204" pitchFamily="34" charset="0"/>
              </a:rPr>
              <a:t>beli</a:t>
            </a:r>
            <a:r>
              <a:rPr lang="en-US" dirty="0">
                <a:latin typeface="Tahoma" panose="020B0604030504040204" pitchFamily="34" charset="0"/>
              </a:rPr>
              <a:t> ;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no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endParaRPr lang="en-US" dirty="0">
              <a:latin typeface="Tahoma" panose="020B0604030504040204" pitchFamily="34" charset="0"/>
            </a:endParaRPr>
          </a:p>
        </p:txBody>
      </p:sp>
      <p:sp>
        <p:nvSpPr>
          <p:cNvPr id="9" name="Rectangle 1034"/>
          <p:cNvSpPr>
            <a:spLocks noChangeArrowheads="1"/>
          </p:cNvSpPr>
          <p:nvPr/>
        </p:nvSpPr>
        <p:spPr bwMode="auto">
          <a:xfrm>
            <a:off x="4904280" y="1219200"/>
            <a:ext cx="396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?- likes(Who, </a:t>
            </a:r>
            <a:r>
              <a:rPr lang="en-US" dirty="0" err="1">
                <a:latin typeface="Tahoma" panose="020B0604030504040204" pitchFamily="34" charset="0"/>
              </a:rPr>
              <a:t>beli</a:t>
            </a:r>
            <a:r>
              <a:rPr lang="en-US" dirty="0">
                <a:latin typeface="Tahoma" panose="020B0604030504040204" pitchFamily="34" charset="0"/>
              </a:rPr>
              <a:t>).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 = </a:t>
            </a:r>
            <a:r>
              <a:rPr lang="en-US" dirty="0" err="1">
                <a:latin typeface="Tahoma" panose="020B0604030504040204" pitchFamily="34" charset="0"/>
              </a:rPr>
              <a:t>mohsin</a:t>
            </a:r>
            <a:endParaRPr lang="en-US" dirty="0">
              <a:latin typeface="Tahoma" panose="020B0604030504040204" pitchFamily="34" charset="0"/>
            </a:endParaRP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?- likes(</a:t>
            </a:r>
            <a:r>
              <a:rPr lang="en-US" dirty="0" err="1">
                <a:latin typeface="Tahoma" panose="020B0604030504040204" pitchFamily="34" charset="0"/>
              </a:rPr>
              <a:t>hasan</a:t>
            </a:r>
            <a:r>
              <a:rPr lang="en-US" dirty="0">
                <a:latin typeface="Tahoma" panose="020B0604030504040204" pitchFamily="34" charset="0"/>
              </a:rPr>
              <a:t>, Whom).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Whom = </a:t>
            </a:r>
            <a:r>
              <a:rPr lang="en-US" dirty="0" err="1">
                <a:latin typeface="Tahoma" panose="020B0604030504040204" pitchFamily="34" charset="0"/>
              </a:rPr>
              <a:t>rita</a:t>
            </a:r>
            <a:r>
              <a:rPr lang="en-US" dirty="0">
                <a:latin typeface="Tahoma" panose="020B0604030504040204" pitchFamily="34" charset="0"/>
              </a:rPr>
              <a:t> ;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no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?- likes(</a:t>
            </a:r>
            <a:r>
              <a:rPr lang="en-US" dirty="0" err="1">
                <a:latin typeface="Tahoma" panose="020B0604030504040204" pitchFamily="34" charset="0"/>
              </a:rPr>
              <a:t>belal</a:t>
            </a:r>
            <a:r>
              <a:rPr lang="en-US" dirty="0">
                <a:latin typeface="Tahoma" panose="020B0604030504040204" pitchFamily="34" charset="0"/>
              </a:rPr>
              <a:t>, Whom).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Whom = </a:t>
            </a:r>
            <a:r>
              <a:rPr lang="en-US" dirty="0" err="1">
                <a:latin typeface="Tahoma" panose="020B0604030504040204" pitchFamily="34" charset="0"/>
              </a:rPr>
              <a:t>rita</a:t>
            </a:r>
            <a:r>
              <a:rPr lang="en-US" dirty="0">
                <a:latin typeface="Tahoma" panose="020B0604030504040204" pitchFamily="34" charset="0"/>
              </a:rPr>
              <a:t> ;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en-US" dirty="0">
                <a:latin typeface="Tahoma" panose="020B0604030504040204" pitchFamily="34" charset="0"/>
              </a:rPr>
              <a:t>no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endParaRPr lang="en-US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840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Suppose that you want to know if </a:t>
            </a:r>
            <a:r>
              <a:rPr lang="en-US" sz="2800" dirty="0" err="1">
                <a:solidFill>
                  <a:srgbClr val="000099"/>
                </a:solidFill>
                <a:latin typeface="Tahoma" panose="020B0604030504040204" pitchFamily="34" charset="0"/>
              </a:rPr>
              <a:t>Hasan</a:t>
            </a: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 likes anyone and do not care who in particular.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Then use the anonymous variable which is the character “_”</a:t>
            </a: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</a:rPr>
              <a:t>It represents a different variable each time it occurs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</a:rPr>
              <a:t>?- likes(</a:t>
            </a:r>
            <a:r>
              <a:rPr lang="en-US" sz="2800" dirty="0" err="1">
                <a:latin typeface="Tahoma" panose="020B0604030504040204" pitchFamily="34" charset="0"/>
              </a:rPr>
              <a:t>hasan</a:t>
            </a:r>
            <a:r>
              <a:rPr lang="en-US" sz="2800" dirty="0">
                <a:latin typeface="Tahoma" panose="020B0604030504040204" pitchFamily="34" charset="0"/>
              </a:rPr>
              <a:t>, _).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</a:rPr>
              <a:t>yes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</a:rPr>
              <a:t>?- likes(_, _).</a:t>
            </a:r>
          </a:p>
          <a:p>
            <a:pPr lvl="2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sz="2800" dirty="0">
                <a:latin typeface="Tahoma" panose="020B0604030504040204" pitchFamily="34" charset="0"/>
              </a:rPr>
              <a:t>yes</a:t>
            </a:r>
          </a:p>
          <a:p>
            <a:pPr lvl="2" eaLnBrk="0" hangingPunct="0">
              <a:lnSpc>
                <a:spcPct val="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Suppresses output of variable binding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Backtracking with Anonymous Variable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7062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5334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algn="just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A PROLOG rule consists of one conclusion followed by one or more conditions</a:t>
            </a:r>
          </a:p>
          <a:p>
            <a:pPr lvl="1" algn="just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Tahoma" panose="020B0604030504040204" pitchFamily="34" charset="0"/>
              </a:rPr>
              <a:t>a fact is a rule with no conditions</a:t>
            </a:r>
          </a:p>
          <a:p>
            <a:pPr lvl="1" algn="just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b="1" dirty="0">
                <a:solidFill>
                  <a:srgbClr val="000099"/>
                </a:solidFill>
                <a:latin typeface="Tahoma" panose="020B0604030504040204" pitchFamily="34" charset="0"/>
              </a:rPr>
              <a:t>conclusion :-</a:t>
            </a:r>
          </a:p>
          <a:p>
            <a:pPr lvl="3" algn="just" eaLnBrk="0" hangingPunct="0">
              <a:spcBef>
                <a:spcPct val="20000"/>
              </a:spcBef>
            </a:pPr>
            <a:r>
              <a:rPr lang="en-US" sz="2800" b="1" dirty="0">
                <a:solidFill>
                  <a:srgbClr val="000099"/>
                </a:solidFill>
                <a:latin typeface="Tahoma" panose="020B0604030504040204" pitchFamily="34" charset="0"/>
              </a:rPr>
              <a:t>condition1,</a:t>
            </a:r>
          </a:p>
          <a:p>
            <a:pPr lvl="3" algn="just" eaLnBrk="0" hangingPunct="0">
              <a:spcBef>
                <a:spcPct val="20000"/>
              </a:spcBef>
            </a:pPr>
            <a:r>
              <a:rPr lang="en-US" sz="2800" b="1" dirty="0">
                <a:solidFill>
                  <a:srgbClr val="000099"/>
                </a:solidFill>
                <a:latin typeface="Tahoma" panose="020B0604030504040204" pitchFamily="34" charset="0"/>
              </a:rPr>
              <a:t>.....</a:t>
            </a:r>
          </a:p>
          <a:p>
            <a:pPr lvl="3" algn="just" eaLnBrk="0" hangingPunct="0">
              <a:spcBef>
                <a:spcPct val="20000"/>
              </a:spcBef>
            </a:pPr>
            <a:r>
              <a:rPr lang="en-US" sz="2800" b="1" dirty="0">
                <a:solidFill>
                  <a:srgbClr val="000099"/>
                </a:solidFill>
                <a:latin typeface="Tahoma" panose="020B0604030504040204" pitchFamily="34" charset="0"/>
              </a:rPr>
              <a:t>condition N.</a:t>
            </a:r>
          </a:p>
          <a:p>
            <a:pPr lvl="1" algn="just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600" dirty="0">
                <a:latin typeface="Tahoma" panose="020B0604030504040204" pitchFamily="34" charset="0"/>
              </a:rPr>
              <a:t>read as:</a:t>
            </a:r>
          </a:p>
          <a:p>
            <a:pPr marL="1257300" lvl="2" indent="-342900" algn="just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The conclusion is true if condition1 and condition2... and condition N are true.</a:t>
            </a:r>
          </a:p>
          <a:p>
            <a:pPr marL="1257300" lvl="2" indent="-342900" algn="just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</a:rPr>
              <a:t>Conditions are separated by commas</a:t>
            </a:r>
          </a:p>
          <a:p>
            <a:pPr marL="1257300" lvl="2" indent="-342900" algn="just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600" dirty="0">
                <a:latin typeface="Tahoma" panose="020B0604030504040204" pitchFamily="34" charset="0"/>
              </a:rPr>
              <a:t>Rules , facts and queries are all examples of Horn clauses -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524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Rules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381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eaLnBrk="0" hangingPunct="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0099"/>
                </a:solidFill>
                <a:latin typeface="Tahoma" panose="020B0604030504040204" pitchFamily="34" charset="0"/>
              </a:rPr>
              <a:t>A PROLOG rule consists of a head and a body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head :-</a:t>
            </a:r>
          </a:p>
          <a:p>
            <a:pPr lvl="3"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body.</a:t>
            </a:r>
          </a:p>
          <a:p>
            <a:pPr lvl="1" eaLnBrk="0" hangingPunct="0"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lang="en-US" sz="2800" dirty="0">
                <a:latin typeface="Comic Sans MS" panose="030F0702030302020204" pitchFamily="66" charset="0"/>
              </a:rPr>
              <a:t>read as: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rgbClr val="FF0000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dirty="0">
                <a:latin typeface="Comic Sans MS" panose="030F0702030302020204" pitchFamily="66" charset="0"/>
              </a:rPr>
              <a:t>If a match is made on the head, then carry out the body.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Rules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189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906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D60093"/>
                </a:solidFill>
              </a:rPr>
              <a:t>Operators for the basic arithmetic operations</a:t>
            </a:r>
          </a:p>
          <a:p>
            <a:pPr lvl="1">
              <a:buFontTx/>
              <a:buNone/>
            </a:pPr>
            <a:r>
              <a:rPr lang="en-US" sz="2400" dirty="0"/>
              <a:t>+, -, *, /, **, mod, // (integer division).</a:t>
            </a:r>
          </a:p>
          <a:p>
            <a:pPr lvl="1">
              <a:buFontTx/>
              <a:buNone/>
            </a:pPr>
            <a:r>
              <a:rPr lang="en-US" sz="2400" dirty="0">
                <a:solidFill>
                  <a:srgbClr val="D60093"/>
                </a:solidFill>
              </a:rPr>
              <a:t>Examples:</a:t>
            </a:r>
          </a:p>
          <a:p>
            <a:pPr lvl="1">
              <a:buFontTx/>
              <a:buNone/>
            </a:pPr>
            <a:r>
              <a:rPr lang="en-US" sz="2400" dirty="0"/>
              <a:t>?- 7+3=10.                        ? - X is 5/2</a:t>
            </a:r>
          </a:p>
          <a:p>
            <a:pPr lvl="1">
              <a:buFontTx/>
              <a:buNone/>
            </a:pPr>
            <a:r>
              <a:rPr lang="en-US" sz="2400" dirty="0"/>
              <a:t>No                                     ? - Y is 17//3.</a:t>
            </a:r>
          </a:p>
          <a:p>
            <a:pPr lvl="1">
              <a:buFontTx/>
              <a:buNone/>
            </a:pPr>
            <a:r>
              <a:rPr lang="en-US" sz="2400" dirty="0"/>
              <a:t>?- 10 is 7+3.                       ?-  Z is 23 mod 5.</a:t>
            </a:r>
          </a:p>
          <a:p>
            <a:pPr lvl="1">
              <a:buFontTx/>
              <a:buNone/>
            </a:pPr>
            <a:r>
              <a:rPr lang="en-US" sz="2400" dirty="0"/>
              <a:t>Yes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D60093"/>
                </a:solidFill>
              </a:rPr>
              <a:t>Predicates for the basic arithmetic operations</a:t>
            </a:r>
          </a:p>
          <a:p>
            <a:pPr lvl="1">
              <a:buFontTx/>
              <a:buNone/>
            </a:pPr>
            <a:r>
              <a:rPr lang="en-US" sz="2400" dirty="0"/>
              <a:t>&lt;, =&lt;, &gt;, &gt;=, =.=, =\=.</a:t>
            </a:r>
          </a:p>
          <a:p>
            <a:pPr lvl="1">
              <a:buFontTx/>
              <a:buNone/>
            </a:pPr>
            <a:r>
              <a:rPr lang="en-US" sz="2400" dirty="0">
                <a:solidFill>
                  <a:srgbClr val="D60093"/>
                </a:solidFill>
              </a:rPr>
              <a:t>Examples:</a:t>
            </a:r>
          </a:p>
          <a:p>
            <a:pPr lvl="1">
              <a:buFontTx/>
              <a:buNone/>
            </a:pPr>
            <a:r>
              <a:rPr lang="en-US" sz="2400" dirty="0"/>
              <a:t>?- 14-9=.=3+2.                  ? - 10 =\=7+5.</a:t>
            </a:r>
          </a:p>
          <a:p>
            <a:pPr lvl="1">
              <a:buFontTx/>
              <a:buNone/>
            </a:pPr>
            <a:r>
              <a:rPr lang="en-US" sz="2400" dirty="0"/>
              <a:t>Yes			       Yes	</a:t>
            </a:r>
          </a:p>
          <a:p>
            <a:pPr lvl="1">
              <a:buFontTx/>
              <a:buNone/>
            </a:pPr>
            <a:endParaRPr lang="en-US" sz="2000" b="1" dirty="0"/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Arithmetic Functions/ Predicates</a:t>
            </a:r>
          </a:p>
        </p:txBody>
      </p:sp>
    </p:spTree>
    <p:extLst>
      <p:ext uri="{BB962C8B-B14F-4D97-AF65-F5344CB8AC3E}">
        <p14:creationId xmlns:p14="http://schemas.microsoft.com/office/powerpoint/2010/main" val="1326127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0099"/>
                </a:solidFill>
              </a:rPr>
              <a:t>Lists</a:t>
            </a:r>
          </a:p>
          <a:p>
            <a:pPr lvl="1">
              <a:buFontTx/>
              <a:buNone/>
            </a:pPr>
            <a:r>
              <a:rPr lang="en-US" sz="2400" dirty="0"/>
              <a:t>A sequence of terms of the form</a:t>
            </a:r>
          </a:p>
          <a:p>
            <a:pPr lvl="1">
              <a:buFontTx/>
              <a:buNone/>
            </a:pPr>
            <a:r>
              <a:rPr lang="en-US" sz="2400" dirty="0"/>
              <a:t>[t</a:t>
            </a:r>
            <a:r>
              <a:rPr lang="en-US" sz="2400" baseline="-25000" dirty="0"/>
              <a:t>1</a:t>
            </a:r>
            <a:r>
              <a:rPr lang="en-US" sz="2400" dirty="0"/>
              <a:t>, t</a:t>
            </a:r>
            <a:r>
              <a:rPr lang="en-US" sz="2400" baseline="-25000" dirty="0"/>
              <a:t>2</a:t>
            </a:r>
            <a:r>
              <a:rPr lang="en-US" sz="2400" dirty="0"/>
              <a:t>, t</a:t>
            </a:r>
            <a:r>
              <a:rPr lang="en-US" sz="2400" baseline="-25000" dirty="0"/>
              <a:t>3</a:t>
            </a:r>
            <a:r>
              <a:rPr lang="en-US" sz="2400" dirty="0"/>
              <a:t>, t</a:t>
            </a:r>
            <a:r>
              <a:rPr lang="en-US" sz="2400" baseline="-25000" dirty="0"/>
              <a:t>4</a:t>
            </a:r>
            <a:r>
              <a:rPr lang="en-US" sz="2400" dirty="0"/>
              <a:t>, ..., </a:t>
            </a:r>
            <a:r>
              <a:rPr lang="en-US" sz="2400" dirty="0" err="1"/>
              <a:t>t</a:t>
            </a:r>
            <a:r>
              <a:rPr lang="en-US" sz="2400" baseline="-25000" dirty="0" err="1"/>
              <a:t>n</a:t>
            </a:r>
            <a:r>
              <a:rPr lang="en-US" sz="2400" dirty="0"/>
              <a:t>]</a:t>
            </a:r>
          </a:p>
          <a:p>
            <a:pPr lvl="1">
              <a:buFontTx/>
              <a:buNone/>
            </a:pPr>
            <a:r>
              <a:rPr lang="en-US" sz="2400" dirty="0"/>
              <a:t>where term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/>
              <a:t> is the </a:t>
            </a:r>
            <a:r>
              <a:rPr lang="en-US" sz="2400" dirty="0" err="1"/>
              <a:t>ith</a:t>
            </a:r>
            <a:r>
              <a:rPr lang="en-US" sz="2400" dirty="0"/>
              <a:t> element of the list</a:t>
            </a:r>
          </a:p>
          <a:p>
            <a:pPr lvl="1">
              <a:buFontTx/>
              <a:buNone/>
            </a:pPr>
            <a:endParaRPr lang="en-US" sz="2400" dirty="0"/>
          </a:p>
          <a:p>
            <a:pPr lvl="1">
              <a:buFontTx/>
              <a:buNone/>
            </a:pPr>
            <a:r>
              <a:rPr lang="en-US" sz="2400" b="1" dirty="0">
                <a:solidFill>
                  <a:srgbClr val="000099"/>
                </a:solidFill>
              </a:rPr>
              <a:t>Examples:</a:t>
            </a:r>
          </a:p>
          <a:p>
            <a:pPr lvl="1">
              <a:buFontTx/>
              <a:buNone/>
            </a:pPr>
            <a:r>
              <a:rPr lang="en-US" sz="2400" dirty="0"/>
              <a:t>[</a:t>
            </a:r>
            <a:r>
              <a:rPr lang="en-US" sz="2400" dirty="0" err="1"/>
              <a:t>a,b,c</a:t>
            </a:r>
            <a:r>
              <a:rPr lang="en-US" sz="2400" dirty="0"/>
              <a:t>] is a list of three elements a, b and c.</a:t>
            </a:r>
          </a:p>
          <a:p>
            <a:pPr lvl="1">
              <a:buFontTx/>
              <a:buNone/>
            </a:pPr>
            <a:endParaRPr lang="en-US" sz="2400" dirty="0"/>
          </a:p>
          <a:p>
            <a:pPr lvl="1">
              <a:buFontTx/>
              <a:buNone/>
            </a:pPr>
            <a:r>
              <a:rPr lang="en-US" sz="2400" dirty="0">
                <a:solidFill>
                  <a:srgbClr val="000099"/>
                </a:solidFill>
                <a:latin typeface="Comic Sans MS" panose="030F0702030302020204" pitchFamily="66" charset="0"/>
              </a:rPr>
              <a:t>[[</a:t>
            </a:r>
            <a:r>
              <a:rPr lang="en-US" sz="2400" dirty="0" err="1">
                <a:solidFill>
                  <a:srgbClr val="000099"/>
                </a:solidFill>
                <a:latin typeface="Comic Sans MS" panose="030F0702030302020204" pitchFamily="66" charset="0"/>
              </a:rPr>
              <a:t>a,list,of,lists</a:t>
            </a:r>
            <a:r>
              <a:rPr lang="en-US" sz="2400" dirty="0">
                <a:solidFill>
                  <a:srgbClr val="000099"/>
                </a:solidFill>
                <a:latin typeface="Comic Sans MS" panose="030F0702030302020204" pitchFamily="66" charset="0"/>
              </a:rPr>
              <a:t>], and, numbers,[1,2,3]]</a:t>
            </a:r>
          </a:p>
          <a:p>
            <a:pPr lvl="1">
              <a:buFontTx/>
              <a:buNone/>
            </a:pPr>
            <a:r>
              <a:rPr lang="en-US" sz="2400" dirty="0">
                <a:solidFill>
                  <a:srgbClr val="000099"/>
                </a:solidFill>
                <a:latin typeface="Comic Sans MS" panose="030F0702030302020204" pitchFamily="66" charset="0"/>
              </a:rPr>
              <a:t>is a four element list.</a:t>
            </a:r>
          </a:p>
          <a:p>
            <a:pPr lvl="1">
              <a:buFontTx/>
              <a:buNone/>
            </a:pPr>
            <a:endParaRPr lang="en-US" sz="1400" dirty="0">
              <a:solidFill>
                <a:srgbClr val="000099"/>
              </a:solidFill>
              <a:latin typeface="Comic Sans MS" panose="030F0702030302020204" pitchFamily="66" charset="0"/>
            </a:endParaRPr>
          </a:p>
          <a:p>
            <a:pPr lvl="1">
              <a:buFontTx/>
              <a:buNone/>
            </a:pPr>
            <a:r>
              <a:rPr lang="en-US" sz="2000" b="1" dirty="0"/>
              <a:t>[ ] is the ‘empty list’. It is an atom not a list data type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PROLOG syntax … …</a:t>
            </a:r>
          </a:p>
        </p:txBody>
      </p:sp>
    </p:spTree>
    <p:extLst>
      <p:ext uri="{BB962C8B-B14F-4D97-AF65-F5344CB8AC3E}">
        <p14:creationId xmlns:p14="http://schemas.microsoft.com/office/powerpoint/2010/main" val="1830853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9525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altLang="ja-JP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Negnevitsky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2001] M. </a:t>
            </a:r>
            <a:r>
              <a:rPr lang="en-US" altLang="ja-JP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Negnevitsky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 Artificial Intelligence: A guide to Intelligent Systems”, Pearson Education Limited, England, 2002.</a:t>
            </a: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Russel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2003] S. Russell and P.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Norvig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Artificial Intelligence: A Modern Approach Prentice Hall, 2003, Second Edition</a:t>
            </a: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[Patterson, 1990] D. W. Patterson, “Introduction to Artificial Intelligence and Expert Systems”, Prentice-Hall Inc., Englewood Cliffs, N.J, USA, 1990.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1498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Recommended Textbooks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879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23587</TotalTime>
  <Words>2737</Words>
  <Application>Microsoft Office PowerPoint</Application>
  <PresentationFormat>On-screen Show (4:3)</PresentationFormat>
  <Paragraphs>504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Calibri</vt:lpstr>
      <vt:lpstr>Comic Sans MS</vt:lpstr>
      <vt:lpstr>Franklin Gothic Book</vt:lpstr>
      <vt:lpstr>Monotype Sorts</vt:lpstr>
      <vt:lpstr>Perpetua</vt:lpstr>
      <vt:lpstr>Tahoma</vt:lpstr>
      <vt:lpstr>Times New Roman</vt:lpstr>
      <vt:lpstr>Wingdings</vt:lpstr>
      <vt:lpstr>Wingdings 2</vt:lpstr>
      <vt:lpstr>Equity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Recognition Algorithms to Extract Road Networks Automatically from Remotely Sensed Imagery for GIS Applications</dc:title>
  <dc:creator>User</dc:creator>
  <cp:lastModifiedBy>Snigdha Rahaman</cp:lastModifiedBy>
  <cp:revision>1375</cp:revision>
  <cp:lastPrinted>2020-02-22T04:37:54Z</cp:lastPrinted>
  <dcterms:created xsi:type="dcterms:W3CDTF">2012-10-10T03:10:51Z</dcterms:created>
  <dcterms:modified xsi:type="dcterms:W3CDTF">2025-05-05T17:19:36Z</dcterms:modified>
</cp:coreProperties>
</file>