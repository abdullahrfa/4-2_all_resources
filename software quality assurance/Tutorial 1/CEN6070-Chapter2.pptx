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7" r:id="rId1"/>
  </p:sldMasterIdLst>
  <p:notesMasterIdLst>
    <p:notesMasterId r:id="rId32"/>
  </p:notesMasterIdLst>
  <p:sldIdLst>
    <p:sldId id="287" r:id="rId2"/>
    <p:sldId id="267" r:id="rId3"/>
    <p:sldId id="258" r:id="rId4"/>
    <p:sldId id="268" r:id="rId5"/>
    <p:sldId id="259" r:id="rId6"/>
    <p:sldId id="260" r:id="rId7"/>
    <p:sldId id="269" r:id="rId8"/>
    <p:sldId id="270" r:id="rId9"/>
    <p:sldId id="271" r:id="rId10"/>
    <p:sldId id="275" r:id="rId11"/>
    <p:sldId id="272" r:id="rId12"/>
    <p:sldId id="273" r:id="rId13"/>
    <p:sldId id="274" r:id="rId14"/>
    <p:sldId id="276" r:id="rId15"/>
    <p:sldId id="277" r:id="rId16"/>
    <p:sldId id="278" r:id="rId17"/>
    <p:sldId id="261" r:id="rId18"/>
    <p:sldId id="279" r:id="rId19"/>
    <p:sldId id="280" r:id="rId20"/>
    <p:sldId id="262" r:id="rId21"/>
    <p:sldId id="263" r:id="rId22"/>
    <p:sldId id="281" r:id="rId23"/>
    <p:sldId id="264" r:id="rId24"/>
    <p:sldId id="282" r:id="rId25"/>
    <p:sldId id="283" r:id="rId26"/>
    <p:sldId id="284" r:id="rId27"/>
    <p:sldId id="265" r:id="rId28"/>
    <p:sldId id="266" r:id="rId29"/>
    <p:sldId id="285" r:id="rId30"/>
    <p:sldId id="286" r:id="rId31"/>
  </p:sldIdLst>
  <p:sldSz cx="9144000" cy="6858000" type="screen4x3"/>
  <p:notesSz cx="6794500" cy="100711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C00"/>
    <a:srgbClr val="008080"/>
    <a:srgbClr val="FF7C80"/>
    <a:srgbClr val="FF9966"/>
    <a:srgbClr val="9900CC"/>
    <a:srgbClr val="990033"/>
    <a:srgbClr val="FF0066"/>
    <a:srgbClr val="CC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20"/>
    <p:restoredTop sz="94660"/>
  </p:normalViewPr>
  <p:slideViewPr>
    <p:cSldViewPr>
      <p:cViewPr varScale="1">
        <p:scale>
          <a:sx n="77" d="100"/>
          <a:sy n="77" d="100"/>
        </p:scale>
        <p:origin x="-1158" y="-84"/>
      </p:cViewPr>
      <p:guideLst>
        <p:guide orient="horz" pos="2160"/>
        <p:guide orient="horz" pos="229"/>
        <p:guide orient="horz" pos="4092"/>
        <p:guide pos="2880"/>
        <p:guide pos="249"/>
        <p:guide pos="5539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_rels/viewProps.xml.rels><?xml version="1.0" encoding="UTF-8" standalone="yes"?>
<Relationships xmlns="http://schemas.openxmlformats.org/package/2006/relationships"><Relationship Id="rId2" Type="http://schemas.openxmlformats.org/officeDocument/2006/relationships/slide" Target="slides/slide3.xml"/><Relationship Id="rId1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4813" cy="503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9688" y="0"/>
            <a:ext cx="2944812" cy="503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97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9475" y="755650"/>
            <a:ext cx="5035550" cy="37766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463" y="4783138"/>
            <a:ext cx="4981575" cy="4532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567863"/>
            <a:ext cx="2944813" cy="503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688" y="9567863"/>
            <a:ext cx="2944812" cy="503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3E5730A9-4228-4F64-A4BE-7AC8B0E246C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05667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514350" y="5349902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Title 28"/>
          <p:cNvSpPr>
            <a:spLocks noGrp="1"/>
          </p:cNvSpPr>
          <p:nvPr>
            <p:ph type="ctrTitle"/>
          </p:nvPr>
        </p:nvSpPr>
        <p:spPr>
          <a:xfrm>
            <a:off x="381000" y="4853411"/>
            <a:ext cx="8458200" cy="1222375"/>
          </a:xfrm>
        </p:spPr>
        <p:txBody>
          <a:bodyPr anchor="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381000" y="3886200"/>
            <a:ext cx="8458200" cy="914400"/>
          </a:xfrm>
        </p:spPr>
        <p:txBody>
          <a:bodyPr anchor="b"/>
          <a:lstStyle>
            <a:lvl1pPr marL="0" indent="0" algn="l">
              <a:buNone/>
              <a:defRPr sz="2400">
                <a:solidFill>
                  <a:schemeClr val="tx2">
                    <a:shade val="7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065BE-0657-4A47-90AD-C21C55E16B19}" type="datetime4">
              <a:rPr lang="en-US" smtClean="0"/>
              <a:pPr/>
              <a:t>September 3, 2013</a:t>
            </a:fld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>
          <a:xfrm>
            <a:off x="8229600" y="6473952"/>
            <a:ext cx="758952" cy="246888"/>
          </a:xfrm>
        </p:spPr>
        <p:txBody>
          <a:bodyPr/>
          <a:lstStyle/>
          <a:p>
            <a:fld id="{2754ED01-E2A0-4C1E-8E21-014B9904157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blinds dir="vert"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7" name="Content Placeholder 2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5" name="Date Placeholder 2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BB8AF-C16A-4836-A92D-61834B5F0BA5}" type="datetime4">
              <a:rPr lang="en-US" smtClean="0"/>
              <a:pPr/>
              <a:t>September 3, 2013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>
          <a:xfrm>
            <a:off x="3581400" y="76200"/>
            <a:ext cx="2895600" cy="288925"/>
          </a:xfrm>
        </p:spPr>
        <p:txBody>
          <a:bodyPr/>
          <a:lstStyle/>
          <a:p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>
          <a:xfrm>
            <a:off x="8229600" y="6473952"/>
            <a:ext cx="758952" cy="246888"/>
          </a:xfrm>
        </p:spPr>
        <p:txBody>
          <a:bodyPr/>
          <a:lstStyle/>
          <a:p>
            <a:fld id="{2754ED01-E2A0-4C1E-8E21-014B9904157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blinds dir="vert"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514350" y="3444902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381000" y="1676400"/>
            <a:ext cx="8458200" cy="1219200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2">
                    <a:shade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9" name="Date Placeholder 1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D2193-4505-4A75-99BB-880C6989A757}" type="datetime4">
              <a:rPr lang="en-US" smtClean="0"/>
              <a:pPr/>
              <a:t>September 3, 2013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80475" y="2947085"/>
            <a:ext cx="8686800" cy="1184825"/>
          </a:xfrm>
        </p:spPr>
        <p:txBody>
          <a:bodyPr rtlCol="0" anchor="t"/>
          <a:lstStyle>
            <a:lvl1pPr algn="r"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blinds dir="vert"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/>
          <p:cNvSpPr>
            <a:spLocks noGrp="1"/>
          </p:cNvSpPr>
          <p:nvPr>
            <p:ph type="title"/>
          </p:nvPr>
        </p:nvSpPr>
        <p:spPr>
          <a:xfrm>
            <a:off x="301752" y="457200"/>
            <a:ext cx="8686800" cy="841248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4" name="Content Placeholder 13"/>
          <p:cNvSpPr>
            <a:spLocks noGrp="1"/>
          </p:cNvSpPr>
          <p:nvPr>
            <p:ph sz="half" idx="1"/>
          </p:nvPr>
        </p:nvSpPr>
        <p:spPr>
          <a:xfrm>
            <a:off x="304800" y="1600200"/>
            <a:ext cx="41910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3434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A18F4-33C3-445B-924C-31108C51719C}" type="datetime4">
              <a:rPr lang="en-US" smtClean="0"/>
              <a:pPr/>
              <a:t>September 3, 2013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1" name="Slide Number Placeholder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blinds dir="vert"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28"/>
          <p:cNvSpPr>
            <a:spLocks noGrp="1"/>
          </p:cNvSpPr>
          <p:nvPr>
            <p:ph type="title"/>
          </p:nvPr>
        </p:nvSpPr>
        <p:spPr>
          <a:xfrm>
            <a:off x="304800" y="5410200"/>
            <a:ext cx="8610600" cy="8826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281444" y="666750"/>
            <a:ext cx="4290556" cy="639762"/>
          </a:xfrm>
        </p:spPr>
        <p:txBody>
          <a:bodyPr anchor="ctr"/>
          <a:lstStyle>
            <a:lvl1pPr marL="0" indent="0">
              <a:buNone/>
              <a:defRPr sz="1800" b="0" cap="all" baseline="0">
                <a:solidFill>
                  <a:schemeClr val="accent1">
                    <a:shade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25" name="Text Placeholder 24"/>
          <p:cNvSpPr>
            <a:spLocks noGrp="1"/>
          </p:cNvSpPr>
          <p:nvPr>
            <p:ph type="body" sz="half" idx="3"/>
          </p:nvPr>
        </p:nvSpPr>
        <p:spPr>
          <a:xfrm>
            <a:off x="4645025" y="666750"/>
            <a:ext cx="4292241" cy="639762"/>
          </a:xfrm>
        </p:spPr>
        <p:txBody>
          <a:bodyPr anchor="ctr"/>
          <a:lstStyle>
            <a:lvl1pPr marL="0" indent="0">
              <a:buNone/>
              <a:defRPr sz="1800" b="0" cap="all" baseline="0">
                <a:solidFill>
                  <a:schemeClr val="accent1">
                    <a:shade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281444" y="1316037"/>
            <a:ext cx="4290556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8" name="Content Placeholder 27"/>
          <p:cNvSpPr>
            <a:spLocks noGrp="1"/>
          </p:cNvSpPr>
          <p:nvPr>
            <p:ph sz="quarter" idx="4"/>
          </p:nvPr>
        </p:nvSpPr>
        <p:spPr>
          <a:xfrm>
            <a:off x="4648730" y="1316037"/>
            <a:ext cx="4288536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7543A-E259-478F-9E0D-57BA40E442B7}" type="datetime4">
              <a:rPr lang="en-US" smtClean="0"/>
              <a:pPr/>
              <a:t>September 3, 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229600" y="6477000"/>
            <a:ext cx="762000" cy="246888"/>
          </a:xfrm>
        </p:spPr>
        <p:txBody>
          <a:bodyPr/>
          <a:lstStyle/>
          <a:p>
            <a:fld id="{2754ED01-E2A0-4C1E-8E21-014B990415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514350" y="6019800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  <p:transition spd="slow">
    <p:blinds dir="vert"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29"/>
          <p:cNvSpPr>
            <a:spLocks noGrp="1"/>
          </p:cNvSpPr>
          <p:nvPr>
            <p:ph type="title"/>
          </p:nvPr>
        </p:nvSpPr>
        <p:spPr>
          <a:xfrm>
            <a:off x="301752" y="457200"/>
            <a:ext cx="8686800" cy="841248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B012D-77A1-44B0-BB26-329BA1EE55C9}" type="datetime4">
              <a:rPr lang="en-US" smtClean="0"/>
              <a:pPr/>
              <a:t>September 3, 2013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blinds dir="vert"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7499E-3031-413E-B01E-B94970708CAA}" type="datetime4">
              <a:rPr lang="en-US" smtClean="0"/>
              <a:pPr/>
              <a:t>September 3, 2013</a:t>
            </a:fld>
            <a:endParaRPr lang="en-US"/>
          </a:p>
        </p:txBody>
      </p:sp>
      <p:sp>
        <p:nvSpPr>
          <p:cNvPr id="24" name="Footer Placeholder 2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blinds dir="vert"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514350" y="5849117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457200" y="5486400"/>
            <a:ext cx="8458200" cy="520700"/>
          </a:xfrm>
        </p:spPr>
        <p:txBody>
          <a:bodyPr anchor="ctr"/>
          <a:lstStyle>
            <a:lvl1pPr algn="l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6" name="Text Placeholder 25"/>
          <p:cNvSpPr>
            <a:spLocks noGrp="1"/>
          </p:cNvSpPr>
          <p:nvPr>
            <p:ph type="body" idx="2"/>
          </p:nvPr>
        </p:nvSpPr>
        <p:spPr>
          <a:xfrm>
            <a:off x="457200" y="609600"/>
            <a:ext cx="3008313" cy="4800600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half" idx="1"/>
          </p:nvPr>
        </p:nvSpPr>
        <p:spPr>
          <a:xfrm>
            <a:off x="3575050" y="609600"/>
            <a:ext cx="5340350" cy="48006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5" name="Date Placeholder 2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AB0C-2220-4D0E-A0DD-DB7FA0F742F4}" type="datetime4">
              <a:rPr lang="en-US" smtClean="0"/>
              <a:pPr/>
              <a:t>September 3, 2013</a:t>
            </a:fld>
            <a:endParaRPr lang="en-US"/>
          </a:p>
        </p:txBody>
      </p:sp>
      <p:sp>
        <p:nvSpPr>
          <p:cNvPr id="29" name="Footer Placeholder 2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blinds dir="vert"/>
  </p:transition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/>
          <p:cNvSpPr>
            <a:spLocks noGrp="1"/>
          </p:cNvSpPr>
          <p:nvPr>
            <p:ph type="pic" idx="1"/>
          </p:nvPr>
        </p:nvSpPr>
        <p:spPr>
          <a:xfrm>
            <a:off x="3505200" y="616634"/>
            <a:ext cx="5029200" cy="3657600"/>
          </a:xfrm>
          <a:solidFill>
            <a:schemeClr val="bg1"/>
          </a:solidFill>
          <a:ln w="6350">
            <a:solidFill>
              <a:schemeClr val="accent1"/>
            </a:solidFill>
          </a:ln>
          <a:effectLst>
            <a:reflection blurRad="1000" stA="49000" endA="500" endPos="10000" dist="900" dir="5400000" sy="-90000" algn="bl" rotWithShape="0"/>
          </a:effectLst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16D63-31BF-4B94-B6C5-E20B2C63F515}" type="datetime4">
              <a:rPr lang="en-US" smtClean="0"/>
              <a:pPr/>
              <a:t>September 3, 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1" name="Slide Number Placeholder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>
          <a:xfrm>
            <a:off x="381000" y="4993760"/>
            <a:ext cx="5867400" cy="522288"/>
          </a:xfrm>
        </p:spPr>
        <p:txBody>
          <a:bodyPr anchor="ctr"/>
          <a:lstStyle>
            <a:lvl1pPr algn="l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6" name="Text Placeholder 25"/>
          <p:cNvSpPr>
            <a:spLocks noGrp="1"/>
          </p:cNvSpPr>
          <p:nvPr>
            <p:ph type="body" sz="half" idx="2"/>
          </p:nvPr>
        </p:nvSpPr>
        <p:spPr>
          <a:xfrm>
            <a:off x="381000" y="5533218"/>
            <a:ext cx="5867400" cy="768350"/>
          </a:xfrm>
        </p:spPr>
        <p:txBody>
          <a:bodyPr lIns="109728" tIns="0"/>
          <a:lstStyle>
            <a:lvl1pPr marL="0" indent="0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  <p:transition spd="slow">
    <p:blinds dir="vert"/>
  </p:transition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C3AA4-67BE-44F7-809A-3582401494AF}" type="datetime4">
              <a:rPr lang="en-US" smtClean="0"/>
              <a:pPr/>
              <a:t>September 3, 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blinds dir="vert"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549276"/>
            <a:ext cx="18288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549276"/>
            <a:ext cx="62484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72EEB-1769-4776-AD69-E7C1260563EB}" type="datetime4">
              <a:rPr lang="en-US" smtClean="0"/>
              <a:pPr/>
              <a:t>September 3, 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blinds dir="vert"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539552" y="692696"/>
            <a:ext cx="77724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5394574"/>
      </p:ext>
    </p:extLst>
  </p:cSld>
  <p:clrMapOvr>
    <a:masterClrMapping/>
  </p:clrMapOvr>
  <p:transition spd="slow">
    <p:blinds dir="vert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514350" y="1050898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>
          <a:xfrm>
            <a:off x="304800" y="1554162"/>
            <a:ext cx="86868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2"/>
          </p:nvPr>
        </p:nvSpPr>
        <p:spPr>
          <a:xfrm>
            <a:off x="6477000" y="76200"/>
            <a:ext cx="2514600" cy="288925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fld id="{62B1B13E-D5AF-485E-81A1-82A140076526}" type="datetime4">
              <a:rPr lang="en-US" smtClean="0"/>
              <a:pPr/>
              <a:t>September 3, 2013</a:t>
            </a:fld>
            <a:endParaRPr lang="en-US" dirty="0"/>
          </a:p>
        </p:txBody>
      </p:sp>
      <p:sp>
        <p:nvSpPr>
          <p:cNvPr id="28" name="Footer Placeholder 27"/>
          <p:cNvSpPr>
            <a:spLocks noGrp="1"/>
          </p:cNvSpPr>
          <p:nvPr>
            <p:ph type="ftr" sz="quarter" idx="3"/>
          </p:nvPr>
        </p:nvSpPr>
        <p:spPr>
          <a:xfrm>
            <a:off x="3124200" y="76200"/>
            <a:ext cx="3352800" cy="288925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229600" y="6477000"/>
            <a:ext cx="762000" cy="244475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fld id="{2754ED01-E2A0-4C1E-8E21-014B990415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Placeholder 9"/>
          <p:cNvSpPr>
            <a:spLocks noGrp="1"/>
          </p:cNvSpPr>
          <p:nvPr>
            <p:ph type="title"/>
          </p:nvPr>
        </p:nvSpPr>
        <p:spPr>
          <a:xfrm>
            <a:off x="304800" y="457200"/>
            <a:ext cx="8686800" cy="8382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514350" y="1050898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514350" y="1057986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Text Box 8"/>
          <p:cNvSpPr txBox="1">
            <a:spLocks noChangeArrowheads="1"/>
          </p:cNvSpPr>
          <p:nvPr userDrawn="1"/>
        </p:nvSpPr>
        <p:spPr bwMode="auto">
          <a:xfrm>
            <a:off x="381000" y="381000"/>
            <a:ext cx="1295400" cy="3603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algn="ctr" eaLnBrk="1" hangingPunct="1">
              <a:defRPr/>
            </a:pPr>
            <a:r>
              <a:rPr lang="en-GB" sz="1800" b="1" smtClean="0">
                <a:solidFill>
                  <a:srgbClr val="0000FF"/>
                </a:solidFill>
                <a:latin typeface="Arial" charset="0"/>
              </a:rPr>
              <a:t>OHT 2.</a:t>
            </a:r>
            <a:fld id="{466AF496-CE73-479F-9CF2-34038DFFDE04}" type="slidenum">
              <a:rPr lang="en-GB" sz="1800" b="1" smtClean="0">
                <a:solidFill>
                  <a:srgbClr val="0000FF"/>
                </a:solidFill>
                <a:latin typeface="Arial" charset="0"/>
              </a:rPr>
              <a:pPr algn="ctr" eaLnBrk="1" hangingPunct="1">
                <a:defRPr/>
              </a:pPr>
              <a:t>‹#›</a:t>
            </a:fld>
            <a:endParaRPr lang="en-GB" b="1" smtClean="0"/>
          </a:p>
        </p:txBody>
      </p:sp>
      <p:sp>
        <p:nvSpPr>
          <p:cNvPr id="14" name="Text Box 9"/>
          <p:cNvSpPr txBox="1">
            <a:spLocks noChangeArrowheads="1"/>
          </p:cNvSpPr>
          <p:nvPr userDrawn="1"/>
        </p:nvSpPr>
        <p:spPr bwMode="auto">
          <a:xfrm>
            <a:off x="265113" y="6292850"/>
            <a:ext cx="300037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>
              <a:defRPr/>
            </a:pPr>
            <a:r>
              <a:rPr lang="en-US" sz="1200" smtClean="0">
                <a:latin typeface="Arial" charset="0"/>
              </a:rPr>
              <a:t>Galin, </a:t>
            </a:r>
            <a:r>
              <a:rPr lang="en-US" sz="1200" i="1" smtClean="0">
                <a:latin typeface="Arial" charset="0"/>
              </a:rPr>
              <a:t>SQA from theory to implementation</a:t>
            </a:r>
            <a:endParaRPr lang="en-GB" b="1" smtClean="0"/>
          </a:p>
        </p:txBody>
      </p:sp>
      <p:sp>
        <p:nvSpPr>
          <p:cNvPr id="15" name="Text Box 10"/>
          <p:cNvSpPr txBox="1">
            <a:spLocks noChangeArrowheads="1"/>
          </p:cNvSpPr>
          <p:nvPr userDrawn="1"/>
        </p:nvSpPr>
        <p:spPr bwMode="auto">
          <a:xfrm>
            <a:off x="6069013" y="6311900"/>
            <a:ext cx="2830512" cy="360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algn="r" eaLnBrk="1" hangingPunct="1">
              <a:defRPr/>
            </a:pPr>
            <a:r>
              <a:rPr lang="en-GB" sz="1200" smtClean="0">
                <a:latin typeface="Arial" charset="0"/>
              </a:rPr>
              <a:t>© Pearson Education Limited 2004</a:t>
            </a:r>
            <a:endParaRPr lang="en-GB" b="1"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8" r:id="rId1"/>
    <p:sldLayoutId id="2147483819" r:id="rId2"/>
    <p:sldLayoutId id="2147483820" r:id="rId3"/>
    <p:sldLayoutId id="2147483821" r:id="rId4"/>
    <p:sldLayoutId id="2147483822" r:id="rId5"/>
    <p:sldLayoutId id="2147483823" r:id="rId6"/>
    <p:sldLayoutId id="2147483824" r:id="rId7"/>
    <p:sldLayoutId id="2147483825" r:id="rId8"/>
    <p:sldLayoutId id="2147483826" r:id="rId9"/>
    <p:sldLayoutId id="2147483827" r:id="rId10"/>
    <p:sldLayoutId id="2147483828" r:id="rId11"/>
    <p:sldLayoutId id="2147483829" r:id="rId12"/>
  </p:sldLayoutIdLst>
  <p:transition spd="slow">
    <p:blinds dir="vert"/>
  </p:transition>
  <p:timing>
    <p:tnLst>
      <p:par>
        <p:cTn id="1" dur="indefinite" restart="never" nodeType="tmRoot"/>
      </p:par>
    </p:tnLst>
  </p:timing>
  <p:txStyles>
    <p:titleStyle>
      <a:lvl1pPr algn="l" rtl="0" eaLnBrk="1" latinLnBrk="0" hangingPunct="1">
        <a:spcBef>
          <a:spcPct val="0"/>
        </a:spcBef>
        <a:buNone/>
        <a:defRPr kumimoji="0" sz="3600" kern="1200" cap="all" baseline="0">
          <a:solidFill>
            <a:schemeClr val="tx2"/>
          </a:solidFill>
          <a:effectLst>
            <a:reflection blurRad="12700" stA="48000" endA="300" endPos="55000" dir="5400000" sy="-90000" algn="bl" rotWithShape="0"/>
          </a:effectLst>
          <a:latin typeface="+mj-lt"/>
          <a:ea typeface="+mj-ea"/>
          <a:cs typeface="+mj-cs"/>
        </a:defRPr>
      </a:lvl1pPr>
    </p:titleStyle>
    <p:bodyStyle>
      <a:lvl1pPr marL="342900" indent="-3429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"/>
        <a:defRPr kumimoji="0" sz="3200" kern="12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"/>
        <a:defRPr kumimoji="0" sz="2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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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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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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"/>
        <a:defRPr kumimoji="0" sz="1600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381000" y="3645024"/>
            <a:ext cx="8458200" cy="1222375"/>
          </a:xfrm>
        </p:spPr>
        <p:txBody>
          <a:bodyPr/>
          <a:lstStyle/>
          <a:p>
            <a:pPr algn="ctr"/>
            <a:r>
              <a:rPr lang="en-US" dirty="0" smtClean="0">
                <a:latin typeface="Arial" pitchFamily="34" charset="0"/>
                <a:cs typeface="Arial" pitchFamily="34" charset="0"/>
              </a:rPr>
              <a:t>What is software quality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381000" y="2060848"/>
            <a:ext cx="8458200" cy="914400"/>
          </a:xfrm>
        </p:spPr>
        <p:txBody>
          <a:bodyPr/>
          <a:lstStyle/>
          <a:p>
            <a:pPr algn="ctr"/>
            <a:r>
              <a:rPr lang="en-US" sz="4800" dirty="0" smtClean="0"/>
              <a:t>Chapter</a:t>
            </a:r>
            <a:r>
              <a:rPr lang="en-US" dirty="0" smtClean="0"/>
              <a:t> </a:t>
            </a:r>
            <a:r>
              <a:rPr lang="en-US" sz="4800" dirty="0" smtClean="0"/>
              <a:t>2</a:t>
            </a:r>
            <a:endParaRPr lang="en-US" sz="4800" dirty="0"/>
          </a:p>
        </p:txBody>
      </p:sp>
      <p:sp>
        <p:nvSpPr>
          <p:cNvPr id="2" name="TextBox 1"/>
          <p:cNvSpPr txBox="1"/>
          <p:nvPr/>
        </p:nvSpPr>
        <p:spPr>
          <a:xfrm>
            <a:off x="683568" y="5733256"/>
            <a:ext cx="78662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Please note that author slides have been significantly modified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6802870"/>
      </p:ext>
    </p:extLst>
  </p:cSld>
  <p:clrMapOvr>
    <a:masterClrMapping/>
  </p:clrMapOvr>
  <p:transition spd="slow">
    <p:blinds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468313" y="1341438"/>
            <a:ext cx="8424862" cy="4895850"/>
          </a:xfrm>
          <a:prstGeom prst="rect">
            <a:avLst/>
          </a:prstGeom>
          <a:noFill/>
          <a:ln w="76200" cmpd="tri">
            <a:solidFill>
              <a:srgbClr val="99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800" b="1">
                <a:solidFill>
                  <a:srgbClr val="FF0066"/>
                </a:solidFill>
              </a:rPr>
              <a:t>Outline</a:t>
            </a:r>
          </a:p>
          <a:p>
            <a:pPr marL="800100" lvl="1" indent="-3429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800" b="1">
                <a:solidFill>
                  <a:srgbClr val="FF0066"/>
                </a:solidFill>
              </a:rPr>
              <a:t>What is software?</a:t>
            </a:r>
          </a:p>
          <a:p>
            <a:pPr marL="800100" lvl="1" indent="-3429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800" b="1">
                <a:solidFill>
                  <a:srgbClr val="339966"/>
                </a:solidFill>
              </a:rPr>
              <a:t>Software errors, faults and failures</a:t>
            </a:r>
          </a:p>
          <a:p>
            <a:pPr marL="1257300" lvl="2" indent="-3429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800" b="1">
                <a:solidFill>
                  <a:srgbClr val="339966"/>
                </a:solidFill>
              </a:rPr>
              <a:t>differences</a:t>
            </a:r>
          </a:p>
          <a:p>
            <a:pPr marL="800100" lvl="1" indent="-3429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800" b="1">
                <a:solidFill>
                  <a:srgbClr val="996633"/>
                </a:solidFill>
              </a:rPr>
              <a:t>Classification of the causes of software errors</a:t>
            </a:r>
          </a:p>
          <a:p>
            <a:pPr marL="800100" lvl="1" indent="-3429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800" b="1">
                <a:solidFill>
                  <a:srgbClr val="CC3300"/>
                </a:solidFill>
              </a:rPr>
              <a:t>Software quality – definition</a:t>
            </a:r>
          </a:p>
          <a:p>
            <a:pPr marL="800100" lvl="1" indent="-3429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800" b="1">
                <a:solidFill>
                  <a:srgbClr val="000099"/>
                </a:solidFill>
              </a:rPr>
              <a:t>Software quality assurance – definition and objectives</a:t>
            </a:r>
          </a:p>
          <a:p>
            <a:pPr marL="800100" lvl="1" indent="-3429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800" b="1">
                <a:solidFill>
                  <a:srgbClr val="9900FF"/>
                </a:solidFill>
              </a:rPr>
              <a:t>Software quality assurance and software engineering</a:t>
            </a:r>
          </a:p>
        </p:txBody>
      </p:sp>
      <p:sp>
        <p:nvSpPr>
          <p:cNvPr id="2051" name="WordArt 4"/>
          <p:cNvSpPr>
            <a:spLocks noChangeArrowheads="1" noChangeShapeType="1" noTextEdit="1"/>
          </p:cNvSpPr>
          <p:nvPr/>
        </p:nvSpPr>
        <p:spPr bwMode="auto">
          <a:xfrm>
            <a:off x="3414713" y="363538"/>
            <a:ext cx="2286000" cy="381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12700">
                  <a:solidFill>
                    <a:srgbClr val="3333CC"/>
                  </a:solidFill>
                  <a:round/>
                  <a:headEnd/>
                  <a:tailEnd/>
                </a:ln>
                <a:solidFill>
                  <a:srgbClr val="B2B2B2">
                    <a:alpha val="50195"/>
                  </a:srgbClr>
                </a:solidFill>
                <a:effectLst>
                  <a:outerShdw dist="45791" dir="2021404" algn="ctr" rotWithShape="0">
                    <a:srgbClr val="9999FF"/>
                  </a:outerShdw>
                </a:effectLst>
                <a:latin typeface="Arial Black"/>
              </a:rPr>
              <a:t>Chapter 2</a:t>
            </a:r>
          </a:p>
        </p:txBody>
      </p:sp>
      <p:sp>
        <p:nvSpPr>
          <p:cNvPr id="2052" name="WordArt 6"/>
          <p:cNvSpPr>
            <a:spLocks noChangeArrowheads="1" noChangeShapeType="1" noTextEdit="1"/>
          </p:cNvSpPr>
          <p:nvPr/>
        </p:nvSpPr>
        <p:spPr bwMode="auto">
          <a:xfrm>
            <a:off x="1401763" y="808038"/>
            <a:ext cx="6324600" cy="46037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CC33"/>
                </a:solidFill>
                <a:latin typeface="Arial Black"/>
              </a:rPr>
              <a:t>What is software quality?</a:t>
            </a:r>
          </a:p>
        </p:txBody>
      </p:sp>
    </p:spTree>
  </p:cSld>
  <p:clrMapOvr>
    <a:masterClrMapping/>
  </p:clrMapOvr>
  <p:transition spd="slow">
    <p:blinds dir="vert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3"/>
          <p:cNvSpPr>
            <a:spLocks noGrp="1" noChangeArrowheads="1"/>
          </p:cNvSpPr>
          <p:nvPr>
            <p:ph idx="1"/>
          </p:nvPr>
        </p:nvSpPr>
        <p:spPr>
          <a:xfrm>
            <a:off x="395288" y="1124744"/>
            <a:ext cx="8748712" cy="5616624"/>
          </a:xfrm>
        </p:spPr>
        <p:txBody>
          <a:bodyPr>
            <a:noAutofit/>
          </a:bodyPr>
          <a:lstStyle/>
          <a:p>
            <a:pPr eaLnBrk="1" hangingPunct="1">
              <a:buFontTx/>
              <a:buNone/>
              <a:defRPr/>
            </a:pPr>
            <a:r>
              <a:rPr lang="en-US" sz="2800" dirty="0" smtClean="0"/>
              <a:t>Definition of software is really not simple. Simply code? </a:t>
            </a:r>
          </a:p>
          <a:p>
            <a:pPr eaLnBrk="1" hangingPunct="1">
              <a:buFontTx/>
              <a:buNone/>
              <a:defRPr/>
            </a:pPr>
            <a:endParaRPr lang="en-US" sz="2800" dirty="0" smtClean="0"/>
          </a:p>
          <a:p>
            <a:pPr marL="0" indent="0" eaLnBrk="1" hangingPunct="1">
              <a:buFontTx/>
              <a:buNone/>
              <a:defRPr/>
            </a:pPr>
            <a:r>
              <a:rPr lang="en-US" sz="2800" b="1" dirty="0" smtClean="0"/>
              <a:t>According to the IEEE</a:t>
            </a:r>
            <a:r>
              <a:rPr lang="en-US" sz="2800" dirty="0" smtClean="0"/>
              <a:t>: </a:t>
            </a:r>
          </a:p>
          <a:p>
            <a:pPr eaLnBrk="1" hangingPunct="1">
              <a:defRPr/>
            </a:pPr>
            <a:r>
              <a:rPr lang="en-US" sz="1800" dirty="0" smtClean="0"/>
              <a:t>Software is: Computer programs, procedures, and possibly associated documentation and data pertaining to the operation of a computer system. </a:t>
            </a:r>
          </a:p>
          <a:p>
            <a:pPr eaLnBrk="1" hangingPunct="1">
              <a:defRPr/>
            </a:pPr>
            <a:endParaRPr lang="en-US" sz="1800" dirty="0"/>
          </a:p>
          <a:p>
            <a:pPr eaLnBrk="1" hangingPunct="1">
              <a:defRPr/>
            </a:pPr>
            <a:r>
              <a:rPr lang="en-US" sz="1800" b="1" dirty="0" smtClean="0"/>
              <a:t>A ‘similar definition comes from ISO:   </a:t>
            </a:r>
          </a:p>
          <a:p>
            <a:pPr eaLnBrk="1" hangingPunct="1">
              <a:buFontTx/>
              <a:buNone/>
              <a:defRPr/>
            </a:pPr>
            <a:endParaRPr lang="en-US" sz="2000" b="1" dirty="0" smtClean="0"/>
          </a:p>
          <a:p>
            <a:pPr eaLnBrk="1" hangingPunct="1">
              <a:buFontTx/>
              <a:buNone/>
              <a:defRPr/>
            </a:pPr>
            <a:r>
              <a:rPr lang="en-US" sz="2000" b="1" dirty="0" smtClean="0"/>
              <a:t>ISO definition </a:t>
            </a:r>
            <a:r>
              <a:rPr lang="en-US" sz="2000" dirty="0" smtClean="0"/>
              <a:t>(from ISO 9000-3) lists four components necessary to assure the quality of the software development process and years of maintenance:</a:t>
            </a:r>
          </a:p>
          <a:p>
            <a:pPr eaLnBrk="1" hangingPunct="1">
              <a:defRPr/>
            </a:pPr>
            <a:r>
              <a:rPr lang="en-US" sz="1800" dirty="0" smtClean="0"/>
              <a:t>computer programs (code)</a:t>
            </a:r>
          </a:p>
          <a:p>
            <a:pPr eaLnBrk="1" hangingPunct="1">
              <a:defRPr/>
            </a:pPr>
            <a:r>
              <a:rPr lang="en-US" sz="1800" dirty="0" smtClean="0"/>
              <a:t>procedures</a:t>
            </a:r>
          </a:p>
          <a:p>
            <a:pPr eaLnBrk="1" hangingPunct="1">
              <a:defRPr/>
            </a:pPr>
            <a:r>
              <a:rPr lang="en-US" sz="1800" dirty="0" smtClean="0"/>
              <a:t>documentation</a:t>
            </a:r>
          </a:p>
          <a:p>
            <a:pPr eaLnBrk="1" hangingPunct="1">
              <a:defRPr/>
            </a:pPr>
            <a:r>
              <a:rPr lang="en-US" sz="1800" dirty="0" smtClean="0"/>
              <a:t>data necessary for operating the software system.</a:t>
            </a:r>
          </a:p>
        </p:txBody>
      </p:sp>
      <p:sp>
        <p:nvSpPr>
          <p:cNvPr id="3075" name="WordArt 9"/>
          <p:cNvSpPr>
            <a:spLocks noChangeArrowheads="1" noChangeShapeType="1" noTextEdit="1"/>
          </p:cNvSpPr>
          <p:nvPr/>
        </p:nvSpPr>
        <p:spPr bwMode="auto">
          <a:xfrm>
            <a:off x="2051720" y="548357"/>
            <a:ext cx="6410325" cy="360363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CC33"/>
                </a:solidFill>
                <a:latin typeface="Arial Black"/>
              </a:rPr>
              <a:t>2.1  Software - IEEE definition</a:t>
            </a:r>
          </a:p>
        </p:txBody>
      </p:sp>
    </p:spTree>
  </p:cSld>
  <p:clrMapOvr>
    <a:masterClrMapping/>
  </p:clrMapOvr>
  <p:transition spd="slow">
    <p:blinds dir="vert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>
          <a:xfrm>
            <a:off x="1840160" y="260648"/>
            <a:ext cx="7772400" cy="731838"/>
          </a:xfrm>
        </p:spPr>
        <p:txBody>
          <a:bodyPr>
            <a:normAutofit/>
          </a:bodyPr>
          <a:lstStyle/>
          <a:p>
            <a:r>
              <a:rPr lang="en-US" dirty="0" smtClean="0"/>
              <a:t>Basic Definitions</a:t>
            </a:r>
          </a:p>
        </p:txBody>
      </p:sp>
      <p:sp>
        <p:nvSpPr>
          <p:cNvPr id="4099" name="Content Placeholder 2"/>
          <p:cNvSpPr>
            <a:spLocks noGrp="1"/>
          </p:cNvSpPr>
          <p:nvPr>
            <p:ph idx="1"/>
          </p:nvPr>
        </p:nvSpPr>
        <p:spPr>
          <a:xfrm>
            <a:off x="323850" y="1412874"/>
            <a:ext cx="8640763" cy="5184477"/>
          </a:xfrm>
        </p:spPr>
        <p:txBody>
          <a:bodyPr>
            <a:normAutofit fontScale="92500" lnSpcReduction="10000"/>
          </a:bodyPr>
          <a:lstStyle/>
          <a:p>
            <a:r>
              <a:rPr lang="en-US" sz="3000" b="1" dirty="0" smtClean="0"/>
              <a:t>Software Error – made by programmer</a:t>
            </a:r>
          </a:p>
          <a:p>
            <a:pPr lvl="1"/>
            <a:r>
              <a:rPr lang="en-US" sz="2200" dirty="0" smtClean="0"/>
              <a:t>Syntax (grammatical) error</a:t>
            </a:r>
          </a:p>
          <a:p>
            <a:pPr lvl="1"/>
            <a:r>
              <a:rPr lang="en-US" sz="2200" dirty="0" smtClean="0"/>
              <a:t>Logic error (multiply vice add two operands)</a:t>
            </a:r>
          </a:p>
          <a:p>
            <a:r>
              <a:rPr lang="en-US" sz="3000" b="1" dirty="0" smtClean="0"/>
              <a:t>Software Fault – </a:t>
            </a:r>
          </a:p>
          <a:p>
            <a:pPr lvl="1"/>
            <a:r>
              <a:rPr lang="en-US" sz="2200" dirty="0" smtClean="0"/>
              <a:t>All software errors may </a:t>
            </a:r>
            <a:r>
              <a:rPr lang="en-US" sz="2200" b="1" dirty="0" smtClean="0"/>
              <a:t>not</a:t>
            </a:r>
            <a:r>
              <a:rPr lang="en-US" sz="2200" dirty="0" smtClean="0"/>
              <a:t> cause software faults</a:t>
            </a:r>
          </a:p>
          <a:p>
            <a:pPr lvl="1"/>
            <a:r>
              <a:rPr lang="en-US" sz="2200" dirty="0" smtClean="0"/>
              <a:t>That part of the software may not be executed</a:t>
            </a:r>
          </a:p>
          <a:p>
            <a:pPr lvl="2"/>
            <a:r>
              <a:rPr lang="en-US" sz="1800" dirty="0" smtClean="0"/>
              <a:t>(An error is present but not encountered….)</a:t>
            </a:r>
          </a:p>
          <a:p>
            <a:r>
              <a:rPr lang="en-US" sz="3000" b="1" dirty="0" smtClean="0"/>
              <a:t>Software Failures – Here’s the interest.</a:t>
            </a:r>
          </a:p>
          <a:p>
            <a:pPr lvl="1"/>
            <a:r>
              <a:rPr lang="en-US" sz="2200" dirty="0" smtClean="0"/>
              <a:t>A software fault becomes a software failure when/if it is </a:t>
            </a:r>
            <a:r>
              <a:rPr lang="en-US" sz="2200" b="1" dirty="0" smtClean="0"/>
              <a:t>activated</a:t>
            </a:r>
            <a:r>
              <a:rPr lang="en-US" sz="2200" dirty="0" smtClean="0"/>
              <a:t>.</a:t>
            </a:r>
          </a:p>
          <a:p>
            <a:pPr lvl="1"/>
            <a:r>
              <a:rPr lang="en-US" sz="2200" dirty="0" smtClean="0"/>
              <a:t>Faults may be found in the software due to the way the software is executed or other constraints on the software’s execution, such as execution options. </a:t>
            </a:r>
          </a:p>
          <a:p>
            <a:pPr lvl="2"/>
            <a:r>
              <a:rPr lang="en-US" sz="1800" dirty="0" smtClean="0"/>
              <a:t>Some runs result in </a:t>
            </a:r>
            <a:r>
              <a:rPr lang="en-US" sz="1800" b="1" dirty="0" smtClean="0"/>
              <a:t>failures</a:t>
            </a:r>
            <a:r>
              <a:rPr lang="en-US" sz="1800" dirty="0" smtClean="0"/>
              <a:t>;  some </a:t>
            </a:r>
            <a:r>
              <a:rPr lang="en-US" sz="1800" b="1" dirty="0" smtClean="0"/>
              <a:t>not</a:t>
            </a:r>
            <a:r>
              <a:rPr lang="en-US" sz="1800" dirty="0" smtClean="0"/>
              <a:t>.</a:t>
            </a:r>
          </a:p>
          <a:p>
            <a:pPr lvl="2"/>
            <a:r>
              <a:rPr lang="en-US" sz="1800" dirty="0" smtClean="0"/>
              <a:t>Example:  </a:t>
            </a:r>
            <a:r>
              <a:rPr lang="en-US" sz="1800" b="1" dirty="0" smtClean="0"/>
              <a:t>standard software </a:t>
            </a:r>
            <a:r>
              <a:rPr lang="en-US" sz="1800" dirty="0" smtClean="0"/>
              <a:t>running in different client shops.</a:t>
            </a:r>
          </a:p>
        </p:txBody>
      </p:sp>
    </p:spTree>
  </p:cSld>
  <p:clrMapOvr>
    <a:masterClrMapping/>
  </p:clrMapOvr>
  <p:transition spd="slow">
    <p:blinds dir="vert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2" name="Group 69"/>
          <p:cNvGrpSpPr>
            <a:grpSpLocks/>
          </p:cNvGrpSpPr>
          <p:nvPr/>
        </p:nvGrpSpPr>
        <p:grpSpPr bwMode="auto">
          <a:xfrm>
            <a:off x="685800" y="2401888"/>
            <a:ext cx="8458200" cy="3979862"/>
            <a:chOff x="432" y="1513"/>
            <a:chExt cx="5328" cy="2507"/>
          </a:xfrm>
        </p:grpSpPr>
        <p:sp>
          <p:nvSpPr>
            <p:cNvPr id="5124" name="Line 54"/>
            <p:cNvSpPr>
              <a:spLocks noChangeShapeType="1"/>
            </p:cNvSpPr>
            <p:nvPr/>
          </p:nvSpPr>
          <p:spPr bwMode="auto">
            <a:xfrm>
              <a:off x="3367" y="3349"/>
              <a:ext cx="0" cy="45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prstDash val="sysDot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25" name="Line 55"/>
            <p:cNvSpPr>
              <a:spLocks noChangeShapeType="1"/>
            </p:cNvSpPr>
            <p:nvPr/>
          </p:nvSpPr>
          <p:spPr bwMode="auto">
            <a:xfrm>
              <a:off x="1931" y="3339"/>
              <a:ext cx="0" cy="398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prstDash val="sysDot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26" name="Line 56"/>
            <p:cNvSpPr>
              <a:spLocks noChangeShapeType="1"/>
            </p:cNvSpPr>
            <p:nvPr/>
          </p:nvSpPr>
          <p:spPr bwMode="auto">
            <a:xfrm>
              <a:off x="1261" y="3294"/>
              <a:ext cx="0" cy="42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prstDash val="sysDot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27" name="Rectangle 4"/>
            <p:cNvSpPr>
              <a:spLocks noChangeArrowheads="1"/>
            </p:cNvSpPr>
            <p:nvPr/>
          </p:nvSpPr>
          <p:spPr bwMode="auto">
            <a:xfrm>
              <a:off x="432" y="1513"/>
              <a:ext cx="3700" cy="28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rgbClr val="FF0066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eaLnBrk="0" hangingPunct="0"/>
              <a:r>
                <a:rPr lang="en-US" sz="2000" b="1" dirty="0"/>
                <a:t>Software development process</a:t>
              </a:r>
            </a:p>
          </p:txBody>
        </p:sp>
        <p:sp>
          <p:nvSpPr>
            <p:cNvPr id="5128" name="Line 5"/>
            <p:cNvSpPr>
              <a:spLocks noChangeShapeType="1"/>
            </p:cNvSpPr>
            <p:nvPr/>
          </p:nvSpPr>
          <p:spPr bwMode="auto">
            <a:xfrm>
              <a:off x="560" y="1786"/>
              <a:ext cx="0" cy="67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oval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29" name="Line 6"/>
            <p:cNvSpPr>
              <a:spLocks noChangeShapeType="1"/>
            </p:cNvSpPr>
            <p:nvPr/>
          </p:nvSpPr>
          <p:spPr bwMode="auto">
            <a:xfrm>
              <a:off x="751" y="1786"/>
              <a:ext cx="0" cy="67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oval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30" name="Line 7"/>
            <p:cNvSpPr>
              <a:spLocks noChangeShapeType="1"/>
            </p:cNvSpPr>
            <p:nvPr/>
          </p:nvSpPr>
          <p:spPr bwMode="auto">
            <a:xfrm>
              <a:off x="1134" y="1786"/>
              <a:ext cx="0" cy="67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oval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31" name="Line 8"/>
            <p:cNvSpPr>
              <a:spLocks noChangeShapeType="1"/>
            </p:cNvSpPr>
            <p:nvPr/>
          </p:nvSpPr>
          <p:spPr bwMode="auto">
            <a:xfrm>
              <a:off x="1548" y="1786"/>
              <a:ext cx="0" cy="67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oval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32" name="Line 9"/>
            <p:cNvSpPr>
              <a:spLocks noChangeShapeType="1"/>
            </p:cNvSpPr>
            <p:nvPr/>
          </p:nvSpPr>
          <p:spPr bwMode="auto">
            <a:xfrm>
              <a:off x="1421" y="1786"/>
              <a:ext cx="0" cy="65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oval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33" name="Line 10"/>
            <p:cNvSpPr>
              <a:spLocks noChangeShapeType="1"/>
            </p:cNvSpPr>
            <p:nvPr/>
          </p:nvSpPr>
          <p:spPr bwMode="auto">
            <a:xfrm>
              <a:off x="2091" y="1786"/>
              <a:ext cx="0" cy="65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oval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34" name="Line 11"/>
            <p:cNvSpPr>
              <a:spLocks noChangeShapeType="1"/>
            </p:cNvSpPr>
            <p:nvPr/>
          </p:nvSpPr>
          <p:spPr bwMode="auto">
            <a:xfrm>
              <a:off x="2378" y="1786"/>
              <a:ext cx="0" cy="76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oval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35" name="Line 12"/>
            <p:cNvSpPr>
              <a:spLocks noChangeShapeType="1"/>
            </p:cNvSpPr>
            <p:nvPr/>
          </p:nvSpPr>
          <p:spPr bwMode="auto">
            <a:xfrm>
              <a:off x="2665" y="1786"/>
              <a:ext cx="0" cy="67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oval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36" name="Line 13"/>
            <p:cNvSpPr>
              <a:spLocks noChangeShapeType="1"/>
            </p:cNvSpPr>
            <p:nvPr/>
          </p:nvSpPr>
          <p:spPr bwMode="auto">
            <a:xfrm>
              <a:off x="1963" y="1786"/>
              <a:ext cx="0" cy="67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oval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37" name="Line 14"/>
            <p:cNvSpPr>
              <a:spLocks noChangeShapeType="1"/>
            </p:cNvSpPr>
            <p:nvPr/>
          </p:nvSpPr>
          <p:spPr bwMode="auto">
            <a:xfrm>
              <a:off x="3526" y="1786"/>
              <a:ext cx="0" cy="64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oval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38" name="Line 15"/>
            <p:cNvSpPr>
              <a:spLocks noChangeShapeType="1"/>
            </p:cNvSpPr>
            <p:nvPr/>
          </p:nvSpPr>
          <p:spPr bwMode="auto">
            <a:xfrm>
              <a:off x="3399" y="1786"/>
              <a:ext cx="0" cy="65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oval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39" name="Line 16"/>
            <p:cNvSpPr>
              <a:spLocks noChangeShapeType="1"/>
            </p:cNvSpPr>
            <p:nvPr/>
          </p:nvSpPr>
          <p:spPr bwMode="auto">
            <a:xfrm>
              <a:off x="3111" y="1786"/>
              <a:ext cx="0" cy="67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oval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40" name="Line 17"/>
            <p:cNvSpPr>
              <a:spLocks noChangeShapeType="1"/>
            </p:cNvSpPr>
            <p:nvPr/>
          </p:nvSpPr>
          <p:spPr bwMode="auto">
            <a:xfrm>
              <a:off x="3718" y="1786"/>
              <a:ext cx="0" cy="65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oval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41" name="Line 18"/>
            <p:cNvSpPr>
              <a:spLocks noChangeShapeType="1"/>
            </p:cNvSpPr>
            <p:nvPr/>
          </p:nvSpPr>
          <p:spPr bwMode="auto">
            <a:xfrm>
              <a:off x="3941" y="1786"/>
              <a:ext cx="0" cy="67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oval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42" name="Line 19"/>
            <p:cNvSpPr>
              <a:spLocks noChangeShapeType="1"/>
            </p:cNvSpPr>
            <p:nvPr/>
          </p:nvSpPr>
          <p:spPr bwMode="auto">
            <a:xfrm>
              <a:off x="4037" y="1786"/>
              <a:ext cx="0" cy="67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oval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43" name="Line 20"/>
            <p:cNvSpPr>
              <a:spLocks noChangeShapeType="1"/>
            </p:cNvSpPr>
            <p:nvPr/>
          </p:nvSpPr>
          <p:spPr bwMode="auto">
            <a:xfrm>
              <a:off x="1325" y="1786"/>
              <a:ext cx="0" cy="64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oval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44" name="Line 21"/>
            <p:cNvSpPr>
              <a:spLocks noChangeShapeType="1"/>
            </p:cNvSpPr>
            <p:nvPr/>
          </p:nvSpPr>
          <p:spPr bwMode="auto">
            <a:xfrm>
              <a:off x="2793" y="1795"/>
              <a:ext cx="0" cy="64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oval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45" name="AutoShape 22"/>
            <p:cNvSpPr>
              <a:spLocks noChangeArrowheads="1"/>
            </p:cNvSpPr>
            <p:nvPr/>
          </p:nvSpPr>
          <p:spPr bwMode="auto">
            <a:xfrm>
              <a:off x="496" y="2429"/>
              <a:ext cx="95" cy="106"/>
            </a:xfrm>
            <a:prstGeom prst="hexagon">
              <a:avLst>
                <a:gd name="adj" fmla="val 50000"/>
                <a:gd name="vf" fmla="val 115470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GB" sz="1200"/>
            </a:p>
          </p:txBody>
        </p:sp>
        <p:sp>
          <p:nvSpPr>
            <p:cNvPr id="5146" name="AutoShape 23"/>
            <p:cNvSpPr>
              <a:spLocks noChangeArrowheads="1"/>
            </p:cNvSpPr>
            <p:nvPr/>
          </p:nvSpPr>
          <p:spPr bwMode="auto">
            <a:xfrm>
              <a:off x="4292" y="2006"/>
              <a:ext cx="95" cy="106"/>
            </a:xfrm>
            <a:prstGeom prst="hexagon">
              <a:avLst>
                <a:gd name="adj" fmla="val 50000"/>
                <a:gd name="vf" fmla="val 115470"/>
              </a:avLst>
            </a:prstGeom>
            <a:solidFill>
              <a:schemeClr val="accent1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GB" sz="1200">
                <a:solidFill>
                  <a:srgbClr val="339966"/>
                </a:solidFill>
              </a:endParaRPr>
            </a:p>
          </p:txBody>
        </p:sp>
        <p:sp>
          <p:nvSpPr>
            <p:cNvPr id="5147" name="AutoShape 24"/>
            <p:cNvSpPr>
              <a:spLocks noChangeArrowheads="1"/>
            </p:cNvSpPr>
            <p:nvPr/>
          </p:nvSpPr>
          <p:spPr bwMode="auto">
            <a:xfrm>
              <a:off x="687" y="2429"/>
              <a:ext cx="96" cy="106"/>
            </a:xfrm>
            <a:prstGeom prst="hexagon">
              <a:avLst>
                <a:gd name="adj" fmla="val 50000"/>
                <a:gd name="vf" fmla="val 115470"/>
              </a:avLst>
            </a:prstGeom>
            <a:solidFill>
              <a:schemeClr val="accent1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GB" sz="1200"/>
            </a:p>
          </p:txBody>
        </p:sp>
        <p:sp>
          <p:nvSpPr>
            <p:cNvPr id="5148" name="AutoShape 25"/>
            <p:cNvSpPr>
              <a:spLocks noChangeArrowheads="1"/>
            </p:cNvSpPr>
            <p:nvPr/>
          </p:nvSpPr>
          <p:spPr bwMode="auto">
            <a:xfrm>
              <a:off x="1485" y="2429"/>
              <a:ext cx="95" cy="106"/>
            </a:xfrm>
            <a:prstGeom prst="hexagon">
              <a:avLst>
                <a:gd name="adj" fmla="val 50000"/>
                <a:gd name="vf" fmla="val 115470"/>
              </a:avLst>
            </a:prstGeom>
            <a:solidFill>
              <a:schemeClr val="accent1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GB" sz="1200"/>
            </a:p>
          </p:txBody>
        </p:sp>
        <p:sp>
          <p:nvSpPr>
            <p:cNvPr id="5149" name="AutoShape 26"/>
            <p:cNvSpPr>
              <a:spLocks noChangeArrowheads="1"/>
            </p:cNvSpPr>
            <p:nvPr/>
          </p:nvSpPr>
          <p:spPr bwMode="auto">
            <a:xfrm>
              <a:off x="1898" y="2420"/>
              <a:ext cx="95" cy="105"/>
            </a:xfrm>
            <a:prstGeom prst="hexagon">
              <a:avLst>
                <a:gd name="adj" fmla="val 50000"/>
                <a:gd name="vf" fmla="val 115470"/>
              </a:avLst>
            </a:prstGeom>
            <a:solidFill>
              <a:schemeClr val="accent1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GB" sz="1200"/>
            </a:p>
          </p:txBody>
        </p:sp>
        <p:sp>
          <p:nvSpPr>
            <p:cNvPr id="5150" name="AutoShape 27"/>
            <p:cNvSpPr>
              <a:spLocks noChangeArrowheads="1"/>
            </p:cNvSpPr>
            <p:nvPr/>
          </p:nvSpPr>
          <p:spPr bwMode="auto">
            <a:xfrm>
              <a:off x="2027" y="2429"/>
              <a:ext cx="96" cy="106"/>
            </a:xfrm>
            <a:prstGeom prst="hexagon">
              <a:avLst>
                <a:gd name="adj" fmla="val 50000"/>
                <a:gd name="vf" fmla="val 115470"/>
              </a:avLst>
            </a:prstGeom>
            <a:solidFill>
              <a:schemeClr val="accent1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GB" sz="1200"/>
            </a:p>
          </p:txBody>
        </p:sp>
        <p:sp>
          <p:nvSpPr>
            <p:cNvPr id="5151" name="AutoShape 28"/>
            <p:cNvSpPr>
              <a:spLocks noChangeArrowheads="1"/>
            </p:cNvSpPr>
            <p:nvPr/>
          </p:nvSpPr>
          <p:spPr bwMode="auto">
            <a:xfrm>
              <a:off x="1070" y="2465"/>
              <a:ext cx="96" cy="105"/>
            </a:xfrm>
            <a:prstGeom prst="hexagon">
              <a:avLst>
                <a:gd name="adj" fmla="val 50000"/>
                <a:gd name="vf" fmla="val 115470"/>
              </a:avLst>
            </a:prstGeom>
            <a:solidFill>
              <a:schemeClr val="accent1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GB" sz="1200"/>
            </a:p>
          </p:txBody>
        </p:sp>
        <p:sp>
          <p:nvSpPr>
            <p:cNvPr id="5152" name="AutoShape 29"/>
            <p:cNvSpPr>
              <a:spLocks noChangeArrowheads="1"/>
            </p:cNvSpPr>
            <p:nvPr/>
          </p:nvSpPr>
          <p:spPr bwMode="auto">
            <a:xfrm>
              <a:off x="1261" y="2429"/>
              <a:ext cx="96" cy="106"/>
            </a:xfrm>
            <a:prstGeom prst="hexagon">
              <a:avLst>
                <a:gd name="adj" fmla="val 50000"/>
                <a:gd name="vf" fmla="val 115470"/>
              </a:avLst>
            </a:prstGeom>
            <a:solidFill>
              <a:schemeClr val="accent1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GB" sz="1200"/>
            </a:p>
          </p:txBody>
        </p:sp>
        <p:sp>
          <p:nvSpPr>
            <p:cNvPr id="5153" name="AutoShape 30"/>
            <p:cNvSpPr>
              <a:spLocks noChangeArrowheads="1"/>
            </p:cNvSpPr>
            <p:nvPr/>
          </p:nvSpPr>
          <p:spPr bwMode="auto">
            <a:xfrm>
              <a:off x="2338" y="2424"/>
              <a:ext cx="96" cy="106"/>
            </a:xfrm>
            <a:prstGeom prst="hexagon">
              <a:avLst>
                <a:gd name="adj" fmla="val 50000"/>
                <a:gd name="vf" fmla="val 115470"/>
              </a:avLst>
            </a:prstGeom>
            <a:solidFill>
              <a:schemeClr val="accent1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GB" sz="1200"/>
            </a:p>
          </p:txBody>
        </p:sp>
        <p:sp>
          <p:nvSpPr>
            <p:cNvPr id="5154" name="AutoShape 31"/>
            <p:cNvSpPr>
              <a:spLocks noChangeArrowheads="1"/>
            </p:cNvSpPr>
            <p:nvPr/>
          </p:nvSpPr>
          <p:spPr bwMode="auto">
            <a:xfrm>
              <a:off x="2612" y="2448"/>
              <a:ext cx="95" cy="106"/>
            </a:xfrm>
            <a:prstGeom prst="hexagon">
              <a:avLst>
                <a:gd name="adj" fmla="val 50000"/>
                <a:gd name="vf" fmla="val 115470"/>
              </a:avLst>
            </a:prstGeom>
            <a:solidFill>
              <a:schemeClr val="accent1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GB" sz="1200"/>
            </a:p>
          </p:txBody>
        </p:sp>
        <p:sp>
          <p:nvSpPr>
            <p:cNvPr id="5155" name="AutoShape 32"/>
            <p:cNvSpPr>
              <a:spLocks noChangeArrowheads="1"/>
            </p:cNvSpPr>
            <p:nvPr/>
          </p:nvSpPr>
          <p:spPr bwMode="auto">
            <a:xfrm>
              <a:off x="2729" y="2429"/>
              <a:ext cx="95" cy="106"/>
            </a:xfrm>
            <a:prstGeom prst="hexagon">
              <a:avLst>
                <a:gd name="adj" fmla="val 50000"/>
                <a:gd name="vf" fmla="val 115470"/>
              </a:avLst>
            </a:prstGeom>
            <a:solidFill>
              <a:schemeClr val="accent1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GB" sz="1200"/>
            </a:p>
          </p:txBody>
        </p:sp>
        <p:sp>
          <p:nvSpPr>
            <p:cNvPr id="5156" name="AutoShape 33"/>
            <p:cNvSpPr>
              <a:spLocks noChangeArrowheads="1"/>
            </p:cNvSpPr>
            <p:nvPr/>
          </p:nvSpPr>
          <p:spPr bwMode="auto">
            <a:xfrm>
              <a:off x="3063" y="2436"/>
              <a:ext cx="96" cy="105"/>
            </a:xfrm>
            <a:prstGeom prst="hexagon">
              <a:avLst>
                <a:gd name="adj" fmla="val 50000"/>
                <a:gd name="vf" fmla="val 115470"/>
              </a:avLst>
            </a:prstGeom>
            <a:solidFill>
              <a:schemeClr val="accent1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GB" sz="1200"/>
            </a:p>
          </p:txBody>
        </p:sp>
        <p:sp>
          <p:nvSpPr>
            <p:cNvPr id="5157" name="AutoShape 34"/>
            <p:cNvSpPr>
              <a:spLocks noChangeArrowheads="1"/>
            </p:cNvSpPr>
            <p:nvPr/>
          </p:nvSpPr>
          <p:spPr bwMode="auto">
            <a:xfrm>
              <a:off x="3338" y="2455"/>
              <a:ext cx="96" cy="106"/>
            </a:xfrm>
            <a:prstGeom prst="hexagon">
              <a:avLst>
                <a:gd name="adj" fmla="val 50000"/>
                <a:gd name="vf" fmla="val 115470"/>
              </a:avLst>
            </a:prstGeom>
            <a:solidFill>
              <a:schemeClr val="accent1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GB" sz="1200"/>
            </a:p>
          </p:txBody>
        </p:sp>
        <p:sp>
          <p:nvSpPr>
            <p:cNvPr id="5158" name="AutoShape 35"/>
            <p:cNvSpPr>
              <a:spLocks noChangeArrowheads="1"/>
            </p:cNvSpPr>
            <p:nvPr/>
          </p:nvSpPr>
          <p:spPr bwMode="auto">
            <a:xfrm>
              <a:off x="3487" y="2430"/>
              <a:ext cx="96" cy="106"/>
            </a:xfrm>
            <a:prstGeom prst="hexagon">
              <a:avLst>
                <a:gd name="adj" fmla="val 50000"/>
                <a:gd name="vf" fmla="val 115470"/>
              </a:avLst>
            </a:prstGeom>
            <a:solidFill>
              <a:schemeClr val="accent1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GB" sz="1200"/>
            </a:p>
          </p:txBody>
        </p:sp>
        <p:sp>
          <p:nvSpPr>
            <p:cNvPr id="5159" name="AutoShape 36"/>
            <p:cNvSpPr>
              <a:spLocks noChangeArrowheads="1"/>
            </p:cNvSpPr>
            <p:nvPr/>
          </p:nvSpPr>
          <p:spPr bwMode="auto">
            <a:xfrm>
              <a:off x="3654" y="2429"/>
              <a:ext cx="95" cy="106"/>
            </a:xfrm>
            <a:prstGeom prst="hexagon">
              <a:avLst>
                <a:gd name="adj" fmla="val 50000"/>
                <a:gd name="vf" fmla="val 115470"/>
              </a:avLst>
            </a:prstGeom>
            <a:solidFill>
              <a:schemeClr val="accent1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GB" sz="1200"/>
            </a:p>
          </p:txBody>
        </p:sp>
        <p:sp>
          <p:nvSpPr>
            <p:cNvPr id="5160" name="AutoShape 37"/>
            <p:cNvSpPr>
              <a:spLocks noChangeArrowheads="1"/>
            </p:cNvSpPr>
            <p:nvPr/>
          </p:nvSpPr>
          <p:spPr bwMode="auto">
            <a:xfrm>
              <a:off x="3886" y="2426"/>
              <a:ext cx="96" cy="106"/>
            </a:xfrm>
            <a:prstGeom prst="hexagon">
              <a:avLst>
                <a:gd name="adj" fmla="val 50000"/>
                <a:gd name="vf" fmla="val 115470"/>
              </a:avLst>
            </a:prstGeom>
            <a:solidFill>
              <a:schemeClr val="accent1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GB" sz="1200"/>
            </a:p>
          </p:txBody>
        </p:sp>
        <p:sp>
          <p:nvSpPr>
            <p:cNvPr id="5161" name="AutoShape 38"/>
            <p:cNvSpPr>
              <a:spLocks noChangeArrowheads="1"/>
            </p:cNvSpPr>
            <p:nvPr/>
          </p:nvSpPr>
          <p:spPr bwMode="auto">
            <a:xfrm>
              <a:off x="3987" y="2413"/>
              <a:ext cx="95" cy="106"/>
            </a:xfrm>
            <a:prstGeom prst="hexagon">
              <a:avLst>
                <a:gd name="adj" fmla="val 50000"/>
                <a:gd name="vf" fmla="val 115470"/>
              </a:avLst>
            </a:prstGeom>
            <a:solidFill>
              <a:schemeClr val="accent1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GB" sz="1200"/>
            </a:p>
          </p:txBody>
        </p:sp>
        <p:sp>
          <p:nvSpPr>
            <p:cNvPr id="5162" name="Line 39"/>
            <p:cNvSpPr>
              <a:spLocks noChangeShapeType="1"/>
            </p:cNvSpPr>
            <p:nvPr/>
          </p:nvSpPr>
          <p:spPr bwMode="auto">
            <a:xfrm>
              <a:off x="719" y="2570"/>
              <a:ext cx="0" cy="60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prstDash val="sysDot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63" name="Line 40"/>
            <p:cNvSpPr>
              <a:spLocks noChangeShapeType="1"/>
            </p:cNvSpPr>
            <p:nvPr/>
          </p:nvSpPr>
          <p:spPr bwMode="auto">
            <a:xfrm>
              <a:off x="1293" y="2535"/>
              <a:ext cx="0" cy="599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prstDash val="sysDot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64" name="Line 41"/>
            <p:cNvSpPr>
              <a:spLocks noChangeShapeType="1"/>
            </p:cNvSpPr>
            <p:nvPr/>
          </p:nvSpPr>
          <p:spPr bwMode="auto">
            <a:xfrm>
              <a:off x="2646" y="2569"/>
              <a:ext cx="0" cy="60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prstDash val="sysDot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65" name="Line 42"/>
            <p:cNvSpPr>
              <a:spLocks noChangeShapeType="1"/>
            </p:cNvSpPr>
            <p:nvPr/>
          </p:nvSpPr>
          <p:spPr bwMode="auto">
            <a:xfrm>
              <a:off x="3375" y="2554"/>
              <a:ext cx="0" cy="60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prstDash val="sysDot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66" name="Line 43"/>
            <p:cNvSpPr>
              <a:spLocks noChangeShapeType="1"/>
            </p:cNvSpPr>
            <p:nvPr/>
          </p:nvSpPr>
          <p:spPr bwMode="auto">
            <a:xfrm>
              <a:off x="3941" y="2535"/>
              <a:ext cx="0" cy="599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prstDash val="sysDot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67" name="Line 44"/>
            <p:cNvSpPr>
              <a:spLocks noChangeShapeType="1"/>
            </p:cNvSpPr>
            <p:nvPr/>
          </p:nvSpPr>
          <p:spPr bwMode="auto">
            <a:xfrm>
              <a:off x="4037" y="2535"/>
              <a:ext cx="0" cy="599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prstDash val="sysDot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68" name="AutoShape 45"/>
            <p:cNvSpPr>
              <a:spLocks noChangeArrowheads="1"/>
            </p:cNvSpPr>
            <p:nvPr/>
          </p:nvSpPr>
          <p:spPr bwMode="auto">
            <a:xfrm>
              <a:off x="4260" y="2500"/>
              <a:ext cx="168" cy="221"/>
            </a:xfrm>
            <a:prstGeom prst="sun">
              <a:avLst>
                <a:gd name="adj" fmla="val 25000"/>
              </a:avLst>
            </a:prstGeom>
            <a:solidFill>
              <a:srgbClr val="FF0066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69" name="AutoShape 46"/>
            <p:cNvSpPr>
              <a:spLocks noChangeArrowheads="1"/>
            </p:cNvSpPr>
            <p:nvPr/>
          </p:nvSpPr>
          <p:spPr bwMode="auto">
            <a:xfrm>
              <a:off x="4260" y="2218"/>
              <a:ext cx="168" cy="18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214 w 21600"/>
                <a:gd name="T25" fmla="*/ 3152 h 21600"/>
                <a:gd name="T26" fmla="*/ 18386 w 21600"/>
                <a:gd name="T27" fmla="*/ 18448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5400" y="10800"/>
                  </a:moveTo>
                  <a:cubicBezTo>
                    <a:pt x="5400" y="13782"/>
                    <a:pt x="7818" y="16200"/>
                    <a:pt x="10800" y="16200"/>
                  </a:cubicBezTo>
                  <a:cubicBezTo>
                    <a:pt x="13782" y="16200"/>
                    <a:pt x="16200" y="13782"/>
                    <a:pt x="16200" y="10800"/>
                  </a:cubicBezTo>
                  <a:cubicBezTo>
                    <a:pt x="16200" y="7818"/>
                    <a:pt x="13782" y="5400"/>
                    <a:pt x="10800" y="5400"/>
                  </a:cubicBezTo>
                  <a:cubicBezTo>
                    <a:pt x="7818" y="5400"/>
                    <a:pt x="5400" y="7818"/>
                    <a:pt x="5400" y="10800"/>
                  </a:cubicBezTo>
                  <a:close/>
                </a:path>
              </a:pathLst>
            </a:custGeom>
            <a:solidFill>
              <a:srgbClr val="FF6600"/>
            </a:solidFill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70" name="AutoShape 47"/>
            <p:cNvSpPr>
              <a:spLocks noChangeArrowheads="1"/>
            </p:cNvSpPr>
            <p:nvPr/>
          </p:nvSpPr>
          <p:spPr bwMode="auto">
            <a:xfrm>
              <a:off x="3845" y="3170"/>
              <a:ext cx="168" cy="18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214 w 21600"/>
                <a:gd name="T25" fmla="*/ 3152 h 21600"/>
                <a:gd name="T26" fmla="*/ 18386 w 21600"/>
                <a:gd name="T27" fmla="*/ 18448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5400" y="10800"/>
                  </a:moveTo>
                  <a:cubicBezTo>
                    <a:pt x="5400" y="13782"/>
                    <a:pt x="7818" y="16200"/>
                    <a:pt x="10800" y="16200"/>
                  </a:cubicBezTo>
                  <a:cubicBezTo>
                    <a:pt x="13782" y="16200"/>
                    <a:pt x="16200" y="13782"/>
                    <a:pt x="16200" y="10800"/>
                  </a:cubicBezTo>
                  <a:cubicBezTo>
                    <a:pt x="16200" y="7818"/>
                    <a:pt x="13782" y="5400"/>
                    <a:pt x="10800" y="5400"/>
                  </a:cubicBezTo>
                  <a:cubicBezTo>
                    <a:pt x="7818" y="5400"/>
                    <a:pt x="5400" y="7818"/>
                    <a:pt x="5400" y="10800"/>
                  </a:cubicBezTo>
                  <a:close/>
                </a:path>
              </a:pathLst>
            </a:custGeom>
            <a:solidFill>
              <a:srgbClr val="FF6600"/>
            </a:solidFill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71" name="AutoShape 48"/>
            <p:cNvSpPr>
              <a:spLocks noChangeArrowheads="1"/>
            </p:cNvSpPr>
            <p:nvPr/>
          </p:nvSpPr>
          <p:spPr bwMode="auto">
            <a:xfrm>
              <a:off x="3973" y="3170"/>
              <a:ext cx="168" cy="18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214 w 21600"/>
                <a:gd name="T25" fmla="*/ 3152 h 21600"/>
                <a:gd name="T26" fmla="*/ 18386 w 21600"/>
                <a:gd name="T27" fmla="*/ 18448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5400" y="10800"/>
                  </a:moveTo>
                  <a:cubicBezTo>
                    <a:pt x="5400" y="13782"/>
                    <a:pt x="7818" y="16200"/>
                    <a:pt x="10800" y="16200"/>
                  </a:cubicBezTo>
                  <a:cubicBezTo>
                    <a:pt x="13782" y="16200"/>
                    <a:pt x="16200" y="13782"/>
                    <a:pt x="16200" y="10800"/>
                  </a:cubicBezTo>
                  <a:cubicBezTo>
                    <a:pt x="16200" y="7818"/>
                    <a:pt x="13782" y="5400"/>
                    <a:pt x="10800" y="5400"/>
                  </a:cubicBezTo>
                  <a:cubicBezTo>
                    <a:pt x="7818" y="5400"/>
                    <a:pt x="5400" y="7818"/>
                    <a:pt x="5400" y="10800"/>
                  </a:cubicBezTo>
                  <a:close/>
                </a:path>
              </a:pathLst>
            </a:custGeom>
            <a:solidFill>
              <a:srgbClr val="FF6600"/>
            </a:solidFill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72" name="AutoShape 49"/>
            <p:cNvSpPr>
              <a:spLocks noChangeArrowheads="1"/>
            </p:cNvSpPr>
            <p:nvPr/>
          </p:nvSpPr>
          <p:spPr bwMode="auto">
            <a:xfrm>
              <a:off x="623" y="3170"/>
              <a:ext cx="168" cy="18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214 w 21600"/>
                <a:gd name="T25" fmla="*/ 3152 h 21600"/>
                <a:gd name="T26" fmla="*/ 18386 w 21600"/>
                <a:gd name="T27" fmla="*/ 18448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5400" y="10800"/>
                  </a:moveTo>
                  <a:cubicBezTo>
                    <a:pt x="5400" y="13782"/>
                    <a:pt x="7818" y="16200"/>
                    <a:pt x="10800" y="16200"/>
                  </a:cubicBezTo>
                  <a:cubicBezTo>
                    <a:pt x="13782" y="16200"/>
                    <a:pt x="16200" y="13782"/>
                    <a:pt x="16200" y="10800"/>
                  </a:cubicBezTo>
                  <a:cubicBezTo>
                    <a:pt x="16200" y="7818"/>
                    <a:pt x="13782" y="5400"/>
                    <a:pt x="10800" y="5400"/>
                  </a:cubicBezTo>
                  <a:cubicBezTo>
                    <a:pt x="7818" y="5400"/>
                    <a:pt x="5400" y="7818"/>
                    <a:pt x="5400" y="10800"/>
                  </a:cubicBezTo>
                  <a:close/>
                </a:path>
              </a:pathLst>
            </a:custGeom>
            <a:solidFill>
              <a:srgbClr val="FF6600"/>
            </a:solidFill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73" name="AutoShape 50"/>
            <p:cNvSpPr>
              <a:spLocks noChangeArrowheads="1"/>
            </p:cNvSpPr>
            <p:nvPr/>
          </p:nvSpPr>
          <p:spPr bwMode="auto">
            <a:xfrm>
              <a:off x="2569" y="3170"/>
              <a:ext cx="168" cy="18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214 w 21600"/>
                <a:gd name="T25" fmla="*/ 3152 h 21600"/>
                <a:gd name="T26" fmla="*/ 18386 w 21600"/>
                <a:gd name="T27" fmla="*/ 18448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5400" y="10800"/>
                  </a:moveTo>
                  <a:cubicBezTo>
                    <a:pt x="5400" y="13782"/>
                    <a:pt x="7818" y="16200"/>
                    <a:pt x="10800" y="16200"/>
                  </a:cubicBezTo>
                  <a:cubicBezTo>
                    <a:pt x="13782" y="16200"/>
                    <a:pt x="16200" y="13782"/>
                    <a:pt x="16200" y="10800"/>
                  </a:cubicBezTo>
                  <a:cubicBezTo>
                    <a:pt x="16200" y="7818"/>
                    <a:pt x="13782" y="5400"/>
                    <a:pt x="10800" y="5400"/>
                  </a:cubicBezTo>
                  <a:cubicBezTo>
                    <a:pt x="7818" y="5400"/>
                    <a:pt x="5400" y="7818"/>
                    <a:pt x="5400" y="10800"/>
                  </a:cubicBezTo>
                  <a:close/>
                </a:path>
              </a:pathLst>
            </a:custGeom>
            <a:solidFill>
              <a:srgbClr val="FF6600"/>
            </a:solidFill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74" name="AutoShape 51"/>
            <p:cNvSpPr>
              <a:spLocks noChangeArrowheads="1"/>
            </p:cNvSpPr>
            <p:nvPr/>
          </p:nvSpPr>
          <p:spPr bwMode="auto">
            <a:xfrm>
              <a:off x="3271" y="3170"/>
              <a:ext cx="168" cy="18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214 w 21600"/>
                <a:gd name="T25" fmla="*/ 3152 h 21600"/>
                <a:gd name="T26" fmla="*/ 18386 w 21600"/>
                <a:gd name="T27" fmla="*/ 18448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5400" y="10800"/>
                  </a:moveTo>
                  <a:cubicBezTo>
                    <a:pt x="5400" y="13782"/>
                    <a:pt x="7818" y="16200"/>
                    <a:pt x="10800" y="16200"/>
                  </a:cubicBezTo>
                  <a:cubicBezTo>
                    <a:pt x="13782" y="16200"/>
                    <a:pt x="16200" y="13782"/>
                    <a:pt x="16200" y="10800"/>
                  </a:cubicBezTo>
                  <a:cubicBezTo>
                    <a:pt x="16200" y="7818"/>
                    <a:pt x="13782" y="5400"/>
                    <a:pt x="10800" y="5400"/>
                  </a:cubicBezTo>
                  <a:cubicBezTo>
                    <a:pt x="7818" y="5400"/>
                    <a:pt x="5400" y="7818"/>
                    <a:pt x="5400" y="10800"/>
                  </a:cubicBezTo>
                  <a:close/>
                </a:path>
              </a:pathLst>
            </a:custGeom>
            <a:solidFill>
              <a:srgbClr val="FF6600"/>
            </a:solidFill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75" name="AutoShape 52"/>
            <p:cNvSpPr>
              <a:spLocks noChangeArrowheads="1"/>
            </p:cNvSpPr>
            <p:nvPr/>
          </p:nvSpPr>
          <p:spPr bwMode="auto">
            <a:xfrm>
              <a:off x="1198" y="3134"/>
              <a:ext cx="167" cy="18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04 w 21600"/>
                <a:gd name="T25" fmla="*/ 3135 h 21600"/>
                <a:gd name="T26" fmla="*/ 18496 w 21600"/>
                <a:gd name="T27" fmla="*/ 18465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5400" y="10800"/>
                  </a:moveTo>
                  <a:cubicBezTo>
                    <a:pt x="5400" y="13782"/>
                    <a:pt x="7818" y="16200"/>
                    <a:pt x="10800" y="16200"/>
                  </a:cubicBezTo>
                  <a:cubicBezTo>
                    <a:pt x="13782" y="16200"/>
                    <a:pt x="16200" y="13782"/>
                    <a:pt x="16200" y="10800"/>
                  </a:cubicBezTo>
                  <a:cubicBezTo>
                    <a:pt x="16200" y="7818"/>
                    <a:pt x="13782" y="5400"/>
                    <a:pt x="10800" y="5400"/>
                  </a:cubicBezTo>
                  <a:cubicBezTo>
                    <a:pt x="7818" y="5400"/>
                    <a:pt x="5400" y="7818"/>
                    <a:pt x="5400" y="10800"/>
                  </a:cubicBezTo>
                  <a:close/>
                </a:path>
              </a:pathLst>
            </a:custGeom>
            <a:solidFill>
              <a:srgbClr val="FF6600"/>
            </a:solidFill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76" name="AutoShape 53"/>
            <p:cNvSpPr>
              <a:spLocks noChangeArrowheads="1"/>
            </p:cNvSpPr>
            <p:nvPr/>
          </p:nvSpPr>
          <p:spPr bwMode="auto">
            <a:xfrm>
              <a:off x="1872" y="3193"/>
              <a:ext cx="168" cy="18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214 w 21600"/>
                <a:gd name="T25" fmla="*/ 3152 h 21600"/>
                <a:gd name="T26" fmla="*/ 18386 w 21600"/>
                <a:gd name="T27" fmla="*/ 18448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5400" y="10800"/>
                  </a:moveTo>
                  <a:cubicBezTo>
                    <a:pt x="5400" y="13782"/>
                    <a:pt x="7818" y="16200"/>
                    <a:pt x="10800" y="16200"/>
                  </a:cubicBezTo>
                  <a:cubicBezTo>
                    <a:pt x="13782" y="16200"/>
                    <a:pt x="16200" y="13782"/>
                    <a:pt x="16200" y="10800"/>
                  </a:cubicBezTo>
                  <a:cubicBezTo>
                    <a:pt x="16200" y="7818"/>
                    <a:pt x="13782" y="5400"/>
                    <a:pt x="10800" y="5400"/>
                  </a:cubicBezTo>
                  <a:cubicBezTo>
                    <a:pt x="7818" y="5400"/>
                    <a:pt x="5400" y="7818"/>
                    <a:pt x="5400" y="10800"/>
                  </a:cubicBezTo>
                  <a:close/>
                </a:path>
              </a:pathLst>
            </a:custGeom>
            <a:solidFill>
              <a:srgbClr val="FF6600"/>
            </a:solidFill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77" name="AutoShape 57"/>
            <p:cNvSpPr>
              <a:spLocks noChangeArrowheads="1"/>
            </p:cNvSpPr>
            <p:nvPr/>
          </p:nvSpPr>
          <p:spPr bwMode="auto">
            <a:xfrm>
              <a:off x="1166" y="3740"/>
              <a:ext cx="168" cy="221"/>
            </a:xfrm>
            <a:prstGeom prst="sun">
              <a:avLst>
                <a:gd name="adj" fmla="val 25000"/>
              </a:avLst>
            </a:prstGeom>
            <a:solidFill>
              <a:srgbClr val="FF0066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78" name="AutoShape 58"/>
            <p:cNvSpPr>
              <a:spLocks noChangeArrowheads="1"/>
            </p:cNvSpPr>
            <p:nvPr/>
          </p:nvSpPr>
          <p:spPr bwMode="auto">
            <a:xfrm>
              <a:off x="1836" y="3737"/>
              <a:ext cx="167" cy="221"/>
            </a:xfrm>
            <a:prstGeom prst="sun">
              <a:avLst>
                <a:gd name="adj" fmla="val 25000"/>
              </a:avLst>
            </a:prstGeom>
            <a:solidFill>
              <a:srgbClr val="FF0066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79" name="AutoShape 59"/>
            <p:cNvSpPr>
              <a:spLocks noChangeArrowheads="1"/>
            </p:cNvSpPr>
            <p:nvPr/>
          </p:nvSpPr>
          <p:spPr bwMode="auto">
            <a:xfrm>
              <a:off x="3271" y="3799"/>
              <a:ext cx="168" cy="221"/>
            </a:xfrm>
            <a:prstGeom prst="sun">
              <a:avLst>
                <a:gd name="adj" fmla="val 25000"/>
              </a:avLst>
            </a:prstGeom>
            <a:solidFill>
              <a:srgbClr val="FF0066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80" name="Text Box 61"/>
            <p:cNvSpPr txBox="1">
              <a:spLocks noChangeArrowheads="1"/>
            </p:cNvSpPr>
            <p:nvPr/>
          </p:nvSpPr>
          <p:spPr bwMode="auto">
            <a:xfrm>
              <a:off x="4451" y="2183"/>
              <a:ext cx="1309" cy="282"/>
            </a:xfrm>
            <a:prstGeom prst="rect">
              <a:avLst/>
            </a:prstGeom>
            <a:solidFill>
              <a:srgbClr val="CC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r>
                <a:rPr lang="en-US" sz="2000" b="1"/>
                <a:t>software fault</a:t>
              </a:r>
            </a:p>
          </p:txBody>
        </p:sp>
        <p:sp>
          <p:nvSpPr>
            <p:cNvPr id="5181" name="Text Box 62"/>
            <p:cNvSpPr txBox="1">
              <a:spLocks noChangeArrowheads="1"/>
            </p:cNvSpPr>
            <p:nvPr/>
          </p:nvSpPr>
          <p:spPr bwMode="auto">
            <a:xfrm>
              <a:off x="4451" y="2465"/>
              <a:ext cx="1309" cy="282"/>
            </a:xfrm>
            <a:prstGeom prst="rect">
              <a:avLst/>
            </a:prstGeom>
            <a:solidFill>
              <a:srgbClr val="CC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r>
                <a:rPr lang="en-US" sz="2000" b="1"/>
                <a:t>software</a:t>
              </a:r>
              <a:r>
                <a:rPr lang="en-US" sz="1200"/>
                <a:t> </a:t>
              </a:r>
              <a:r>
                <a:rPr lang="en-US" sz="2000" b="1"/>
                <a:t>failure</a:t>
              </a:r>
            </a:p>
          </p:txBody>
        </p:sp>
        <p:sp>
          <p:nvSpPr>
            <p:cNvPr id="5182" name="AutoShape 64"/>
            <p:cNvSpPr>
              <a:spLocks noChangeArrowheads="1"/>
            </p:cNvSpPr>
            <p:nvPr/>
          </p:nvSpPr>
          <p:spPr bwMode="auto">
            <a:xfrm>
              <a:off x="1372" y="2442"/>
              <a:ext cx="95" cy="106"/>
            </a:xfrm>
            <a:prstGeom prst="hexagon">
              <a:avLst>
                <a:gd name="adj" fmla="val 50000"/>
                <a:gd name="vf" fmla="val 115470"/>
              </a:avLst>
            </a:prstGeom>
            <a:solidFill>
              <a:schemeClr val="accent1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GB" sz="1200"/>
            </a:p>
          </p:txBody>
        </p:sp>
        <p:sp>
          <p:nvSpPr>
            <p:cNvPr id="5183" name="Line 65"/>
            <p:cNvSpPr>
              <a:spLocks noChangeShapeType="1"/>
            </p:cNvSpPr>
            <p:nvPr/>
          </p:nvSpPr>
          <p:spPr bwMode="auto">
            <a:xfrm>
              <a:off x="1932" y="2548"/>
              <a:ext cx="8" cy="62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prstDash val="sysDot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84" name="Text Box 60"/>
            <p:cNvSpPr txBox="1">
              <a:spLocks noChangeArrowheads="1"/>
            </p:cNvSpPr>
            <p:nvPr/>
          </p:nvSpPr>
          <p:spPr bwMode="auto">
            <a:xfrm>
              <a:off x="4449" y="1918"/>
              <a:ext cx="1311" cy="282"/>
            </a:xfrm>
            <a:prstGeom prst="rect">
              <a:avLst/>
            </a:prstGeom>
            <a:solidFill>
              <a:srgbClr val="CC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r>
                <a:rPr lang="en-US" sz="2000" b="1"/>
                <a:t>software</a:t>
              </a:r>
              <a:r>
                <a:rPr lang="en-US" sz="1200"/>
                <a:t> </a:t>
              </a:r>
              <a:r>
                <a:rPr lang="en-US" sz="2000" b="1"/>
                <a:t>error</a:t>
              </a:r>
            </a:p>
          </p:txBody>
        </p:sp>
      </p:grpSp>
      <p:sp>
        <p:nvSpPr>
          <p:cNvPr id="5123" name="WordArt 67"/>
          <p:cNvSpPr>
            <a:spLocks noChangeArrowheads="1" noChangeShapeType="1" noTextEdit="1"/>
          </p:cNvSpPr>
          <p:nvPr/>
        </p:nvSpPr>
        <p:spPr bwMode="auto">
          <a:xfrm>
            <a:off x="571500" y="764307"/>
            <a:ext cx="7972425" cy="115252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CC33"/>
                </a:solidFill>
                <a:latin typeface="Arial Black"/>
              </a:rPr>
              <a:t>2.2  Software errors, software faults</a:t>
            </a:r>
          </a:p>
          <a:p>
            <a:pPr algn="ctr"/>
            <a:r>
              <a:rPr lang="en-US" sz="3600" kern="10" dirty="0"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CC33"/>
                </a:solidFill>
                <a:latin typeface="Arial Black"/>
              </a:rPr>
              <a:t>and software failures</a:t>
            </a:r>
          </a:p>
        </p:txBody>
      </p:sp>
    </p:spTree>
  </p:cSld>
  <p:clrMapOvr>
    <a:masterClrMapping/>
  </p:clrMapOvr>
  <p:transition spd="slow">
    <p:blinds dir="vert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11"/>
          <p:cNvSpPr txBox="1">
            <a:spLocks noChangeArrowheads="1"/>
          </p:cNvSpPr>
          <p:nvPr/>
        </p:nvSpPr>
        <p:spPr bwMode="auto">
          <a:xfrm>
            <a:off x="107504" y="1008063"/>
            <a:ext cx="9036495" cy="5647700"/>
          </a:xfrm>
          <a:prstGeom prst="rect">
            <a:avLst/>
          </a:prstGeom>
          <a:solidFill>
            <a:schemeClr val="bg1"/>
          </a:solidFill>
          <a:ln w="76200" cmpd="tri">
            <a:solidFill>
              <a:srgbClr val="FF7C8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>
              <a:spcBef>
                <a:spcPct val="25000"/>
              </a:spcBef>
              <a:buFontTx/>
              <a:buAutoNum type="arabicPeriod"/>
              <a:defRPr/>
            </a:pPr>
            <a:r>
              <a:rPr lang="en-GB" sz="3200" b="1" dirty="0" smtClean="0">
                <a:solidFill>
                  <a:srgbClr val="FF6600"/>
                </a:solidFill>
              </a:rPr>
              <a:t>Faulty requirements definition</a:t>
            </a:r>
            <a:endParaRPr lang="en-GB" sz="3200" b="1" dirty="0" smtClean="0">
              <a:solidFill>
                <a:srgbClr val="FF9966"/>
              </a:solidFill>
            </a:endParaRPr>
          </a:p>
          <a:p>
            <a:pPr marL="800100" lvl="1" indent="-342900" eaLnBrk="1" hangingPunct="1">
              <a:spcBef>
                <a:spcPct val="25000"/>
              </a:spcBef>
              <a:buFont typeface="Arial" pitchFamily="34" charset="0"/>
              <a:buChar char="•"/>
              <a:defRPr/>
            </a:pPr>
            <a:r>
              <a:rPr lang="en-GB" sz="2800" b="1" dirty="0" smtClean="0">
                <a:solidFill>
                  <a:schemeClr val="accent6"/>
                </a:solidFill>
              </a:rPr>
              <a:t>Usually considered the root cause of software errors</a:t>
            </a:r>
          </a:p>
          <a:p>
            <a:pPr marL="800100" lvl="1" indent="-342900" eaLnBrk="1" hangingPunct="1">
              <a:spcBef>
                <a:spcPct val="25000"/>
              </a:spcBef>
              <a:buFont typeface="Arial" pitchFamily="34" charset="0"/>
              <a:buChar char="•"/>
              <a:defRPr/>
            </a:pPr>
            <a:r>
              <a:rPr lang="en-GB" b="1" dirty="0" smtClean="0">
                <a:solidFill>
                  <a:srgbClr val="FF6600"/>
                </a:solidFill>
              </a:rPr>
              <a:t>Incorrect requirement definitions</a:t>
            </a:r>
          </a:p>
          <a:p>
            <a:pPr marL="1200150" lvl="2" indent="-342900" eaLnBrk="1" hangingPunct="1">
              <a:spcBef>
                <a:spcPct val="25000"/>
              </a:spcBef>
              <a:buFont typeface="Arial" pitchFamily="34" charset="0"/>
              <a:buChar char="•"/>
              <a:defRPr/>
            </a:pPr>
            <a:r>
              <a:rPr lang="en-GB" b="1" dirty="0" smtClean="0">
                <a:solidFill>
                  <a:srgbClr val="FF6600"/>
                </a:solidFill>
              </a:rPr>
              <a:t>Simply stated, ‘wrong’ definitions (formulas, etc.)</a:t>
            </a:r>
          </a:p>
          <a:p>
            <a:pPr marL="800100" lvl="1" indent="-342900" eaLnBrk="1" hangingPunct="1">
              <a:spcBef>
                <a:spcPct val="25000"/>
              </a:spcBef>
              <a:buFont typeface="Arial" pitchFamily="34" charset="0"/>
              <a:buChar char="•"/>
              <a:defRPr/>
            </a:pPr>
            <a:r>
              <a:rPr lang="en-GB" b="1" dirty="0" smtClean="0">
                <a:solidFill>
                  <a:srgbClr val="FF6600"/>
                </a:solidFill>
              </a:rPr>
              <a:t>Incomplete definitions</a:t>
            </a:r>
          </a:p>
          <a:p>
            <a:pPr marL="1200150" lvl="2" indent="-342900" eaLnBrk="1" hangingPunct="1">
              <a:spcBef>
                <a:spcPct val="25000"/>
              </a:spcBef>
              <a:buFont typeface="Arial" pitchFamily="34" charset="0"/>
              <a:buChar char="•"/>
              <a:defRPr/>
            </a:pPr>
            <a:r>
              <a:rPr lang="en-GB" b="1" dirty="0" smtClean="0">
                <a:solidFill>
                  <a:srgbClr val="FF6600"/>
                </a:solidFill>
              </a:rPr>
              <a:t>Unclear or implied requirements</a:t>
            </a:r>
          </a:p>
          <a:p>
            <a:pPr marL="800100" lvl="1" indent="-342900" eaLnBrk="1" hangingPunct="1">
              <a:spcBef>
                <a:spcPct val="25000"/>
              </a:spcBef>
              <a:buFont typeface="Arial" pitchFamily="34" charset="0"/>
              <a:buChar char="•"/>
              <a:defRPr/>
            </a:pPr>
            <a:r>
              <a:rPr lang="en-GB" b="1" dirty="0" smtClean="0">
                <a:solidFill>
                  <a:srgbClr val="FF6600"/>
                </a:solidFill>
              </a:rPr>
              <a:t>Missing requirements</a:t>
            </a:r>
          </a:p>
          <a:p>
            <a:pPr marL="1200150" lvl="2" indent="-342900" eaLnBrk="1" hangingPunct="1">
              <a:spcBef>
                <a:spcPct val="25000"/>
              </a:spcBef>
              <a:buFont typeface="Arial" pitchFamily="34" charset="0"/>
              <a:buChar char="•"/>
              <a:defRPr/>
            </a:pPr>
            <a:r>
              <a:rPr lang="en-GB" b="1" dirty="0" smtClean="0">
                <a:solidFill>
                  <a:srgbClr val="FF6600"/>
                </a:solidFill>
              </a:rPr>
              <a:t>Just flat-out ‘missing.’  (e.g.  Program Element Code)</a:t>
            </a:r>
          </a:p>
          <a:p>
            <a:pPr marL="800100" lvl="1" indent="-342900" eaLnBrk="1" hangingPunct="1">
              <a:spcBef>
                <a:spcPct val="25000"/>
              </a:spcBef>
              <a:buFont typeface="Arial" pitchFamily="34" charset="0"/>
              <a:buChar char="•"/>
              <a:defRPr/>
            </a:pPr>
            <a:r>
              <a:rPr lang="en-GB" b="1" dirty="0" smtClean="0">
                <a:solidFill>
                  <a:srgbClr val="FF6600"/>
                </a:solidFill>
              </a:rPr>
              <a:t>Inclusion of unneeded requirements</a:t>
            </a:r>
          </a:p>
          <a:p>
            <a:pPr marL="1200150" lvl="2" indent="-342900" eaLnBrk="1" hangingPunct="1">
              <a:spcBef>
                <a:spcPct val="25000"/>
              </a:spcBef>
              <a:buFont typeface="Arial" pitchFamily="34" charset="0"/>
              <a:buChar char="•"/>
              <a:defRPr/>
            </a:pPr>
            <a:r>
              <a:rPr lang="en-GB" b="1" dirty="0" smtClean="0">
                <a:solidFill>
                  <a:srgbClr val="FF6600"/>
                </a:solidFill>
              </a:rPr>
              <a:t>(many projects have gone amuck for including far too many requirements that will never be used.</a:t>
            </a:r>
          </a:p>
          <a:p>
            <a:pPr marL="1200150" lvl="2" indent="-342900" eaLnBrk="1" hangingPunct="1">
              <a:spcBef>
                <a:spcPct val="25000"/>
              </a:spcBef>
              <a:buFont typeface="Arial" pitchFamily="34" charset="0"/>
              <a:buChar char="•"/>
              <a:defRPr/>
            </a:pPr>
            <a:r>
              <a:rPr lang="en-GB" b="1" dirty="0" smtClean="0">
                <a:solidFill>
                  <a:srgbClr val="FF6600"/>
                </a:solidFill>
              </a:rPr>
              <a:t>Impacts budgets, complexity, development time, …</a:t>
            </a:r>
          </a:p>
        </p:txBody>
      </p:sp>
      <p:sp>
        <p:nvSpPr>
          <p:cNvPr id="6147" name="Title 1"/>
          <p:cNvSpPr>
            <a:spLocks noGrp="1"/>
          </p:cNvSpPr>
          <p:nvPr>
            <p:ph type="title"/>
          </p:nvPr>
        </p:nvSpPr>
        <p:spPr>
          <a:xfrm>
            <a:off x="1840160" y="260648"/>
            <a:ext cx="7772400" cy="398462"/>
          </a:xfrm>
        </p:spPr>
        <p:txBody>
          <a:bodyPr>
            <a:normAutofit fontScale="90000"/>
          </a:bodyPr>
          <a:lstStyle/>
          <a:p>
            <a:r>
              <a:rPr lang="en-US" sz="3600" dirty="0" smtClean="0"/>
              <a:t>2.3  The Nine Causes of Software </a:t>
            </a:r>
            <a:r>
              <a:rPr lang="en-US" sz="3600" dirty="0" err="1" smtClean="0"/>
              <a:t>ErrorS</a:t>
            </a:r>
            <a:endParaRPr lang="en-US" sz="3600" dirty="0" smtClean="0"/>
          </a:p>
        </p:txBody>
      </p:sp>
    </p:spTree>
  </p:cSld>
  <p:clrMapOvr>
    <a:masterClrMapping/>
  </p:clrMapOvr>
  <p:transition spd="slow">
    <p:blinds dir="vert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11"/>
          <p:cNvSpPr txBox="1">
            <a:spLocks noChangeArrowheads="1"/>
          </p:cNvSpPr>
          <p:nvPr/>
        </p:nvSpPr>
        <p:spPr bwMode="auto">
          <a:xfrm>
            <a:off x="366713" y="836613"/>
            <a:ext cx="8426450" cy="6124754"/>
          </a:xfrm>
          <a:prstGeom prst="rect">
            <a:avLst/>
          </a:prstGeom>
          <a:solidFill>
            <a:schemeClr val="bg1"/>
          </a:solidFill>
          <a:ln w="76200" cmpd="tri">
            <a:solidFill>
              <a:srgbClr val="FF7C8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>
              <a:spcBef>
                <a:spcPct val="25000"/>
              </a:spcBef>
              <a:buFontTx/>
              <a:buAutoNum type="arabicPeriod" startAt="2"/>
            </a:pPr>
            <a:r>
              <a:rPr lang="en-GB" sz="3200" b="1" dirty="0">
                <a:solidFill>
                  <a:schemeClr val="accent2"/>
                </a:solidFill>
              </a:rPr>
              <a:t>Client-developer communication failures</a:t>
            </a:r>
          </a:p>
          <a:p>
            <a:pPr lvl="1" eaLnBrk="1" hangingPunct="1">
              <a:spcBef>
                <a:spcPct val="25000"/>
              </a:spcBef>
              <a:buFont typeface="Arial" charset="0"/>
              <a:buChar char="•"/>
            </a:pPr>
            <a:r>
              <a:rPr lang="en-GB" b="1" dirty="0">
                <a:solidFill>
                  <a:schemeClr val="accent2"/>
                </a:solidFill>
              </a:rPr>
              <a:t>Misunderstanding of instructions in requirements documentation</a:t>
            </a:r>
          </a:p>
          <a:p>
            <a:pPr lvl="1" eaLnBrk="1" hangingPunct="1">
              <a:spcBef>
                <a:spcPct val="25000"/>
              </a:spcBef>
              <a:buFont typeface="Arial" charset="0"/>
              <a:buChar char="•"/>
            </a:pPr>
            <a:r>
              <a:rPr lang="en-GB" b="1" dirty="0">
                <a:solidFill>
                  <a:schemeClr val="accent2"/>
                </a:solidFill>
              </a:rPr>
              <a:t>Misunderstanding of written changes during development.</a:t>
            </a:r>
          </a:p>
          <a:p>
            <a:pPr lvl="1" eaLnBrk="1" hangingPunct="1">
              <a:spcBef>
                <a:spcPct val="25000"/>
              </a:spcBef>
              <a:buFont typeface="Arial" charset="0"/>
              <a:buChar char="•"/>
            </a:pPr>
            <a:r>
              <a:rPr lang="en-GB" b="1" dirty="0">
                <a:solidFill>
                  <a:schemeClr val="accent2"/>
                </a:solidFill>
              </a:rPr>
              <a:t>Misunderstanding of oral changes during development.</a:t>
            </a:r>
          </a:p>
          <a:p>
            <a:pPr lvl="1" eaLnBrk="1" hangingPunct="1">
              <a:spcBef>
                <a:spcPct val="25000"/>
              </a:spcBef>
              <a:buFont typeface="Arial" charset="0"/>
              <a:buChar char="•"/>
            </a:pPr>
            <a:r>
              <a:rPr lang="en-GB" b="1" dirty="0">
                <a:solidFill>
                  <a:schemeClr val="accent2"/>
                </a:solidFill>
              </a:rPr>
              <a:t>Lack of attention </a:t>
            </a:r>
          </a:p>
          <a:p>
            <a:pPr lvl="2" eaLnBrk="1" hangingPunct="1">
              <a:spcBef>
                <a:spcPct val="25000"/>
              </a:spcBef>
              <a:buFont typeface="Arial" charset="0"/>
              <a:buChar char="•"/>
            </a:pPr>
            <a:r>
              <a:rPr lang="en-GB" b="1" dirty="0">
                <a:solidFill>
                  <a:schemeClr val="accent2"/>
                </a:solidFill>
              </a:rPr>
              <a:t>to client messages by developers dealing with requirement changes and </a:t>
            </a:r>
          </a:p>
          <a:p>
            <a:pPr lvl="2" eaLnBrk="1" hangingPunct="1">
              <a:spcBef>
                <a:spcPct val="25000"/>
              </a:spcBef>
              <a:buFont typeface="Arial" charset="0"/>
              <a:buChar char="•"/>
            </a:pPr>
            <a:r>
              <a:rPr lang="en-GB" b="1" dirty="0">
                <a:solidFill>
                  <a:schemeClr val="accent2"/>
                </a:solidFill>
              </a:rPr>
              <a:t>to client responses by clients to developer questions</a:t>
            </a:r>
          </a:p>
          <a:p>
            <a:pPr eaLnBrk="1" hangingPunct="1">
              <a:spcBef>
                <a:spcPct val="25000"/>
              </a:spcBef>
              <a:buFont typeface="Arial" charset="0"/>
              <a:buChar char="•"/>
            </a:pPr>
            <a:r>
              <a:rPr lang="en-GB" b="1" dirty="0">
                <a:solidFill>
                  <a:schemeClr val="accent2"/>
                </a:solidFill>
              </a:rPr>
              <a:t>Very often, these very talented individuals come from different planets, it seems.</a:t>
            </a:r>
          </a:p>
          <a:p>
            <a:pPr lvl="1" eaLnBrk="1" hangingPunct="1">
              <a:spcBef>
                <a:spcPct val="25000"/>
              </a:spcBef>
              <a:buFont typeface="Arial" charset="0"/>
              <a:buChar char="•"/>
            </a:pPr>
            <a:r>
              <a:rPr lang="en-GB" b="1" dirty="0">
                <a:solidFill>
                  <a:schemeClr val="accent2"/>
                </a:solidFill>
              </a:rPr>
              <a:t>Clients represent the users;  developers represent a different </a:t>
            </a:r>
            <a:r>
              <a:rPr lang="en-GB" b="1" dirty="0" err="1">
                <a:solidFill>
                  <a:schemeClr val="accent2"/>
                </a:solidFill>
              </a:rPr>
              <a:t>mindset</a:t>
            </a:r>
            <a:r>
              <a:rPr lang="en-GB" b="1" dirty="0">
                <a:solidFill>
                  <a:schemeClr val="accent2"/>
                </a:solidFill>
              </a:rPr>
              <a:t> entirely some times! </a:t>
            </a:r>
            <a:endParaRPr lang="en-GB" b="1" dirty="0">
              <a:solidFill>
                <a:srgbClr val="FF9966"/>
              </a:solidFill>
            </a:endParaRPr>
          </a:p>
        </p:txBody>
      </p:sp>
      <p:sp>
        <p:nvSpPr>
          <p:cNvPr id="7171" name="Title 1"/>
          <p:cNvSpPr>
            <a:spLocks noGrp="1"/>
          </p:cNvSpPr>
          <p:nvPr>
            <p:ph type="title"/>
          </p:nvPr>
        </p:nvSpPr>
        <p:spPr>
          <a:xfrm>
            <a:off x="1263650" y="366713"/>
            <a:ext cx="7772400" cy="398462"/>
          </a:xfrm>
        </p:spPr>
        <p:txBody>
          <a:bodyPr>
            <a:normAutofit fontScale="90000"/>
          </a:bodyPr>
          <a:lstStyle/>
          <a:p>
            <a:r>
              <a:rPr lang="en-US" sz="3600" dirty="0" smtClean="0"/>
              <a:t>The Nine Causes of Software Errors</a:t>
            </a:r>
          </a:p>
        </p:txBody>
      </p:sp>
    </p:spTree>
  </p:cSld>
  <p:clrMapOvr>
    <a:masterClrMapping/>
  </p:clrMapOvr>
  <p:transition spd="slow">
    <p:blinds dir="vert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 Box 11"/>
          <p:cNvSpPr txBox="1">
            <a:spLocks noChangeArrowheads="1"/>
          </p:cNvSpPr>
          <p:nvPr/>
        </p:nvSpPr>
        <p:spPr bwMode="auto">
          <a:xfrm>
            <a:off x="366713" y="908050"/>
            <a:ext cx="8597900" cy="5913157"/>
          </a:xfrm>
          <a:prstGeom prst="rect">
            <a:avLst/>
          </a:prstGeom>
          <a:solidFill>
            <a:schemeClr val="bg1"/>
          </a:solidFill>
          <a:ln w="76200" cmpd="tri">
            <a:solidFill>
              <a:srgbClr val="FF7C8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>
              <a:spcBef>
                <a:spcPct val="25000"/>
              </a:spcBef>
              <a:buFontTx/>
              <a:buAutoNum type="arabicPeriod" startAt="3"/>
            </a:pPr>
            <a:r>
              <a:rPr lang="en-GB" sz="2800" b="1" dirty="0">
                <a:solidFill>
                  <a:srgbClr val="339933"/>
                </a:solidFill>
              </a:rPr>
              <a:t>Deliberate deviations from software requirements</a:t>
            </a:r>
            <a:endParaRPr lang="en-GB" sz="2800" b="1" dirty="0">
              <a:solidFill>
                <a:srgbClr val="CC00CC"/>
              </a:solidFill>
            </a:endParaRPr>
          </a:p>
          <a:p>
            <a:pPr lvl="2" eaLnBrk="1" hangingPunct="1">
              <a:spcBef>
                <a:spcPct val="25000"/>
              </a:spcBef>
              <a:buFont typeface="Arial" charset="0"/>
              <a:buChar char="•"/>
            </a:pPr>
            <a:r>
              <a:rPr lang="en-GB" sz="2100" b="1" dirty="0">
                <a:solidFill>
                  <a:srgbClr val="CC00CC"/>
                </a:solidFill>
              </a:rPr>
              <a:t>Developer reuses previous / similar work to save time.</a:t>
            </a:r>
          </a:p>
          <a:p>
            <a:pPr lvl="2" eaLnBrk="1" hangingPunct="1">
              <a:spcBef>
                <a:spcPct val="25000"/>
              </a:spcBef>
              <a:buFont typeface="Arial" charset="0"/>
              <a:buChar char="•"/>
            </a:pPr>
            <a:r>
              <a:rPr lang="en-GB" sz="2100" b="1" dirty="0">
                <a:solidFill>
                  <a:srgbClr val="CC00CC"/>
                </a:solidFill>
              </a:rPr>
              <a:t>Often reused code needs modification which it may not get or contains unneeded / unusable extraneous code.</a:t>
            </a:r>
            <a:endParaRPr lang="en-GB" sz="2100" b="1" dirty="0">
              <a:solidFill>
                <a:srgbClr val="339933"/>
              </a:solidFill>
            </a:endParaRPr>
          </a:p>
          <a:p>
            <a:pPr lvl="1" eaLnBrk="1" hangingPunct="1">
              <a:spcBef>
                <a:spcPct val="25000"/>
              </a:spcBef>
              <a:buFont typeface="Arial" charset="0"/>
              <a:buChar char="•"/>
            </a:pPr>
            <a:r>
              <a:rPr lang="en-GB" b="1" dirty="0">
                <a:solidFill>
                  <a:srgbClr val="339933"/>
                </a:solidFill>
              </a:rPr>
              <a:t>Book suggests developer(s) may overtly omit functionality due to time / budget pressures.</a:t>
            </a:r>
          </a:p>
          <a:p>
            <a:pPr lvl="2" eaLnBrk="1" hangingPunct="1">
              <a:spcBef>
                <a:spcPct val="25000"/>
              </a:spcBef>
              <a:buFont typeface="Arial" charset="0"/>
              <a:buChar char="•"/>
            </a:pPr>
            <a:r>
              <a:rPr lang="en-GB" sz="2100" b="1" dirty="0">
                <a:solidFill>
                  <a:srgbClr val="339933"/>
                </a:solidFill>
              </a:rPr>
              <a:t>Another BAD choice;  System testing will uncover these problems to everyone’s dismay!</a:t>
            </a:r>
          </a:p>
          <a:p>
            <a:pPr lvl="2" eaLnBrk="1" hangingPunct="1">
              <a:spcBef>
                <a:spcPct val="25000"/>
              </a:spcBef>
              <a:buFont typeface="Arial" charset="0"/>
              <a:buChar char="•"/>
            </a:pPr>
            <a:r>
              <a:rPr lang="en-GB" sz="2100" b="1" dirty="0">
                <a:solidFill>
                  <a:srgbClr val="339933"/>
                </a:solidFill>
              </a:rPr>
              <a:t>I have never seen this done intentionally!</a:t>
            </a:r>
          </a:p>
          <a:p>
            <a:pPr lvl="1" eaLnBrk="1" hangingPunct="1">
              <a:spcBef>
                <a:spcPct val="25000"/>
              </a:spcBef>
              <a:buFont typeface="Arial" charset="0"/>
              <a:buChar char="•"/>
            </a:pPr>
            <a:r>
              <a:rPr lang="en-GB" b="1" dirty="0">
                <a:solidFill>
                  <a:srgbClr val="339933"/>
                </a:solidFill>
              </a:rPr>
              <a:t>Developer inserting unapproved ‘enhancements’ (perfective coding;  a slick new sort / search….);  may also ignore some seemingly minor features, which sometimes are quite major.</a:t>
            </a:r>
          </a:p>
          <a:p>
            <a:pPr lvl="2" eaLnBrk="1" hangingPunct="1">
              <a:spcBef>
                <a:spcPct val="25000"/>
              </a:spcBef>
              <a:buFont typeface="Arial" charset="0"/>
              <a:buChar char="•"/>
            </a:pPr>
            <a:r>
              <a:rPr lang="en-GB" sz="2100" b="1" dirty="0">
                <a:solidFill>
                  <a:srgbClr val="339933"/>
                </a:solidFill>
              </a:rPr>
              <a:t>Have seen this and it too causes problems and embarrassment during reviews.  </a:t>
            </a:r>
          </a:p>
        </p:txBody>
      </p:sp>
      <p:sp>
        <p:nvSpPr>
          <p:cNvPr id="8195" name="Title 1"/>
          <p:cNvSpPr>
            <a:spLocks noGrp="1"/>
          </p:cNvSpPr>
          <p:nvPr>
            <p:ph type="title"/>
          </p:nvPr>
        </p:nvSpPr>
        <p:spPr>
          <a:xfrm>
            <a:off x="1263650" y="366713"/>
            <a:ext cx="7772400" cy="398462"/>
          </a:xfrm>
        </p:spPr>
        <p:txBody>
          <a:bodyPr>
            <a:normAutofit fontScale="90000"/>
          </a:bodyPr>
          <a:lstStyle/>
          <a:p>
            <a:r>
              <a:rPr lang="en-US" sz="3600" smtClean="0"/>
              <a:t>The Nine Causes of Software Errors</a:t>
            </a:r>
          </a:p>
        </p:txBody>
      </p:sp>
    </p:spTree>
  </p:cSld>
  <p:clrMapOvr>
    <a:masterClrMapping/>
  </p:clrMapOvr>
  <p:transition spd="slow">
    <p:blinds dir="vert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11"/>
          <p:cNvSpPr txBox="1">
            <a:spLocks noChangeArrowheads="1"/>
          </p:cNvSpPr>
          <p:nvPr/>
        </p:nvSpPr>
        <p:spPr bwMode="auto">
          <a:xfrm>
            <a:off x="107504" y="908050"/>
            <a:ext cx="8856983" cy="5601533"/>
          </a:xfrm>
          <a:prstGeom prst="rect">
            <a:avLst/>
          </a:prstGeom>
          <a:solidFill>
            <a:schemeClr val="bg1"/>
          </a:solidFill>
          <a:ln w="76200" cmpd="tri">
            <a:solidFill>
              <a:srgbClr val="FF7C8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>
              <a:spcBef>
                <a:spcPct val="25000"/>
              </a:spcBef>
            </a:pPr>
            <a:r>
              <a:rPr lang="en-GB" sz="2800" b="1" dirty="0">
                <a:solidFill>
                  <a:schemeClr val="accent2"/>
                </a:solidFill>
              </a:rPr>
              <a:t>4.  </a:t>
            </a:r>
            <a:r>
              <a:rPr lang="en-GB" sz="2800" b="1" dirty="0">
                <a:solidFill>
                  <a:srgbClr val="CC00CC"/>
                </a:solidFill>
              </a:rPr>
              <a:t>Logical design errors</a:t>
            </a:r>
          </a:p>
          <a:p>
            <a:pPr lvl="1" eaLnBrk="1" hangingPunct="1">
              <a:spcBef>
                <a:spcPct val="25000"/>
              </a:spcBef>
              <a:buFont typeface="Arial" charset="0"/>
              <a:buChar char="•"/>
            </a:pPr>
            <a:r>
              <a:rPr lang="en-GB" b="1" dirty="0">
                <a:solidFill>
                  <a:srgbClr val="CC00CC"/>
                </a:solidFill>
              </a:rPr>
              <a:t>Definitions that represent software requirements by means of erroneous algorithms.</a:t>
            </a:r>
          </a:p>
          <a:p>
            <a:pPr lvl="2" eaLnBrk="1" hangingPunct="1">
              <a:spcBef>
                <a:spcPct val="25000"/>
              </a:spcBef>
              <a:buFont typeface="Arial" charset="0"/>
              <a:buChar char="•"/>
            </a:pPr>
            <a:r>
              <a:rPr lang="en-GB" sz="2100" b="1" dirty="0">
                <a:solidFill>
                  <a:srgbClr val="CC00CC"/>
                </a:solidFill>
              </a:rPr>
              <a:t>Yep!  Wrong formulas;  Wrong Decision Logic Tables;  incorrect </a:t>
            </a:r>
            <a:r>
              <a:rPr lang="en-GB" sz="2100" b="1" dirty="0" smtClean="0">
                <a:solidFill>
                  <a:srgbClr val="CC00CC"/>
                </a:solidFill>
              </a:rPr>
              <a:t>text;  wrong operators / operands…</a:t>
            </a:r>
            <a:endParaRPr lang="en-GB" sz="2100" b="1" dirty="0">
              <a:solidFill>
                <a:srgbClr val="CC00CC"/>
              </a:solidFill>
            </a:endParaRPr>
          </a:p>
          <a:p>
            <a:pPr lvl="1" eaLnBrk="1" hangingPunct="1">
              <a:spcBef>
                <a:spcPct val="25000"/>
              </a:spcBef>
              <a:buFont typeface="Arial" charset="0"/>
              <a:buChar char="•"/>
            </a:pPr>
            <a:r>
              <a:rPr lang="en-GB" b="1" dirty="0">
                <a:solidFill>
                  <a:srgbClr val="CC00CC"/>
                </a:solidFill>
              </a:rPr>
              <a:t>Process definitions:  procedures specified by systems analyst not accurate reflection of the business process specified.</a:t>
            </a:r>
          </a:p>
          <a:p>
            <a:pPr lvl="2" eaLnBrk="1" hangingPunct="1">
              <a:spcBef>
                <a:spcPct val="25000"/>
              </a:spcBef>
              <a:buFont typeface="Arial" charset="0"/>
              <a:buChar char="•"/>
            </a:pPr>
            <a:r>
              <a:rPr lang="en-GB" sz="2100" b="1" dirty="0">
                <a:solidFill>
                  <a:srgbClr val="CC00CC"/>
                </a:solidFill>
              </a:rPr>
              <a:t>Note: all errors are not necessarily software errors.</a:t>
            </a:r>
          </a:p>
          <a:p>
            <a:pPr lvl="2" eaLnBrk="1" hangingPunct="1">
              <a:spcBef>
                <a:spcPct val="25000"/>
              </a:spcBef>
              <a:buFont typeface="Arial" charset="0"/>
              <a:buChar char="•"/>
            </a:pPr>
            <a:r>
              <a:rPr lang="en-GB" sz="2100" b="1" dirty="0">
                <a:solidFill>
                  <a:srgbClr val="CC00CC"/>
                </a:solidFill>
              </a:rPr>
              <a:t>This seems like a </a:t>
            </a:r>
            <a:r>
              <a:rPr lang="en-GB" sz="2100" b="1" u="sng" dirty="0">
                <a:solidFill>
                  <a:srgbClr val="CC00CC"/>
                </a:solidFill>
              </a:rPr>
              <a:t>procedural error</a:t>
            </a:r>
            <a:r>
              <a:rPr lang="en-GB" sz="2100" b="1" dirty="0">
                <a:solidFill>
                  <a:srgbClr val="CC00CC"/>
                </a:solidFill>
              </a:rPr>
              <a:t>, and likely not a part of the software system…</a:t>
            </a:r>
          </a:p>
          <a:p>
            <a:pPr lvl="1" eaLnBrk="1" hangingPunct="1">
              <a:spcBef>
                <a:spcPct val="25000"/>
              </a:spcBef>
              <a:buFont typeface="Arial" charset="0"/>
              <a:buChar char="•"/>
            </a:pPr>
            <a:r>
              <a:rPr lang="en-GB" b="1" dirty="0">
                <a:solidFill>
                  <a:srgbClr val="CC00CC"/>
                </a:solidFill>
              </a:rPr>
              <a:t>Erroneous Definition of Boundary Condition – a common source of errors</a:t>
            </a:r>
          </a:p>
          <a:p>
            <a:pPr lvl="2" eaLnBrk="1" hangingPunct="1">
              <a:spcBef>
                <a:spcPct val="25000"/>
              </a:spcBef>
              <a:buFont typeface="Arial" charset="0"/>
              <a:buChar char="•"/>
            </a:pPr>
            <a:r>
              <a:rPr lang="en-GB" sz="2100" b="1" dirty="0">
                <a:solidFill>
                  <a:srgbClr val="CC00CC"/>
                </a:solidFill>
              </a:rPr>
              <a:t>The “absolutes” like ‘no more than’  “fewer than,” “n times or more;”  “the first time,” etc.</a:t>
            </a:r>
          </a:p>
        </p:txBody>
      </p:sp>
      <p:sp>
        <p:nvSpPr>
          <p:cNvPr id="9219" name="Title 1"/>
          <p:cNvSpPr>
            <a:spLocks noGrp="1"/>
          </p:cNvSpPr>
          <p:nvPr>
            <p:ph type="title"/>
          </p:nvPr>
        </p:nvSpPr>
        <p:spPr>
          <a:xfrm>
            <a:off x="1263650" y="366713"/>
            <a:ext cx="7772400" cy="398462"/>
          </a:xfrm>
        </p:spPr>
        <p:txBody>
          <a:bodyPr>
            <a:normAutofit fontScale="90000"/>
          </a:bodyPr>
          <a:lstStyle/>
          <a:p>
            <a:r>
              <a:rPr lang="en-US" sz="3600" smtClean="0"/>
              <a:t>The Nine Causes of Software Errors</a:t>
            </a:r>
          </a:p>
        </p:txBody>
      </p:sp>
    </p:spTree>
  </p:cSld>
  <p:clrMapOvr>
    <a:masterClrMapping/>
  </p:clrMapOvr>
  <p:transition spd="slow">
    <p:blinds dir="vert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11"/>
          <p:cNvSpPr txBox="1">
            <a:spLocks noChangeArrowheads="1"/>
          </p:cNvSpPr>
          <p:nvPr/>
        </p:nvSpPr>
        <p:spPr bwMode="auto">
          <a:xfrm>
            <a:off x="366713" y="1008063"/>
            <a:ext cx="8426450" cy="4493538"/>
          </a:xfrm>
          <a:prstGeom prst="rect">
            <a:avLst/>
          </a:prstGeom>
          <a:solidFill>
            <a:schemeClr val="bg1"/>
          </a:solidFill>
          <a:ln w="76200" cmpd="tri">
            <a:solidFill>
              <a:srgbClr val="FF7C8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>
              <a:spcBef>
                <a:spcPct val="25000"/>
              </a:spcBef>
              <a:defRPr/>
            </a:pPr>
            <a:r>
              <a:rPr lang="en-GB" b="1" dirty="0" smtClean="0">
                <a:solidFill>
                  <a:schemeClr val="accent2"/>
                </a:solidFill>
              </a:rPr>
              <a:t>4.  </a:t>
            </a:r>
            <a:r>
              <a:rPr lang="en-GB" sz="2800" b="1" dirty="0" smtClean="0">
                <a:solidFill>
                  <a:srgbClr val="CC00CC"/>
                </a:solidFill>
              </a:rPr>
              <a:t>Logical design errors (continued)</a:t>
            </a:r>
          </a:p>
          <a:p>
            <a:pPr lvl="1" eaLnBrk="1" hangingPunct="1">
              <a:spcBef>
                <a:spcPct val="25000"/>
              </a:spcBef>
              <a:buFont typeface="Arial" pitchFamily="34" charset="0"/>
              <a:buChar char="•"/>
              <a:defRPr/>
            </a:pPr>
            <a:r>
              <a:rPr lang="en-GB" b="1" dirty="0" smtClean="0">
                <a:solidFill>
                  <a:srgbClr val="CC00CC"/>
                </a:solidFill>
              </a:rPr>
              <a:t>Omission of required software system states</a:t>
            </a:r>
          </a:p>
          <a:p>
            <a:pPr lvl="2" eaLnBrk="1" hangingPunct="1">
              <a:spcBef>
                <a:spcPct val="25000"/>
              </a:spcBef>
              <a:buFont typeface="Arial" pitchFamily="34" charset="0"/>
              <a:buChar char="•"/>
              <a:defRPr/>
            </a:pPr>
            <a:r>
              <a:rPr lang="en-GB" b="1" dirty="0" smtClean="0">
                <a:solidFill>
                  <a:srgbClr val="CC00CC"/>
                </a:solidFill>
              </a:rPr>
              <a:t>If rank is &gt;= O1 and RPI is numeric, then….easy to miss </a:t>
            </a:r>
            <a:r>
              <a:rPr lang="en-GB" b="1" u="sng" dirty="0" smtClean="0">
                <a:solidFill>
                  <a:srgbClr val="CC00CC"/>
                </a:solidFill>
              </a:rPr>
              <a:t>action</a:t>
            </a:r>
            <a:r>
              <a:rPr lang="en-GB" b="1" dirty="0" smtClean="0">
                <a:solidFill>
                  <a:srgbClr val="CC00CC"/>
                </a:solidFill>
              </a:rPr>
              <a:t> based on the software system state.</a:t>
            </a:r>
          </a:p>
          <a:p>
            <a:pPr marL="914400" lvl="2" indent="0" eaLnBrk="1" hangingPunct="1">
              <a:spcBef>
                <a:spcPct val="25000"/>
              </a:spcBef>
              <a:defRPr/>
            </a:pPr>
            <a:endParaRPr lang="en-GB" b="1" dirty="0" smtClean="0">
              <a:solidFill>
                <a:srgbClr val="CC00CC"/>
              </a:solidFill>
            </a:endParaRPr>
          </a:p>
          <a:p>
            <a:pPr lvl="1" eaLnBrk="1" hangingPunct="1">
              <a:spcBef>
                <a:spcPct val="25000"/>
              </a:spcBef>
              <a:buFont typeface="Arial" pitchFamily="34" charset="0"/>
              <a:buChar char="•"/>
              <a:defRPr/>
            </a:pPr>
            <a:r>
              <a:rPr lang="en-GB" b="1" dirty="0" smtClean="0">
                <a:solidFill>
                  <a:srgbClr val="CC00CC"/>
                </a:solidFill>
              </a:rPr>
              <a:t>Omission of definitions concerning </a:t>
            </a:r>
            <a:r>
              <a:rPr lang="en-GB" b="1" u="sng" dirty="0" smtClean="0">
                <a:solidFill>
                  <a:srgbClr val="CC00CC"/>
                </a:solidFill>
              </a:rPr>
              <a:t>reactions</a:t>
            </a:r>
            <a:r>
              <a:rPr lang="en-GB" b="1" dirty="0" smtClean="0">
                <a:solidFill>
                  <a:srgbClr val="CC00CC"/>
                </a:solidFill>
              </a:rPr>
              <a:t> to illegal operation of the software system.</a:t>
            </a:r>
          </a:p>
          <a:p>
            <a:pPr marL="457200" lvl="1" indent="0" eaLnBrk="1" hangingPunct="1">
              <a:spcBef>
                <a:spcPct val="25000"/>
              </a:spcBef>
              <a:defRPr/>
            </a:pPr>
            <a:r>
              <a:rPr lang="en-GB" b="1" dirty="0" smtClean="0">
                <a:solidFill>
                  <a:srgbClr val="CC00CC"/>
                </a:solidFill>
              </a:rPr>
              <a:t>	Including code to detect an illegal operation but failure  </a:t>
            </a:r>
          </a:p>
          <a:p>
            <a:pPr marL="457200" lvl="1" indent="0" eaLnBrk="1" hangingPunct="1">
              <a:spcBef>
                <a:spcPct val="25000"/>
              </a:spcBef>
              <a:defRPr/>
            </a:pPr>
            <a:r>
              <a:rPr lang="en-GB" b="1" dirty="0">
                <a:solidFill>
                  <a:srgbClr val="CC00CC"/>
                </a:solidFill>
              </a:rPr>
              <a:t> </a:t>
            </a:r>
            <a:r>
              <a:rPr lang="en-GB" b="1" dirty="0" smtClean="0">
                <a:solidFill>
                  <a:srgbClr val="CC00CC"/>
                </a:solidFill>
              </a:rPr>
              <a:t>     to design the computer software reaction to this:  </a:t>
            </a:r>
          </a:p>
          <a:p>
            <a:pPr marL="457200" lvl="1" indent="0" eaLnBrk="1" hangingPunct="1">
              <a:spcBef>
                <a:spcPct val="25000"/>
              </a:spcBef>
              <a:defRPr/>
            </a:pPr>
            <a:r>
              <a:rPr lang="en-GB" b="1" dirty="0">
                <a:solidFill>
                  <a:srgbClr val="CC00CC"/>
                </a:solidFill>
              </a:rPr>
              <a:t>	</a:t>
            </a:r>
            <a:r>
              <a:rPr lang="en-GB" b="1" dirty="0" smtClean="0">
                <a:solidFill>
                  <a:srgbClr val="CC00CC"/>
                </a:solidFill>
              </a:rPr>
              <a:t>	Gracefully terminate, sound alarm, etc.  </a:t>
            </a:r>
          </a:p>
        </p:txBody>
      </p:sp>
      <p:sp>
        <p:nvSpPr>
          <p:cNvPr id="10243" name="Title 1"/>
          <p:cNvSpPr>
            <a:spLocks noGrp="1"/>
          </p:cNvSpPr>
          <p:nvPr>
            <p:ph type="title"/>
          </p:nvPr>
        </p:nvSpPr>
        <p:spPr>
          <a:xfrm>
            <a:off x="1263650" y="366713"/>
            <a:ext cx="7772400" cy="398462"/>
          </a:xfrm>
        </p:spPr>
        <p:txBody>
          <a:bodyPr>
            <a:normAutofit fontScale="90000"/>
          </a:bodyPr>
          <a:lstStyle/>
          <a:p>
            <a:r>
              <a:rPr lang="en-US" sz="3600" smtClean="0"/>
              <a:t>The Nine Causes of Software Errors</a:t>
            </a:r>
          </a:p>
        </p:txBody>
      </p:sp>
    </p:spTree>
  </p:cSld>
  <p:clrMapOvr>
    <a:masterClrMapping/>
  </p:clrMapOvr>
  <p:transition spd="slow">
    <p:blinds dir="vert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11"/>
          <p:cNvSpPr txBox="1">
            <a:spLocks noChangeArrowheads="1"/>
          </p:cNvSpPr>
          <p:nvPr/>
        </p:nvSpPr>
        <p:spPr bwMode="auto">
          <a:xfrm>
            <a:off x="366713" y="1008063"/>
            <a:ext cx="8426450" cy="2369880"/>
          </a:xfrm>
          <a:prstGeom prst="rect">
            <a:avLst/>
          </a:prstGeom>
          <a:solidFill>
            <a:schemeClr val="bg1"/>
          </a:solidFill>
          <a:ln w="76200" cmpd="tri">
            <a:solidFill>
              <a:srgbClr val="FF7C8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>
              <a:spcBef>
                <a:spcPct val="25000"/>
              </a:spcBef>
              <a:buFontTx/>
              <a:buAutoNum type="arabicPeriod" startAt="5"/>
            </a:pPr>
            <a:r>
              <a:rPr lang="en-GB" sz="2800" b="1" dirty="0">
                <a:solidFill>
                  <a:srgbClr val="FF0066"/>
                </a:solidFill>
              </a:rPr>
              <a:t>Coding errors</a:t>
            </a:r>
            <a:endParaRPr lang="en-GB" sz="2800" b="1" dirty="0">
              <a:solidFill>
                <a:srgbClr val="008080"/>
              </a:solidFill>
            </a:endParaRPr>
          </a:p>
          <a:p>
            <a:pPr lvl="1" eaLnBrk="1" hangingPunct="1">
              <a:spcBef>
                <a:spcPct val="25000"/>
              </a:spcBef>
              <a:buFont typeface="Arial" charset="0"/>
              <a:buChar char="•"/>
            </a:pPr>
            <a:r>
              <a:rPr lang="en-GB" b="1" dirty="0">
                <a:solidFill>
                  <a:srgbClr val="008080"/>
                </a:solidFill>
              </a:rPr>
              <a:t>Too many to try to list.</a:t>
            </a:r>
          </a:p>
          <a:p>
            <a:pPr lvl="2" eaLnBrk="1" hangingPunct="1">
              <a:spcBef>
                <a:spcPct val="25000"/>
              </a:spcBef>
              <a:buFont typeface="Arial" charset="0"/>
              <a:buChar char="•"/>
            </a:pPr>
            <a:r>
              <a:rPr lang="en-GB" b="1" dirty="0">
                <a:solidFill>
                  <a:srgbClr val="008080"/>
                </a:solidFill>
              </a:rPr>
              <a:t>Syntax errors (grammatical errors)</a:t>
            </a:r>
          </a:p>
          <a:p>
            <a:pPr lvl="2" eaLnBrk="1" hangingPunct="1">
              <a:spcBef>
                <a:spcPct val="25000"/>
              </a:spcBef>
              <a:buFont typeface="Arial" charset="0"/>
              <a:buChar char="•"/>
            </a:pPr>
            <a:r>
              <a:rPr lang="en-GB" b="1" dirty="0">
                <a:solidFill>
                  <a:srgbClr val="008080"/>
                </a:solidFill>
              </a:rPr>
              <a:t>Logic errors (program runs;  results wrong)</a:t>
            </a:r>
          </a:p>
          <a:p>
            <a:pPr lvl="2" eaLnBrk="1" hangingPunct="1">
              <a:spcBef>
                <a:spcPct val="25000"/>
              </a:spcBef>
              <a:buFont typeface="Arial" charset="0"/>
              <a:buChar char="•"/>
            </a:pPr>
            <a:r>
              <a:rPr lang="en-GB" b="1" dirty="0">
                <a:solidFill>
                  <a:srgbClr val="008080"/>
                </a:solidFill>
              </a:rPr>
              <a:t>Run-time errors (crash during execution)</a:t>
            </a:r>
            <a:endParaRPr lang="en-GB" b="1" dirty="0">
              <a:solidFill>
                <a:srgbClr val="FF0066"/>
              </a:solidFill>
            </a:endParaRPr>
          </a:p>
        </p:txBody>
      </p:sp>
      <p:sp>
        <p:nvSpPr>
          <p:cNvPr id="11267" name="Title 1"/>
          <p:cNvSpPr>
            <a:spLocks noGrp="1"/>
          </p:cNvSpPr>
          <p:nvPr>
            <p:ph type="title"/>
          </p:nvPr>
        </p:nvSpPr>
        <p:spPr>
          <a:xfrm>
            <a:off x="1263650" y="366713"/>
            <a:ext cx="7772400" cy="398462"/>
          </a:xfrm>
        </p:spPr>
        <p:txBody>
          <a:bodyPr>
            <a:normAutofit fontScale="90000"/>
          </a:bodyPr>
          <a:lstStyle/>
          <a:p>
            <a:r>
              <a:rPr lang="en-US" sz="3600" smtClean="0"/>
              <a:t>The Nine Causes of Software Errors</a:t>
            </a:r>
          </a:p>
        </p:txBody>
      </p:sp>
    </p:spTree>
  </p:cSld>
  <p:clrMapOvr>
    <a:masterClrMapping/>
  </p:clrMapOvr>
  <p:transition spd="slow">
    <p:blinds dir="vert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11"/>
          <p:cNvSpPr txBox="1">
            <a:spLocks noChangeArrowheads="1"/>
          </p:cNvSpPr>
          <p:nvPr/>
        </p:nvSpPr>
        <p:spPr bwMode="auto">
          <a:xfrm>
            <a:off x="0" y="1138238"/>
            <a:ext cx="9143999" cy="5324535"/>
          </a:xfrm>
          <a:prstGeom prst="rect">
            <a:avLst/>
          </a:prstGeom>
          <a:solidFill>
            <a:schemeClr val="bg1"/>
          </a:solidFill>
          <a:ln w="76200" cmpd="tri">
            <a:solidFill>
              <a:srgbClr val="FF7C8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marL="0" indent="0" eaLnBrk="1" hangingPunct="1">
              <a:spcBef>
                <a:spcPct val="25000"/>
              </a:spcBef>
            </a:pPr>
            <a:r>
              <a:rPr lang="en-GB" sz="2800" b="1" dirty="0" smtClean="0">
                <a:solidFill>
                  <a:srgbClr val="008080"/>
                </a:solidFill>
              </a:rPr>
              <a:t>6. Non-compliance </a:t>
            </a:r>
            <a:r>
              <a:rPr lang="en-GB" sz="2800" b="1" u="sng" dirty="0" smtClean="0">
                <a:solidFill>
                  <a:srgbClr val="008080"/>
                </a:solidFill>
              </a:rPr>
              <a:t>w/documentation</a:t>
            </a:r>
            <a:r>
              <a:rPr lang="en-GB" sz="2800" b="1" dirty="0" smtClean="0">
                <a:solidFill>
                  <a:srgbClr val="008080"/>
                </a:solidFill>
              </a:rPr>
              <a:t> &amp; </a:t>
            </a:r>
            <a:r>
              <a:rPr lang="en-GB" sz="2800" b="1" u="sng" dirty="0">
                <a:solidFill>
                  <a:srgbClr val="008080"/>
                </a:solidFill>
              </a:rPr>
              <a:t>coding</a:t>
            </a:r>
            <a:r>
              <a:rPr lang="en-GB" sz="2800" b="1" dirty="0">
                <a:solidFill>
                  <a:srgbClr val="008080"/>
                </a:solidFill>
              </a:rPr>
              <a:t> </a:t>
            </a:r>
            <a:r>
              <a:rPr lang="en-GB" sz="2800" b="1" u="sng" dirty="0" smtClean="0">
                <a:solidFill>
                  <a:srgbClr val="008080"/>
                </a:solidFill>
              </a:rPr>
              <a:t>instructions</a:t>
            </a:r>
            <a:endParaRPr lang="en-GB" sz="2800" b="1" u="sng" dirty="0">
              <a:solidFill>
                <a:srgbClr val="008080"/>
              </a:solidFill>
            </a:endParaRPr>
          </a:p>
          <a:p>
            <a:pPr lvl="1" eaLnBrk="1" hangingPunct="1">
              <a:spcBef>
                <a:spcPct val="25000"/>
              </a:spcBef>
              <a:buFont typeface="Arial" charset="0"/>
              <a:buChar char="•"/>
            </a:pPr>
            <a:r>
              <a:rPr lang="en-GB" b="1" dirty="0">
                <a:solidFill>
                  <a:srgbClr val="008080"/>
                </a:solidFill>
              </a:rPr>
              <a:t>Non-compliance with published </a:t>
            </a:r>
            <a:r>
              <a:rPr lang="en-GB" b="1" dirty="0" smtClean="0">
                <a:solidFill>
                  <a:srgbClr val="008080"/>
                </a:solidFill>
              </a:rPr>
              <a:t>templates (structure)</a:t>
            </a:r>
            <a:endParaRPr lang="en-GB" b="1" dirty="0">
              <a:solidFill>
                <a:srgbClr val="008080"/>
              </a:solidFill>
            </a:endParaRPr>
          </a:p>
          <a:p>
            <a:pPr lvl="1" eaLnBrk="1" hangingPunct="1">
              <a:spcBef>
                <a:spcPct val="25000"/>
              </a:spcBef>
              <a:buFont typeface="Arial" charset="0"/>
              <a:buChar char="•"/>
            </a:pPr>
            <a:r>
              <a:rPr lang="en-GB" b="1" dirty="0">
                <a:solidFill>
                  <a:srgbClr val="008080"/>
                </a:solidFill>
              </a:rPr>
              <a:t>Non-compliance with coding </a:t>
            </a:r>
            <a:r>
              <a:rPr lang="en-GB" b="1" dirty="0" smtClean="0">
                <a:solidFill>
                  <a:srgbClr val="008080"/>
                </a:solidFill>
              </a:rPr>
              <a:t>standards (attribute names…)</a:t>
            </a:r>
            <a:endParaRPr lang="en-GB" b="1" dirty="0">
              <a:solidFill>
                <a:srgbClr val="008080"/>
              </a:solidFill>
            </a:endParaRPr>
          </a:p>
          <a:p>
            <a:pPr lvl="1" eaLnBrk="1" hangingPunct="1">
              <a:spcBef>
                <a:spcPct val="25000"/>
              </a:spcBef>
              <a:buFont typeface="Arial" charset="0"/>
              <a:buChar char="•"/>
            </a:pPr>
            <a:r>
              <a:rPr lang="en-GB" b="1" dirty="0">
                <a:solidFill>
                  <a:srgbClr val="008080"/>
                </a:solidFill>
              </a:rPr>
              <a:t>(Standards and Integration Branch)</a:t>
            </a:r>
          </a:p>
          <a:p>
            <a:pPr lvl="2" eaLnBrk="1" hangingPunct="1">
              <a:spcBef>
                <a:spcPct val="25000"/>
              </a:spcBef>
              <a:buFont typeface="Arial" charset="0"/>
              <a:buChar char="•"/>
            </a:pPr>
            <a:r>
              <a:rPr lang="en-GB" b="1" dirty="0">
                <a:solidFill>
                  <a:srgbClr val="008080"/>
                </a:solidFill>
              </a:rPr>
              <a:t>Size of program;  </a:t>
            </a:r>
          </a:p>
          <a:p>
            <a:pPr lvl="3" eaLnBrk="1" hangingPunct="1">
              <a:spcBef>
                <a:spcPct val="25000"/>
              </a:spcBef>
              <a:buFont typeface="Arial" charset="0"/>
              <a:buChar char="•"/>
            </a:pPr>
            <a:r>
              <a:rPr lang="en-GB" b="1" dirty="0">
                <a:solidFill>
                  <a:srgbClr val="008080"/>
                </a:solidFill>
              </a:rPr>
              <a:t>Other programs must be able to run in environment!</a:t>
            </a:r>
          </a:p>
          <a:p>
            <a:pPr lvl="3" eaLnBrk="1" hangingPunct="1">
              <a:spcBef>
                <a:spcPct val="25000"/>
              </a:spcBef>
              <a:buFont typeface="Arial" charset="0"/>
              <a:buChar char="•"/>
            </a:pPr>
            <a:r>
              <a:rPr lang="en-GB" b="1" dirty="0">
                <a:solidFill>
                  <a:srgbClr val="008080"/>
                </a:solidFill>
              </a:rPr>
              <a:t>Data Elements and Codes:  AFM 300-4;  </a:t>
            </a:r>
          </a:p>
          <a:p>
            <a:pPr lvl="3" eaLnBrk="1" hangingPunct="1">
              <a:spcBef>
                <a:spcPct val="25000"/>
              </a:spcBef>
              <a:buFont typeface="Arial" charset="0"/>
              <a:buChar char="•"/>
            </a:pPr>
            <a:r>
              <a:rPr lang="en-GB" b="1" dirty="0">
                <a:solidFill>
                  <a:srgbClr val="008080"/>
                </a:solidFill>
              </a:rPr>
              <a:t>Required documentation manuals and operating instructions;  AFDSDCM 300-8, etc…</a:t>
            </a:r>
          </a:p>
          <a:p>
            <a:pPr lvl="1" eaLnBrk="1" hangingPunct="1">
              <a:spcBef>
                <a:spcPct val="25000"/>
              </a:spcBef>
              <a:buFont typeface="Arial" charset="0"/>
              <a:buChar char="•"/>
            </a:pPr>
            <a:r>
              <a:rPr lang="en-GB" b="1" dirty="0">
                <a:solidFill>
                  <a:srgbClr val="008080"/>
                </a:solidFill>
              </a:rPr>
              <a:t>SQA Team:  testing not only execution software but coding standards;  manuals, messages displayed;  resources needed;  resources named (file names, program names,…)</a:t>
            </a:r>
          </a:p>
        </p:txBody>
      </p:sp>
      <p:sp>
        <p:nvSpPr>
          <p:cNvPr id="12291" name="Title 1"/>
          <p:cNvSpPr>
            <a:spLocks noGrp="1"/>
          </p:cNvSpPr>
          <p:nvPr>
            <p:ph type="title"/>
          </p:nvPr>
        </p:nvSpPr>
        <p:spPr>
          <a:xfrm>
            <a:off x="1263650" y="366713"/>
            <a:ext cx="7772400" cy="398462"/>
          </a:xfrm>
        </p:spPr>
        <p:txBody>
          <a:bodyPr>
            <a:normAutofit fontScale="90000"/>
          </a:bodyPr>
          <a:lstStyle/>
          <a:p>
            <a:r>
              <a:rPr lang="en-US" sz="3600" smtClean="0"/>
              <a:t>The Nine Causes of Software Errors</a:t>
            </a:r>
          </a:p>
        </p:txBody>
      </p:sp>
    </p:spTree>
  </p:cSld>
  <p:clrMapOvr>
    <a:masterClrMapping/>
  </p:clrMapOvr>
  <p:transition spd="slow">
    <p:blinds dir="vert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11"/>
          <p:cNvSpPr txBox="1">
            <a:spLocks noChangeArrowheads="1"/>
          </p:cNvSpPr>
          <p:nvPr/>
        </p:nvSpPr>
        <p:spPr bwMode="auto">
          <a:xfrm>
            <a:off x="366713" y="1008063"/>
            <a:ext cx="8426450" cy="5324535"/>
          </a:xfrm>
          <a:prstGeom prst="rect">
            <a:avLst/>
          </a:prstGeom>
          <a:solidFill>
            <a:schemeClr val="bg1"/>
          </a:solidFill>
          <a:ln w="76200" cmpd="tri">
            <a:solidFill>
              <a:srgbClr val="FF7C8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>
              <a:spcBef>
                <a:spcPct val="25000"/>
              </a:spcBef>
            </a:pPr>
            <a:r>
              <a:rPr lang="en-GB" sz="2800" b="1" dirty="0">
                <a:solidFill>
                  <a:srgbClr val="990033"/>
                </a:solidFill>
              </a:rPr>
              <a:t>7.  Shortcomings of the </a:t>
            </a:r>
            <a:r>
              <a:rPr lang="en-GB" sz="2800" b="1" dirty="0" smtClean="0">
                <a:solidFill>
                  <a:srgbClr val="990033"/>
                </a:solidFill>
              </a:rPr>
              <a:t>Testing Process</a:t>
            </a:r>
            <a:endParaRPr lang="en-GB" sz="2800" b="1" dirty="0">
              <a:solidFill>
                <a:srgbClr val="9900CC"/>
              </a:solidFill>
            </a:endParaRPr>
          </a:p>
          <a:p>
            <a:pPr lvl="1" eaLnBrk="1" hangingPunct="1">
              <a:spcBef>
                <a:spcPct val="25000"/>
              </a:spcBef>
              <a:buFont typeface="Arial" charset="0"/>
              <a:buChar char="•"/>
            </a:pPr>
            <a:r>
              <a:rPr lang="en-GB" b="1" dirty="0">
                <a:solidFill>
                  <a:srgbClr val="9900CC"/>
                </a:solidFill>
              </a:rPr>
              <a:t>Likely the part of the development process cut short most frequently!</a:t>
            </a:r>
          </a:p>
          <a:p>
            <a:pPr lvl="1" eaLnBrk="1" hangingPunct="1">
              <a:spcBef>
                <a:spcPct val="25000"/>
              </a:spcBef>
              <a:buFont typeface="Arial" charset="0"/>
              <a:buChar char="•"/>
            </a:pPr>
            <a:r>
              <a:rPr lang="en-GB" b="1" dirty="0">
                <a:solidFill>
                  <a:srgbClr val="9900CC"/>
                </a:solidFill>
              </a:rPr>
              <a:t>Incomplete test plans</a:t>
            </a:r>
          </a:p>
          <a:p>
            <a:pPr lvl="2" eaLnBrk="1" hangingPunct="1">
              <a:spcBef>
                <a:spcPct val="25000"/>
              </a:spcBef>
              <a:buFont typeface="Arial" charset="0"/>
              <a:buChar char="•"/>
            </a:pPr>
            <a:r>
              <a:rPr lang="en-GB" b="1" dirty="0">
                <a:solidFill>
                  <a:srgbClr val="9900CC"/>
                </a:solidFill>
              </a:rPr>
              <a:t>Parts of application not tested or tested thoroughly!</a:t>
            </a:r>
          </a:p>
          <a:p>
            <a:pPr lvl="1" eaLnBrk="1" hangingPunct="1">
              <a:spcBef>
                <a:spcPct val="25000"/>
              </a:spcBef>
              <a:buFont typeface="Arial" charset="0"/>
              <a:buChar char="•"/>
            </a:pPr>
            <a:r>
              <a:rPr lang="en-GB" b="1" dirty="0">
                <a:solidFill>
                  <a:srgbClr val="9900CC"/>
                </a:solidFill>
              </a:rPr>
              <a:t>Failure to </a:t>
            </a:r>
            <a:r>
              <a:rPr lang="en-GB" b="1" dirty="0" smtClean="0">
                <a:solidFill>
                  <a:srgbClr val="9900CC"/>
                </a:solidFill>
              </a:rPr>
              <a:t>document, report </a:t>
            </a:r>
            <a:r>
              <a:rPr lang="en-GB" b="1" dirty="0">
                <a:solidFill>
                  <a:srgbClr val="9900CC"/>
                </a:solidFill>
              </a:rPr>
              <a:t>detected errors and faults</a:t>
            </a:r>
          </a:p>
          <a:p>
            <a:pPr lvl="2" eaLnBrk="1" hangingPunct="1">
              <a:spcBef>
                <a:spcPct val="25000"/>
              </a:spcBef>
              <a:buFont typeface="Arial" charset="0"/>
              <a:buChar char="•"/>
            </a:pPr>
            <a:r>
              <a:rPr lang="en-GB" b="1" dirty="0">
                <a:solidFill>
                  <a:srgbClr val="9900CC"/>
                </a:solidFill>
              </a:rPr>
              <a:t>So many levels of testing….we will cover.</a:t>
            </a:r>
          </a:p>
          <a:p>
            <a:pPr lvl="1" eaLnBrk="1" hangingPunct="1">
              <a:spcBef>
                <a:spcPct val="25000"/>
              </a:spcBef>
              <a:buFont typeface="Arial" charset="0"/>
              <a:buChar char="•"/>
            </a:pPr>
            <a:r>
              <a:rPr lang="en-GB" b="1" dirty="0">
                <a:solidFill>
                  <a:srgbClr val="9900CC"/>
                </a:solidFill>
              </a:rPr>
              <a:t>Failure to quickly correct detected faults due to unclear indications that there ‘was’ a fault</a:t>
            </a:r>
          </a:p>
          <a:p>
            <a:pPr lvl="1" eaLnBrk="1" hangingPunct="1">
              <a:spcBef>
                <a:spcPct val="25000"/>
              </a:spcBef>
              <a:buFont typeface="Arial" charset="0"/>
              <a:buChar char="•"/>
            </a:pPr>
            <a:r>
              <a:rPr lang="en-GB" b="1" dirty="0">
                <a:solidFill>
                  <a:srgbClr val="9900CC"/>
                </a:solidFill>
              </a:rPr>
              <a:t>Failure to fix the </a:t>
            </a:r>
            <a:r>
              <a:rPr lang="en-GB" b="1" dirty="0" smtClean="0">
                <a:solidFill>
                  <a:srgbClr val="9900CC"/>
                </a:solidFill>
              </a:rPr>
              <a:t>errors </a:t>
            </a:r>
            <a:r>
              <a:rPr lang="en-GB" b="1" dirty="0">
                <a:solidFill>
                  <a:srgbClr val="9900CC"/>
                </a:solidFill>
              </a:rPr>
              <a:t>due to time constraints</a:t>
            </a:r>
          </a:p>
          <a:p>
            <a:pPr lvl="2" eaLnBrk="1" hangingPunct="1">
              <a:spcBef>
                <a:spcPct val="25000"/>
              </a:spcBef>
              <a:buFont typeface="Arial" charset="0"/>
              <a:buChar char="•"/>
            </a:pPr>
            <a:r>
              <a:rPr lang="en-GB" b="1" dirty="0">
                <a:solidFill>
                  <a:srgbClr val="9900CC"/>
                </a:solidFill>
              </a:rPr>
              <a:t>Many philosophies here depending on severity of the error.</a:t>
            </a:r>
            <a:endParaRPr lang="en-GB" b="1" dirty="0">
              <a:solidFill>
                <a:srgbClr val="990033"/>
              </a:solidFill>
            </a:endParaRPr>
          </a:p>
        </p:txBody>
      </p:sp>
      <p:sp>
        <p:nvSpPr>
          <p:cNvPr id="13315" name="Title 1"/>
          <p:cNvSpPr>
            <a:spLocks noGrp="1"/>
          </p:cNvSpPr>
          <p:nvPr>
            <p:ph type="title"/>
          </p:nvPr>
        </p:nvSpPr>
        <p:spPr>
          <a:xfrm>
            <a:off x="1263650" y="366713"/>
            <a:ext cx="7772400" cy="398462"/>
          </a:xfrm>
        </p:spPr>
        <p:txBody>
          <a:bodyPr>
            <a:normAutofit fontScale="90000"/>
          </a:bodyPr>
          <a:lstStyle/>
          <a:p>
            <a:r>
              <a:rPr lang="en-US" sz="3600" smtClean="0"/>
              <a:t>The Nine Causes of Software Errors</a:t>
            </a:r>
          </a:p>
        </p:txBody>
      </p:sp>
    </p:spTree>
  </p:cSld>
  <p:clrMapOvr>
    <a:masterClrMapping/>
  </p:clrMapOvr>
  <p:transition spd="slow">
    <p:blinds dir="vert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11"/>
          <p:cNvSpPr txBox="1">
            <a:spLocks noChangeArrowheads="1"/>
          </p:cNvSpPr>
          <p:nvPr/>
        </p:nvSpPr>
        <p:spPr bwMode="auto">
          <a:xfrm>
            <a:off x="366713" y="1008063"/>
            <a:ext cx="8426450" cy="5570756"/>
          </a:xfrm>
          <a:prstGeom prst="rect">
            <a:avLst/>
          </a:prstGeom>
          <a:solidFill>
            <a:schemeClr val="bg1"/>
          </a:solidFill>
          <a:ln w="76200" cmpd="tri">
            <a:solidFill>
              <a:srgbClr val="FF7C8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marL="514350" indent="-514350" eaLnBrk="1" hangingPunct="1">
              <a:spcBef>
                <a:spcPct val="25000"/>
              </a:spcBef>
              <a:buAutoNum type="arabicPeriod" startAt="8"/>
              <a:defRPr/>
            </a:pPr>
            <a:r>
              <a:rPr lang="en-GB" sz="2800" b="1" dirty="0" smtClean="0">
                <a:solidFill>
                  <a:srgbClr val="9900CC"/>
                </a:solidFill>
              </a:rPr>
              <a:t>User interface and procedure errors</a:t>
            </a:r>
          </a:p>
          <a:p>
            <a:pPr marL="0" indent="0" eaLnBrk="1" hangingPunct="1">
              <a:spcBef>
                <a:spcPct val="25000"/>
              </a:spcBef>
              <a:defRPr/>
            </a:pPr>
            <a:endParaRPr lang="en-GB" sz="2800" b="1" dirty="0" smtClean="0">
              <a:solidFill>
                <a:srgbClr val="9900CC"/>
              </a:solidFill>
            </a:endParaRPr>
          </a:p>
          <a:p>
            <a:pPr eaLnBrk="1" hangingPunct="1">
              <a:spcBef>
                <a:spcPct val="25000"/>
              </a:spcBef>
              <a:buFontTx/>
              <a:buAutoNum type="arabicPeriod" startAt="9"/>
              <a:defRPr/>
            </a:pPr>
            <a:r>
              <a:rPr lang="en-GB" sz="2800" b="1" dirty="0" smtClean="0">
                <a:solidFill>
                  <a:srgbClr val="00CC00"/>
                </a:solidFill>
              </a:rPr>
              <a:t>Documentation errors</a:t>
            </a:r>
          </a:p>
          <a:p>
            <a:pPr marL="800100" lvl="1" indent="-342900" eaLnBrk="1" hangingPunct="1">
              <a:spcBef>
                <a:spcPct val="25000"/>
              </a:spcBef>
              <a:buFont typeface="Arial" pitchFamily="34" charset="0"/>
              <a:buChar char="•"/>
              <a:defRPr/>
            </a:pPr>
            <a:r>
              <a:rPr lang="en-GB" b="1" dirty="0" smtClean="0">
                <a:solidFill>
                  <a:srgbClr val="00CC00"/>
                </a:solidFill>
              </a:rPr>
              <a:t>Errors in the design documents</a:t>
            </a:r>
          </a:p>
          <a:p>
            <a:pPr marL="1200150" lvl="2" indent="-342900" eaLnBrk="1" hangingPunct="1">
              <a:spcBef>
                <a:spcPct val="25000"/>
              </a:spcBef>
              <a:buFont typeface="Arial" pitchFamily="34" charset="0"/>
              <a:buChar char="•"/>
              <a:defRPr/>
            </a:pPr>
            <a:r>
              <a:rPr lang="en-GB" b="1" dirty="0" smtClean="0">
                <a:solidFill>
                  <a:srgbClr val="00CC00"/>
                </a:solidFill>
              </a:rPr>
              <a:t>Trouble for subsequent redesign and reuse</a:t>
            </a:r>
          </a:p>
          <a:p>
            <a:pPr marL="800100" lvl="1" indent="-342900" eaLnBrk="1" hangingPunct="1">
              <a:spcBef>
                <a:spcPct val="25000"/>
              </a:spcBef>
              <a:buFont typeface="Arial" pitchFamily="34" charset="0"/>
              <a:buChar char="•"/>
              <a:defRPr/>
            </a:pPr>
            <a:r>
              <a:rPr lang="en-GB" b="1" dirty="0" smtClean="0">
                <a:solidFill>
                  <a:srgbClr val="00CC00"/>
                </a:solidFill>
              </a:rPr>
              <a:t>Errors in the documentation within the software for the User Manuals</a:t>
            </a:r>
          </a:p>
          <a:p>
            <a:pPr marL="800100" lvl="1" indent="-342900" eaLnBrk="1" hangingPunct="1">
              <a:spcBef>
                <a:spcPct val="25000"/>
              </a:spcBef>
              <a:buFont typeface="Arial" pitchFamily="34" charset="0"/>
              <a:buChar char="•"/>
              <a:defRPr/>
            </a:pPr>
            <a:r>
              <a:rPr lang="en-GB" b="1" dirty="0" smtClean="0">
                <a:solidFill>
                  <a:srgbClr val="00CC00"/>
                </a:solidFill>
              </a:rPr>
              <a:t>Errors in on-line help, if available.</a:t>
            </a:r>
          </a:p>
          <a:p>
            <a:pPr marL="800100" lvl="1" indent="-342900" eaLnBrk="1" hangingPunct="1">
              <a:spcBef>
                <a:spcPct val="25000"/>
              </a:spcBef>
              <a:buFont typeface="Arial" pitchFamily="34" charset="0"/>
              <a:buChar char="•"/>
              <a:defRPr/>
            </a:pPr>
            <a:r>
              <a:rPr lang="en-GB" b="1" dirty="0" smtClean="0">
                <a:solidFill>
                  <a:srgbClr val="00CC00"/>
                </a:solidFill>
              </a:rPr>
              <a:t>Listing of non-existing software functions</a:t>
            </a:r>
          </a:p>
          <a:p>
            <a:pPr marL="1200150" lvl="2" indent="-342900" eaLnBrk="1" hangingPunct="1">
              <a:spcBef>
                <a:spcPct val="25000"/>
              </a:spcBef>
              <a:buFont typeface="Arial" pitchFamily="34" charset="0"/>
              <a:buChar char="•"/>
              <a:defRPr/>
            </a:pPr>
            <a:r>
              <a:rPr lang="en-GB" b="1" dirty="0" smtClean="0">
                <a:solidFill>
                  <a:srgbClr val="00CC00"/>
                </a:solidFill>
              </a:rPr>
              <a:t>Planned early but dropped;  remain in documentation!</a:t>
            </a:r>
          </a:p>
          <a:p>
            <a:pPr marL="514350" indent="-342900" eaLnBrk="1" hangingPunct="1">
              <a:spcBef>
                <a:spcPct val="25000"/>
              </a:spcBef>
              <a:buFont typeface="Arial" pitchFamily="34" charset="0"/>
              <a:buChar char="•"/>
              <a:defRPr/>
            </a:pPr>
            <a:r>
              <a:rPr lang="en-GB" b="1" dirty="0" smtClean="0">
                <a:solidFill>
                  <a:srgbClr val="00CC00"/>
                </a:solidFill>
              </a:rPr>
              <a:t>Many error messages are totally meaningless</a:t>
            </a:r>
          </a:p>
        </p:txBody>
      </p:sp>
      <p:sp>
        <p:nvSpPr>
          <p:cNvPr id="14339" name="Title 1"/>
          <p:cNvSpPr>
            <a:spLocks noGrp="1"/>
          </p:cNvSpPr>
          <p:nvPr>
            <p:ph type="title"/>
          </p:nvPr>
        </p:nvSpPr>
        <p:spPr>
          <a:xfrm>
            <a:off x="1263650" y="366713"/>
            <a:ext cx="7772400" cy="398462"/>
          </a:xfrm>
        </p:spPr>
        <p:txBody>
          <a:bodyPr>
            <a:normAutofit fontScale="90000"/>
          </a:bodyPr>
          <a:lstStyle/>
          <a:p>
            <a:r>
              <a:rPr lang="en-US" sz="3600" smtClean="0"/>
              <a:t>The Nine Causes of Software Errors</a:t>
            </a:r>
          </a:p>
        </p:txBody>
      </p:sp>
    </p:spTree>
  </p:cSld>
  <p:clrMapOvr>
    <a:masterClrMapping/>
  </p:clrMapOvr>
  <p:transition spd="slow">
    <p:blinds dir="vert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11"/>
          <p:cNvSpPr txBox="1">
            <a:spLocks noChangeArrowheads="1"/>
          </p:cNvSpPr>
          <p:nvPr/>
        </p:nvSpPr>
        <p:spPr bwMode="auto">
          <a:xfrm>
            <a:off x="366713" y="1008063"/>
            <a:ext cx="8426450" cy="5801588"/>
          </a:xfrm>
          <a:prstGeom prst="rect">
            <a:avLst/>
          </a:prstGeom>
          <a:solidFill>
            <a:schemeClr val="bg1"/>
          </a:solidFill>
          <a:ln w="76200" cmpd="tri">
            <a:solidFill>
              <a:srgbClr val="FF7C8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>
              <a:spcBef>
                <a:spcPct val="25000"/>
              </a:spcBef>
              <a:defRPr/>
            </a:pPr>
            <a:r>
              <a:rPr lang="en-GB" sz="3200" b="1" dirty="0" smtClean="0">
                <a:solidFill>
                  <a:schemeClr val="accent2"/>
                </a:solidFill>
              </a:rPr>
              <a:t>The nine causes of software errors are:</a:t>
            </a:r>
          </a:p>
          <a:p>
            <a:pPr eaLnBrk="1" hangingPunct="1">
              <a:spcBef>
                <a:spcPct val="25000"/>
              </a:spcBef>
              <a:buFontTx/>
              <a:buAutoNum type="arabicPeriod"/>
              <a:defRPr/>
            </a:pPr>
            <a:r>
              <a:rPr lang="en-GB" b="1" dirty="0" smtClean="0">
                <a:solidFill>
                  <a:srgbClr val="FF6600"/>
                </a:solidFill>
              </a:rPr>
              <a:t>Faulty requirements definition</a:t>
            </a:r>
          </a:p>
          <a:p>
            <a:pPr eaLnBrk="1" hangingPunct="1">
              <a:spcBef>
                <a:spcPct val="25000"/>
              </a:spcBef>
              <a:buFontTx/>
              <a:buAutoNum type="arabicPeriod"/>
              <a:defRPr/>
            </a:pPr>
            <a:r>
              <a:rPr lang="en-GB" b="1" dirty="0" smtClean="0">
                <a:solidFill>
                  <a:schemeClr val="accent2"/>
                </a:solidFill>
              </a:rPr>
              <a:t>Client-developer communication failures</a:t>
            </a:r>
          </a:p>
          <a:p>
            <a:pPr eaLnBrk="1" hangingPunct="1">
              <a:spcBef>
                <a:spcPct val="25000"/>
              </a:spcBef>
              <a:buFontTx/>
              <a:buAutoNum type="arabicPeriod"/>
              <a:defRPr/>
            </a:pPr>
            <a:r>
              <a:rPr lang="en-GB" b="1" dirty="0" smtClean="0">
                <a:solidFill>
                  <a:srgbClr val="339933"/>
                </a:solidFill>
              </a:rPr>
              <a:t>Deliberate deviations from software requirements</a:t>
            </a:r>
          </a:p>
          <a:p>
            <a:pPr eaLnBrk="1" hangingPunct="1">
              <a:spcBef>
                <a:spcPct val="25000"/>
              </a:spcBef>
              <a:buFontTx/>
              <a:buAutoNum type="arabicPeriod"/>
              <a:defRPr/>
            </a:pPr>
            <a:r>
              <a:rPr lang="en-GB" b="1" dirty="0" smtClean="0">
                <a:solidFill>
                  <a:srgbClr val="CC00CC"/>
                </a:solidFill>
              </a:rPr>
              <a:t>Logical design errors</a:t>
            </a:r>
          </a:p>
          <a:p>
            <a:pPr eaLnBrk="1" hangingPunct="1">
              <a:spcBef>
                <a:spcPct val="25000"/>
              </a:spcBef>
              <a:buFontTx/>
              <a:buAutoNum type="arabicPeriod"/>
              <a:defRPr/>
            </a:pPr>
            <a:r>
              <a:rPr lang="en-GB" b="1" dirty="0" smtClean="0">
                <a:solidFill>
                  <a:srgbClr val="FF0066"/>
                </a:solidFill>
              </a:rPr>
              <a:t>Coding errors</a:t>
            </a:r>
          </a:p>
          <a:p>
            <a:pPr eaLnBrk="1" hangingPunct="1">
              <a:spcBef>
                <a:spcPct val="25000"/>
              </a:spcBef>
              <a:buFontTx/>
              <a:buAutoNum type="arabicPeriod"/>
              <a:defRPr/>
            </a:pPr>
            <a:r>
              <a:rPr lang="en-GB" b="1" dirty="0" smtClean="0">
                <a:solidFill>
                  <a:srgbClr val="008080"/>
                </a:solidFill>
              </a:rPr>
              <a:t>Non-compliance with documentation and coding instructions</a:t>
            </a:r>
          </a:p>
          <a:p>
            <a:pPr eaLnBrk="1" hangingPunct="1">
              <a:spcBef>
                <a:spcPct val="25000"/>
              </a:spcBef>
              <a:buFontTx/>
              <a:buAutoNum type="arabicPeriod"/>
              <a:defRPr/>
            </a:pPr>
            <a:r>
              <a:rPr lang="en-GB" b="1" dirty="0" smtClean="0">
                <a:solidFill>
                  <a:srgbClr val="990033"/>
                </a:solidFill>
              </a:rPr>
              <a:t>Shortcomings of the testing process</a:t>
            </a:r>
          </a:p>
          <a:p>
            <a:pPr eaLnBrk="1" hangingPunct="1">
              <a:spcBef>
                <a:spcPct val="25000"/>
              </a:spcBef>
              <a:buFontTx/>
              <a:buAutoNum type="arabicPeriod"/>
              <a:defRPr/>
            </a:pPr>
            <a:r>
              <a:rPr lang="en-GB" b="1" dirty="0" smtClean="0">
                <a:solidFill>
                  <a:srgbClr val="9900CC"/>
                </a:solidFill>
              </a:rPr>
              <a:t>User interface and procedure errors</a:t>
            </a:r>
          </a:p>
          <a:p>
            <a:pPr eaLnBrk="1" hangingPunct="1">
              <a:spcBef>
                <a:spcPct val="25000"/>
              </a:spcBef>
              <a:buFontTx/>
              <a:buAutoNum type="arabicPeriod"/>
              <a:defRPr/>
            </a:pPr>
            <a:r>
              <a:rPr lang="en-GB" b="1" dirty="0" smtClean="0">
                <a:solidFill>
                  <a:srgbClr val="FF9966"/>
                </a:solidFill>
              </a:rPr>
              <a:t>Documentation errors</a:t>
            </a:r>
          </a:p>
          <a:p>
            <a:pPr marL="0" indent="0" algn="ctr" eaLnBrk="1" hangingPunct="1">
              <a:spcBef>
                <a:spcPct val="25000"/>
              </a:spcBef>
              <a:defRPr/>
            </a:pPr>
            <a:r>
              <a:rPr lang="en-GB" sz="3600" b="1" dirty="0" smtClean="0">
                <a:solidFill>
                  <a:srgbClr val="FF0000"/>
                </a:solidFill>
              </a:rPr>
              <a:t>You should be conversant with these</a:t>
            </a:r>
          </a:p>
        </p:txBody>
      </p:sp>
      <p:sp>
        <p:nvSpPr>
          <p:cNvPr id="15363" name="Title 1"/>
          <p:cNvSpPr>
            <a:spLocks noGrp="1"/>
          </p:cNvSpPr>
          <p:nvPr>
            <p:ph type="title"/>
          </p:nvPr>
        </p:nvSpPr>
        <p:spPr>
          <a:xfrm>
            <a:off x="1263650" y="366713"/>
            <a:ext cx="7772400" cy="398462"/>
          </a:xfrm>
        </p:spPr>
        <p:txBody>
          <a:bodyPr>
            <a:normAutofit fontScale="90000"/>
          </a:bodyPr>
          <a:lstStyle/>
          <a:p>
            <a:r>
              <a:rPr lang="en-US" sz="3600" smtClean="0"/>
              <a:t>The Nine Causes of Software Errors</a:t>
            </a:r>
          </a:p>
        </p:txBody>
      </p:sp>
    </p:spTree>
  </p:cSld>
  <p:clrMapOvr>
    <a:masterClrMapping/>
  </p:clrMapOvr>
  <p:transition spd="slow">
    <p:blinds dir="vert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FontTx/>
              <a:buNone/>
            </a:pPr>
            <a:r>
              <a:rPr lang="en-US" sz="3600" b="1" dirty="0" smtClean="0"/>
              <a:t>So let’s move on to ‘exactly’ what we mean by ‘Software </a:t>
            </a:r>
            <a:r>
              <a:rPr lang="en-US" sz="3600" b="1" u="sng" dirty="0"/>
              <a:t>Q</a:t>
            </a:r>
            <a:r>
              <a:rPr lang="en-US" sz="3600" b="1" u="sng" dirty="0" smtClean="0"/>
              <a:t>uality</a:t>
            </a:r>
            <a:r>
              <a:rPr lang="en-US" sz="3600" b="1" dirty="0" smtClean="0"/>
              <a:t>.’</a:t>
            </a:r>
          </a:p>
          <a:p>
            <a:pPr marL="0" indent="0">
              <a:buFontTx/>
              <a:buNone/>
            </a:pPr>
            <a:endParaRPr lang="en-US" sz="3600" b="1" dirty="0" smtClean="0"/>
          </a:p>
          <a:p>
            <a:pPr marL="0" indent="0">
              <a:buFontTx/>
              <a:buNone/>
            </a:pPr>
            <a:r>
              <a:rPr lang="en-US" sz="3600" b="1" dirty="0" smtClean="0"/>
              <a:t>As you will see, there is no commonly-agreed to definition.</a:t>
            </a:r>
          </a:p>
        </p:txBody>
      </p:sp>
    </p:spTree>
  </p:cSld>
  <p:clrMapOvr>
    <a:masterClrMapping/>
  </p:clrMapOvr>
  <p:transition spd="slow">
    <p:blinds dir="vert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WordArt 15"/>
          <p:cNvSpPr>
            <a:spLocks noChangeArrowheads="1" noChangeShapeType="1" noTextEdit="1"/>
          </p:cNvSpPr>
          <p:nvPr/>
        </p:nvSpPr>
        <p:spPr bwMode="auto">
          <a:xfrm>
            <a:off x="430213" y="1052736"/>
            <a:ext cx="8258175" cy="50323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kern="10" dirty="0"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CC33"/>
                </a:solidFill>
                <a:latin typeface="Arial Black"/>
              </a:rPr>
              <a:t>2.4   Software </a:t>
            </a:r>
            <a:r>
              <a:rPr lang="en-US" kern="10" dirty="0" smtClean="0"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CC33"/>
                </a:solidFill>
                <a:latin typeface="Arial Black"/>
              </a:rPr>
              <a:t>Quality </a:t>
            </a:r>
            <a:r>
              <a:rPr lang="en-US" kern="10" dirty="0"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CC33"/>
                </a:solidFill>
                <a:latin typeface="Arial Black"/>
              </a:rPr>
              <a:t>- IEEE definition</a:t>
            </a:r>
          </a:p>
        </p:txBody>
      </p:sp>
      <p:sp>
        <p:nvSpPr>
          <p:cNvPr id="17411" name="Text Box 16"/>
          <p:cNvSpPr txBox="1">
            <a:spLocks noChangeArrowheads="1"/>
          </p:cNvSpPr>
          <p:nvPr/>
        </p:nvSpPr>
        <p:spPr bwMode="auto">
          <a:xfrm>
            <a:off x="395288" y="1908770"/>
            <a:ext cx="8397875" cy="4400550"/>
          </a:xfrm>
          <a:prstGeom prst="rect">
            <a:avLst/>
          </a:prstGeom>
          <a:noFill/>
          <a:ln w="76200">
            <a:solidFill>
              <a:srgbClr val="99CC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720725" indent="-720725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 sz="2800" dirty="0"/>
              <a:t> </a:t>
            </a:r>
            <a:r>
              <a:rPr lang="en-US" sz="2800" b="1" dirty="0">
                <a:solidFill>
                  <a:srgbClr val="000000"/>
                </a:solidFill>
              </a:rPr>
              <a:t>Software quality is:</a:t>
            </a:r>
            <a:endParaRPr lang="en-US" sz="2800" b="1" dirty="0"/>
          </a:p>
          <a:p>
            <a:pPr eaLnBrk="1" hangingPunct="1"/>
            <a:r>
              <a:rPr lang="en-US" sz="2800" dirty="0">
                <a:solidFill>
                  <a:srgbClr val="000000"/>
                </a:solidFill>
              </a:rPr>
              <a:t> </a:t>
            </a:r>
            <a:endParaRPr lang="en-US" sz="2800" dirty="0"/>
          </a:p>
          <a:p>
            <a:pPr eaLnBrk="1" hangingPunct="1">
              <a:buFontTx/>
              <a:buAutoNum type="arabicParenBoth"/>
            </a:pPr>
            <a:r>
              <a:rPr lang="en-US" sz="2800" b="1" dirty="0">
                <a:solidFill>
                  <a:schemeClr val="accent2"/>
                </a:solidFill>
              </a:rPr>
              <a:t>The degree to which a </a:t>
            </a:r>
            <a:r>
              <a:rPr lang="en-US" sz="2800" b="1" u="sng" dirty="0">
                <a:solidFill>
                  <a:schemeClr val="accent2"/>
                </a:solidFill>
              </a:rPr>
              <a:t>system</a:t>
            </a:r>
            <a:r>
              <a:rPr lang="en-US" sz="2800" b="1" dirty="0">
                <a:solidFill>
                  <a:schemeClr val="accent2"/>
                </a:solidFill>
              </a:rPr>
              <a:t>, </a:t>
            </a:r>
            <a:r>
              <a:rPr lang="en-US" sz="2800" b="1" u="sng" dirty="0">
                <a:solidFill>
                  <a:schemeClr val="accent2"/>
                </a:solidFill>
              </a:rPr>
              <a:t>component</a:t>
            </a:r>
            <a:r>
              <a:rPr lang="en-US" sz="2800" b="1" dirty="0">
                <a:solidFill>
                  <a:schemeClr val="accent2"/>
                </a:solidFill>
              </a:rPr>
              <a:t>, or </a:t>
            </a:r>
            <a:r>
              <a:rPr lang="en-US" sz="2800" b="1" u="sng" dirty="0">
                <a:solidFill>
                  <a:schemeClr val="accent2"/>
                </a:solidFill>
              </a:rPr>
              <a:t>process</a:t>
            </a:r>
            <a:r>
              <a:rPr lang="en-US" sz="2800" b="1" dirty="0">
                <a:solidFill>
                  <a:schemeClr val="accent2"/>
                </a:solidFill>
              </a:rPr>
              <a:t> meets specified requirements.</a:t>
            </a:r>
          </a:p>
          <a:p>
            <a:pPr lvl="1" eaLnBrk="1" hangingPunct="1"/>
            <a:r>
              <a:rPr lang="en-US" sz="2800" b="1" dirty="0">
                <a:solidFill>
                  <a:schemeClr val="accent2"/>
                </a:solidFill>
              </a:rPr>
              <a:t>		</a:t>
            </a:r>
            <a:r>
              <a:rPr lang="en-US" sz="2800" b="1" dirty="0"/>
              <a:t>by Philip Crosby</a:t>
            </a:r>
          </a:p>
          <a:p>
            <a:pPr eaLnBrk="1" hangingPunct="1">
              <a:buFontTx/>
              <a:buAutoNum type="arabicParenBoth" startAt="2"/>
            </a:pPr>
            <a:r>
              <a:rPr lang="en-US" sz="2800" b="1" dirty="0">
                <a:solidFill>
                  <a:schemeClr val="accent2"/>
                </a:solidFill>
              </a:rPr>
              <a:t>The degree to which a </a:t>
            </a:r>
            <a:r>
              <a:rPr lang="en-US" sz="2800" b="1" u="sng" dirty="0">
                <a:solidFill>
                  <a:schemeClr val="accent2"/>
                </a:solidFill>
              </a:rPr>
              <a:t>system</a:t>
            </a:r>
            <a:r>
              <a:rPr lang="en-US" sz="2800" b="1" dirty="0">
                <a:solidFill>
                  <a:schemeClr val="accent2"/>
                </a:solidFill>
              </a:rPr>
              <a:t>, </a:t>
            </a:r>
            <a:r>
              <a:rPr lang="en-US" sz="2800" b="1" u="sng" dirty="0">
                <a:solidFill>
                  <a:schemeClr val="accent2"/>
                </a:solidFill>
              </a:rPr>
              <a:t>component</a:t>
            </a:r>
            <a:r>
              <a:rPr lang="en-US" sz="2800" b="1" dirty="0">
                <a:solidFill>
                  <a:schemeClr val="accent2"/>
                </a:solidFill>
              </a:rPr>
              <a:t>, or </a:t>
            </a:r>
            <a:r>
              <a:rPr lang="en-US" sz="2800" b="1" u="sng" dirty="0">
                <a:solidFill>
                  <a:schemeClr val="accent2"/>
                </a:solidFill>
              </a:rPr>
              <a:t>process</a:t>
            </a:r>
            <a:r>
              <a:rPr lang="en-US" sz="2800" b="1" dirty="0">
                <a:solidFill>
                  <a:schemeClr val="accent2"/>
                </a:solidFill>
              </a:rPr>
              <a:t> meets customer or user needs or expectations</a:t>
            </a:r>
            <a:r>
              <a:rPr lang="en-US" sz="2800" b="1" dirty="0">
                <a:solidFill>
                  <a:srgbClr val="000000"/>
                </a:solidFill>
              </a:rPr>
              <a:t>.  </a:t>
            </a:r>
          </a:p>
          <a:p>
            <a:pPr lvl="1" eaLnBrk="1" hangingPunct="1"/>
            <a:r>
              <a:rPr lang="en-US" sz="2800" b="1" dirty="0">
                <a:solidFill>
                  <a:srgbClr val="000000"/>
                </a:solidFill>
              </a:rPr>
              <a:t>		by Joseph M. </a:t>
            </a:r>
            <a:r>
              <a:rPr lang="en-US" sz="2800" b="1" dirty="0" err="1">
                <a:solidFill>
                  <a:srgbClr val="000000"/>
                </a:solidFill>
              </a:rPr>
              <a:t>Juran</a:t>
            </a:r>
            <a:endParaRPr lang="en-US" sz="2800" b="1" dirty="0">
              <a:solidFill>
                <a:srgbClr val="000000"/>
              </a:solidFill>
            </a:endParaRPr>
          </a:p>
          <a:p>
            <a:pPr lvl="1" eaLnBrk="1" hangingPunct="1"/>
            <a:r>
              <a:rPr lang="en-US" sz="2800" b="1" dirty="0">
                <a:solidFill>
                  <a:srgbClr val="000000"/>
                </a:solidFill>
              </a:rPr>
              <a:t>Now, more closely…</a:t>
            </a:r>
            <a:endParaRPr lang="en-GB" sz="2800" dirty="0"/>
          </a:p>
        </p:txBody>
      </p:sp>
    </p:spTree>
  </p:cSld>
  <p:clrMapOvr>
    <a:masterClrMapping/>
  </p:clrMapOvr>
  <p:transition spd="slow">
    <p:blinds dir="vert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WordArt 15"/>
          <p:cNvSpPr>
            <a:spLocks noChangeArrowheads="1" noChangeShapeType="1" noTextEdit="1"/>
          </p:cNvSpPr>
          <p:nvPr/>
        </p:nvSpPr>
        <p:spPr bwMode="auto">
          <a:xfrm>
            <a:off x="430213" y="836613"/>
            <a:ext cx="8258175" cy="50323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CC33"/>
                </a:solidFill>
                <a:latin typeface="Arial Black"/>
              </a:rPr>
              <a:t>Software </a:t>
            </a:r>
            <a:r>
              <a:rPr lang="en-US" sz="3600" kern="10" dirty="0" smtClean="0"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CC33"/>
                </a:solidFill>
                <a:latin typeface="Arial Black"/>
              </a:rPr>
              <a:t>Quality </a:t>
            </a:r>
            <a:r>
              <a:rPr lang="en-US" sz="3600" kern="10" dirty="0"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CC33"/>
                </a:solidFill>
                <a:latin typeface="Arial Black"/>
              </a:rPr>
              <a:t>- IEEE definition</a:t>
            </a:r>
          </a:p>
        </p:txBody>
      </p:sp>
      <p:sp>
        <p:nvSpPr>
          <p:cNvPr id="16387" name="Text Box 16"/>
          <p:cNvSpPr txBox="1">
            <a:spLocks noChangeArrowheads="1"/>
          </p:cNvSpPr>
          <p:nvPr/>
        </p:nvSpPr>
        <p:spPr bwMode="auto">
          <a:xfrm>
            <a:off x="611188" y="1412875"/>
            <a:ext cx="8397875" cy="5140325"/>
          </a:xfrm>
          <a:prstGeom prst="rect">
            <a:avLst/>
          </a:prstGeom>
          <a:noFill/>
          <a:ln w="76200">
            <a:solidFill>
              <a:srgbClr val="99CC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720725" indent="-720725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>
              <a:defRPr/>
            </a:pPr>
            <a:r>
              <a:rPr lang="en-US" sz="2800" dirty="0" smtClean="0"/>
              <a:t> </a:t>
            </a:r>
            <a:r>
              <a:rPr lang="en-US" sz="2800" b="1" dirty="0" smtClean="0">
                <a:solidFill>
                  <a:srgbClr val="000000"/>
                </a:solidFill>
              </a:rPr>
              <a:t>Software quality is:</a:t>
            </a:r>
            <a:endParaRPr lang="en-US" sz="2800" dirty="0" smtClean="0"/>
          </a:p>
          <a:p>
            <a:pPr eaLnBrk="1" hangingPunct="1">
              <a:buFontTx/>
              <a:buAutoNum type="arabicParenBoth"/>
              <a:defRPr/>
            </a:pPr>
            <a:r>
              <a:rPr lang="en-US" sz="2800" b="1" dirty="0" smtClean="0">
                <a:solidFill>
                  <a:schemeClr val="accent2"/>
                </a:solidFill>
              </a:rPr>
              <a:t>The degree to which a system, component, or process meets specified requirements.</a:t>
            </a:r>
          </a:p>
          <a:p>
            <a:pPr marL="0" indent="0" eaLnBrk="1" hangingPunct="1">
              <a:defRPr/>
            </a:pPr>
            <a:endParaRPr lang="en-US" sz="2800" b="1" dirty="0" smtClean="0">
              <a:solidFill>
                <a:schemeClr val="accent2"/>
              </a:solidFill>
            </a:endParaRPr>
          </a:p>
          <a:p>
            <a:pPr marL="0" indent="0" eaLnBrk="1" hangingPunct="1">
              <a:defRPr/>
            </a:pPr>
            <a:r>
              <a:rPr lang="en-US" b="1" dirty="0" smtClean="0">
                <a:solidFill>
                  <a:schemeClr val="accent2"/>
                </a:solidFill>
              </a:rPr>
              <a:t>Seems to emphasize the specification, assuming the customer has articulated all that is needed in the specs AND that if the specs are met, the customer will be satisfied.</a:t>
            </a:r>
          </a:p>
          <a:p>
            <a:pPr marL="0" indent="0" eaLnBrk="1" hangingPunct="1">
              <a:defRPr/>
            </a:pPr>
            <a:endParaRPr lang="en-US" b="1" dirty="0" smtClean="0">
              <a:solidFill>
                <a:schemeClr val="accent2"/>
              </a:solidFill>
            </a:endParaRPr>
          </a:p>
          <a:p>
            <a:pPr marL="0" indent="0" eaLnBrk="1" hangingPunct="1">
              <a:defRPr/>
            </a:pPr>
            <a:r>
              <a:rPr lang="en-US" b="1" dirty="0" smtClean="0">
                <a:solidFill>
                  <a:schemeClr val="accent2"/>
                </a:solidFill>
              </a:rPr>
              <a:t>I have found that this is not necessarily the case, that, if fact, 	often ‘austere’ systems are first deployed (errors 			discovered in specs sometimes very serious);  </a:t>
            </a:r>
          </a:p>
          <a:p>
            <a:pPr marL="0" indent="0" eaLnBrk="1" hangingPunct="1">
              <a:defRPr/>
            </a:pPr>
            <a:r>
              <a:rPr lang="en-US" b="1" dirty="0" smtClean="0">
                <a:solidFill>
                  <a:schemeClr val="accent2"/>
                </a:solidFill>
              </a:rPr>
              <a:t>	customers acquiesce to the deployment with 			understanding of a follow-on deployment.</a:t>
            </a:r>
          </a:p>
        </p:txBody>
      </p:sp>
    </p:spTree>
  </p:cSld>
  <p:clrMapOvr>
    <a:masterClrMapping/>
  </p:clrMapOvr>
  <p:transition spd="slow">
    <p:blinds dir="vert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WordArt 15"/>
          <p:cNvSpPr>
            <a:spLocks noChangeArrowheads="1" noChangeShapeType="1" noTextEdit="1"/>
          </p:cNvSpPr>
          <p:nvPr/>
        </p:nvSpPr>
        <p:spPr bwMode="auto">
          <a:xfrm>
            <a:off x="430213" y="836613"/>
            <a:ext cx="8258175" cy="50323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CC33"/>
                </a:solidFill>
                <a:latin typeface="Arial Black"/>
              </a:rPr>
              <a:t>Software </a:t>
            </a:r>
            <a:r>
              <a:rPr lang="en-US" sz="3600" kern="10" dirty="0" smtClean="0"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CC33"/>
                </a:solidFill>
                <a:latin typeface="Arial Black"/>
              </a:rPr>
              <a:t>Quality </a:t>
            </a:r>
            <a:r>
              <a:rPr lang="en-US" sz="3600" kern="10" dirty="0"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CC33"/>
                </a:solidFill>
                <a:latin typeface="Arial Black"/>
              </a:rPr>
              <a:t>- IEEE definition</a:t>
            </a:r>
          </a:p>
        </p:txBody>
      </p:sp>
      <p:sp>
        <p:nvSpPr>
          <p:cNvPr id="16387" name="Text Box 16"/>
          <p:cNvSpPr txBox="1">
            <a:spLocks noChangeArrowheads="1"/>
          </p:cNvSpPr>
          <p:nvPr/>
        </p:nvSpPr>
        <p:spPr bwMode="auto">
          <a:xfrm>
            <a:off x="179388" y="1484313"/>
            <a:ext cx="8785225" cy="5094287"/>
          </a:xfrm>
          <a:prstGeom prst="rect">
            <a:avLst/>
          </a:prstGeom>
          <a:noFill/>
          <a:ln w="76200">
            <a:solidFill>
              <a:srgbClr val="99CC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720725" indent="-720725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>
              <a:defRPr/>
            </a:pPr>
            <a:r>
              <a:rPr lang="en-US" sz="2800" dirty="0" smtClean="0"/>
              <a:t> </a:t>
            </a:r>
            <a:r>
              <a:rPr lang="en-US" sz="2800" b="1" dirty="0" smtClean="0">
                <a:solidFill>
                  <a:srgbClr val="000000"/>
                </a:solidFill>
              </a:rPr>
              <a:t>Software quality is: (Joseph </a:t>
            </a:r>
            <a:r>
              <a:rPr lang="en-US" sz="2800" b="1" dirty="0" err="1" smtClean="0">
                <a:solidFill>
                  <a:srgbClr val="000000"/>
                </a:solidFill>
              </a:rPr>
              <a:t>Juran</a:t>
            </a:r>
            <a:r>
              <a:rPr lang="en-US" sz="2800" b="1" dirty="0" smtClean="0">
                <a:solidFill>
                  <a:srgbClr val="000000"/>
                </a:solidFill>
              </a:rPr>
              <a:t>)</a:t>
            </a:r>
            <a:endParaRPr lang="en-US" sz="2800" b="1" dirty="0" smtClean="0">
              <a:solidFill>
                <a:schemeClr val="accent2"/>
              </a:solidFill>
            </a:endParaRPr>
          </a:p>
          <a:p>
            <a:pPr eaLnBrk="1" hangingPunct="1">
              <a:buFontTx/>
              <a:buAutoNum type="arabicParenBoth" startAt="2"/>
              <a:defRPr/>
            </a:pPr>
            <a:r>
              <a:rPr lang="en-US" sz="2700" b="1" dirty="0" smtClean="0">
                <a:solidFill>
                  <a:schemeClr val="accent2"/>
                </a:solidFill>
              </a:rPr>
              <a:t>The degree to which a system, component, or process meets customer or user needs or expectations</a:t>
            </a:r>
            <a:r>
              <a:rPr lang="en-US" sz="2700" b="1" dirty="0" smtClean="0">
                <a:solidFill>
                  <a:srgbClr val="000000"/>
                </a:solidFill>
              </a:rPr>
              <a:t>.  </a:t>
            </a:r>
          </a:p>
          <a:p>
            <a:pPr eaLnBrk="1" hangingPunct="1">
              <a:buFontTx/>
              <a:buAutoNum type="arabicParenBoth" startAt="2"/>
              <a:defRPr/>
            </a:pPr>
            <a:endParaRPr lang="en-US" sz="2700" b="1" dirty="0" smtClean="0">
              <a:solidFill>
                <a:srgbClr val="000000"/>
              </a:solidFill>
            </a:endParaRPr>
          </a:p>
          <a:p>
            <a:pPr marL="0" indent="0" eaLnBrk="1" hangingPunct="1">
              <a:defRPr/>
            </a:pPr>
            <a:r>
              <a:rPr lang="en-US" b="1" dirty="0" smtClean="0">
                <a:solidFill>
                  <a:srgbClr val="000000"/>
                </a:solidFill>
              </a:rPr>
              <a:t>Here, emphasis is on a satisfied customer whatever it takes.</a:t>
            </a:r>
          </a:p>
          <a:p>
            <a:pPr marL="0" indent="0" eaLnBrk="1" hangingPunct="1">
              <a:defRPr/>
            </a:pPr>
            <a:r>
              <a:rPr lang="en-US" b="1" dirty="0" smtClean="0">
                <a:solidFill>
                  <a:srgbClr val="000000"/>
                </a:solidFill>
              </a:rPr>
              <a:t>	Implies specs may need corrections </a:t>
            </a:r>
          </a:p>
          <a:p>
            <a:pPr marL="0" indent="0" eaLnBrk="1" hangingPunct="1">
              <a:defRPr/>
            </a:pPr>
            <a:endParaRPr lang="en-US" b="1" dirty="0" smtClean="0">
              <a:solidFill>
                <a:srgbClr val="000000"/>
              </a:solidFill>
            </a:endParaRPr>
          </a:p>
          <a:p>
            <a:pPr marL="0" indent="0" eaLnBrk="1" hangingPunct="1">
              <a:defRPr/>
            </a:pPr>
            <a:r>
              <a:rPr lang="en-US" b="1" dirty="0" smtClean="0">
                <a:solidFill>
                  <a:srgbClr val="000000"/>
                </a:solidFill>
              </a:rPr>
              <a:t>But this seems to free the customer from ‘professional responsibility’ for the accuracy and completeness of the specs!</a:t>
            </a:r>
          </a:p>
          <a:p>
            <a:pPr marL="0" indent="0" eaLnBrk="1" hangingPunct="1">
              <a:defRPr/>
            </a:pPr>
            <a:endParaRPr lang="en-US" b="1" dirty="0" smtClean="0">
              <a:solidFill>
                <a:srgbClr val="000000"/>
              </a:solidFill>
            </a:endParaRPr>
          </a:p>
          <a:p>
            <a:pPr marL="0" indent="0" eaLnBrk="1" hangingPunct="1">
              <a:defRPr/>
            </a:pPr>
            <a:r>
              <a:rPr lang="en-US" b="1" dirty="0" smtClean="0">
                <a:solidFill>
                  <a:srgbClr val="000000"/>
                </a:solidFill>
              </a:rPr>
              <a:t>Assumption is that real needs can be articulated during development.  This may occur, but in fact major problems can be discovered quite late.  Not a happy customer!</a:t>
            </a:r>
          </a:p>
        </p:txBody>
      </p:sp>
    </p:spTree>
  </p:cSld>
  <p:clrMapOvr>
    <a:masterClrMapping/>
  </p:clrMapOvr>
  <p:transition spd="slow">
    <p:blinds dir="vert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3"/>
          <p:cNvSpPr>
            <a:spLocks noChangeArrowheads="1"/>
          </p:cNvSpPr>
          <p:nvPr/>
        </p:nvSpPr>
        <p:spPr bwMode="auto">
          <a:xfrm>
            <a:off x="179388" y="1484313"/>
            <a:ext cx="8856662" cy="5329237"/>
          </a:xfrm>
          <a:prstGeom prst="rect">
            <a:avLst/>
          </a:prstGeom>
          <a:noFill/>
          <a:ln w="76200">
            <a:solidFill>
              <a:srgbClr val="FF7C8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r>
              <a:rPr lang="en-US" sz="2800" b="1" dirty="0">
                <a:solidFill>
                  <a:srgbClr val="000000"/>
                </a:solidFill>
              </a:rPr>
              <a:t>Pressman believes that Software quality is :</a:t>
            </a:r>
            <a:endParaRPr lang="en-US" sz="2800" b="1" dirty="0"/>
          </a:p>
          <a:p>
            <a:pPr eaLnBrk="0" hangingPunct="0">
              <a:defRPr/>
            </a:pPr>
            <a:r>
              <a:rPr lang="en-US" sz="3200" dirty="0">
                <a:solidFill>
                  <a:srgbClr val="000000"/>
                </a:solidFill>
              </a:rPr>
              <a:t> </a:t>
            </a:r>
            <a:endParaRPr lang="en-US" sz="3200" dirty="0"/>
          </a:p>
          <a:p>
            <a:pPr marL="342900" indent="-342900" eaLnBrk="0" hangingPunct="0">
              <a:buFont typeface="Arial" pitchFamily="34" charset="0"/>
              <a:buChar char="•"/>
              <a:defRPr/>
            </a:pPr>
            <a:r>
              <a:rPr lang="en-US" b="1" dirty="0">
                <a:solidFill>
                  <a:srgbClr val="339933"/>
                </a:solidFill>
              </a:rPr>
              <a:t>Conformance to explicitly stated functional and performance requirements, </a:t>
            </a:r>
            <a:r>
              <a:rPr lang="en-US" b="1" dirty="0"/>
              <a:t>(meets the specs</a:t>
            </a:r>
            <a:r>
              <a:rPr lang="en-US" b="1" dirty="0" smtClean="0"/>
              <a:t>)</a:t>
            </a:r>
          </a:p>
          <a:p>
            <a:pPr marL="800100" lvl="1" indent="-342900" eaLnBrk="0" hangingPunct="0">
              <a:buFont typeface="Arial" pitchFamily="34" charset="0"/>
              <a:buChar char="•"/>
              <a:defRPr/>
            </a:pPr>
            <a:r>
              <a:rPr lang="en-US" b="1" dirty="0" smtClean="0"/>
              <a:t>Discuss:  ‘functional’ and ‘performance’ specs!!</a:t>
            </a:r>
            <a:endParaRPr lang="en-US" b="1" dirty="0"/>
          </a:p>
          <a:p>
            <a:pPr eaLnBrk="0" hangingPunct="0">
              <a:defRPr/>
            </a:pPr>
            <a:endParaRPr lang="en-US" b="1" dirty="0">
              <a:solidFill>
                <a:srgbClr val="339933"/>
              </a:solidFill>
            </a:endParaRPr>
          </a:p>
          <a:p>
            <a:pPr marL="342900" indent="-342900" eaLnBrk="0" hangingPunct="0">
              <a:buFont typeface="Arial" pitchFamily="34" charset="0"/>
              <a:buChar char="•"/>
              <a:defRPr/>
            </a:pPr>
            <a:r>
              <a:rPr lang="en-US" b="1" dirty="0">
                <a:solidFill>
                  <a:srgbClr val="339933"/>
                </a:solidFill>
              </a:rPr>
              <a:t>Explicitly documented development standards, and</a:t>
            </a:r>
          </a:p>
          <a:p>
            <a:pPr eaLnBrk="0" hangingPunct="0">
              <a:defRPr/>
            </a:pPr>
            <a:r>
              <a:rPr lang="en-US" b="1" dirty="0">
                <a:solidFill>
                  <a:srgbClr val="339933"/>
                </a:solidFill>
              </a:rPr>
              <a:t>	</a:t>
            </a:r>
            <a:r>
              <a:rPr lang="en-US" b="1" dirty="0"/>
              <a:t>seems to imply a documented development process</a:t>
            </a:r>
          </a:p>
          <a:p>
            <a:pPr eaLnBrk="0" hangingPunct="0">
              <a:defRPr/>
            </a:pPr>
            <a:endParaRPr lang="en-US" b="1" dirty="0">
              <a:solidFill>
                <a:srgbClr val="339933"/>
              </a:solidFill>
            </a:endParaRPr>
          </a:p>
          <a:p>
            <a:pPr marL="342900" indent="-342900" eaLnBrk="0" hangingPunct="0">
              <a:buFont typeface="Arial" pitchFamily="34" charset="0"/>
              <a:buChar char="•"/>
              <a:defRPr/>
            </a:pPr>
            <a:r>
              <a:rPr lang="en-US" b="1" dirty="0">
                <a:solidFill>
                  <a:srgbClr val="339933"/>
                </a:solidFill>
              </a:rPr>
              <a:t>Implicit characteristics that are expected of all professionally developed software</a:t>
            </a:r>
            <a:r>
              <a:rPr lang="en-US" dirty="0">
                <a:solidFill>
                  <a:srgbClr val="000000"/>
                </a:solidFill>
              </a:rPr>
              <a:t>.</a:t>
            </a:r>
          </a:p>
          <a:p>
            <a:pPr eaLnBrk="0" hangingPunct="0">
              <a:defRPr/>
            </a:pPr>
            <a:r>
              <a:rPr lang="en-US" dirty="0">
                <a:solidFill>
                  <a:srgbClr val="000000"/>
                </a:solidFill>
              </a:rPr>
              <a:t>	</a:t>
            </a:r>
            <a:r>
              <a:rPr lang="en-US" b="1" dirty="0"/>
              <a:t>further seems to imply </a:t>
            </a:r>
            <a:r>
              <a:rPr lang="en-US" b="1" dirty="0" smtClean="0"/>
              <a:t>quality as found in reliability</a:t>
            </a:r>
            <a:r>
              <a:rPr lang="en-US" b="1" dirty="0"/>
              <a:t>, </a:t>
            </a:r>
            <a:r>
              <a:rPr lang="en-US" b="1" dirty="0" smtClean="0"/>
              <a:t>	maintainability</a:t>
            </a:r>
            <a:r>
              <a:rPr lang="en-US" b="1" dirty="0"/>
              <a:t>, </a:t>
            </a:r>
            <a:r>
              <a:rPr lang="en-US" b="1" dirty="0" smtClean="0"/>
              <a:t>scalability</a:t>
            </a:r>
            <a:r>
              <a:rPr lang="en-US" b="1" dirty="0"/>
              <a:t>, usability, and more </a:t>
            </a:r>
          </a:p>
          <a:p>
            <a:pPr eaLnBrk="0" hangingPunct="0">
              <a:defRPr/>
            </a:pPr>
            <a:endParaRPr lang="en-US" dirty="0">
              <a:solidFill>
                <a:srgbClr val="000000"/>
              </a:solidFill>
            </a:endParaRPr>
          </a:p>
          <a:p>
            <a:pPr eaLnBrk="0" hangingPunct="0">
              <a:defRPr/>
            </a:pPr>
            <a:r>
              <a:rPr lang="en-US" dirty="0">
                <a:solidFill>
                  <a:srgbClr val="000000"/>
                </a:solidFill>
              </a:rPr>
              <a:t>	</a:t>
            </a:r>
            <a:endParaRPr lang="en-US" dirty="0"/>
          </a:p>
          <a:p>
            <a:pPr eaLnBrk="0" hangingPunct="0">
              <a:defRPr/>
            </a:pPr>
            <a:endParaRPr lang="en-US" dirty="0"/>
          </a:p>
        </p:txBody>
      </p:sp>
      <p:sp>
        <p:nvSpPr>
          <p:cNvPr id="20483" name="TextBox 1"/>
          <p:cNvSpPr txBox="1">
            <a:spLocks noChangeArrowheads="1"/>
          </p:cNvSpPr>
          <p:nvPr/>
        </p:nvSpPr>
        <p:spPr bwMode="auto">
          <a:xfrm>
            <a:off x="35496" y="766445"/>
            <a:ext cx="913307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 sz="3600" b="1" dirty="0">
                <a:solidFill>
                  <a:srgbClr val="FF0000"/>
                </a:solidFill>
              </a:rPr>
              <a:t>Roger Pressman’s </a:t>
            </a:r>
            <a:r>
              <a:rPr lang="en-US" sz="3200" b="1" dirty="0">
                <a:solidFill>
                  <a:srgbClr val="FF0000"/>
                </a:solidFill>
              </a:rPr>
              <a:t>Definition of Software Quality</a:t>
            </a:r>
          </a:p>
        </p:txBody>
      </p:sp>
    </p:spTree>
  </p:cSld>
  <p:clrMapOvr>
    <a:masterClrMapping/>
  </p:clrMapOvr>
  <p:transition spd="slow">
    <p:blinds dir="vert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Text Box 12"/>
          <p:cNvSpPr txBox="1">
            <a:spLocks noChangeArrowheads="1"/>
          </p:cNvSpPr>
          <p:nvPr/>
        </p:nvSpPr>
        <p:spPr bwMode="auto">
          <a:xfrm>
            <a:off x="395288" y="1916113"/>
            <a:ext cx="8397875" cy="4400550"/>
          </a:xfrm>
          <a:prstGeom prst="rect">
            <a:avLst/>
          </a:prstGeom>
          <a:solidFill>
            <a:schemeClr val="bg1"/>
          </a:solidFill>
          <a:ln w="76200">
            <a:solidFill>
              <a:srgbClr val="FF99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541338" indent="-541338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>
              <a:defRPr/>
            </a:pPr>
            <a:r>
              <a:rPr lang="en-US" sz="2800" b="1" dirty="0" smtClean="0"/>
              <a:t> Software </a:t>
            </a:r>
            <a:r>
              <a:rPr lang="en-US" sz="2800" b="1" dirty="0"/>
              <a:t>Q</a:t>
            </a:r>
            <a:r>
              <a:rPr lang="en-US" sz="2800" b="1" dirty="0" smtClean="0"/>
              <a:t>uality Assurance is:</a:t>
            </a:r>
          </a:p>
          <a:p>
            <a:pPr eaLnBrk="1" hangingPunct="1">
              <a:defRPr/>
            </a:pPr>
            <a:r>
              <a:rPr lang="en-US" sz="2800" b="1" dirty="0" smtClean="0"/>
              <a:t> </a:t>
            </a:r>
          </a:p>
          <a:p>
            <a:pPr eaLnBrk="1" hangingPunct="1">
              <a:defRPr/>
            </a:pPr>
            <a:r>
              <a:rPr lang="en-US" sz="2800" b="1" dirty="0" smtClean="0"/>
              <a:t>1.	A </a:t>
            </a:r>
            <a:r>
              <a:rPr lang="en-US" sz="2800" b="1" u="sng" dirty="0" smtClean="0"/>
              <a:t>planned and systematic pattern </a:t>
            </a:r>
            <a:r>
              <a:rPr lang="en-US" sz="2800" b="1" dirty="0" smtClean="0"/>
              <a:t>of all </a:t>
            </a:r>
            <a:r>
              <a:rPr lang="en-US" sz="2800" b="1" u="sng" dirty="0" smtClean="0"/>
              <a:t>actions</a:t>
            </a:r>
            <a:r>
              <a:rPr lang="en-US" sz="2800" b="1" dirty="0" smtClean="0"/>
              <a:t> necessary to provide adequate </a:t>
            </a:r>
            <a:r>
              <a:rPr lang="en-US" sz="2800" b="1" u="sng" dirty="0" smtClean="0"/>
              <a:t>confidence</a:t>
            </a:r>
            <a:r>
              <a:rPr lang="en-US" sz="2800" b="1" dirty="0" smtClean="0"/>
              <a:t> that an item or product conforms to established technical requirements.</a:t>
            </a:r>
          </a:p>
          <a:p>
            <a:pPr eaLnBrk="1" hangingPunct="1">
              <a:buFontTx/>
              <a:buAutoNum type="arabicPeriod" startAt="2"/>
              <a:defRPr/>
            </a:pPr>
            <a:r>
              <a:rPr lang="en-US" sz="2800" b="1" dirty="0" smtClean="0"/>
              <a:t>A </a:t>
            </a:r>
            <a:r>
              <a:rPr lang="en-US" sz="2800" b="1" u="sng" dirty="0" smtClean="0"/>
              <a:t>set of activities </a:t>
            </a:r>
            <a:r>
              <a:rPr lang="en-US" sz="2800" b="1" dirty="0" smtClean="0"/>
              <a:t>designed to evaluate the </a:t>
            </a:r>
            <a:r>
              <a:rPr lang="en-US" sz="2800" b="1" u="sng" dirty="0" smtClean="0"/>
              <a:t>process</a:t>
            </a:r>
            <a:r>
              <a:rPr lang="en-US" sz="2800" b="1" dirty="0" smtClean="0"/>
              <a:t> by which the products are developed or manufactured. Contrast with: quality control. </a:t>
            </a:r>
          </a:p>
          <a:p>
            <a:pPr marL="0" indent="0" eaLnBrk="1" hangingPunct="1">
              <a:defRPr/>
            </a:pPr>
            <a:r>
              <a:rPr lang="en-US" sz="2800" b="1" dirty="0" smtClean="0">
                <a:solidFill>
                  <a:srgbClr val="FF0000"/>
                </a:solidFill>
              </a:rPr>
              <a:t>More closely: 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66698" y="1064930"/>
            <a:ext cx="90138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/>
              <a:t>2.5 Software Quality </a:t>
            </a:r>
            <a:r>
              <a:rPr lang="en-US" sz="3200" u="sng" dirty="0" smtClean="0"/>
              <a:t>Assurance</a:t>
            </a:r>
            <a:r>
              <a:rPr lang="en-US" sz="3200" dirty="0" smtClean="0"/>
              <a:t> – Various Definitions</a:t>
            </a:r>
            <a:endParaRPr lang="en-US" sz="3200" dirty="0"/>
          </a:p>
        </p:txBody>
      </p:sp>
    </p:spTree>
  </p:cSld>
  <p:clrMapOvr>
    <a:masterClrMapping/>
  </p:clrMapOvr>
  <p:transition spd="slow">
    <p:blinds dir="vert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4176" y="609600"/>
            <a:ext cx="6188224" cy="515144"/>
          </a:xfrm>
          <a:extLst/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kern="10" dirty="0" smtClean="0"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CC33"/>
                </a:solidFill>
                <a:latin typeface="Arial Black"/>
              </a:rPr>
              <a:t>SQA - IEEE definition</a:t>
            </a:r>
            <a:br>
              <a:rPr lang="en-US" kern="10" dirty="0" smtClean="0"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CC33"/>
                </a:solidFill>
                <a:latin typeface="Arial Black"/>
              </a:rPr>
            </a:br>
            <a:endParaRPr lang="en-US" dirty="0"/>
          </a:p>
        </p:txBody>
      </p:sp>
      <p:sp>
        <p:nvSpPr>
          <p:cNvPr id="22531" name="TextBox 2"/>
          <p:cNvSpPr txBox="1">
            <a:spLocks noChangeArrowheads="1"/>
          </p:cNvSpPr>
          <p:nvPr/>
        </p:nvSpPr>
        <p:spPr bwMode="auto">
          <a:xfrm>
            <a:off x="-57150" y="1196975"/>
            <a:ext cx="9383713" cy="603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 dirty="0"/>
              <a:t>Says to </a:t>
            </a:r>
            <a:r>
              <a:rPr lang="en-US" u="sng" dirty="0"/>
              <a:t>plan</a:t>
            </a:r>
            <a:r>
              <a:rPr lang="en-US" dirty="0"/>
              <a:t> and </a:t>
            </a:r>
            <a:r>
              <a:rPr lang="en-US" u="sng" dirty="0"/>
              <a:t>implement</a:t>
            </a:r>
            <a:r>
              <a:rPr lang="en-US" dirty="0"/>
              <a:t> </a:t>
            </a:r>
            <a:r>
              <a:rPr lang="en-US" u="sng" dirty="0"/>
              <a:t>systematically</a:t>
            </a:r>
            <a:r>
              <a:rPr lang="en-US" dirty="0"/>
              <a:t>!</a:t>
            </a:r>
          </a:p>
          <a:p>
            <a:pPr eaLnBrk="1" hangingPunct="1"/>
            <a:r>
              <a:rPr lang="en-US" dirty="0"/>
              <a:t>	</a:t>
            </a:r>
            <a:r>
              <a:rPr lang="en-US" b="1" dirty="0"/>
              <a:t>shows progress and instills </a:t>
            </a:r>
            <a:r>
              <a:rPr lang="en-US" b="1" u="sng" dirty="0"/>
              <a:t>confidence</a:t>
            </a:r>
            <a:r>
              <a:rPr lang="en-US" b="1" dirty="0"/>
              <a:t> software is coming along</a:t>
            </a:r>
          </a:p>
          <a:p>
            <a:pPr eaLnBrk="1" hangingPunct="1"/>
            <a:r>
              <a:rPr lang="en-US" dirty="0"/>
              <a:t>Refers to a software development process</a:t>
            </a:r>
          </a:p>
          <a:p>
            <a:pPr eaLnBrk="1" hangingPunct="1"/>
            <a:r>
              <a:rPr lang="en-US" dirty="0"/>
              <a:t>	</a:t>
            </a:r>
            <a:r>
              <a:rPr lang="en-US" b="1" dirty="0"/>
              <a:t>a methodology;  a way of doing things;</a:t>
            </a:r>
          </a:p>
          <a:p>
            <a:pPr eaLnBrk="1" hangingPunct="1"/>
            <a:r>
              <a:rPr lang="en-US" dirty="0"/>
              <a:t>Refers to the specification of technical requirements</a:t>
            </a:r>
          </a:p>
          <a:p>
            <a:pPr eaLnBrk="1" hangingPunct="1"/>
            <a:r>
              <a:rPr lang="en-US" dirty="0"/>
              <a:t>	</a:t>
            </a:r>
            <a:r>
              <a:rPr lang="en-US" b="1" dirty="0"/>
              <a:t>must have these.</a:t>
            </a:r>
          </a:p>
          <a:p>
            <a:pPr eaLnBrk="1" hangingPunct="1"/>
            <a:endParaRPr lang="en-US" sz="2200" dirty="0"/>
          </a:p>
          <a:p>
            <a:pPr eaLnBrk="1" hangingPunct="1"/>
            <a:r>
              <a:rPr lang="en-US" sz="2200" dirty="0"/>
              <a:t>Note that SQA must include not only process for development but for </a:t>
            </a:r>
          </a:p>
          <a:p>
            <a:pPr eaLnBrk="1" hangingPunct="1"/>
            <a:r>
              <a:rPr lang="en-US" sz="2200" dirty="0"/>
              <a:t>(hopefully) years of maintenance.  So, </a:t>
            </a:r>
            <a:r>
              <a:rPr lang="en-US" sz="2200" b="1" dirty="0"/>
              <a:t>we need to consider quality issues </a:t>
            </a:r>
          </a:p>
          <a:p>
            <a:pPr eaLnBrk="1" hangingPunct="1"/>
            <a:r>
              <a:rPr lang="en-US" sz="2200" dirty="0"/>
              <a:t>affecting </a:t>
            </a:r>
            <a:r>
              <a:rPr lang="en-US" sz="2200" b="1" dirty="0"/>
              <a:t>not only development but also maintenance </a:t>
            </a:r>
            <a:r>
              <a:rPr lang="en-US" sz="2200" dirty="0"/>
              <a:t>into overall SQA concept.</a:t>
            </a:r>
          </a:p>
          <a:p>
            <a:pPr eaLnBrk="1" hangingPunct="1"/>
            <a:endParaRPr lang="en-US" sz="2200" dirty="0"/>
          </a:p>
          <a:p>
            <a:pPr eaLnBrk="1" hangingPunct="1"/>
            <a:r>
              <a:rPr lang="en-US" sz="2200" dirty="0"/>
              <a:t>SQA activities must also include </a:t>
            </a:r>
            <a:r>
              <a:rPr lang="en-US" sz="2200" b="1" dirty="0"/>
              <a:t>scheduling</a:t>
            </a:r>
            <a:r>
              <a:rPr lang="en-US" sz="2200" dirty="0"/>
              <a:t> and </a:t>
            </a:r>
            <a:r>
              <a:rPr lang="en-US" sz="2200" b="1" dirty="0" smtClean="0"/>
              <a:t>budgeting</a:t>
            </a:r>
            <a:r>
              <a:rPr lang="en-US" sz="2200" dirty="0" smtClean="0"/>
              <a:t>.</a:t>
            </a:r>
            <a:endParaRPr lang="en-US" sz="2200" dirty="0"/>
          </a:p>
          <a:p>
            <a:pPr eaLnBrk="1" hangingPunct="1"/>
            <a:r>
              <a:rPr lang="en-US" sz="2200" dirty="0"/>
              <a:t>SQA must address </a:t>
            </a:r>
            <a:r>
              <a:rPr lang="en-US" sz="2200" b="1" dirty="0"/>
              <a:t>issues</a:t>
            </a:r>
            <a:r>
              <a:rPr lang="en-US" sz="2200" dirty="0"/>
              <a:t> that arise when time constraints are encountered </a:t>
            </a:r>
          </a:p>
          <a:p>
            <a:pPr eaLnBrk="1" hangingPunct="1"/>
            <a:r>
              <a:rPr lang="en-US" sz="2200" dirty="0"/>
              <a:t>– are features eliminated?  Budget constraints may force </a:t>
            </a:r>
            <a:r>
              <a:rPr lang="en-US" sz="2200" b="1" dirty="0"/>
              <a:t>compromise</a:t>
            </a:r>
            <a:r>
              <a:rPr lang="en-US" sz="2200" dirty="0"/>
              <a:t> </a:t>
            </a:r>
          </a:p>
          <a:p>
            <a:pPr eaLnBrk="1" hangingPunct="1"/>
            <a:r>
              <a:rPr lang="en-US" sz="2200" dirty="0"/>
              <a:t>when/if inadequate resources are allocated to development and/or maintenance.</a:t>
            </a:r>
          </a:p>
          <a:p>
            <a:pPr eaLnBrk="1" hangingPunct="1"/>
            <a:endParaRPr lang="en-US" sz="2200" dirty="0"/>
          </a:p>
          <a:p>
            <a:pPr eaLnBrk="1" hangingPunct="1"/>
            <a:r>
              <a:rPr lang="en-US" sz="2200" dirty="0"/>
              <a:t>	</a:t>
            </a:r>
          </a:p>
        </p:txBody>
      </p:sp>
    </p:spTree>
  </p:cSld>
  <p:clrMapOvr>
    <a:masterClrMapping/>
  </p:clrMapOvr>
  <p:transition spd="slow">
    <p:blinds dir="vert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3"/>
          <p:cNvSpPr>
            <a:spLocks noChangeArrowheads="1"/>
          </p:cNvSpPr>
          <p:nvPr/>
        </p:nvSpPr>
        <p:spPr bwMode="auto">
          <a:xfrm>
            <a:off x="407988" y="1125538"/>
            <a:ext cx="8328025" cy="5616575"/>
          </a:xfrm>
          <a:prstGeom prst="rect">
            <a:avLst/>
          </a:prstGeom>
          <a:noFill/>
          <a:ln w="57150">
            <a:solidFill>
              <a:srgbClr val="993366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tabLst>
                <a:tab pos="457200" algn="r"/>
                <a:tab pos="2636838" algn="ctr"/>
                <a:tab pos="5273675" algn="r"/>
              </a:tabLst>
            </a:pPr>
            <a:r>
              <a:rPr lang="en-US" sz="3600" b="1" dirty="0">
                <a:solidFill>
                  <a:srgbClr val="000000"/>
                </a:solidFill>
              </a:rPr>
              <a:t>Software quality assurance is:</a:t>
            </a:r>
            <a:endParaRPr lang="en-US" sz="3600" b="1" dirty="0"/>
          </a:p>
          <a:p>
            <a:pPr eaLnBrk="0" hangingPunct="0">
              <a:tabLst>
                <a:tab pos="457200" algn="r"/>
                <a:tab pos="2636838" algn="ctr"/>
                <a:tab pos="5273675" algn="r"/>
              </a:tabLst>
            </a:pPr>
            <a:r>
              <a:rPr lang="en-US" sz="3600" b="1" dirty="0">
                <a:solidFill>
                  <a:srgbClr val="000000"/>
                </a:solidFill>
              </a:rPr>
              <a:t> </a:t>
            </a:r>
            <a:endParaRPr lang="en-US" sz="3600" b="1" dirty="0"/>
          </a:p>
          <a:p>
            <a:pPr eaLnBrk="0" hangingPunct="0">
              <a:tabLst>
                <a:tab pos="457200" algn="r"/>
                <a:tab pos="2636838" algn="ctr"/>
                <a:tab pos="5273675" algn="r"/>
              </a:tabLst>
            </a:pPr>
            <a:r>
              <a:rPr lang="en-US" sz="3200" b="1" dirty="0">
                <a:solidFill>
                  <a:srgbClr val="D60093"/>
                </a:solidFill>
              </a:rPr>
              <a:t>A systematic, </a:t>
            </a:r>
            <a:r>
              <a:rPr lang="en-US" sz="3200" b="1" u="sng" dirty="0">
                <a:solidFill>
                  <a:srgbClr val="D60093"/>
                </a:solidFill>
              </a:rPr>
              <a:t>planned set of actions </a:t>
            </a:r>
            <a:r>
              <a:rPr lang="en-US" sz="3200" b="1" dirty="0">
                <a:solidFill>
                  <a:srgbClr val="D60093"/>
                </a:solidFill>
              </a:rPr>
              <a:t>necessary to provide </a:t>
            </a:r>
            <a:r>
              <a:rPr lang="en-US" sz="3200" b="1" u="sng" dirty="0">
                <a:solidFill>
                  <a:srgbClr val="D60093"/>
                </a:solidFill>
              </a:rPr>
              <a:t>adequate confidence </a:t>
            </a:r>
            <a:r>
              <a:rPr lang="en-US" sz="3200" b="1" dirty="0">
                <a:solidFill>
                  <a:srgbClr val="D60093"/>
                </a:solidFill>
              </a:rPr>
              <a:t>that the software </a:t>
            </a:r>
            <a:r>
              <a:rPr lang="en-US" sz="3200" b="1" u="sng" dirty="0">
                <a:solidFill>
                  <a:srgbClr val="D60093"/>
                </a:solidFill>
              </a:rPr>
              <a:t>development process </a:t>
            </a:r>
            <a:r>
              <a:rPr lang="en-US" sz="3200" b="1" dirty="0">
                <a:solidFill>
                  <a:srgbClr val="D60093"/>
                </a:solidFill>
              </a:rPr>
              <a:t>or the </a:t>
            </a:r>
            <a:r>
              <a:rPr lang="en-US" sz="3200" b="1" u="sng" dirty="0">
                <a:solidFill>
                  <a:srgbClr val="D60093"/>
                </a:solidFill>
              </a:rPr>
              <a:t>maintenance process </a:t>
            </a:r>
            <a:r>
              <a:rPr lang="en-US" sz="3200" b="1" dirty="0">
                <a:solidFill>
                  <a:srgbClr val="D60093"/>
                </a:solidFill>
              </a:rPr>
              <a:t>of a software system product </a:t>
            </a:r>
            <a:r>
              <a:rPr lang="en-US" sz="3200" b="1" u="sng" dirty="0">
                <a:solidFill>
                  <a:srgbClr val="D60093"/>
                </a:solidFill>
              </a:rPr>
              <a:t>conforms to established functional technical requirements </a:t>
            </a:r>
            <a:r>
              <a:rPr lang="en-US" sz="3200" b="1" dirty="0">
                <a:solidFill>
                  <a:srgbClr val="D60093"/>
                </a:solidFill>
              </a:rPr>
              <a:t>as well as with the </a:t>
            </a:r>
            <a:r>
              <a:rPr lang="en-US" sz="3200" b="1" u="sng" dirty="0">
                <a:solidFill>
                  <a:srgbClr val="D60093"/>
                </a:solidFill>
              </a:rPr>
              <a:t>managerial requirements </a:t>
            </a:r>
            <a:r>
              <a:rPr lang="en-US" sz="3200" b="1" dirty="0">
                <a:solidFill>
                  <a:srgbClr val="D60093"/>
                </a:solidFill>
              </a:rPr>
              <a:t>of keeping the </a:t>
            </a:r>
            <a:r>
              <a:rPr lang="en-US" sz="3200" b="1" u="sng" dirty="0">
                <a:solidFill>
                  <a:srgbClr val="D60093"/>
                </a:solidFill>
              </a:rPr>
              <a:t>schedule</a:t>
            </a:r>
            <a:r>
              <a:rPr lang="en-US" sz="3200" b="1" dirty="0">
                <a:solidFill>
                  <a:srgbClr val="D60093"/>
                </a:solidFill>
              </a:rPr>
              <a:t> and operating within the </a:t>
            </a:r>
            <a:r>
              <a:rPr lang="en-US" sz="3200" b="1" u="sng" dirty="0">
                <a:solidFill>
                  <a:srgbClr val="D60093"/>
                </a:solidFill>
              </a:rPr>
              <a:t>budgetary</a:t>
            </a:r>
            <a:r>
              <a:rPr lang="en-US" sz="3200" b="1" dirty="0">
                <a:solidFill>
                  <a:srgbClr val="D60093"/>
                </a:solidFill>
              </a:rPr>
              <a:t> confines.</a:t>
            </a:r>
          </a:p>
          <a:p>
            <a:pPr eaLnBrk="0" hangingPunct="0">
              <a:tabLst>
                <a:tab pos="457200" algn="r"/>
                <a:tab pos="2636838" algn="ctr"/>
                <a:tab pos="5273675" algn="r"/>
              </a:tabLst>
            </a:pPr>
            <a:endParaRPr lang="en-US" sz="3200" b="1" dirty="0">
              <a:solidFill>
                <a:srgbClr val="D60093"/>
              </a:solidFill>
            </a:endParaRPr>
          </a:p>
          <a:p>
            <a:pPr eaLnBrk="0" hangingPunct="0">
              <a:tabLst>
                <a:tab pos="457200" algn="r"/>
                <a:tab pos="2636838" algn="ctr"/>
                <a:tab pos="5273675" algn="r"/>
              </a:tabLst>
            </a:pPr>
            <a:endParaRPr lang="en-US" sz="3200" b="1" dirty="0">
              <a:solidFill>
                <a:srgbClr val="D60093"/>
              </a:solidFill>
            </a:endParaRPr>
          </a:p>
          <a:p>
            <a:pPr eaLnBrk="0" hangingPunct="0">
              <a:tabLst>
                <a:tab pos="457200" algn="r"/>
                <a:tab pos="2636838" algn="ctr"/>
                <a:tab pos="5273675" algn="r"/>
              </a:tabLst>
            </a:pPr>
            <a:endParaRPr lang="en-US" sz="3200" b="1" dirty="0">
              <a:solidFill>
                <a:srgbClr val="D60093"/>
              </a:solidFill>
            </a:endParaRPr>
          </a:p>
          <a:p>
            <a:pPr eaLnBrk="0" hangingPunct="0">
              <a:tabLst>
                <a:tab pos="457200" algn="r"/>
                <a:tab pos="2636838" algn="ctr"/>
                <a:tab pos="5273675" algn="r"/>
              </a:tabLst>
            </a:pPr>
            <a:r>
              <a:rPr lang="en-US" sz="1400" dirty="0"/>
              <a:t> </a:t>
            </a:r>
          </a:p>
          <a:p>
            <a:pPr eaLnBrk="0" hangingPunct="0">
              <a:tabLst>
                <a:tab pos="457200" algn="r"/>
                <a:tab pos="2636838" algn="ctr"/>
                <a:tab pos="5273675" algn="r"/>
              </a:tabLst>
            </a:pPr>
            <a:endParaRPr lang="en-US" sz="2800" dirty="0">
              <a:solidFill>
                <a:srgbClr val="FF3300"/>
              </a:solidFill>
            </a:endParaRPr>
          </a:p>
        </p:txBody>
      </p:sp>
      <p:sp>
        <p:nvSpPr>
          <p:cNvPr id="23555" name="WordArt 10"/>
          <p:cNvSpPr>
            <a:spLocks noChangeArrowheads="1" noChangeShapeType="1" noTextEdit="1"/>
          </p:cNvSpPr>
          <p:nvPr/>
        </p:nvSpPr>
        <p:spPr bwMode="auto">
          <a:xfrm>
            <a:off x="1983432" y="332656"/>
            <a:ext cx="6477000" cy="503238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CC33"/>
                </a:solidFill>
                <a:latin typeface="Arial Black"/>
              </a:rPr>
              <a:t>SQA - </a:t>
            </a:r>
            <a:r>
              <a:rPr lang="en-US" sz="3600" kern="10" dirty="0" smtClean="0"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CC33"/>
                </a:solidFill>
                <a:latin typeface="Arial Black"/>
              </a:rPr>
              <a:t>Expanded </a:t>
            </a:r>
            <a:r>
              <a:rPr lang="en-US" sz="3600" kern="10" dirty="0"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CC33"/>
                </a:solidFill>
                <a:latin typeface="Arial Black"/>
              </a:rPr>
              <a:t>D</a:t>
            </a:r>
            <a:r>
              <a:rPr lang="en-US" sz="3600" kern="10" dirty="0" smtClean="0"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CC33"/>
                </a:solidFill>
                <a:latin typeface="Arial Black"/>
              </a:rPr>
              <a:t>efinition</a:t>
            </a:r>
            <a:endParaRPr lang="en-US" sz="3600" kern="10" dirty="0">
              <a:ln w="12700">
                <a:solidFill>
                  <a:srgbClr val="000000"/>
                </a:solidFill>
                <a:round/>
                <a:headEnd/>
                <a:tailEnd/>
              </a:ln>
              <a:solidFill>
                <a:srgbClr val="33CC33"/>
              </a:solidFill>
              <a:latin typeface="Arial Black"/>
            </a:endParaRPr>
          </a:p>
        </p:txBody>
      </p:sp>
    </p:spTree>
  </p:cSld>
  <p:clrMapOvr>
    <a:masterClrMapping/>
  </p:clrMapOvr>
  <p:transition spd="slow">
    <p:blinds dir="vert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Box 2"/>
          <p:cNvSpPr txBox="1">
            <a:spLocks noChangeArrowheads="1"/>
          </p:cNvSpPr>
          <p:nvPr/>
        </p:nvSpPr>
        <p:spPr bwMode="auto">
          <a:xfrm>
            <a:off x="323850" y="2060575"/>
            <a:ext cx="8539163" cy="2678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/>
              <a:t>This SQA definition supports the concept of the ISE 9000 standards</a:t>
            </a:r>
          </a:p>
          <a:p>
            <a:pPr eaLnBrk="1" hangingPunct="1"/>
            <a:r>
              <a:rPr lang="en-US"/>
              <a:t> regarding SQA, and corresponds to main outlines of the Capability</a:t>
            </a:r>
          </a:p>
          <a:p>
            <a:pPr eaLnBrk="1" hangingPunct="1"/>
            <a:r>
              <a:rPr lang="en-US"/>
              <a:t>Maturity Model (CMM) for software.</a:t>
            </a:r>
          </a:p>
          <a:p>
            <a:pPr eaLnBrk="1" hangingPunct="1"/>
            <a:endParaRPr lang="en-US"/>
          </a:p>
          <a:p>
            <a:pPr eaLnBrk="1" hangingPunct="1"/>
            <a:r>
              <a:rPr lang="en-US"/>
              <a:t>Our book adapts the </a:t>
            </a:r>
            <a:r>
              <a:rPr lang="en-US" b="1" u="sng"/>
              <a:t>Expanded Definition of SQA</a:t>
            </a:r>
            <a:r>
              <a:rPr lang="en-US"/>
              <a:t>.</a:t>
            </a:r>
          </a:p>
          <a:p>
            <a:pPr eaLnBrk="1" hangingPunct="1"/>
            <a:endParaRPr lang="en-US"/>
          </a:p>
          <a:p>
            <a:pPr eaLnBrk="1" hangingPunct="1"/>
            <a:r>
              <a:rPr lang="en-US"/>
              <a:t>See Table 2.2.   We will be looking at these a lot later…</a:t>
            </a:r>
          </a:p>
        </p:txBody>
      </p:sp>
    </p:spTree>
  </p:cSld>
  <p:clrMapOvr>
    <a:masterClrMapping/>
  </p:clrMapOvr>
  <p:transition spd="slow">
    <p:blinds dir="vert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>
          <a:xfrm>
            <a:off x="1696144" y="-27384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Comparison with ISO 9000-3 and SEI-CMM</a:t>
            </a:r>
          </a:p>
        </p:txBody>
      </p:sp>
      <p:sp>
        <p:nvSpPr>
          <p:cNvPr id="25603" name="Content Placeholder 2"/>
          <p:cNvSpPr>
            <a:spLocks noGrp="1"/>
          </p:cNvSpPr>
          <p:nvPr>
            <p:ph idx="1"/>
          </p:nvPr>
        </p:nvSpPr>
        <p:spPr>
          <a:xfrm>
            <a:off x="685800" y="2338388"/>
            <a:ext cx="7772400" cy="4114800"/>
          </a:xfrm>
        </p:spPr>
        <p:txBody>
          <a:bodyPr/>
          <a:lstStyle/>
          <a:p>
            <a:r>
              <a:rPr lang="en-US" dirty="0" smtClean="0"/>
              <a:t>Table 2 compares the elements of the </a:t>
            </a:r>
            <a:r>
              <a:rPr lang="en-US" b="1" dirty="0" smtClean="0"/>
              <a:t>expanded SQA definition </a:t>
            </a:r>
            <a:r>
              <a:rPr lang="en-US" dirty="0" smtClean="0"/>
              <a:t>with the  relevant sections of both the </a:t>
            </a:r>
            <a:r>
              <a:rPr lang="en-US" b="1" dirty="0" smtClean="0"/>
              <a:t>ISO-9000-3 </a:t>
            </a:r>
            <a:r>
              <a:rPr lang="en-US" dirty="0" smtClean="0"/>
              <a:t>and the software </a:t>
            </a:r>
            <a:r>
              <a:rPr lang="en-US" b="1" dirty="0" smtClean="0"/>
              <a:t>CMM</a:t>
            </a:r>
            <a:r>
              <a:rPr lang="en-US" dirty="0" smtClean="0"/>
              <a:t>.</a:t>
            </a:r>
          </a:p>
          <a:p>
            <a:r>
              <a:rPr lang="en-US" dirty="0" smtClean="0"/>
              <a:t>We will discuss these in depth coming up.</a:t>
            </a:r>
          </a:p>
        </p:txBody>
      </p:sp>
    </p:spTree>
  </p:cSld>
  <p:clrMapOvr>
    <a:masterClrMapping/>
  </p:clrMapOvr>
  <p:transition spd="slow">
    <p:blinds dir="vert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>
          <a:xfrm>
            <a:off x="1192213" y="116632"/>
            <a:ext cx="7772400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dirty="0" smtClean="0"/>
              <a:t>2.5.2  Software Quality Assurance vs. Software Quality Control</a:t>
            </a:r>
            <a:br>
              <a:rPr lang="en-US" sz="3200" dirty="0" smtClean="0"/>
            </a:br>
            <a:r>
              <a:rPr lang="en-US" sz="3200" dirty="0" smtClean="0"/>
              <a:t>different objectives.</a:t>
            </a:r>
          </a:p>
        </p:txBody>
      </p:sp>
      <p:sp>
        <p:nvSpPr>
          <p:cNvPr id="26627" name="Content Placeholder 2"/>
          <p:cNvSpPr>
            <a:spLocks noGrp="1"/>
          </p:cNvSpPr>
          <p:nvPr>
            <p:ph idx="1"/>
          </p:nvPr>
        </p:nvSpPr>
        <p:spPr>
          <a:xfrm>
            <a:off x="35496" y="1484784"/>
            <a:ext cx="8964488" cy="4114800"/>
          </a:xfrm>
        </p:spPr>
        <p:txBody>
          <a:bodyPr>
            <a:noAutofit/>
          </a:bodyPr>
          <a:lstStyle/>
          <a:p>
            <a:r>
              <a:rPr lang="en-US" sz="2400" b="1" dirty="0" smtClean="0"/>
              <a:t>Quality Control </a:t>
            </a:r>
            <a:r>
              <a:rPr lang="en-US" sz="2400" dirty="0" smtClean="0"/>
              <a:t>is defined as a designed to evaluate the </a:t>
            </a:r>
            <a:r>
              <a:rPr lang="en-US" sz="2400" u="sng" dirty="0" smtClean="0"/>
              <a:t>quality of </a:t>
            </a:r>
            <a:r>
              <a:rPr lang="en-US" sz="2400" dirty="0" smtClean="0"/>
              <a:t>a </a:t>
            </a:r>
            <a:r>
              <a:rPr lang="en-US" sz="2400" u="sng" dirty="0"/>
              <a:t>set of </a:t>
            </a:r>
            <a:r>
              <a:rPr lang="en-US" sz="2400" b="1" u="sng" dirty="0"/>
              <a:t>activities</a:t>
            </a:r>
            <a:r>
              <a:rPr lang="en-US" sz="2400" u="sng" dirty="0"/>
              <a:t> </a:t>
            </a:r>
            <a:r>
              <a:rPr lang="en-US" sz="2400" dirty="0" smtClean="0"/>
              <a:t>developed or manufactured product</a:t>
            </a:r>
          </a:p>
          <a:p>
            <a:pPr lvl="1"/>
            <a:r>
              <a:rPr lang="en-US" sz="2400" dirty="0" smtClean="0"/>
              <a:t>We have QC inspections during development and before deployment</a:t>
            </a:r>
          </a:p>
          <a:p>
            <a:pPr lvl="1"/>
            <a:r>
              <a:rPr lang="en-US" sz="2400" dirty="0" smtClean="0"/>
              <a:t>QC activities are only a </a:t>
            </a:r>
            <a:r>
              <a:rPr lang="en-US" sz="2400" b="1" dirty="0" smtClean="0"/>
              <a:t>part</a:t>
            </a:r>
            <a:r>
              <a:rPr lang="en-US" sz="2400" dirty="0" smtClean="0"/>
              <a:t> of the total range of QA activities.</a:t>
            </a:r>
          </a:p>
          <a:p>
            <a:r>
              <a:rPr lang="en-US" sz="2400" b="1" dirty="0" smtClean="0"/>
              <a:t>Quality Assurance’s </a:t>
            </a:r>
            <a:r>
              <a:rPr lang="en-US" sz="2400" dirty="0" smtClean="0"/>
              <a:t>objective is to minimize the </a:t>
            </a:r>
            <a:r>
              <a:rPr lang="en-US" sz="2400" b="1" dirty="0" smtClean="0"/>
              <a:t>cost</a:t>
            </a:r>
            <a:r>
              <a:rPr lang="en-US" sz="2400" dirty="0" smtClean="0"/>
              <a:t> </a:t>
            </a:r>
            <a:r>
              <a:rPr lang="en-US" sz="2400" b="1" dirty="0" smtClean="0"/>
              <a:t>of guaranteeing quality</a:t>
            </a:r>
            <a:r>
              <a:rPr lang="en-US" sz="2400" dirty="0" smtClean="0"/>
              <a:t> by a </a:t>
            </a:r>
            <a:r>
              <a:rPr lang="en-US" sz="2400" b="1" dirty="0" smtClean="0"/>
              <a:t>variety of activities performed throughout the development / manufacturing processes / stages.</a:t>
            </a:r>
          </a:p>
          <a:p>
            <a:pPr lvl="1"/>
            <a:r>
              <a:rPr lang="en-US" sz="2400" dirty="0" smtClean="0"/>
              <a:t>Activities prevent causes of errors;  detect and correct them early in the development process</a:t>
            </a:r>
          </a:p>
          <a:p>
            <a:pPr lvl="1"/>
            <a:r>
              <a:rPr lang="en-US" sz="2400" dirty="0" smtClean="0"/>
              <a:t>QA substantially reduces the rate of products that do not qualify for shipment and/at the same time, reduce the costs of guaranteeing quality in most cases.</a:t>
            </a:r>
          </a:p>
        </p:txBody>
      </p:sp>
    </p:spTree>
  </p:cSld>
  <p:clrMapOvr>
    <a:masterClrMapping/>
  </p:clrMapOvr>
  <p:transition spd="slow">
    <p:blinds dir="vert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WordArt 12"/>
          <p:cNvSpPr>
            <a:spLocks noChangeArrowheads="1" noChangeShapeType="1" noTextEdit="1"/>
          </p:cNvSpPr>
          <p:nvPr/>
        </p:nvSpPr>
        <p:spPr bwMode="auto">
          <a:xfrm>
            <a:off x="1241995" y="261392"/>
            <a:ext cx="8010525" cy="1295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defRPr/>
            </a:pPr>
            <a:r>
              <a:rPr lang="en-US" sz="1600" kern="10" dirty="0"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CC33"/>
                </a:solidFill>
                <a:latin typeface="Arial Narrow" pitchFamily="34" charset="0"/>
              </a:rPr>
              <a:t>2.5.3  The objectives of SQA activities</a:t>
            </a:r>
          </a:p>
          <a:p>
            <a:pPr algn="ctr">
              <a:defRPr/>
            </a:pPr>
            <a:r>
              <a:rPr lang="en-US" sz="1600" kern="10" dirty="0"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CC33"/>
                </a:solidFill>
                <a:latin typeface="Arial Narrow" pitchFamily="34" charset="0"/>
              </a:rPr>
              <a:t>in </a:t>
            </a:r>
            <a:r>
              <a:rPr lang="en-US" sz="1600" kern="10" dirty="0" smtClean="0"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CC33"/>
                </a:solidFill>
                <a:latin typeface="Arial Narrow" pitchFamily="34" charset="0"/>
              </a:rPr>
              <a:t>Software </a:t>
            </a:r>
            <a:r>
              <a:rPr lang="en-US" sz="1600" kern="10" dirty="0"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CC33"/>
                </a:solidFill>
                <a:latin typeface="Arial Narrow" pitchFamily="34" charset="0"/>
              </a:rPr>
              <a:t>D</a:t>
            </a:r>
            <a:r>
              <a:rPr lang="en-US" sz="1600" kern="10" dirty="0" smtClean="0"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CC33"/>
                </a:solidFill>
                <a:latin typeface="Arial Narrow" pitchFamily="34" charset="0"/>
              </a:rPr>
              <a:t>evelopment (</a:t>
            </a:r>
            <a:r>
              <a:rPr lang="en-US" sz="1600" u="sng" kern="10" dirty="0" smtClean="0"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CC33"/>
                </a:solidFill>
                <a:latin typeface="Arial Narrow" pitchFamily="34" charset="0"/>
              </a:rPr>
              <a:t>Process-Oriented</a:t>
            </a:r>
            <a:r>
              <a:rPr lang="en-US" sz="1600" kern="10" dirty="0"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CC33"/>
                </a:solidFill>
                <a:latin typeface="Arial Narrow" pitchFamily="34" charset="0"/>
              </a:rPr>
              <a:t>)  </a:t>
            </a:r>
          </a:p>
        </p:txBody>
      </p:sp>
      <p:sp>
        <p:nvSpPr>
          <p:cNvPr id="27651" name="Text Box 13"/>
          <p:cNvSpPr txBox="1">
            <a:spLocks noChangeArrowheads="1"/>
          </p:cNvSpPr>
          <p:nvPr/>
        </p:nvSpPr>
        <p:spPr bwMode="auto">
          <a:xfrm>
            <a:off x="395288" y="1916832"/>
            <a:ext cx="8397875" cy="4493538"/>
          </a:xfrm>
          <a:prstGeom prst="rect">
            <a:avLst/>
          </a:prstGeom>
          <a:noFill/>
          <a:ln w="76200">
            <a:solidFill>
              <a:srgbClr val="33CCCC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536575" indent="-536575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>
              <a:buAutoNum type="arabicParenBoth"/>
            </a:pPr>
            <a:r>
              <a:rPr lang="en-US" sz="2600" b="1" dirty="0" smtClean="0">
                <a:solidFill>
                  <a:srgbClr val="990099"/>
                </a:solidFill>
              </a:rPr>
              <a:t>Assuring </a:t>
            </a:r>
            <a:r>
              <a:rPr lang="en-US" sz="2600" b="1" dirty="0">
                <a:solidFill>
                  <a:srgbClr val="990099"/>
                </a:solidFill>
              </a:rPr>
              <a:t>an acceptable level of confidence that the software  will conform to functional technical requirements</a:t>
            </a:r>
            <a:r>
              <a:rPr lang="en-US" sz="2600" b="1" dirty="0" smtClean="0">
                <a:solidFill>
                  <a:srgbClr val="990099"/>
                </a:solidFill>
              </a:rPr>
              <a:t>.</a:t>
            </a:r>
          </a:p>
          <a:p>
            <a:pPr eaLnBrk="1" hangingPunct="1">
              <a:buAutoNum type="arabicParenBoth"/>
            </a:pPr>
            <a:endParaRPr lang="en-US" sz="2600" b="1" dirty="0">
              <a:solidFill>
                <a:srgbClr val="990099"/>
              </a:solidFill>
            </a:endParaRPr>
          </a:p>
          <a:p>
            <a:pPr eaLnBrk="1" hangingPunct="1">
              <a:buAutoNum type="arabicParenBoth" startAt="2"/>
            </a:pPr>
            <a:r>
              <a:rPr lang="en-US" sz="2600" b="1" dirty="0" smtClean="0">
                <a:solidFill>
                  <a:srgbClr val="006600"/>
                </a:solidFill>
              </a:rPr>
              <a:t>Assuring </a:t>
            </a:r>
            <a:r>
              <a:rPr lang="en-US" sz="2600" b="1" dirty="0">
                <a:solidFill>
                  <a:srgbClr val="006600"/>
                </a:solidFill>
              </a:rPr>
              <a:t>an acceptable level of confidence that the software will conform to managerial scheduling and budgetary requirements</a:t>
            </a:r>
            <a:r>
              <a:rPr lang="en-US" sz="2600" b="1" dirty="0" smtClean="0">
                <a:solidFill>
                  <a:srgbClr val="006600"/>
                </a:solidFill>
              </a:rPr>
              <a:t>.</a:t>
            </a:r>
          </a:p>
          <a:p>
            <a:pPr eaLnBrk="1" hangingPunct="1">
              <a:buAutoNum type="arabicParenBoth" startAt="2"/>
            </a:pPr>
            <a:endParaRPr lang="en-US" sz="2600" b="1" dirty="0">
              <a:solidFill>
                <a:srgbClr val="006600"/>
              </a:solidFill>
            </a:endParaRPr>
          </a:p>
          <a:p>
            <a:pPr eaLnBrk="1" hangingPunct="1"/>
            <a:r>
              <a:rPr lang="en-US" sz="2600" b="1" dirty="0">
                <a:solidFill>
                  <a:srgbClr val="FF3300"/>
                </a:solidFill>
              </a:rPr>
              <a:t>(3)	Initiation and management of activities for the improvement and greater efficiency of  software development and SQA activities.</a:t>
            </a:r>
            <a:endParaRPr lang="en-GB" sz="2600" dirty="0"/>
          </a:p>
        </p:txBody>
      </p:sp>
    </p:spTree>
  </p:cSld>
  <p:clrMapOvr>
    <a:masterClrMapping/>
  </p:clrMapOvr>
  <p:transition spd="slow">
    <p:blinds dir="vert"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WordArt 10"/>
          <p:cNvSpPr>
            <a:spLocks noChangeArrowheads="1" noChangeShapeType="1" noTextEdit="1"/>
          </p:cNvSpPr>
          <p:nvPr/>
        </p:nvSpPr>
        <p:spPr bwMode="auto">
          <a:xfrm>
            <a:off x="1097979" y="188640"/>
            <a:ext cx="8010525" cy="1295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defRPr/>
            </a:pPr>
            <a:r>
              <a:rPr lang="en-US" sz="3600" kern="10" dirty="0"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CC33"/>
                </a:solidFill>
                <a:latin typeface="Arial Narrow" pitchFamily="34" charset="0"/>
              </a:rPr>
              <a:t>The objectives of SQA activities</a:t>
            </a:r>
          </a:p>
          <a:p>
            <a:pPr algn="ctr">
              <a:defRPr/>
            </a:pPr>
            <a:r>
              <a:rPr lang="en-US" sz="3600" kern="10" dirty="0"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CC33"/>
                </a:solidFill>
                <a:latin typeface="Arial Narrow" pitchFamily="34" charset="0"/>
              </a:rPr>
              <a:t>in </a:t>
            </a:r>
            <a:r>
              <a:rPr lang="en-US" sz="3600" kern="10" dirty="0" smtClean="0"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CC33"/>
                </a:solidFill>
                <a:latin typeface="Arial Narrow" pitchFamily="34" charset="0"/>
              </a:rPr>
              <a:t>Software </a:t>
            </a:r>
            <a:r>
              <a:rPr lang="en-US" sz="3600" kern="10" dirty="0"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CC33"/>
                </a:solidFill>
                <a:latin typeface="Arial Narrow" pitchFamily="34" charset="0"/>
              </a:rPr>
              <a:t>M</a:t>
            </a:r>
            <a:r>
              <a:rPr lang="en-US" sz="3600" kern="10" dirty="0" smtClean="0"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CC33"/>
                </a:solidFill>
                <a:latin typeface="Arial Narrow" pitchFamily="34" charset="0"/>
              </a:rPr>
              <a:t>aintenance </a:t>
            </a:r>
            <a:r>
              <a:rPr lang="en-US" sz="3600" kern="10" dirty="0"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CC33"/>
                </a:solidFill>
                <a:latin typeface="Arial Narrow" pitchFamily="34" charset="0"/>
              </a:rPr>
              <a:t>(</a:t>
            </a:r>
            <a:r>
              <a:rPr lang="en-US" sz="3600" u="sng" kern="10" dirty="0"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CC33"/>
                </a:solidFill>
                <a:latin typeface="Arial Narrow" pitchFamily="34" charset="0"/>
              </a:rPr>
              <a:t>product-oriented</a:t>
            </a:r>
            <a:r>
              <a:rPr lang="en-US" sz="3600" kern="10" dirty="0"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CC33"/>
                </a:solidFill>
                <a:latin typeface="Arial Narrow" pitchFamily="34" charset="0"/>
              </a:rPr>
              <a:t>) </a:t>
            </a:r>
          </a:p>
        </p:txBody>
      </p:sp>
      <p:sp>
        <p:nvSpPr>
          <p:cNvPr id="28675" name="Text Box 11"/>
          <p:cNvSpPr txBox="1">
            <a:spLocks noChangeArrowheads="1"/>
          </p:cNvSpPr>
          <p:nvPr/>
        </p:nvSpPr>
        <p:spPr bwMode="auto">
          <a:xfrm>
            <a:off x="422597" y="1743774"/>
            <a:ext cx="8397875" cy="4493538"/>
          </a:xfrm>
          <a:prstGeom prst="rect">
            <a:avLst/>
          </a:prstGeom>
          <a:noFill/>
          <a:ln w="762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536575" indent="-536575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>
              <a:buAutoNum type="arabicParenBoth"/>
            </a:pPr>
            <a:r>
              <a:rPr lang="en-US" sz="2600" b="1" dirty="0" smtClean="0">
                <a:solidFill>
                  <a:srgbClr val="CC0000"/>
                </a:solidFill>
              </a:rPr>
              <a:t>Assuring </a:t>
            </a:r>
            <a:r>
              <a:rPr lang="en-US" sz="2600" b="1" dirty="0">
                <a:solidFill>
                  <a:srgbClr val="CC0000"/>
                </a:solidFill>
              </a:rPr>
              <a:t>an acceptable level of confidence that the software </a:t>
            </a:r>
            <a:r>
              <a:rPr lang="en-US" sz="2600" b="1" u="sng" dirty="0">
                <a:solidFill>
                  <a:srgbClr val="CC0000"/>
                </a:solidFill>
              </a:rPr>
              <a:t>maintenance</a:t>
            </a:r>
            <a:r>
              <a:rPr lang="en-US" sz="2600" b="1" dirty="0">
                <a:solidFill>
                  <a:srgbClr val="CC0000"/>
                </a:solidFill>
              </a:rPr>
              <a:t> activities will conform to the functional technical requirements</a:t>
            </a:r>
            <a:r>
              <a:rPr lang="en-US" sz="2600" b="1" dirty="0" smtClean="0">
                <a:solidFill>
                  <a:srgbClr val="CC0000"/>
                </a:solidFill>
              </a:rPr>
              <a:t>.</a:t>
            </a:r>
          </a:p>
          <a:p>
            <a:pPr eaLnBrk="1" hangingPunct="1">
              <a:buAutoNum type="arabicParenBoth"/>
            </a:pPr>
            <a:endParaRPr lang="en-US" sz="2600" b="1" dirty="0">
              <a:solidFill>
                <a:srgbClr val="CC0000"/>
              </a:solidFill>
            </a:endParaRPr>
          </a:p>
          <a:p>
            <a:pPr eaLnBrk="1" hangingPunct="1">
              <a:buAutoNum type="arabicParenBoth" startAt="2"/>
            </a:pPr>
            <a:r>
              <a:rPr lang="en-US" sz="2600" b="1" dirty="0" smtClean="0">
                <a:solidFill>
                  <a:schemeClr val="accent2"/>
                </a:solidFill>
              </a:rPr>
              <a:t>Assuring </a:t>
            </a:r>
            <a:r>
              <a:rPr lang="en-US" sz="2600" b="1" dirty="0">
                <a:solidFill>
                  <a:schemeClr val="accent2"/>
                </a:solidFill>
              </a:rPr>
              <a:t>an acceptable level of confidence that the software </a:t>
            </a:r>
            <a:r>
              <a:rPr lang="en-US" sz="2600" b="1" u="sng" dirty="0">
                <a:solidFill>
                  <a:schemeClr val="accent2"/>
                </a:solidFill>
              </a:rPr>
              <a:t>maintenance</a:t>
            </a:r>
            <a:r>
              <a:rPr lang="en-US" sz="2600" b="1" dirty="0">
                <a:solidFill>
                  <a:schemeClr val="accent2"/>
                </a:solidFill>
              </a:rPr>
              <a:t> activities will conform to managerial scheduling and budgetary</a:t>
            </a:r>
            <a:r>
              <a:rPr lang="en-US" sz="2600" b="1" dirty="0">
                <a:solidFill>
                  <a:srgbClr val="000000"/>
                </a:solidFill>
              </a:rPr>
              <a:t> </a:t>
            </a:r>
            <a:r>
              <a:rPr lang="en-US" sz="2600" b="1" dirty="0">
                <a:solidFill>
                  <a:schemeClr val="accent2"/>
                </a:solidFill>
              </a:rPr>
              <a:t>requirements</a:t>
            </a:r>
            <a:r>
              <a:rPr lang="en-US" sz="2600" b="1" dirty="0" smtClean="0">
                <a:solidFill>
                  <a:schemeClr val="accent2"/>
                </a:solidFill>
              </a:rPr>
              <a:t>.</a:t>
            </a:r>
          </a:p>
          <a:p>
            <a:pPr eaLnBrk="1" hangingPunct="1">
              <a:buAutoNum type="arabicParenBoth" startAt="2"/>
            </a:pPr>
            <a:endParaRPr lang="en-US" sz="2600" b="1" dirty="0">
              <a:solidFill>
                <a:schemeClr val="accent2"/>
              </a:solidFill>
            </a:endParaRPr>
          </a:p>
          <a:p>
            <a:pPr eaLnBrk="1" hangingPunct="1"/>
            <a:r>
              <a:rPr lang="en-US" sz="2600" b="1" dirty="0">
                <a:solidFill>
                  <a:srgbClr val="339933"/>
                </a:solidFill>
              </a:rPr>
              <a:t>(3)	</a:t>
            </a:r>
            <a:r>
              <a:rPr lang="en-US" sz="2600" b="1" dirty="0" smtClean="0">
                <a:solidFill>
                  <a:srgbClr val="339933"/>
                </a:solidFill>
              </a:rPr>
              <a:t>Initiate </a:t>
            </a:r>
            <a:r>
              <a:rPr lang="en-US" sz="2600" b="1" dirty="0">
                <a:solidFill>
                  <a:srgbClr val="339933"/>
                </a:solidFill>
              </a:rPr>
              <a:t>and manage activities to improve and increase the efficiency of  software maintenance and SQA activities.</a:t>
            </a:r>
            <a:endParaRPr lang="en-GB" sz="2600" dirty="0"/>
          </a:p>
        </p:txBody>
      </p:sp>
    </p:spTree>
  </p:cSld>
  <p:clrMapOvr>
    <a:masterClrMapping/>
  </p:clrMapOvr>
  <p:transition spd="slow">
    <p:blinds dir="vert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116632"/>
            <a:ext cx="8686800" cy="841248"/>
          </a:xfrm>
        </p:spPr>
        <p:txBody>
          <a:bodyPr/>
          <a:lstStyle/>
          <a:p>
            <a:r>
              <a:rPr lang="en-US" dirty="0" smtClean="0"/>
              <a:t>                    Homework Assignment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899592" y="1844824"/>
            <a:ext cx="7918834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You are to answer the </a:t>
            </a:r>
            <a:r>
              <a:rPr lang="en-US" smtClean="0"/>
              <a:t>following </a:t>
            </a:r>
            <a:r>
              <a:rPr lang="en-US" smtClean="0"/>
              <a:t>questions </a:t>
            </a:r>
            <a:r>
              <a:rPr lang="en-US" dirty="0" smtClean="0"/>
              <a:t>in essay format and </a:t>
            </a:r>
          </a:p>
          <a:p>
            <a:r>
              <a:rPr lang="en-US" dirty="0" smtClean="0"/>
              <a:t>send to me via Blackboard Assignment  Chapter 2:</a:t>
            </a:r>
          </a:p>
          <a:p>
            <a:endParaRPr lang="en-US" dirty="0"/>
          </a:p>
          <a:p>
            <a:r>
              <a:rPr lang="en-US" dirty="0" smtClean="0"/>
              <a:t>Question 2.2</a:t>
            </a:r>
          </a:p>
          <a:p>
            <a:r>
              <a:rPr lang="en-US" dirty="0" smtClean="0"/>
              <a:t>Question 2.6</a:t>
            </a:r>
          </a:p>
          <a:p>
            <a:endParaRPr lang="en-US" dirty="0"/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183864036"/>
      </p:ext>
    </p:extLst>
  </p:cSld>
  <p:clrMapOvr>
    <a:masterClrMapping/>
  </p:clrMapOvr>
  <p:transition spd="slow">
    <p:blinds dir="vert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               Team Discussion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79512" y="1916832"/>
            <a:ext cx="8404224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</a:t>
            </a:r>
            <a:r>
              <a:rPr lang="en-US" dirty="0" smtClean="0"/>
              <a:t>eam 2 will fully discuss the following questions in our next class:</a:t>
            </a:r>
          </a:p>
          <a:p>
            <a:r>
              <a:rPr lang="en-US" dirty="0" smtClean="0"/>
              <a:t>Questions:  	2.2</a:t>
            </a:r>
          </a:p>
          <a:p>
            <a:r>
              <a:rPr lang="en-US" dirty="0" smtClean="0"/>
              <a:t>		2.3		</a:t>
            </a:r>
          </a:p>
          <a:p>
            <a:r>
              <a:rPr lang="en-US" dirty="0" smtClean="0"/>
              <a:t>		2.4</a:t>
            </a:r>
          </a:p>
          <a:p>
            <a:r>
              <a:rPr lang="en-US" dirty="0" smtClean="0"/>
              <a:t>On page 34.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8341041"/>
      </p:ext>
    </p:extLst>
  </p:cSld>
  <p:clrMapOvr>
    <a:masterClrMapping/>
  </p:clrMapOvr>
  <p:transition spd="slow">
    <p:blinds dir="vert"/>
  </p:transition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rek">
  <a:themeElements>
    <a:clrScheme name="Trek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Trek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Trek">
      <a:fillStyleLst>
        <a:solidFill>
          <a:schemeClr val="phClr"/>
        </a:solidFill>
        <a:gradFill rotWithShape="1">
          <a:gsLst>
            <a:gs pos="0">
              <a:schemeClr val="phClr">
                <a:tint val="30000"/>
                <a:satMod val="250000"/>
              </a:schemeClr>
            </a:gs>
            <a:gs pos="72000">
              <a:schemeClr val="phClr">
                <a:tint val="75000"/>
                <a:satMod val="210000"/>
              </a:schemeClr>
            </a:gs>
            <a:gs pos="100000">
              <a:schemeClr val="phClr">
                <a:tint val="85000"/>
                <a:satMod val="21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5000"/>
                <a:shade val="85000"/>
                <a:satMod val="230000"/>
              </a:schemeClr>
            </a:gs>
            <a:gs pos="25000">
              <a:schemeClr val="phClr">
                <a:tint val="90000"/>
                <a:shade val="70000"/>
                <a:satMod val="220000"/>
              </a:schemeClr>
            </a:gs>
            <a:gs pos="50000">
              <a:schemeClr val="phClr">
                <a:tint val="90000"/>
                <a:shade val="58000"/>
                <a:satMod val="225000"/>
              </a:schemeClr>
            </a:gs>
            <a:gs pos="65000">
              <a:schemeClr val="phClr">
                <a:tint val="90000"/>
                <a:shade val="58000"/>
                <a:satMod val="225000"/>
              </a:schemeClr>
            </a:gs>
            <a:gs pos="80000">
              <a:schemeClr val="phClr">
                <a:tint val="90000"/>
                <a:shade val="69000"/>
                <a:satMod val="220000"/>
              </a:schemeClr>
            </a:gs>
            <a:gs pos="100000">
              <a:schemeClr val="phClr">
                <a:tint val="77000"/>
                <a:shade val="80000"/>
                <a:satMod val="230000"/>
              </a:schemeClr>
            </a:gs>
          </a:gsLst>
          <a:lin ang="5400000" scaled="1"/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0000" h="10000"/>
          </a:sp3d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bliqueTopLeft" fov="600000">
              <a:rot lat="0" lon="0" rev="0"/>
            </a:camera>
            <a:lightRig rig="balanced" dir="t">
              <a:rot lat="0" lon="0" rev="19200000"/>
            </a:lightRig>
          </a:scene3d>
          <a:sp3d contourW="12700" prstMaterial="matte">
            <a:bevelT w="60000" h="50800"/>
            <a:contourClr>
              <a:schemeClr val="phClr">
                <a:shade val="60000"/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05000"/>
              </a:schemeClr>
            </a:duotone>
          </a:blip>
          <a:tile tx="0" ty="0" sx="95000" sy="95000" flip="none" algn="t"/>
        </a:blipFill>
        <a:blipFill>
          <a:blip xmlns:r="http://schemas.openxmlformats.org/officeDocument/2006/relationships" r:embed="rId2">
            <a:duotone>
              <a:schemeClr val="phClr">
                <a:shade val="30000"/>
                <a:satMod val="455000"/>
              </a:schemeClr>
              <a:schemeClr val="phClr">
                <a:tint val="95000"/>
                <a:satMod val="12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Trek</Template>
  <TotalTime>2301</TotalTime>
  <Words>1652</Words>
  <Application>Microsoft Office PowerPoint</Application>
  <PresentationFormat>On-screen Show (4:3)</PresentationFormat>
  <Paragraphs>260</Paragraphs>
  <Slides>30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1" baseType="lpstr">
      <vt:lpstr>Trek</vt:lpstr>
      <vt:lpstr>What is software quality</vt:lpstr>
      <vt:lpstr>PowerPoint Presentation</vt:lpstr>
      <vt:lpstr>PowerPoint Presentation</vt:lpstr>
      <vt:lpstr>Basic Definitions</vt:lpstr>
      <vt:lpstr>PowerPoint Presentation</vt:lpstr>
      <vt:lpstr>2.3  The Nine Causes of Software ErrorS</vt:lpstr>
      <vt:lpstr>The Nine Causes of Software Errors</vt:lpstr>
      <vt:lpstr>The Nine Causes of Software Errors</vt:lpstr>
      <vt:lpstr>The Nine Causes of Software Errors</vt:lpstr>
      <vt:lpstr>The Nine Causes of Software Errors</vt:lpstr>
      <vt:lpstr>The Nine Causes of Software Errors</vt:lpstr>
      <vt:lpstr>The Nine Causes of Software Errors</vt:lpstr>
      <vt:lpstr>The Nine Causes of Software Errors</vt:lpstr>
      <vt:lpstr>The Nine Causes of Software Errors</vt:lpstr>
      <vt:lpstr>The Nine Causes of Software Errors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SQA - IEEE definition </vt:lpstr>
      <vt:lpstr>PowerPoint Presentation</vt:lpstr>
      <vt:lpstr>PowerPoint Presentation</vt:lpstr>
      <vt:lpstr>Comparison with ISO 9000-3 and SEI-CMM</vt:lpstr>
      <vt:lpstr>2.5.2  Software Quality Assurance vs. Software Quality Control different objectives.</vt:lpstr>
      <vt:lpstr>PowerPoint Presentation</vt:lpstr>
      <vt:lpstr>PowerPoint Presentation</vt:lpstr>
      <vt:lpstr>                    Homework Assignment</vt:lpstr>
      <vt:lpstr>                 Team Discussion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BOSS</dc:creator>
  <cp:lastModifiedBy>Bob</cp:lastModifiedBy>
  <cp:revision>111</cp:revision>
  <dcterms:created xsi:type="dcterms:W3CDTF">2003-09-08T05:13:45Z</dcterms:created>
  <dcterms:modified xsi:type="dcterms:W3CDTF">2013-09-04T02:15:37Z</dcterms:modified>
</cp:coreProperties>
</file>